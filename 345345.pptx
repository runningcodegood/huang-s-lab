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ea45b0f5d54d3d" /><Relationship Type="http://schemas.openxmlformats.org/officeDocument/2006/relationships/extended-properties" Target="/docProps/app.xml" Id="R411791b18e9d45c5" /><Relationship Type="http://schemas.openxmlformats.org/officeDocument/2006/relationships/officeDocument" Target="/ppt/presentation.xml" Id="R5e672abe0f414b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ec41f1abe1480a"/>
  </p:sldMasterIdLst>
  <p:notesMasterIdLst>
    <p:notesMasterId xmlns:r="http://schemas.openxmlformats.org/officeDocument/2006/relationships" r:id="R247b59be06874540"/>
  </p:notesMasterIdLst>
  <p:sldIdLst>
    <p:sldId xmlns:r="http://schemas.openxmlformats.org/officeDocument/2006/relationships" id="256" r:id="R0f46991164764f90"/>
    <p:sldId xmlns:r="http://schemas.openxmlformats.org/officeDocument/2006/relationships" id="257" r:id="R5adf2017fc3d4ac1"/>
    <p:sldId xmlns:r="http://schemas.openxmlformats.org/officeDocument/2006/relationships" id="258" r:id="R1c07b11965cd4762"/>
    <p:sldId xmlns:r="http://schemas.openxmlformats.org/officeDocument/2006/relationships" id="259" r:id="Rfd8a9a3d97d74fa1"/>
    <p:sldId xmlns:r="http://schemas.openxmlformats.org/officeDocument/2006/relationships" id="260" r:id="R874689203cdb4852"/>
    <p:sldId xmlns:r="http://schemas.openxmlformats.org/officeDocument/2006/relationships" id="261" r:id="Rb203b7bbbd3f4e69"/>
    <p:sldId xmlns:r="http://schemas.openxmlformats.org/officeDocument/2006/relationships" id="262" r:id="R79eed408fb6444e4"/>
    <p:sldId xmlns:r="http://schemas.openxmlformats.org/officeDocument/2006/relationships" id="263" r:id="R25f9050cd4de46d5"/>
    <p:sldId xmlns:r="http://schemas.openxmlformats.org/officeDocument/2006/relationships" id="264" r:id="R7f9eb86f31a34adc"/>
    <p:sldId xmlns:r="http://schemas.openxmlformats.org/officeDocument/2006/relationships" id="265" r:id="Re7222b604a804581"/>
    <p:sldId xmlns:r="http://schemas.openxmlformats.org/officeDocument/2006/relationships" id="266" r:id="Rc3d44741fe724311"/>
    <p:sldId xmlns:r="http://schemas.openxmlformats.org/officeDocument/2006/relationships" id="267" r:id="Re804dda6cc364dad"/>
    <p:sldId xmlns:r="http://schemas.openxmlformats.org/officeDocument/2006/relationships" id="268" r:id="R54276849ee414d61"/>
    <p:sldId xmlns:r="http://schemas.openxmlformats.org/officeDocument/2006/relationships" id="269" r:id="R6892add63a0443cd"/>
    <p:sldId xmlns:r="http://schemas.openxmlformats.org/officeDocument/2006/relationships" id="270" r:id="R6656792a00074b8d"/>
    <p:sldId xmlns:r="http://schemas.openxmlformats.org/officeDocument/2006/relationships" id="271" r:id="R5789fd7861d04ba0"/>
    <p:sldId xmlns:r="http://schemas.openxmlformats.org/officeDocument/2006/relationships" id="272" r:id="R864c3a1b9be347a9"/>
    <p:sldId xmlns:r="http://schemas.openxmlformats.org/officeDocument/2006/relationships" id="273" r:id="Rc8c579735a2543d6"/>
    <p:sldId xmlns:r="http://schemas.openxmlformats.org/officeDocument/2006/relationships" id="274" r:id="R0cde7ca0bd1b4c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134a047ca54e6c" /><Relationship Type="http://schemas.openxmlformats.org/officeDocument/2006/relationships/slideMaster" Target="/ppt/slideMasters/slideMaster1.xml" Id="R7cec41f1abe1480a" /><Relationship Type="http://schemas.openxmlformats.org/officeDocument/2006/relationships/notesMaster" Target="/ppt/notesMasters/notesMaster1.xml" Id="R247b59be06874540" /><Relationship Type="http://schemas.openxmlformats.org/officeDocument/2006/relationships/presProps" Target="/ppt/presProps.xml" Id="Rf6df32fd543d4b07" /><Relationship Type="http://schemas.openxmlformats.org/officeDocument/2006/relationships/viewProps" Target="/ppt/viewProps.xml" Id="R36bd5310616949f2" /><Relationship Type="http://schemas.openxmlformats.org/officeDocument/2006/relationships/tableStyles" Target="/ppt/tableStyles.xml" Id="R1cb728914209408c" /><Relationship Type="http://schemas.openxmlformats.org/officeDocument/2006/relationships/slide" Target="/ppt/slides/slide1.xml" Id="R0f46991164764f90" /><Relationship Type="http://schemas.openxmlformats.org/officeDocument/2006/relationships/slide" Target="/ppt/slides/slide2.xml" Id="R5adf2017fc3d4ac1" /><Relationship Type="http://schemas.openxmlformats.org/officeDocument/2006/relationships/slide" Target="/ppt/slides/slide3.xml" Id="R1c07b11965cd4762" /><Relationship Type="http://schemas.openxmlformats.org/officeDocument/2006/relationships/slide" Target="/ppt/slides/slide4.xml" Id="Rfd8a9a3d97d74fa1" /><Relationship Type="http://schemas.openxmlformats.org/officeDocument/2006/relationships/slide" Target="/ppt/slides/slide5.xml" Id="R874689203cdb4852" /><Relationship Type="http://schemas.openxmlformats.org/officeDocument/2006/relationships/slide" Target="/ppt/slides/slide6.xml" Id="Rb203b7bbbd3f4e69" /><Relationship Type="http://schemas.openxmlformats.org/officeDocument/2006/relationships/slide" Target="/ppt/slides/slide7.xml" Id="R79eed408fb6444e4" /><Relationship Type="http://schemas.openxmlformats.org/officeDocument/2006/relationships/slide" Target="/ppt/slides/slide8.xml" Id="R25f9050cd4de46d5" /><Relationship Type="http://schemas.openxmlformats.org/officeDocument/2006/relationships/slide" Target="/ppt/slides/slide9.xml" Id="R7f9eb86f31a34adc" /><Relationship Type="http://schemas.openxmlformats.org/officeDocument/2006/relationships/slide" Target="/ppt/slides/slide10.xml" Id="Re7222b604a804581" /><Relationship Type="http://schemas.openxmlformats.org/officeDocument/2006/relationships/slide" Target="/ppt/slides/slide11.xml" Id="Rc3d44741fe724311" /><Relationship Type="http://schemas.openxmlformats.org/officeDocument/2006/relationships/slide" Target="/ppt/slides/slide12.xml" Id="Re804dda6cc364dad" /><Relationship Type="http://schemas.openxmlformats.org/officeDocument/2006/relationships/slide" Target="/ppt/slides/slide13.xml" Id="R54276849ee414d61" /><Relationship Type="http://schemas.openxmlformats.org/officeDocument/2006/relationships/slide" Target="/ppt/slides/slide14.xml" Id="R6892add63a0443cd" /><Relationship Type="http://schemas.openxmlformats.org/officeDocument/2006/relationships/slide" Target="/ppt/slides/slide15.xml" Id="R6656792a00074b8d" /><Relationship Type="http://schemas.openxmlformats.org/officeDocument/2006/relationships/slide" Target="/ppt/slides/slide16.xml" Id="R5789fd7861d04ba0" /><Relationship Type="http://schemas.openxmlformats.org/officeDocument/2006/relationships/slide" Target="/ppt/slides/slide17.xml" Id="R864c3a1b9be347a9" /><Relationship Type="http://schemas.openxmlformats.org/officeDocument/2006/relationships/slide" Target="/ppt/slides/slide18.xml" Id="Rc8c579735a2543d6" /><Relationship Type="http://schemas.openxmlformats.org/officeDocument/2006/relationships/slide" Target="/ppt/slides/slide19.xml" Id="R0cde7ca0bd1b4c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ddd78a375447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f05f3b491e45f9" /><Relationship Type="http://schemas.openxmlformats.org/officeDocument/2006/relationships/notesMaster" Target="/ppt/notesMasters/notesMaster1.xml" Id="R07be271c75d247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a58c3acbb84a7b" /><Relationship Type="http://schemas.openxmlformats.org/officeDocument/2006/relationships/notesMaster" Target="/ppt/notesMasters/notesMaster1.xml" Id="R0f4b408754b541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def843c95a47b1" /><Relationship Type="http://schemas.openxmlformats.org/officeDocument/2006/relationships/notesMaster" Target="/ppt/notesMasters/notesMaster1.xml" Id="Re91a5dac7ffe41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f5b5372f694d46" /><Relationship Type="http://schemas.openxmlformats.org/officeDocument/2006/relationships/notesMaster" Target="/ppt/notesMasters/notesMaster1.xml" Id="R8d59d30c22d449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48d01fa6d94270" /><Relationship Type="http://schemas.openxmlformats.org/officeDocument/2006/relationships/notesMaster" Target="/ppt/notesMasters/notesMaster1.xml" Id="R0b38ed1355d743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0c7b21f1b7495f" /><Relationship Type="http://schemas.openxmlformats.org/officeDocument/2006/relationships/notesMaster" Target="/ppt/notesMasters/notesMaster1.xml" Id="R716aa81d7ac644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63dcbd2ad54547" /><Relationship Type="http://schemas.openxmlformats.org/officeDocument/2006/relationships/notesMaster" Target="/ppt/notesMasters/notesMaster1.xml" Id="R6f6c2df7ace949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e763e72a914d93" /><Relationship Type="http://schemas.openxmlformats.org/officeDocument/2006/relationships/notesMaster" Target="/ppt/notesMasters/notesMaster1.xml" Id="R533a7e5bd2ce49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3ba2c7ad2a44ee" /><Relationship Type="http://schemas.openxmlformats.org/officeDocument/2006/relationships/notesMaster" Target="/ppt/notesMasters/notesMaster1.xml" Id="Rbc0c704251c043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ef4924bb62462d" /><Relationship Type="http://schemas.openxmlformats.org/officeDocument/2006/relationships/notesMaster" Target="/ppt/notesMasters/notesMaster1.xml" Id="R552e8ad524be42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44087f41aa4908" /><Relationship Type="http://schemas.openxmlformats.org/officeDocument/2006/relationships/notesMaster" Target="/ppt/notesMasters/notesMaster1.xml" Id="R09afac55aa2142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c770098d9d4dd7" /><Relationship Type="http://schemas.openxmlformats.org/officeDocument/2006/relationships/notesMaster" Target="/ppt/notesMasters/notesMaster1.xml" Id="R8d88987c37a844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f37edf6fd94ef2" /><Relationship Type="http://schemas.openxmlformats.org/officeDocument/2006/relationships/notesMaster" Target="/ppt/notesMasters/notesMaster1.xml" Id="R9bdae3f2191d4c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bf23928f9f4a96" /><Relationship Type="http://schemas.openxmlformats.org/officeDocument/2006/relationships/notesMaster" Target="/ppt/notesMasters/notesMaster1.xml" Id="R034903d093a340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a4b359c1d447ad" /><Relationship Type="http://schemas.openxmlformats.org/officeDocument/2006/relationships/notesMaster" Target="/ppt/notesMasters/notesMaster1.xml" Id="R043f7068f1c84d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9bb5b4043846f0" /><Relationship Type="http://schemas.openxmlformats.org/officeDocument/2006/relationships/notesMaster" Target="/ppt/notesMasters/notesMaster1.xml" Id="R573a60327d2241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d2304470ae4464" /><Relationship Type="http://schemas.openxmlformats.org/officeDocument/2006/relationships/notesMaster" Target="/ppt/notesMasters/notesMaster1.xml" Id="R4733b1e33eed4e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f128a6af9548c3" /><Relationship Type="http://schemas.openxmlformats.org/officeDocument/2006/relationships/notesMaster" Target="/ppt/notesMasters/notesMaster1.xml" Id="Rd9f4503b8daf43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724597b62e4c5f" /><Relationship Type="http://schemas.openxmlformats.org/officeDocument/2006/relationships/notesMaster" Target="/ppt/notesMasters/notesMaster1.xml" Id="Ra4c0209727ff4d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691acd80746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b2879fae2541b7" /><Relationship Type="http://schemas.openxmlformats.org/officeDocument/2006/relationships/slideLayout" Target="/ppt/slideLayouts/slideLayout1.xml" Id="R4975ca8ad3734c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75ca8ad3734c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17f85411a4363" /><Relationship Type="http://schemas.openxmlformats.org/officeDocument/2006/relationships/notesSlide" Target="/ppt/notesSlides/notesSlide1.xml" Id="R7e1e8cadf78141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2c3ba16244d41" /><Relationship Type="http://schemas.openxmlformats.org/officeDocument/2006/relationships/notesSlide" Target="/ppt/notesSlides/notesSlide2.xml" Id="Rd0aeb7769c744f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8ea3722c24942" /><Relationship Type="http://schemas.openxmlformats.org/officeDocument/2006/relationships/notesSlide" Target="/ppt/notesSlides/notesSlide3.xml" Id="R270d855eb3d94b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8b7902dcd4569" /><Relationship Type="http://schemas.openxmlformats.org/officeDocument/2006/relationships/chart" Target="/ppt/slides/charts/chart1.xml" Id="R62bb0f5f0de2436e" /><Relationship Type="http://schemas.openxmlformats.org/officeDocument/2006/relationships/notesSlide" Target="/ppt/notesSlides/notesSlide4.xml" Id="Rb83e81e88e644d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e210a81f949b9" /><Relationship Type="http://schemas.openxmlformats.org/officeDocument/2006/relationships/notesSlide" Target="/ppt/notesSlides/notesSlide5.xml" Id="R79037dea965c41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d85905e3e4186" /><Relationship Type="http://schemas.openxmlformats.org/officeDocument/2006/relationships/notesSlide" Target="/ppt/notesSlides/notesSlide6.xml" Id="R8679a0791cc541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e64d6f9cc477f" /><Relationship Type="http://schemas.openxmlformats.org/officeDocument/2006/relationships/notesSlide" Target="/ppt/notesSlides/notesSlide7.xml" Id="R969793d7799a4f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6359a8c2f4a92" /><Relationship Type="http://schemas.openxmlformats.org/officeDocument/2006/relationships/notesSlide" Target="/ppt/notesSlides/notesSlide8.xml" Id="R88a764714d1e47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d33174f954a9a" /><Relationship Type="http://schemas.openxmlformats.org/officeDocument/2006/relationships/notesSlide" Target="/ppt/notesSlides/notesSlide9.xml" Id="R107ba51b156241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b504a6a024fab" /><Relationship Type="http://schemas.openxmlformats.org/officeDocument/2006/relationships/chart" Target="/ppt/slides/charts/chart2.xml" Id="R4aa03b4264a9486e" /><Relationship Type="http://schemas.openxmlformats.org/officeDocument/2006/relationships/notesSlide" Target="/ppt/notesSlides/notesSlide10.xml" Id="R940d6734488c4a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4c72a228548e5" /><Relationship Type="http://schemas.openxmlformats.org/officeDocument/2006/relationships/chart" Target="/ppt/slides/charts/chart3.xml" Id="Re77d56b6f1cb46d3" /><Relationship Type="http://schemas.openxmlformats.org/officeDocument/2006/relationships/notesSlide" Target="/ppt/notesSlides/notesSlide11.xml" Id="Rf674a63d1e5741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2a598a9784ccf" /><Relationship Type="http://schemas.openxmlformats.org/officeDocument/2006/relationships/notesSlide" Target="/ppt/notesSlides/notesSlide12.xml" Id="Rf232aa7e6c2346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94478076e4685" /><Relationship Type="http://schemas.openxmlformats.org/officeDocument/2006/relationships/notesSlide" Target="/ppt/notesSlides/notesSlide13.xml" Id="R447eb689297941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393efd0ce4fa7" /><Relationship Type="http://schemas.openxmlformats.org/officeDocument/2006/relationships/chart" Target="/ppt/slides/charts/chart4.xml" Id="Ra234a2314a01467e" /><Relationship Type="http://schemas.openxmlformats.org/officeDocument/2006/relationships/notesSlide" Target="/ppt/notesSlides/notesSlide14.xml" Id="Ra66eb843d23c43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da87de33f4457" /><Relationship Type="http://schemas.openxmlformats.org/officeDocument/2006/relationships/notesSlide" Target="/ppt/notesSlides/notesSlide15.xml" Id="R79e32f8497dd4b8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92e38bf804072" /><Relationship Type="http://schemas.openxmlformats.org/officeDocument/2006/relationships/chart" Target="/ppt/slides/charts/chart5.xml" Id="Ra38519c0da6e4494" /><Relationship Type="http://schemas.openxmlformats.org/officeDocument/2006/relationships/notesSlide" Target="/ppt/notesSlides/notesSlide16.xml" Id="R7df0fa5ebcad43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b0219ea1c44a4" /><Relationship Type="http://schemas.openxmlformats.org/officeDocument/2006/relationships/notesSlide" Target="/ppt/notesSlides/notesSlide17.xml" Id="R5e80f4b4a2f94e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8edc3d4aa4123" /><Relationship Type="http://schemas.openxmlformats.org/officeDocument/2006/relationships/notesSlide" Target="/ppt/notesSlides/notesSlide18.xml" Id="R36a05638c9e743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02cec274d47b1" /><Relationship Type="http://schemas.openxmlformats.org/officeDocument/2006/relationships/notesSlide" Target="/ppt/notesSlides/notesSlide19.xml" Id="R881ebd563cf747a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Raw fee revenue</c:v>
          </c:tx>
          <c:spPr>
            <a:ln xmlns:a="http://schemas.openxmlformats.org/drawingml/2006/main"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#,##0</c:formatCode>
                <c:ptCount val="12"/>
                <c:pt idx="0">
                  <c:v>650</c:v>
                </c:pt>
                <c:pt idx="1">
                  <c:v>694</c:v>
                </c:pt>
                <c:pt idx="2">
                  <c:v>1650</c:v>
                </c:pt>
                <c:pt idx="3">
                  <c:v>1013</c:v>
                </c:pt>
                <c:pt idx="4">
                  <c:v>983</c:v>
                </c:pt>
                <c:pt idx="5">
                  <c:v>1084</c:v>
                </c:pt>
                <c:pt idx="6">
                  <c:v>985</c:v>
                </c:pt>
                <c:pt idx="7">
                  <c:v>1040</c:v>
                </c:pt>
                <c:pt idx="8">
                  <c:v>793</c:v>
                </c:pt>
                <c:pt idx="9">
                  <c:v>962</c:v>
                </c:pt>
                <c:pt idx="10">
                  <c:v>912</c:v>
                </c:pt>
                <c:pt idx="11">
                  <c:v>2916</c:v>
                </c:pt>
              </c:numCache>
            </c:numRef>
          </c:yVal>
          <c:smooth val="0"/>
        </c:ser>
        <c:ser>
          <c:idx val="1"/>
          <c:order val="1"/>
          <c:tx>
            <c:v>Adjusted fee revenue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Data'!$D$2:$D$13</c:f>
              <c:numCache>
                <c:formatCode>#,##0</c:formatCode>
                <c:ptCount val="12"/>
                <c:pt idx="0">
                  <c:v>650</c:v>
                </c:pt>
                <c:pt idx="1">
                  <c:v>694</c:v>
                </c:pt>
                <c:pt idx="2">
                  <c:v>853.5</c:v>
                </c:pt>
                <c:pt idx="3">
                  <c:v>1013</c:v>
                </c:pt>
                <c:pt idx="4">
                  <c:v>983</c:v>
                </c:pt>
                <c:pt idx="5">
                  <c:v>1084</c:v>
                </c:pt>
                <c:pt idx="6">
                  <c:v>985</c:v>
                </c:pt>
                <c:pt idx="7">
                  <c:v>1040</c:v>
                </c:pt>
                <c:pt idx="8">
                  <c:v>793</c:v>
                </c:pt>
                <c:pt idx="9">
                  <c:v>962</c:v>
                </c:pt>
                <c:pt idx="10">
                  <c:v>912</c:v>
                </c:pt>
                <c:pt idx="11">
                  <c:v>780.5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800"/>
      </c:valAx>
      <c:valAx>
        <c:axId val="48650112"/>
        <c:scaling>
          <c:orientation val="minMax"/>
          <c:max val="12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 of 2012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Monthly debit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#,##0</c:formatCode>
                <c:ptCount val="12"/>
                <c:pt idx="0">
                  <c:v>696</c:v>
                </c:pt>
                <c:pt idx="1">
                  <c:v>846</c:v>
                </c:pt>
                <c:pt idx="2">
                  <c:v>1506</c:v>
                </c:pt>
                <c:pt idx="3">
                  <c:v>986</c:v>
                </c:pt>
                <c:pt idx="4">
                  <c:v>1095</c:v>
                </c:pt>
                <c:pt idx="5">
                  <c:v>1504</c:v>
                </c:pt>
                <c:pt idx="6">
                  <c:v>1105</c:v>
                </c:pt>
                <c:pt idx="7">
                  <c:v>1075</c:v>
                </c:pt>
                <c:pt idx="8">
                  <c:v>1133</c:v>
                </c:pt>
                <c:pt idx="9">
                  <c:v>1069</c:v>
                </c:pt>
                <c:pt idx="10">
                  <c:v>1238</c:v>
                </c:pt>
                <c:pt idx="11">
                  <c:v>1020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600"/>
          <c:min val="6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12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 of 2014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Adjusted quarterly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Data'!$A$2:$A$57</c:f>
              <c:numCache>
                <c:formatCode>General</c:formatCode>
                <c:ptCount val="56"/>
                <c:pt idx="0">
                  <c:v>2012.166666667</c:v>
                </c:pt>
                <c:pt idx="1">
                  <c:v>2012.416666667</c:v>
                </c:pt>
                <c:pt idx="2">
                  <c:v>2012.666666667</c:v>
                </c:pt>
                <c:pt idx="3">
                  <c:v>2012.916666667</c:v>
                </c:pt>
                <c:pt idx="4">
                  <c:v>2013.166666667</c:v>
                </c:pt>
                <c:pt idx="5">
                  <c:v>2013.416666667</c:v>
                </c:pt>
                <c:pt idx="6">
                  <c:v>2013.666666667</c:v>
                </c:pt>
                <c:pt idx="7">
                  <c:v>2013.916666667</c:v>
                </c:pt>
                <c:pt idx="8">
                  <c:v>2014.166666667</c:v>
                </c:pt>
                <c:pt idx="9">
                  <c:v>2014.416666667</c:v>
                </c:pt>
                <c:pt idx="10">
                  <c:v>2014.666666667</c:v>
                </c:pt>
                <c:pt idx="11">
                  <c:v>2014.916666667</c:v>
                </c:pt>
                <c:pt idx="12">
                  <c:v>2015.166666667</c:v>
                </c:pt>
                <c:pt idx="13">
                  <c:v>2015.416666667</c:v>
                </c:pt>
                <c:pt idx="14">
                  <c:v>2015.666666667</c:v>
                </c:pt>
                <c:pt idx="15">
                  <c:v>2015.916666667</c:v>
                </c:pt>
                <c:pt idx="16">
                  <c:v>2016.166666667</c:v>
                </c:pt>
                <c:pt idx="17">
                  <c:v>2016.416666667</c:v>
                </c:pt>
                <c:pt idx="18">
                  <c:v>2016.666666667</c:v>
                </c:pt>
                <c:pt idx="19">
                  <c:v>2016.916666667</c:v>
                </c:pt>
                <c:pt idx="20">
                  <c:v>2017.166666667</c:v>
                </c:pt>
                <c:pt idx="21">
                  <c:v>2017.416666667</c:v>
                </c:pt>
                <c:pt idx="22">
                  <c:v>2017.666666667</c:v>
                </c:pt>
                <c:pt idx="23">
                  <c:v>2017.916666667</c:v>
                </c:pt>
                <c:pt idx="24">
                  <c:v>2018.166666667</c:v>
                </c:pt>
                <c:pt idx="25">
                  <c:v>2018.416666667</c:v>
                </c:pt>
                <c:pt idx="26">
                  <c:v>2018.666666667</c:v>
                </c:pt>
                <c:pt idx="27">
                  <c:v>2018.916666667</c:v>
                </c:pt>
                <c:pt idx="28">
                  <c:v>2019.166666667</c:v>
                </c:pt>
                <c:pt idx="29">
                  <c:v>2019.416666667</c:v>
                </c:pt>
                <c:pt idx="30">
                  <c:v>2019.666666667</c:v>
                </c:pt>
                <c:pt idx="31">
                  <c:v>2019.916666667</c:v>
                </c:pt>
                <c:pt idx="32">
                  <c:v>2020.166666667</c:v>
                </c:pt>
                <c:pt idx="33">
                  <c:v>2020.416666667</c:v>
                </c:pt>
                <c:pt idx="34">
                  <c:v>2020.666666667</c:v>
                </c:pt>
                <c:pt idx="35">
                  <c:v>2020.916666667</c:v>
                </c:pt>
                <c:pt idx="36">
                  <c:v>2021.166666667</c:v>
                </c:pt>
                <c:pt idx="37">
                  <c:v>2021.416666667</c:v>
                </c:pt>
                <c:pt idx="38">
                  <c:v>2021.666666667</c:v>
                </c:pt>
                <c:pt idx="39">
                  <c:v>2021.916666667</c:v>
                </c:pt>
                <c:pt idx="40">
                  <c:v>2022.166666667</c:v>
                </c:pt>
                <c:pt idx="41">
                  <c:v>2022.416666667</c:v>
                </c:pt>
                <c:pt idx="42">
                  <c:v>2022.666666667</c:v>
                </c:pt>
                <c:pt idx="43">
                  <c:v>2022.916666667</c:v>
                </c:pt>
                <c:pt idx="44">
                  <c:v>2023.166666667</c:v>
                </c:pt>
                <c:pt idx="45">
                  <c:v>2023.416666667</c:v>
                </c:pt>
                <c:pt idx="46">
                  <c:v>2023.666666667</c:v>
                </c:pt>
                <c:pt idx="47">
                  <c:v>2023.916666667</c:v>
                </c:pt>
                <c:pt idx="48">
                  <c:v>2024.166666667</c:v>
                </c:pt>
                <c:pt idx="49">
                  <c:v>2024.416666667</c:v>
                </c:pt>
                <c:pt idx="50">
                  <c:v>2024.666666667</c:v>
                </c:pt>
                <c:pt idx="51">
                  <c:v>2024.916666667</c:v>
                </c:pt>
                <c:pt idx="52">
                  <c:v>2025.166666667</c:v>
                </c:pt>
                <c:pt idx="53">
                  <c:v>2025.416666667</c:v>
                </c:pt>
                <c:pt idx="54">
                  <c:v>2025.666666667</c:v>
                </c:pt>
                <c:pt idx="55">
                  <c:v>2025.916666667</c:v>
                </c:pt>
              </c:numCache>
            </c:numRef>
          </c:xVal>
          <c:yVal>
            <c:numRef>
              <c:f>'Chart Data'!$B$2:$B$57</c:f>
              <c:numCache>
                <c:formatCode>#,##0</c:formatCode>
                <c:ptCount val="56"/>
                <c:pt idx="0">
                  <c:v>2197.5</c:v>
                </c:pt>
                <c:pt idx="1">
                  <c:v>3080</c:v>
                </c:pt>
                <c:pt idx="2">
                  <c:v>2818</c:v>
                </c:pt>
                <c:pt idx="3">
                  <c:v>2654.5</c:v>
                </c:pt>
                <c:pt idx="4">
                  <c:v>2288</c:v>
                </c:pt>
                <c:pt idx="5">
                  <c:v>2933</c:v>
                </c:pt>
                <c:pt idx="6">
                  <c:v>2806</c:v>
                </c:pt>
                <c:pt idx="7">
                  <c:v>2978</c:v>
                </c:pt>
                <c:pt idx="8">
                  <c:v>3048</c:v>
                </c:pt>
                <c:pt idx="9">
                  <c:v>3585</c:v>
                </c:pt>
                <c:pt idx="10">
                  <c:v>3313</c:v>
                </c:pt>
                <c:pt idx="11">
                  <c:v>3327</c:v>
                </c:pt>
                <c:pt idx="12">
                  <c:v>3970</c:v>
                </c:pt>
                <c:pt idx="13">
                  <c:v>4251</c:v>
                </c:pt>
                <c:pt idx="14">
                  <c:v>4178</c:v>
                </c:pt>
                <c:pt idx="15">
                  <c:v>4283</c:v>
                </c:pt>
                <c:pt idx="16">
                  <c:v>4190</c:v>
                </c:pt>
                <c:pt idx="17">
                  <c:v>4353</c:v>
                </c:pt>
                <c:pt idx="18">
                  <c:v>4285</c:v>
                </c:pt>
                <c:pt idx="19">
                  <c:v>4302</c:v>
                </c:pt>
                <c:pt idx="20">
                  <c:v>4210</c:v>
                </c:pt>
                <c:pt idx="21">
                  <c:v>4403</c:v>
                </c:pt>
                <c:pt idx="22">
                  <c:v>4273</c:v>
                </c:pt>
                <c:pt idx="23">
                  <c:v>4352</c:v>
                </c:pt>
                <c:pt idx="24">
                  <c:v>4365</c:v>
                </c:pt>
                <c:pt idx="25">
                  <c:v>4531</c:v>
                </c:pt>
                <c:pt idx="26">
                  <c:v>4460</c:v>
                </c:pt>
                <c:pt idx="27">
                  <c:v>4578</c:v>
                </c:pt>
                <c:pt idx="28">
                  <c:v>4430</c:v>
                </c:pt>
                <c:pt idx="29">
                  <c:v>5147</c:v>
                </c:pt>
                <c:pt idx="30">
                  <c:v>4279</c:v>
                </c:pt>
                <c:pt idx="31">
                  <c:v>4213</c:v>
                </c:pt>
                <c:pt idx="32">
                  <c:v>4097</c:v>
                </c:pt>
                <c:pt idx="33">
                  <c:v>3954</c:v>
                </c:pt>
                <c:pt idx="34">
                  <c:v>4294</c:v>
                </c:pt>
                <c:pt idx="35">
                  <c:v>4399</c:v>
                </c:pt>
                <c:pt idx="36">
                  <c:v>4656</c:v>
                </c:pt>
                <c:pt idx="37">
                  <c:v>4850</c:v>
                </c:pt>
                <c:pt idx="38">
                  <c:v>4600</c:v>
                </c:pt>
                <c:pt idx="39">
                  <c:v>4166</c:v>
                </c:pt>
                <c:pt idx="40">
                  <c:v>5536</c:v>
                </c:pt>
                <c:pt idx="41">
                  <c:v>5173</c:v>
                </c:pt>
                <c:pt idx="42">
                  <c:v>4677</c:v>
                </c:pt>
                <c:pt idx="43">
                  <c:v>4853</c:v>
                </c:pt>
                <c:pt idx="44">
                  <c:v>4890</c:v>
                </c:pt>
                <c:pt idx="45">
                  <c:v>5004</c:v>
                </c:pt>
                <c:pt idx="46">
                  <c:v>5028</c:v>
                </c:pt>
                <c:pt idx="47">
                  <c:v>5125</c:v>
                </c:pt>
                <c:pt idx="48">
                  <c:v>4148</c:v>
                </c:pt>
                <c:pt idx="49">
                  <c:v>4873</c:v>
                </c:pt>
                <c:pt idx="50">
                  <c:v>4691</c:v>
                </c:pt>
                <c:pt idx="51">
                  <c:v>4949</c:v>
                </c:pt>
                <c:pt idx="52">
                  <c:v>4600</c:v>
                </c:pt>
                <c:pt idx="53">
                  <c:v>4869</c:v>
                </c:pt>
                <c:pt idx="54">
                  <c:v>4988</c:v>
                </c:pt>
                <c:pt idx="55">
                  <c:v>4863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0"/>
          <c:min val="1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Quarterly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0"/>
      </c:valAx>
      <c:valAx>
        <c:axId val="48650112"/>
        <c:scaling>
          <c:orientation val="minMax"/>
          <c:max val="2026"/>
          <c:min val="2012"/>
        </c:scaling>
        <c:delete val="0"/>
        <c:axPos val="b"/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Actual quarterly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Data'!$B$2:$B$45</c:f>
              <c:numCache>
                <c:formatCode>#,##0</c:formatCode>
                <c:ptCount val="44"/>
                <c:pt idx="0">
                  <c:v>3970</c:v>
                </c:pt>
                <c:pt idx="1">
                  <c:v>4251</c:v>
                </c:pt>
                <c:pt idx="2">
                  <c:v>4178</c:v>
                </c:pt>
                <c:pt idx="3">
                  <c:v>4283</c:v>
                </c:pt>
                <c:pt idx="4">
                  <c:v>4190</c:v>
                </c:pt>
                <c:pt idx="5">
                  <c:v>4353</c:v>
                </c:pt>
                <c:pt idx="6">
                  <c:v>4285</c:v>
                </c:pt>
                <c:pt idx="7">
                  <c:v>4302</c:v>
                </c:pt>
                <c:pt idx="8">
                  <c:v>4210</c:v>
                </c:pt>
                <c:pt idx="9">
                  <c:v>4403</c:v>
                </c:pt>
                <c:pt idx="10">
                  <c:v>4273</c:v>
                </c:pt>
                <c:pt idx="11">
                  <c:v>4352</c:v>
                </c:pt>
                <c:pt idx="12">
                  <c:v>4365</c:v>
                </c:pt>
                <c:pt idx="13">
                  <c:v>4531</c:v>
                </c:pt>
                <c:pt idx="14">
                  <c:v>4460</c:v>
                </c:pt>
                <c:pt idx="15">
                  <c:v>4578</c:v>
                </c:pt>
                <c:pt idx="16">
                  <c:v>4430</c:v>
                </c:pt>
                <c:pt idx="17">
                  <c:v>5147</c:v>
                </c:pt>
                <c:pt idx="18">
                  <c:v>4279</c:v>
                </c:pt>
                <c:pt idx="19">
                  <c:v>4213</c:v>
                </c:pt>
                <c:pt idx="20">
                  <c:v>4097</c:v>
                </c:pt>
                <c:pt idx="21">
                  <c:v>3954</c:v>
                </c:pt>
                <c:pt idx="22">
                  <c:v>4294</c:v>
                </c:pt>
                <c:pt idx="23">
                  <c:v>4399</c:v>
                </c:pt>
                <c:pt idx="24">
                  <c:v>4656</c:v>
                </c:pt>
                <c:pt idx="25">
                  <c:v>4850</c:v>
                </c:pt>
                <c:pt idx="26">
                  <c:v>4600</c:v>
                </c:pt>
                <c:pt idx="27">
                  <c:v>4166</c:v>
                </c:pt>
                <c:pt idx="28">
                  <c:v>5536</c:v>
                </c:pt>
                <c:pt idx="29">
                  <c:v>5173</c:v>
                </c:pt>
                <c:pt idx="30">
                  <c:v>4677</c:v>
                </c:pt>
                <c:pt idx="31">
                  <c:v>4853</c:v>
                </c:pt>
                <c:pt idx="32">
                  <c:v>4890</c:v>
                </c:pt>
                <c:pt idx="33">
                  <c:v>5004</c:v>
                </c:pt>
                <c:pt idx="34">
                  <c:v>5028</c:v>
                </c:pt>
                <c:pt idx="35">
                  <c:v>5125</c:v>
                </c:pt>
                <c:pt idx="36">
                  <c:v>4148</c:v>
                </c:pt>
                <c:pt idx="37">
                  <c:v>4873</c:v>
                </c:pt>
                <c:pt idx="38">
                  <c:v>4691</c:v>
                </c:pt>
                <c:pt idx="39">
                  <c:v>4949</c:v>
                </c:pt>
                <c:pt idx="40">
                  <c:v>4600</c:v>
                </c:pt>
                <c:pt idx="41">
                  <c:v>4869</c:v>
                </c:pt>
                <c:pt idx="42">
                  <c:v>4988</c:v>
                </c:pt>
                <c:pt idx="43">
                  <c:v>4863</c:v>
                </c:pt>
              </c:numCache>
            </c:numRef>
          </c:yVal>
          <c:smooth val="0"/>
        </c:ser>
        <c:ser>
          <c:idx val="1"/>
          <c:order val="1"/>
          <c:tx>
            <c:v>Recent baseline: 4,747.6</c:v>
          </c:tx>
          <c:spPr>
            <a:ln xmlns:a="http://schemas.openxmlformats.org/drawingml/2006/main" w="2381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Data'!$C$2:$C$45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Data'!$D$2:$D$45</c:f>
              <c:numCache>
                <c:formatCode>#,##0</c:formatCode>
                <c:ptCount val="44"/>
                <c:pt idx="0">
                  <c:v>4747.6</c:v>
                </c:pt>
                <c:pt idx="1">
                  <c:v>4747.6</c:v>
                </c:pt>
                <c:pt idx="2">
                  <c:v>4747.6</c:v>
                </c:pt>
                <c:pt idx="3">
                  <c:v>4747.6</c:v>
                </c:pt>
                <c:pt idx="4">
                  <c:v>4747.6</c:v>
                </c:pt>
                <c:pt idx="5">
                  <c:v>4747.6</c:v>
                </c:pt>
                <c:pt idx="6">
                  <c:v>4747.6</c:v>
                </c:pt>
                <c:pt idx="7">
                  <c:v>4747.6</c:v>
                </c:pt>
                <c:pt idx="8">
                  <c:v>4747.6</c:v>
                </c:pt>
                <c:pt idx="9">
                  <c:v>4747.6</c:v>
                </c:pt>
                <c:pt idx="10">
                  <c:v>4747.6</c:v>
                </c:pt>
                <c:pt idx="11">
                  <c:v>4747.6</c:v>
                </c:pt>
                <c:pt idx="12">
                  <c:v>4747.6</c:v>
                </c:pt>
                <c:pt idx="13">
                  <c:v>4747.6</c:v>
                </c:pt>
                <c:pt idx="14">
                  <c:v>4747.6</c:v>
                </c:pt>
                <c:pt idx="15">
                  <c:v>4747.6</c:v>
                </c:pt>
                <c:pt idx="16">
                  <c:v>4747.6</c:v>
                </c:pt>
                <c:pt idx="17">
                  <c:v>4747.6</c:v>
                </c:pt>
                <c:pt idx="18">
                  <c:v>4747.6</c:v>
                </c:pt>
                <c:pt idx="19">
                  <c:v>4747.6</c:v>
                </c:pt>
                <c:pt idx="20">
                  <c:v>4747.6</c:v>
                </c:pt>
                <c:pt idx="21">
                  <c:v>4747.6</c:v>
                </c:pt>
                <c:pt idx="22">
                  <c:v>4747.6</c:v>
                </c:pt>
                <c:pt idx="23">
                  <c:v>4747.6</c:v>
                </c:pt>
                <c:pt idx="24">
                  <c:v>4747.6</c:v>
                </c:pt>
                <c:pt idx="25">
                  <c:v>4747.6</c:v>
                </c:pt>
                <c:pt idx="26">
                  <c:v>4747.6</c:v>
                </c:pt>
                <c:pt idx="27">
                  <c:v>4747.6</c:v>
                </c:pt>
                <c:pt idx="28">
                  <c:v>4747.6</c:v>
                </c:pt>
                <c:pt idx="29">
                  <c:v>4747.6</c:v>
                </c:pt>
                <c:pt idx="30">
                  <c:v>4747.6</c:v>
                </c:pt>
                <c:pt idx="31">
                  <c:v>4747.6</c:v>
                </c:pt>
                <c:pt idx="32">
                  <c:v>4747.6</c:v>
                </c:pt>
                <c:pt idx="33">
                  <c:v>4747.6</c:v>
                </c:pt>
                <c:pt idx="34">
                  <c:v>4747.6</c:v>
                </c:pt>
                <c:pt idx="35">
                  <c:v>4747.6</c:v>
                </c:pt>
                <c:pt idx="36">
                  <c:v>4747.6</c:v>
                </c:pt>
                <c:pt idx="37">
                  <c:v>4747.6</c:v>
                </c:pt>
                <c:pt idx="38">
                  <c:v>4747.6</c:v>
                </c:pt>
                <c:pt idx="39">
                  <c:v>4747.6</c:v>
                </c:pt>
                <c:pt idx="40">
                  <c:v>4747.6</c:v>
                </c:pt>
                <c:pt idx="41">
                  <c:v>4747.6</c:v>
                </c:pt>
                <c:pt idx="42">
                  <c:v>4747.6</c:v>
                </c:pt>
                <c:pt idx="43">
                  <c:v>4747.6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0"/>
          <c:min val="3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Quarterly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2026"/>
          <c:min val="2015"/>
        </c:scaling>
        <c:delete val="0"/>
        <c:axPos val="b"/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Actual quarterly fee</c:v>
          </c:tx>
          <c:spPr>
            <a:ln xmlns:a="http://schemas.openxmlformats.org/drawingml/2006/main"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Data'!$B$2:$B$45</c:f>
              <c:numCache>
                <c:formatCode>#,##0</c:formatCode>
                <c:ptCount val="44"/>
                <c:pt idx="0">
                  <c:v>3970</c:v>
                </c:pt>
                <c:pt idx="1">
                  <c:v>4251</c:v>
                </c:pt>
                <c:pt idx="2">
                  <c:v>4178</c:v>
                </c:pt>
                <c:pt idx="3">
                  <c:v>4283</c:v>
                </c:pt>
                <c:pt idx="4">
                  <c:v>4190</c:v>
                </c:pt>
                <c:pt idx="5">
                  <c:v>4353</c:v>
                </c:pt>
                <c:pt idx="6">
                  <c:v>4285</c:v>
                </c:pt>
                <c:pt idx="7">
                  <c:v>4302</c:v>
                </c:pt>
                <c:pt idx="8">
                  <c:v>4210</c:v>
                </c:pt>
                <c:pt idx="9">
                  <c:v>4403</c:v>
                </c:pt>
                <c:pt idx="10">
                  <c:v>4273</c:v>
                </c:pt>
                <c:pt idx="11">
                  <c:v>4352</c:v>
                </c:pt>
                <c:pt idx="12">
                  <c:v>4365</c:v>
                </c:pt>
                <c:pt idx="13">
                  <c:v>4531</c:v>
                </c:pt>
                <c:pt idx="14">
                  <c:v>4460</c:v>
                </c:pt>
                <c:pt idx="15">
                  <c:v>4578</c:v>
                </c:pt>
                <c:pt idx="16">
                  <c:v>4430</c:v>
                </c:pt>
                <c:pt idx="17">
                  <c:v>5147</c:v>
                </c:pt>
                <c:pt idx="18">
                  <c:v>4279</c:v>
                </c:pt>
                <c:pt idx="19">
                  <c:v>4213</c:v>
                </c:pt>
                <c:pt idx="20">
                  <c:v>4097</c:v>
                </c:pt>
                <c:pt idx="21">
                  <c:v>3954</c:v>
                </c:pt>
                <c:pt idx="22">
                  <c:v>4294</c:v>
                </c:pt>
                <c:pt idx="23">
                  <c:v>4399</c:v>
                </c:pt>
                <c:pt idx="24">
                  <c:v>4656</c:v>
                </c:pt>
                <c:pt idx="25">
                  <c:v>4850</c:v>
                </c:pt>
                <c:pt idx="26">
                  <c:v>4600</c:v>
                </c:pt>
                <c:pt idx="27">
                  <c:v>4166</c:v>
                </c:pt>
                <c:pt idx="28">
                  <c:v>5536</c:v>
                </c:pt>
                <c:pt idx="29">
                  <c:v>5173</c:v>
                </c:pt>
                <c:pt idx="30">
                  <c:v>4677</c:v>
                </c:pt>
                <c:pt idx="31">
                  <c:v>4853</c:v>
                </c:pt>
                <c:pt idx="32">
                  <c:v>4890</c:v>
                </c:pt>
                <c:pt idx="33">
                  <c:v>5004</c:v>
                </c:pt>
                <c:pt idx="34">
                  <c:v>5028</c:v>
                </c:pt>
                <c:pt idx="35">
                  <c:v>5125</c:v>
                </c:pt>
                <c:pt idx="36">
                  <c:v>4148</c:v>
                </c:pt>
                <c:pt idx="37">
                  <c:v>4873</c:v>
                </c:pt>
                <c:pt idx="38">
                  <c:v>4691</c:v>
                </c:pt>
                <c:pt idx="39">
                  <c:v>4949</c:v>
                </c:pt>
                <c:pt idx="40">
                  <c:v>4600</c:v>
                </c:pt>
                <c:pt idx="41">
                  <c:v>4869</c:v>
                </c:pt>
                <c:pt idx="42">
                  <c:v>4988</c:v>
                </c:pt>
                <c:pt idx="43">
                  <c:v>4863</c:v>
                </c:pt>
              </c:numCache>
            </c:numRef>
          </c:yVal>
          <c:smooth val="0"/>
        </c:ser>
        <c:ser>
          <c:idx val="1"/>
          <c:order val="1"/>
          <c:tx>
            <c:v>Baseline: 4,747.6</c:v>
          </c:tx>
          <c:spPr>
            <a:ln xmlns:a="http://schemas.openxmlformats.org/drawingml/2006/main" w="2381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Data'!$C$2:$C$45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Data'!$D$2:$D$45</c:f>
              <c:numCache>
                <c:formatCode>#,##0</c:formatCode>
                <c:ptCount val="44"/>
                <c:pt idx="0">
                  <c:v>4747.6</c:v>
                </c:pt>
                <c:pt idx="1">
                  <c:v>4747.6</c:v>
                </c:pt>
                <c:pt idx="2">
                  <c:v>4747.6</c:v>
                </c:pt>
                <c:pt idx="3">
                  <c:v>4747.6</c:v>
                </c:pt>
                <c:pt idx="4">
                  <c:v>4747.6</c:v>
                </c:pt>
                <c:pt idx="5">
                  <c:v>4747.6</c:v>
                </c:pt>
                <c:pt idx="6">
                  <c:v>4747.6</c:v>
                </c:pt>
                <c:pt idx="7">
                  <c:v>4747.6</c:v>
                </c:pt>
                <c:pt idx="8">
                  <c:v>4747.6</c:v>
                </c:pt>
                <c:pt idx="9">
                  <c:v>4747.6</c:v>
                </c:pt>
                <c:pt idx="10">
                  <c:v>4747.6</c:v>
                </c:pt>
                <c:pt idx="11">
                  <c:v>4747.6</c:v>
                </c:pt>
                <c:pt idx="12">
                  <c:v>4747.6</c:v>
                </c:pt>
                <c:pt idx="13">
                  <c:v>4747.6</c:v>
                </c:pt>
                <c:pt idx="14">
                  <c:v>4747.6</c:v>
                </c:pt>
                <c:pt idx="15">
                  <c:v>4747.6</c:v>
                </c:pt>
                <c:pt idx="16">
                  <c:v>4747.6</c:v>
                </c:pt>
                <c:pt idx="17">
                  <c:v>4747.6</c:v>
                </c:pt>
                <c:pt idx="18">
                  <c:v>4747.6</c:v>
                </c:pt>
                <c:pt idx="19">
                  <c:v>4747.6</c:v>
                </c:pt>
                <c:pt idx="20">
                  <c:v>4747.6</c:v>
                </c:pt>
                <c:pt idx="21">
                  <c:v>4747.6</c:v>
                </c:pt>
                <c:pt idx="22">
                  <c:v>4747.6</c:v>
                </c:pt>
                <c:pt idx="23">
                  <c:v>4747.6</c:v>
                </c:pt>
                <c:pt idx="24">
                  <c:v>4747.6</c:v>
                </c:pt>
                <c:pt idx="25">
                  <c:v>4747.6</c:v>
                </c:pt>
                <c:pt idx="26">
                  <c:v>4747.6</c:v>
                </c:pt>
                <c:pt idx="27">
                  <c:v>4747.6</c:v>
                </c:pt>
                <c:pt idx="28">
                  <c:v>4747.6</c:v>
                </c:pt>
                <c:pt idx="29">
                  <c:v>4747.6</c:v>
                </c:pt>
                <c:pt idx="30">
                  <c:v>4747.6</c:v>
                </c:pt>
                <c:pt idx="31">
                  <c:v>4747.6</c:v>
                </c:pt>
                <c:pt idx="32">
                  <c:v>4747.6</c:v>
                </c:pt>
                <c:pt idx="33">
                  <c:v>4747.6</c:v>
                </c:pt>
                <c:pt idx="34">
                  <c:v>4747.6</c:v>
                </c:pt>
                <c:pt idx="35">
                  <c:v>4747.6</c:v>
                </c:pt>
                <c:pt idx="36">
                  <c:v>4747.6</c:v>
                </c:pt>
                <c:pt idx="37">
                  <c:v>4747.6</c:v>
                </c:pt>
                <c:pt idx="38">
                  <c:v>4747.6</c:v>
                </c:pt>
                <c:pt idx="39">
                  <c:v>4747.6</c:v>
                </c:pt>
                <c:pt idx="40">
                  <c:v>4747.6</c:v>
                </c:pt>
                <c:pt idx="41">
                  <c:v>4747.6</c:v>
                </c:pt>
                <c:pt idx="42">
                  <c:v>4747.6</c:v>
                </c:pt>
                <c:pt idx="43">
                  <c:v>4747.6</c:v>
                </c:pt>
              </c:numCache>
            </c:numRef>
          </c:yVal>
          <c:smooth val="0"/>
        </c:ser>
        <c:ser>
          <c:idx val="2"/>
          <c:order val="2"/>
          <c:tx>
            <c:v>Stress floor: 3,815.9</c:v>
          </c:tx>
          <c:spPr>
            <a:ln xmlns:a="http://schemas.openxmlformats.org/drawingml/2006/main" w="23813">
              <a:solidFill>
                <a:srgbClr val="A5483C"/>
              </a:solidFill>
              <a:prstDash val="dash"/>
            </a:ln>
          </c:spPr>
          <c:marker>
            <c:symbol val="none"/>
          </c:marker>
          <c:xVal>
            <c:numRef>
              <c:f>'Chart Data'!$E$2:$E$45</c:f>
              <c:numCache>
                <c:formatCode>General</c:formatCode>
                <c:ptCount val="44"/>
                <c:pt idx="0">
                  <c:v>2015.166666667</c:v>
                </c:pt>
                <c:pt idx="1">
                  <c:v>2015.416666667</c:v>
                </c:pt>
                <c:pt idx="2">
                  <c:v>2015.666666667</c:v>
                </c:pt>
                <c:pt idx="3">
                  <c:v>2015.916666667</c:v>
                </c:pt>
                <c:pt idx="4">
                  <c:v>2016.166666667</c:v>
                </c:pt>
                <c:pt idx="5">
                  <c:v>2016.416666667</c:v>
                </c:pt>
                <c:pt idx="6">
                  <c:v>2016.666666667</c:v>
                </c:pt>
                <c:pt idx="7">
                  <c:v>2016.916666667</c:v>
                </c:pt>
                <c:pt idx="8">
                  <c:v>2017.166666667</c:v>
                </c:pt>
                <c:pt idx="9">
                  <c:v>2017.416666667</c:v>
                </c:pt>
                <c:pt idx="10">
                  <c:v>2017.666666667</c:v>
                </c:pt>
                <c:pt idx="11">
                  <c:v>2017.916666667</c:v>
                </c:pt>
                <c:pt idx="12">
                  <c:v>2018.166666667</c:v>
                </c:pt>
                <c:pt idx="13">
                  <c:v>2018.416666667</c:v>
                </c:pt>
                <c:pt idx="14">
                  <c:v>2018.666666667</c:v>
                </c:pt>
                <c:pt idx="15">
                  <c:v>2018.916666667</c:v>
                </c:pt>
                <c:pt idx="16">
                  <c:v>2019.166666667</c:v>
                </c:pt>
                <c:pt idx="17">
                  <c:v>2019.416666667</c:v>
                </c:pt>
                <c:pt idx="18">
                  <c:v>2019.666666667</c:v>
                </c:pt>
                <c:pt idx="19">
                  <c:v>2019.916666667</c:v>
                </c:pt>
                <c:pt idx="20">
                  <c:v>2020.166666667</c:v>
                </c:pt>
                <c:pt idx="21">
                  <c:v>2020.416666667</c:v>
                </c:pt>
                <c:pt idx="22">
                  <c:v>2020.666666667</c:v>
                </c:pt>
                <c:pt idx="23">
                  <c:v>2020.916666667</c:v>
                </c:pt>
                <c:pt idx="24">
                  <c:v>2021.166666667</c:v>
                </c:pt>
                <c:pt idx="25">
                  <c:v>2021.416666667</c:v>
                </c:pt>
                <c:pt idx="26">
                  <c:v>2021.666666667</c:v>
                </c:pt>
                <c:pt idx="27">
                  <c:v>2021.916666667</c:v>
                </c:pt>
                <c:pt idx="28">
                  <c:v>2022.166666667</c:v>
                </c:pt>
                <c:pt idx="29">
                  <c:v>2022.416666667</c:v>
                </c:pt>
                <c:pt idx="30">
                  <c:v>2022.666666667</c:v>
                </c:pt>
                <c:pt idx="31">
                  <c:v>2022.916666667</c:v>
                </c:pt>
                <c:pt idx="32">
                  <c:v>2023.166666667</c:v>
                </c:pt>
                <c:pt idx="33">
                  <c:v>2023.416666667</c:v>
                </c:pt>
                <c:pt idx="34">
                  <c:v>2023.666666667</c:v>
                </c:pt>
                <c:pt idx="35">
                  <c:v>2023.916666667</c:v>
                </c:pt>
                <c:pt idx="36">
                  <c:v>2024.166666667</c:v>
                </c:pt>
                <c:pt idx="37">
                  <c:v>2024.416666667</c:v>
                </c:pt>
                <c:pt idx="38">
                  <c:v>2024.666666667</c:v>
                </c:pt>
                <c:pt idx="39">
                  <c:v>2024.916666667</c:v>
                </c:pt>
                <c:pt idx="40">
                  <c:v>2025.166666667</c:v>
                </c:pt>
                <c:pt idx="41">
                  <c:v>2025.416666667</c:v>
                </c:pt>
                <c:pt idx="42">
                  <c:v>2025.666666667</c:v>
                </c:pt>
                <c:pt idx="43">
                  <c:v>2025.916666667</c:v>
                </c:pt>
              </c:numCache>
            </c:numRef>
          </c:xVal>
          <c:yVal>
            <c:numRef>
              <c:f>'Chart Data'!$F$2:$F$45</c:f>
              <c:numCache>
                <c:formatCode>#,##0</c:formatCode>
                <c:ptCount val="44"/>
                <c:pt idx="0">
                  <c:v>3815.9</c:v>
                </c:pt>
                <c:pt idx="1">
                  <c:v>3815.9</c:v>
                </c:pt>
                <c:pt idx="2">
                  <c:v>3815.9</c:v>
                </c:pt>
                <c:pt idx="3">
                  <c:v>3815.9</c:v>
                </c:pt>
                <c:pt idx="4">
                  <c:v>3815.9</c:v>
                </c:pt>
                <c:pt idx="5">
                  <c:v>3815.9</c:v>
                </c:pt>
                <c:pt idx="6">
                  <c:v>3815.9</c:v>
                </c:pt>
                <c:pt idx="7">
                  <c:v>3815.9</c:v>
                </c:pt>
                <c:pt idx="8">
                  <c:v>3815.9</c:v>
                </c:pt>
                <c:pt idx="9">
                  <c:v>3815.9</c:v>
                </c:pt>
                <c:pt idx="10">
                  <c:v>3815.9</c:v>
                </c:pt>
                <c:pt idx="11">
                  <c:v>3815.9</c:v>
                </c:pt>
                <c:pt idx="12">
                  <c:v>3815.9</c:v>
                </c:pt>
                <c:pt idx="13">
                  <c:v>3815.9</c:v>
                </c:pt>
                <c:pt idx="14">
                  <c:v>3815.9</c:v>
                </c:pt>
                <c:pt idx="15">
                  <c:v>3815.9</c:v>
                </c:pt>
                <c:pt idx="16">
                  <c:v>3815.9</c:v>
                </c:pt>
                <c:pt idx="17">
                  <c:v>3815.9</c:v>
                </c:pt>
                <c:pt idx="18">
                  <c:v>3815.9</c:v>
                </c:pt>
                <c:pt idx="19">
                  <c:v>3815.9</c:v>
                </c:pt>
                <c:pt idx="20">
                  <c:v>3815.9</c:v>
                </c:pt>
                <c:pt idx="21">
                  <c:v>3815.9</c:v>
                </c:pt>
                <c:pt idx="22">
                  <c:v>3815.9</c:v>
                </c:pt>
                <c:pt idx="23">
                  <c:v>3815.9</c:v>
                </c:pt>
                <c:pt idx="24">
                  <c:v>3815.9</c:v>
                </c:pt>
                <c:pt idx="25">
                  <c:v>3815.9</c:v>
                </c:pt>
                <c:pt idx="26">
                  <c:v>3815.9</c:v>
                </c:pt>
                <c:pt idx="27">
                  <c:v>3815.9</c:v>
                </c:pt>
                <c:pt idx="28">
                  <c:v>3815.9</c:v>
                </c:pt>
                <c:pt idx="29">
                  <c:v>3815.9</c:v>
                </c:pt>
                <c:pt idx="30">
                  <c:v>3815.9</c:v>
                </c:pt>
                <c:pt idx="31">
                  <c:v>3815.9</c:v>
                </c:pt>
                <c:pt idx="32">
                  <c:v>3815.9</c:v>
                </c:pt>
                <c:pt idx="33">
                  <c:v>3815.9</c:v>
                </c:pt>
                <c:pt idx="34">
                  <c:v>3815.9</c:v>
                </c:pt>
                <c:pt idx="35">
                  <c:v>3815.9</c:v>
                </c:pt>
                <c:pt idx="36">
                  <c:v>3815.9</c:v>
                </c:pt>
                <c:pt idx="37">
                  <c:v>3815.9</c:v>
                </c:pt>
                <c:pt idx="38">
                  <c:v>3815.9</c:v>
                </c:pt>
                <c:pt idx="39">
                  <c:v>3815.9</c:v>
                </c:pt>
                <c:pt idx="40">
                  <c:v>3815.9</c:v>
                </c:pt>
                <c:pt idx="41">
                  <c:v>3815.9</c:v>
                </c:pt>
                <c:pt idx="42">
                  <c:v>3815.9</c:v>
                </c:pt>
                <c:pt idx="43">
                  <c:v>3815.9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0"/>
          <c:min val="3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Quarterly fee revenue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B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2026"/>
          <c:min val="2015"/>
        </c:scaling>
        <c:delete val="0"/>
        <c:axPos val="b"/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E2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Non-Interest Income">
            <a:extLst xmlns:a="http://schemas.openxmlformats.org/drawingml/2006/main">
              <a:ext uri="{FF2B5EF4-FFF2-40B4-BE49-F238E27FC236}">
                <a16:creationId xmlns:a16="http://schemas.microsoft.com/office/drawing/2014/main" id="{EB96CD7F-DDE9-4EE8-AB10-F92DC897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4" name="Commercial Card&#10;Fee Revenue Modeling">
            <a:extLst xmlns:a="http://schemas.openxmlformats.org/drawingml/2006/main">
              <a:ext uri="{FF2B5EF4-FFF2-40B4-BE49-F238E27FC236}">
                <a16:creationId xmlns:a16="http://schemas.microsoft.com/office/drawing/2014/main" id="{2B2941FA-FEA4-4756-8BE5-AEB8DE7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066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Debit Card</a:t>
            </a:r>
          </a:p>
          <a:p xmlns:a="http://schemas.openxmlformats.org/drawingml/2006/main"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Fee Revenue Modeling</a:t>
            </a:r>
          </a:p>
        </p:txBody>
      </p:sp>
      <p:sp>
        <p:nvSpPr>
          <p:cNvPr id="5" name="Small Business + Commercial Card">
            <a:extLst xmlns:a="http://schemas.openxmlformats.org/drawingml/2006/main">
              <a:ext uri="{FF2B5EF4-FFF2-40B4-BE49-F238E27FC236}">
                <a16:creationId xmlns:a16="http://schemas.microsoft.com/office/drawing/2014/main" id="{D07C77B4-83A1-471B-B1E5-C9B0BCD4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Model Development and Adopted Treatment</a:t>
            </a:r>
          </a:p>
        </p:txBody>
      </p:sp>
      <p:sp>
        <p:nvSpPr>
          <p:cNvPr id="6" name="PPNR / CCAR Model Development Review&#10;September 24, 2026">
            <a:extLst xmlns:a="http://schemas.openxmlformats.org/drawingml/2006/main">
              <a:ext uri="{FF2B5EF4-FFF2-40B4-BE49-F238E27FC236}">
                <a16:creationId xmlns:a16="http://schemas.microsoft.com/office/drawing/2014/main" id="{015241B9-DB50-4CF5-9750-4C009605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191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Current-run-rate baseline and historical stress floor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Calibration through December 2025</a:t>
            </a:r>
          </a:p>
        </p:txBody>
      </p:sp>
    </p:spTree>
    <p:extLst>
      <p:ext uri="{BB962C8B-B14F-4D97-AF65-F5344CB8AC3E}">
        <p14:creationId xmlns:p14="http://schemas.microsoft.com/office/powerpoint/2010/main" val="1609394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Adopted forecast treatment">
            <a:extLst xmlns:a="http://schemas.openxmlformats.org/drawingml/2006/main">
              <a:ext uri="{FF2B5EF4-FFF2-40B4-BE49-F238E27FC236}">
                <a16:creationId xmlns:a16="http://schemas.microsoft.com/office/drawing/2014/main" id="{A18EFAE8-E8C5-4581-A836-FBFA1925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192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Adopted forecast treatment</a:t>
            </a:r>
          </a:p>
        </p:txBody>
      </p:sp>
      <p:sp>
        <p:nvSpPr>
          <p:cNvPr id="7" name="Use a recent quarterly run rate for the baseline and a histo">
            <a:extLst xmlns:a="http://schemas.openxmlformats.org/drawingml/2006/main">
              <a:ext uri="{FF2B5EF4-FFF2-40B4-BE49-F238E27FC236}">
                <a16:creationId xmlns:a16="http://schemas.microsoft.com/office/drawing/2014/main" id="{9F053DE4-253F-4468-8F0D-6C1B9172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Use a recent quarterly run rate for the baseline and a historical post-2015 downside calibration for the stress floor.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886075"/>
          <a:ext xmlns:a="http://schemas.openxmlformats.org/drawingml/2006/main" cx="10972800" cy="1171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Quarterly baseline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Quarterly stress floor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Decline from baseline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4,747.6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3,815.9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19.6%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9" name="Why a fitted macro regression was not adopted">
            <a:extLst xmlns:a="http://schemas.openxmlformats.org/drawingml/2006/main">
              <a:ext uri="{FF2B5EF4-FFF2-40B4-BE49-F238E27FC236}">
                <a16:creationId xmlns:a16="http://schemas.microsoft.com/office/drawing/2014/main" id="{7940989F-9112-4348-9349-FFEB876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Why a fitted macro regression was not adopted</a:t>
            </a:r>
          </a:p>
        </p:txBody>
      </p:sp>
      <p:sp>
        <p:nvSpPr>
          <p:cNvPr id="10" name="No first-step candidate passed all four diagnostic gates in ">
            <a:extLst xmlns:a="http://schemas.openxmlformats.org/drawingml/2006/main">
              <a:ext uri="{FF2B5EF4-FFF2-40B4-BE49-F238E27FC236}">
                <a16:creationId xmlns:a16="http://schemas.microsoft.com/office/drawing/2014/main" id="{410B9E71-5DF7-481D-80A8-318DADD1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 first-step candidate passed all four diagnostic gates in the updated screens. A sustained Q1 2015 level shift remains unexplained.</a:t>
            </a:r>
          </a:p>
        </p:txBody>
      </p:sp>
      <p:sp>
        <p:nvSpPr>
          <p:cNvPr id="11" name="The treatment is an assumption-based calibration, not a fitt">
            <a:extLst xmlns:a="http://schemas.openxmlformats.org/drawingml/2006/main">
              <a:ext uri="{FF2B5EF4-FFF2-40B4-BE49-F238E27FC236}">
                <a16:creationId xmlns:a16="http://schemas.microsoft.com/office/drawing/2014/main" id="{8F1BA671-FD04-4B77-8E39-858C0A59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treatment is an assumption-based calibration, not a fitted macro-scenario forecast.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36B9294-8BBE-4B0D-B520-648277F9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Data Scope and Adjustments</a:t>
            </a:r>
          </a:p>
        </p:txBody>
      </p:sp>
      <p:sp>
        <p:nvSpPr>
          <p:cNvPr id="5" name="3">
            <a:extLst xmlns:a="http://schemas.openxmlformats.org/drawingml/2006/main">
              <a:ext uri="{FF2B5EF4-FFF2-40B4-BE49-F238E27FC236}">
                <a16:creationId xmlns:a16="http://schemas.microsoft.com/office/drawing/2014/main" id="{B72CF65C-219A-492B-884C-18DFC28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6175"/>
                <a:gridCol w="7286625"/>
              </a:tblGrid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Debit Card fee revenue; monthly observations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Calendar 2011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 the full year; October fee revenue fell about 59%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March and December 2012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Replace two confirmed one-off spikes with adjacent-month means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2014 anomalies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 in the data; business explanation remains unconfirmed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Regression screening cutoff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September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3203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Adopted calibration cutoff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he report associates the 2011 disruption with the October 2">
            <a:extLst xmlns:a="http://schemas.openxmlformats.org/drawingml/2006/main">
              <a:ext uri="{FF2B5EF4-FFF2-40B4-BE49-F238E27FC236}">
                <a16:creationId xmlns:a16="http://schemas.microsoft.com/office/drawing/2014/main" id="{5D2DBDBA-7993-4F2B-964A-831CA89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report associates the 2011 disruption with the October 2011 interchange-cap implementation.</a:t>
            </a:r>
          </a:p>
        </p:txBody>
      </p:sp>
      <p:sp>
        <p:nvSpPr>
          <p:cNvPr id="8" name="Only business-confirmed 2012 events are adjusted. The later ">
            <a:extLst xmlns:a="http://schemas.openxmlformats.org/drawingml/2006/main">
              <a:ext uri="{FF2B5EF4-FFF2-40B4-BE49-F238E27FC236}">
                <a16:creationId xmlns:a16="http://schemas.microsoft.com/office/drawing/2014/main" id="{36E4038B-6CC2-49A6-B9F7-71B1567B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Only business-confirmed 2012 events are adjusted. The later anomalies and level shift remain visible.</a:t>
            </a:r>
          </a:p>
        </p:txBody>
      </p:sp>
    </p:spTree>
    <p:extLst>
      <p:ext uri="{BB962C8B-B14F-4D97-AF65-F5344CB8AC3E}">
        <p14:creationId xmlns:p14="http://schemas.microsoft.com/office/powerpoint/2010/main" val="82205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BDF0BA8-81E5-414F-963F-5D4A5004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Confirmed 2012 One-Off Adjustments</a:t>
            </a:r>
          </a:p>
        </p:txBody>
      </p:sp>
      <p:sp>
        <p:nvSpPr>
          <p:cNvPr id="5" name="4">
            <a:extLst xmlns:a="http://schemas.openxmlformats.org/drawingml/2006/main">
              <a:ext uri="{FF2B5EF4-FFF2-40B4-BE49-F238E27FC236}">
                <a16:creationId xmlns:a16="http://schemas.microsoft.com/office/drawing/2014/main" id="{2CE2D929-FC26-4CFA-A6BB-A17F71A9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Reversals of accrued purchase-perks / card-rewards expense w">
            <a:extLst xmlns:a="http://schemas.openxmlformats.org/drawingml/2006/main">
              <a:ext uri="{FF2B5EF4-FFF2-40B4-BE49-F238E27FC236}">
                <a16:creationId xmlns:a16="http://schemas.microsoft.com/office/drawing/2014/main" id="{1EE84F7C-9B47-460F-925F-CD0A3529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Reversals of accrued purchase-perks / card-rewards expense were unrelated to core transaction activity.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505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bb0f5f0de2436e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4657725"/>
          <a:ext xmlns:a="http://schemas.openxmlformats.org/drawingml/2006/main" cx="10972800" cy="1066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009900"/>
                <a:gridCol w="3009900"/>
              </a:tblGrid>
              <a:tr h="355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Raw fee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Adjusted fee</a:t>
                      </a:r>
                    </a:p>
                  </a:txBody>
                  <a:tcPr marL="114300" marR="85725" marT="38100" marB="38100" anchor="ctr">
                    <a:solidFill>
                      <a:srgbClr val="006C98"/>
                    </a:solidFill>
                  </a:tcPr>
                </a:tc>
              </a:tr>
              <a:tr h="355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March 2012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1,650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853.5</a:t>
                      </a:r>
                    </a:p>
                  </a:txBody>
                  <a:tcPr marL="114300" marR="85725" marT="38100" marB="38100" anchor="ctr">
                    <a:solidFill>
                      <a:srgbClr val="F3F5F6"/>
                    </a:solidFill>
                  </a:tcPr>
                </a:tc>
              </a:tr>
              <a:tr h="355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 2012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2,916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780.5</a:t>
                      </a:r>
                    </a:p>
                  </a:txBody>
                  <a:tcPr marL="114300" marR="857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Each replacement equals the average of the immediately prece">
            <a:extLst xmlns:a="http://schemas.openxmlformats.org/drawingml/2006/main">
              <a:ext uri="{FF2B5EF4-FFF2-40B4-BE49-F238E27FC236}">
                <a16:creationId xmlns:a16="http://schemas.microsoft.com/office/drawing/2014/main" id="{B07FA4F6-E384-4F8B-850E-FF3ACA7F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Each replacement equals the average of the immediately preceding and following monthly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239750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D996EEB-E170-415E-B005-9742539A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Stationarity Before and After Cleaning</a:t>
            </a:r>
          </a:p>
        </p:txBody>
      </p:sp>
      <p:sp>
        <p:nvSpPr>
          <p:cNvPr id="5" name="5">
            <a:extLst xmlns:a="http://schemas.openxmlformats.org/drawingml/2006/main">
              <a:ext uri="{FF2B5EF4-FFF2-40B4-BE49-F238E27FC236}">
                <a16:creationId xmlns:a16="http://schemas.microsoft.com/office/drawing/2014/main" id="{3E3D7F31-3CF7-41A2-BE6F-A01EAB7D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1933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971675"/>
                <a:gridCol w="1971675"/>
                <a:gridCol w="3600450"/>
              </a:tblGrid>
              <a:tr h="644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Level series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ADF 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KPSS 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Assessment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644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Raw debit fee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0.013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Conflicting test outcomes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44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Spike-adjusted debit fee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0.586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Both support nonstationarity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Implication for model development">
            <a:extLst xmlns:a="http://schemas.openxmlformats.org/drawingml/2006/main">
              <a:ext uri="{FF2B5EF4-FFF2-40B4-BE49-F238E27FC236}">
                <a16:creationId xmlns:a16="http://schemas.microsoft.com/office/drawing/2014/main" id="{6D41FD2E-067B-4535-8E35-5363BA6A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Implication for model development</a:t>
            </a:r>
          </a:p>
        </p:txBody>
      </p:sp>
      <p:sp>
        <p:nvSpPr>
          <p:cNvPr id="8" name="Cleaning removes the raw-level ADF rejection. The report the">
            <a:extLst xmlns:a="http://schemas.openxmlformats.org/drawingml/2006/main">
              <a:ext uri="{FF2B5EF4-FFF2-40B4-BE49-F238E27FC236}">
                <a16:creationId xmlns:a16="http://schemas.microsoft.com/office/drawing/2014/main" id="{3AB0BE80-4759-4234-B876-EAEBAAD2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Cleaning removes the raw-level ADF rejection. The report therefore explores both a level framework and transformed growth targets.</a:t>
            </a:r>
          </a:p>
        </p:txBody>
      </p:sp>
      <p:sp>
        <p:nvSpPr>
          <p:cNvPr id="9" name="The report labels the adjusted level I(1); level tests alone">
            <a:extLst xmlns:a="http://schemas.openxmlformats.org/drawingml/2006/main">
              <a:ext uri="{FF2B5EF4-FFF2-40B4-BE49-F238E27FC236}">
                <a16:creationId xmlns:a16="http://schemas.microsoft.com/office/drawing/2014/main" id="{EE56BE10-ED83-4E54-AFFE-0274B411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report labels the adjusted level I(1); level tests alone do not establish the order of integration.</a:t>
            </a:r>
          </a:p>
        </p:txBody>
      </p:sp>
    </p:spTree>
    <p:extLst>
      <p:ext uri="{BB962C8B-B14F-4D97-AF65-F5344CB8AC3E}">
        <p14:creationId xmlns:p14="http://schemas.microsoft.com/office/powerpoint/2010/main" val="1443906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Updated Regression Screening Design</a:t>
            </a:r>
          </a:p>
        </p:txBody>
      </p:sp>
      <p:sp>
        <p:nvSpPr>
          <p:cNvPr id="5" name="6">
            <a:extLst xmlns:a="http://schemas.openxmlformats.org/drawingml/2006/main"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Fresh forward selection begins with an intercept-only model;">
            <a:extLst xmlns:a="http://schemas.openxmlformats.org/drawingml/2006/main">
              <a:ext uri="{FF2B5EF4-FFF2-40B4-BE49-F238E27FC236}">
                <a16:creationId xmlns:a16="http://schemas.microsoft.com/office/drawing/2014/main" id="{44B41CB9-C250-423F-9E4F-89058B6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Fresh forward selection begins with an intercept-only model; each first-step trial adds one term.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24425"/>
                <a:gridCol w="6048375"/>
              </a:tblGrid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Search setting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universe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 series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/ quarterly lag limits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Up to 12 monthly lags / 4 quarterly lags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Added-term significance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Ordinary OLS p &lt; 0.05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Residual serial-correlation gate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Durbin–Watson between 1.5 and 2.5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Residual-normality gate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Jarque–Bera p &gt; 0.05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49666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Collinearity gate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nonconstant VIFs &lt; 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very gate must pass jointly before a candidate can enter. T">
            <a:extLst xmlns:a="http://schemas.openxmlformats.org/drawingml/2006/main">
              <a:ext uri="{FF2B5EF4-FFF2-40B4-BE49-F238E27FC236}">
                <a16:creationId xmlns:a16="http://schemas.microsoft.com/office/drawing/2014/main" id="{8FBB00D5-1356-45E6-BC09-5A09A5C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Every gate must pass jointly before a candidate can enter. Training data end in September 2023.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E11BCAC-5587-4C0E-A24E-AAFC1ABD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Regression Exploration: Four Frameworks</a:t>
            </a:r>
          </a:p>
        </p:txBody>
      </p:sp>
      <p:sp>
        <p:nvSpPr>
          <p:cNvPr id="5" name="7">
            <a:extLst xmlns:a="http://schemas.openxmlformats.org/drawingml/2006/main">
              <a:ext uri="{FF2B5EF4-FFF2-40B4-BE49-F238E27FC236}">
                <a16:creationId xmlns:a16="http://schemas.microsoft.com/office/drawing/2014/main" id="{49FD2A59-1653-44BB-98CD-5AA9589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29050"/>
                <a:gridCol w="3619500"/>
                <a:gridCol w="3524250"/>
              </a:tblGrid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Framework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Updated first-step 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Binding limitation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Level direct ARDL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194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The only DW-pass trial fails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YoY route toward EG / ECM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14 static macro candidates eligible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JB; EG / ECM not reached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MoM ARDL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194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QoQ ARDL: quarterly totals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74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QoQ sensitivity: monthly 3-month growth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/ 194 candidates eligible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fail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7" name="Earlier fixed / fallback formulas remain context in the repo">
            <a:extLst xmlns:a="http://schemas.openxmlformats.org/drawingml/2006/main">
              <a:ext uri="{FF2B5EF4-FFF2-40B4-BE49-F238E27FC236}">
                <a16:creationId xmlns:a16="http://schemas.microsoft.com/office/drawing/2014/main" id="{CA200FAE-ECAD-4D41-94D9-B7CA61A8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Earlier fixed / fallback formulas remain context in the report, not selected models from this updated search.</a:t>
            </a:r>
          </a:p>
        </p:txBody>
      </p:sp>
      <p:sp>
        <p:nvSpPr>
          <p:cNvPr id="8" name="Zero eligible first additions does not prove that every poss">
            <a:extLst xmlns:a="http://schemas.openxmlformats.org/drawingml/2006/main">
              <a:ext uri="{FF2B5EF4-FFF2-40B4-BE49-F238E27FC236}">
                <a16:creationId xmlns:a16="http://schemas.microsoft.com/office/drawing/2014/main" id="{96D9FCE3-C0C6-4F8C-98E7-9D7D12E9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Zero eligible first additions does not prove that every possible multivariable specification would fail.</a:t>
            </a:r>
          </a:p>
        </p:txBody>
      </p:sp>
    </p:spTree>
    <p:extLst>
      <p:ext uri="{BB962C8B-B14F-4D97-AF65-F5344CB8AC3E}">
        <p14:creationId xmlns:p14="http://schemas.microsoft.com/office/powerpoint/2010/main" val="1996438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D9C853C-A826-48E5-B13B-7302381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Level ARDL: Joint Diagnostics Matter</a:t>
            </a:r>
          </a:p>
        </p:txBody>
      </p:sp>
      <p:sp>
        <p:nvSpPr>
          <p:cNvPr id="5" name="8">
            <a:extLst xmlns:a="http://schemas.openxmlformats.org/drawingml/2006/main">
              <a:ext uri="{FF2B5EF4-FFF2-40B4-BE49-F238E27FC236}">
                <a16:creationId xmlns:a16="http://schemas.microsoft.com/office/drawing/2014/main" id="{CBDAFAA8-658A-46A6-AC82-A6C99E79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48025"/>
                <a:gridCol w="2209800"/>
                <a:gridCol w="2305050"/>
                <a:gridCol w="3209925"/>
              </a:tblGrid>
              <a:tr h="660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First-step trial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Durbin–Watson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Jarque–Bera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660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 first target lag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2.5363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0.2084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Fails DW upper bound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60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 second target lag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1.5997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0.00285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Fails residual normality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o admissible first addition">
            <a:extLst xmlns:a="http://schemas.openxmlformats.org/drawingml/2006/main">
              <a:ext uri="{FF2B5EF4-FFF2-40B4-BE49-F238E27FC236}">
                <a16:creationId xmlns:a16="http://schemas.microsoft.com/office/drawing/2014/main" id="{C0870E93-E531-4911-9517-49BF3A1D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No admissible first addition</a:t>
            </a:r>
          </a:p>
        </p:txBody>
      </p:sp>
      <p:sp>
        <p:nvSpPr>
          <p:cNvPr id="8" name="Across 194 trials, only the second target lag satisfies the ">
            <a:extLst xmlns:a="http://schemas.openxmlformats.org/drawingml/2006/main">
              <a:ext uri="{FF2B5EF4-FFF2-40B4-BE49-F238E27FC236}">
                <a16:creationId xmlns:a16="http://schemas.microsoft.com/office/drawing/2014/main" id="{70B587D6-9273-43C7-B207-A2465D24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Across 194 trials, only the second target lag satisfies the DW gate. That trial fails JB, so forward selection cannot proceed.</a:t>
            </a:r>
          </a:p>
        </p:txBody>
      </p:sp>
      <p:sp>
        <p:nvSpPr>
          <p:cNvPr id="9" name="A significant autoregressive term alone is insufficient to s">
            <a:extLst xmlns:a="http://schemas.openxmlformats.org/drawingml/2006/main">
              <a:ext uri="{FF2B5EF4-FFF2-40B4-BE49-F238E27FC236}">
                <a16:creationId xmlns:a16="http://schemas.microsoft.com/office/drawing/2014/main" id="{63DC64ED-5A43-47E9-A1ED-95914E1C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 significant autoregressive term alone is insufficient to satisfy the report’s combined entry criteria.</a:t>
            </a:r>
          </a:p>
        </p:txBody>
      </p:sp>
    </p:spTree>
    <p:extLst>
      <p:ext uri="{BB962C8B-B14F-4D97-AF65-F5344CB8AC3E}">
        <p14:creationId xmlns:p14="http://schemas.microsoft.com/office/powerpoint/2010/main" val="1852534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A6C28DE-6F6A-489B-BE84-B5010111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Growth Targets: Residual Normality Fails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5BD6D01F-AFE8-4F33-A913-C03A394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0972800" cy="2867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8075"/>
                <a:gridCol w="3743325"/>
                <a:gridCol w="3581400"/>
              </a:tblGrid>
              <a:tr h="57340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Route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Best / illustrative JB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Updated screening outcome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7340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YoY static macro screen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Highest: 9.56 × 10⁻²³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14 candidates fail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7340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MoM ARDL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First target lag: 8.13 × 10⁻¹⁸¹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194 candidates fail JB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7340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Quarterly QoQ ARDL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Highest: 0.01629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74 candidates fail JB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7340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Monthly 3-month growth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below 0.05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194 candidates fail JB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Engle–Granger route stops at preliminary screening">
            <a:extLst xmlns:a="http://schemas.openxmlformats.org/drawingml/2006/main">
              <a:ext uri="{FF2B5EF4-FFF2-40B4-BE49-F238E27FC236}">
                <a16:creationId xmlns:a16="http://schemas.microsoft.com/office/drawing/2014/main" id="{9930EF68-2FB5-4555-9D6F-AF6AAF04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Engle–Granger route stops at preliminary screening</a:t>
            </a:r>
          </a:p>
        </p:txBody>
      </p:sp>
      <p:sp>
        <p:nvSpPr>
          <p:cNvPr id="8" name="No cointegration test or short-run ECM is estimated in this ">
            <a:extLst xmlns:a="http://schemas.openxmlformats.org/drawingml/2006/main">
              <a:ext uri="{FF2B5EF4-FFF2-40B4-BE49-F238E27FC236}">
                <a16:creationId xmlns:a16="http://schemas.microsoft.com/office/drawing/2014/main" id="{06ADE241-BD5B-4C15-A5B8-A6792545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 cointegration test or short-run ECM is estimated in this updated YoY screen.</a:t>
            </a:r>
          </a:p>
        </p:txBody>
      </p:sp>
      <p:sp>
        <p:nvSpPr>
          <p:cNvPr id="9" name="Transforming the target does not eliminate the heavy-tailed ">
            <a:extLst xmlns:a="http://schemas.openxmlformats.org/drawingml/2006/main">
              <a:ext uri="{FF2B5EF4-FFF2-40B4-BE49-F238E27FC236}">
                <a16:creationId xmlns:a16="http://schemas.microsoft.com/office/drawing/2014/main" id="{4767AA9E-0273-4F4B-A1D8-59E22EA5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Transforming the target does not eliminate the heavy-tailed residual problem in these first-step trials.</a:t>
            </a:r>
          </a:p>
        </p:txBody>
      </p:sp>
    </p:spTree>
    <p:extLst>
      <p:ext uri="{BB962C8B-B14F-4D97-AF65-F5344CB8AC3E}">
        <p14:creationId xmlns:p14="http://schemas.microsoft.com/office/powerpoint/2010/main" val="156639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Unconfirmed 2014 Fee Anomalies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0075" y="1590675"/>
          <a:ext xmlns:a="http://schemas.openxmlformats.org/drawingml/2006/main" cx="6829425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a03b4264a9486e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724775" y="1828800"/>
          <a:ext xmlns:a="http://schemas.openxmlformats.org/drawingml/2006/main" cx="37909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981200"/>
              </a:tblGrid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 / change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March spike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1,506 / +78%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April reversal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−34.5%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June spike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1,504 / +37%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July reversal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−26.5%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oth spikes remain unadjusted pending business confirmation.">
            <a:extLst xmlns:a="http://schemas.openxmlformats.org/drawingml/2006/main">
              <a:ext uri="{FF2B5EF4-FFF2-40B4-BE49-F238E27FC236}">
                <a16:creationId xmlns:a16="http://schemas.microsoft.com/office/drawing/2014/main" id="{561FFF59-CBFB-46FF-BC86-6840F801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33950"/>
            <a:ext cx="3676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Both spikes remain unadjusted pending business confirmation.</a:t>
            </a:r>
          </a:p>
        </p:txBody>
      </p:sp>
      <p:sp>
        <p:nvSpPr>
          <p:cNvPr id="9" name="The report links these suspected events to growth-model tail">
            <a:extLst xmlns:a="http://schemas.openxmlformats.org/drawingml/2006/main">
              <a:ext uri="{FF2B5EF4-FFF2-40B4-BE49-F238E27FC236}">
                <a16:creationId xmlns:a16="http://schemas.microsoft.com/office/drawing/2014/main" id="{0F3D5885-DDA6-4128-9B03-DE3CEFEF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report links these suspected events to growth-model tail behavior; their business cause is not confirmed.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BE5A248-4371-435F-9075-1F7A6895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A Sustained Level Shift in Q1 2015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D0C6B3AC-E260-41D2-9C19-4F7FD50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0075" y="1676400"/>
          <a:ext xmlns:a="http://schemas.openxmlformats.org/drawingml/2006/main" cx="6934200" cy="3914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7d56b6f1cb46d3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781925" y="1819275"/>
          <a:ext xmlns:a="http://schemas.openxmlformats.org/drawingml/2006/main" cx="3752850" cy="2924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1695450"/>
              </a:tblGrid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mean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2012–2014</a:t>
                      </a:r>
                    </a:p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2,919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2015–2023 Q3</a:t>
                      </a:r>
                    </a:p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35 quarters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4,493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7310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2015–2025</a:t>
                      </a:r>
                    </a:p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4,554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  <p:sp>
        <p:nvSpPr>
          <p:cNvPr id="8" name="The report finds no tested macro driver that explains the st">
            <a:extLst xmlns:a="http://schemas.openxmlformats.org/drawingml/2006/main">
              <a:ext uri="{FF2B5EF4-FFF2-40B4-BE49-F238E27FC236}">
                <a16:creationId xmlns:a16="http://schemas.microsoft.com/office/drawing/2014/main" id="{12A29355-02DE-4021-AFD4-7BA4E43E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057775"/>
            <a:ext cx="3667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report finds no tested macro driver that explains the step.</a:t>
            </a:r>
          </a:p>
        </p:txBody>
      </p:sp>
      <p:sp>
        <p:nvSpPr>
          <p:cNvPr id="9" name="The higher level persists through 2025. The adopted calibrat">
            <a:extLst xmlns:a="http://schemas.openxmlformats.org/drawingml/2006/main">
              <a:ext uri="{FF2B5EF4-FFF2-40B4-BE49-F238E27FC236}">
                <a16:creationId xmlns:a16="http://schemas.microsoft.com/office/drawing/2014/main" id="{991E4F27-235F-4A9B-8C91-9AF002E5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higher level persists through 2025. The adopted calibration therefore uses only the post-2015 regime.</a:t>
            </a:r>
          </a:p>
        </p:txBody>
      </p:sp>
    </p:spTree>
    <p:extLst>
      <p:ext uri="{BB962C8B-B14F-4D97-AF65-F5344CB8AC3E}">
        <p14:creationId xmlns:p14="http://schemas.microsoft.com/office/powerpoint/2010/main" val="1951097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Adopted Baseline and Stress Treatment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2219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9300"/>
                <a:gridCol w="3324225"/>
                <a:gridCol w="3190875"/>
                <a:gridCol w="2438400"/>
              </a:tblGrid>
              <a:tr h="739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Calibration window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Construction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Quarterly 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739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Q1 – 2025 Q4</a:t>
                      </a:r>
                    </a:p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Recent arithmetic mean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4,747.6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739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Stress floor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 Q1 – 2025 Q4</a:t>
                      </a:r>
                    </a:p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minus 2 standard deviations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3,815.9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wo windows, two purposes">
            <a:extLst xmlns:a="http://schemas.openxmlformats.org/drawingml/2006/main">
              <a:ext uri="{FF2B5EF4-FFF2-40B4-BE49-F238E27FC236}">
                <a16:creationId xmlns:a16="http://schemas.microsoft.com/office/drawing/2014/main" id="{4535CD30-0808-4990-8F04-B487367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Two windows, two purposes</a:t>
            </a:r>
          </a:p>
        </p:txBody>
      </p:sp>
      <p:sp>
        <p:nvSpPr>
          <p:cNvPr id="8" name="The baseline reflects current earnings capacity. The longer ">
            <a:extLst xmlns:a="http://schemas.openxmlformats.org/drawingml/2006/main">
              <a:ext uri="{FF2B5EF4-FFF2-40B4-BE49-F238E27FC236}">
                <a16:creationId xmlns:a16="http://schemas.microsoft.com/office/drawing/2014/main" id="{7BC88AEE-E352-4C17-AD4C-33793A4D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baseline reflects current earnings capacity. The longer post-break window captures historical dispersion for downside calibration.</a:t>
            </a:r>
          </a:p>
        </p:txBody>
      </p:sp>
      <p:sp>
        <p:nvSpPr>
          <p:cNvPr id="9" name="These are baseline and stress assumptions. Neither is an est">
            <a:extLst xmlns:a="http://schemas.openxmlformats.org/drawingml/2006/main">
              <a:ext uri="{FF2B5EF4-FFF2-40B4-BE49-F238E27FC236}">
                <a16:creationId xmlns:a16="http://schemas.microsoft.com/office/drawing/2014/main" id="{1C7219B6-B41D-489A-9483-C02DCE9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These are baseline and stress assumptions. Neither is an estimated macro-regression equation.</a:t>
            </a:r>
          </a:p>
        </p:txBody>
      </p:sp>
    </p:spTree>
    <p:extLst>
      <p:ext uri="{BB962C8B-B14F-4D97-AF65-F5344CB8AC3E}">
        <p14:creationId xmlns:p14="http://schemas.microsoft.com/office/powerpoint/2010/main" val="2829121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1586FFC-EF50-4235-89A5-9C602890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Baseline: The Most Recent Eight Quarters</a:t>
            </a:r>
          </a:p>
        </p:txBody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C3100EF5-2E7F-4F0B-BCB8-DBDBEFBF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19125" y="1628775"/>
          <a:ext xmlns:a="http://schemas.openxmlformats.org/drawingml/2006/main" cx="54102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7975"/>
                <a:gridCol w="2562225"/>
              </a:tblGrid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Quarter</a:t>
                      </a:r>
                    </a:p>
                  </a:txBody>
                  <a:tcPr marL="114300" marR="85725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 revenue</a:t>
                      </a:r>
                    </a:p>
                  </a:txBody>
                  <a:tcPr marL="114300" marR="85725" marT="47625" marB="47625" anchor="ctr">
                    <a:solidFill>
                      <a:srgbClr val="006C98"/>
                    </a:solidFill>
                  </a:tcPr>
                </a:tc>
              </a:tr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Q1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4,148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</a:tr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Q2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4,873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Q3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4,691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</a:tr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Q4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4,949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2025 Q1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4,600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</a:tr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2025 Q2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4,869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2025 Q3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4,988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</a:tr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2025 Q4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4,863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Quarterly baseline">
            <a:extLst xmlns:a="http://schemas.openxmlformats.org/drawingml/2006/main">
              <a:ext uri="{FF2B5EF4-FFF2-40B4-BE49-F238E27FC236}">
                <a16:creationId xmlns:a16="http://schemas.microsoft.com/office/drawing/2014/main" id="{3DF97858-40BD-4557-B71E-0D49C58A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0502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Quarterly baseline</a:t>
            </a:r>
          </a:p>
        </p:txBody>
      </p:sp>
      <p:sp>
        <p:nvSpPr>
          <p:cNvPr id="8" name="4,747.6">
            <a:extLst xmlns:a="http://schemas.openxmlformats.org/drawingml/2006/main">
              <a:ext uri="{FF2B5EF4-FFF2-40B4-BE49-F238E27FC236}">
                <a16:creationId xmlns:a16="http://schemas.microsoft.com/office/drawing/2014/main" id="{67A326AF-675F-4748-8098-9C2A13B4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95575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4,747.6</a:t>
            </a:r>
          </a:p>
        </p:txBody>
      </p:sp>
      <p:sp>
        <p:nvSpPr>
          <p:cNvPr id="9" name="Arithmetic mean of the eight&#10;actual quarters through 2025 Q4">
            <a:extLst xmlns:a="http://schemas.openxmlformats.org/drawingml/2006/main">
              <a:ext uri="{FF2B5EF4-FFF2-40B4-BE49-F238E27FC236}">
                <a16:creationId xmlns:a16="http://schemas.microsoft.com/office/drawing/2014/main" id="{60A20729-4106-4392-A532-5F75B924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48075"/>
            <a:ext cx="4705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Arithmetic mean of the eight</a:t>
            </a:r>
          </a:p>
          <a:p xmlns:a="http://schemas.openxmlformats.org/drawingml/2006/main">
            <a:pPr algn="l">
              <a:defRPr sz="19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actual quarters through 2025 Q4.</a:t>
            </a:r>
          </a:p>
        </p:txBody>
      </p:sp>
      <p:sp>
        <p:nvSpPr>
          <p:cNvPr id="10" name="2024 Q1 – 2025 Q4">
            <a:extLst xmlns:a="http://schemas.openxmlformats.org/drawingml/2006/main">
              <a:ext uri="{FF2B5EF4-FFF2-40B4-BE49-F238E27FC236}">
                <a16:creationId xmlns:a16="http://schemas.microsoft.com/office/drawing/2014/main" id="{B3F04B66-A7E8-4A3E-A9C4-26876B23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72025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2024 Q1 – 2025 Q4</a:t>
            </a:r>
          </a:p>
        </p:txBody>
      </p:sp>
      <p:sp>
        <p:nvSpPr>
          <p:cNvPr id="11" name="The report’s baseline exactly reconciles to the available da">
            <a:extLst xmlns:a="http://schemas.openxmlformats.org/drawingml/2006/main">
              <a:ext uri="{FF2B5EF4-FFF2-40B4-BE49-F238E27FC236}">
                <a16:creationId xmlns:a16="http://schemas.microsoft.com/office/drawing/2014/main" id="{F4E1B9B5-82B8-4B44-A7BF-217C2A59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report’s baseline exactly reconciles to the available data at the displayed precision.</a:t>
            </a:r>
          </a:p>
        </p:txBody>
      </p:sp>
    </p:spTree>
    <p:extLst>
      <p:ext uri="{BB962C8B-B14F-4D97-AF65-F5344CB8AC3E}">
        <p14:creationId xmlns:p14="http://schemas.microsoft.com/office/powerpoint/2010/main" val="924055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61F9A7A-634F-46EC-8F7E-85A47A5B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Why the Baseline Uses a Recent Window</a:t>
            </a:r>
          </a:p>
        </p:txBody>
      </p:sp>
      <p:sp>
        <p:nvSpPr>
          <p:cNvPr id="5" name="9">
            <a:extLst xmlns:a="http://schemas.openxmlformats.org/drawingml/2006/main">
              <a:ext uri="{FF2B5EF4-FFF2-40B4-BE49-F238E27FC236}">
                <a16:creationId xmlns:a16="http://schemas.microsoft.com/office/drawing/2014/main" id="{D3720EAC-6718-4C60-82E6-2E4D096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800225"/>
          <a:ext xmlns:a="http://schemas.openxmlformats.org/drawingml/2006/main" cx="1097280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34a2314a01467e"/>
          </a:graphicData>
        </a:graphic>
      </p:graphicFrame>
      <p:sp>
        <p:nvSpPr>
          <p:cNvPr id="7" name="The reported post-2015 mean of 4,554 is about 4% below the r">
            <a:extLst xmlns:a="http://schemas.openxmlformats.org/drawingml/2006/main">
              <a:ext uri="{FF2B5EF4-FFF2-40B4-BE49-F238E27FC236}">
                <a16:creationId xmlns:a16="http://schemas.microsoft.com/office/drawing/2014/main" id="{E5B866F5-30EA-4A73-9A0C-E76900AF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reported post-2015 mean of 4,554 is about 4% below the recent baseline.</a:t>
            </a:r>
          </a:p>
        </p:txBody>
      </p:sp>
      <p:sp>
        <p:nvSpPr>
          <p:cNvPr id="8" name="Using recent observations avoids anchoring the baseline to t">
            <a:extLst xmlns:a="http://schemas.openxmlformats.org/drawingml/2006/main">
              <a:ext uri="{FF2B5EF4-FFF2-40B4-BE49-F238E27FC236}">
                <a16:creationId xmlns:a16="http://schemas.microsoft.com/office/drawing/2014/main" id="{D407DCB0-E800-4134-AD6B-2AC3BF31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Using recent observations avoids anchoring the baseline to the lower average of the earlier post-break years.</a:t>
            </a:r>
          </a:p>
        </p:txBody>
      </p:sp>
    </p:spTree>
    <p:extLst>
      <p:ext uri="{BB962C8B-B14F-4D97-AF65-F5344CB8AC3E}">
        <p14:creationId xmlns:p14="http://schemas.microsoft.com/office/powerpoint/2010/main" val="9835164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8D5A779-8687-4DFC-8C29-FE37619E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Historical Stress-Floor Calibration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A5B212A1-C77F-44D3-BFF6-A885385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19125" y="1638300"/>
          <a:ext xmlns:a="http://schemas.openxmlformats.org/drawingml/2006/main" cx="6372225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24325"/>
                <a:gridCol w="2247900"/>
              </a:tblGrid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Post-2015 statistic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Reported 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Observation count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4,553.9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Standard deviation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369.0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Skewness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Shapiro–Wilk p-value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55789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Minimum observed quarter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3,954 in 2020 Q2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tress floor = mean − 2 × SD">
            <a:extLst xmlns:a="http://schemas.openxmlformats.org/drawingml/2006/main">
              <a:ext uri="{FF2B5EF4-FFF2-40B4-BE49-F238E27FC236}">
                <a16:creationId xmlns:a16="http://schemas.microsoft.com/office/drawing/2014/main" id="{BBB1D895-0D8D-4E94-99EC-1B47400B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098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Stress floor = mean − 2 × SD</a:t>
            </a:r>
          </a:p>
        </p:txBody>
      </p:sp>
      <p:sp>
        <p:nvSpPr>
          <p:cNvPr id="8" name="4,553.9 − 2 × 369.0&#10;= 3,815.9 per quarter">
            <a:extLst xmlns:a="http://schemas.openxmlformats.org/drawingml/2006/main">
              <a:ext uri="{FF2B5EF4-FFF2-40B4-BE49-F238E27FC236}">
                <a16:creationId xmlns:a16="http://schemas.microsoft.com/office/drawing/2014/main" id="{017E9F1A-3651-460C-87AC-343F66DC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7660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4,553.9 − 2 × 369.0</a:t>
            </a:r>
          </a:p>
          <a:p xmlns:a="http://schemas.openxmlformats.org/drawingml/2006/main">
            <a:pPr algn="l"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= 3,815.9 per quarter</a:t>
            </a:r>
          </a:p>
        </p:txBody>
      </p:sp>
      <p:sp>
        <p:nvSpPr>
          <p:cNvPr id="9" name="About 1,272.0 per month">
            <a:extLst xmlns:a="http://schemas.openxmlformats.org/drawingml/2006/main">
              <a:ext uri="{FF2B5EF4-FFF2-40B4-BE49-F238E27FC236}">
                <a16:creationId xmlns:a16="http://schemas.microsoft.com/office/drawing/2014/main" id="{AF80BEC6-1413-4491-9AF9-662B566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6672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About 1,272.0 per month</a:t>
            </a:r>
          </a:p>
        </p:txBody>
      </p:sp>
      <p:sp>
        <p:nvSpPr>
          <p:cNvPr id="10" name="The floor is a chosen downside calibration, not a guaranteed">
            <a:extLst xmlns:a="http://schemas.openxmlformats.org/drawingml/2006/main">
              <a:ext uri="{FF2B5EF4-FFF2-40B4-BE49-F238E27FC236}">
                <a16:creationId xmlns:a16="http://schemas.microsoft.com/office/drawing/2014/main" id="{3E7BC73F-AA98-464A-BBA8-7170CBDF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floor is a chosen downside calibration, not a guaranteed lower bound or a calibrated tail probability.</a:t>
            </a:r>
          </a:p>
        </p:txBody>
      </p:sp>
    </p:spTree>
    <p:extLst>
      <p:ext uri="{BB962C8B-B14F-4D97-AF65-F5344CB8AC3E}">
        <p14:creationId xmlns:p14="http://schemas.microsoft.com/office/powerpoint/2010/main" val="3789807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9B26093-50CE-4B85-945C-5FB5D23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The Stress Floor Sits Below Actual History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C3315CA4-23AC-4745-BE84-A3F4E0F5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Post-break quarterly fee revenue: 2015 Q1 through 2025 Q4">
            <a:extLst xmlns:a="http://schemas.openxmlformats.org/drawingml/2006/main">
              <a:ext uri="{FF2B5EF4-FFF2-40B4-BE49-F238E27FC236}">
                <a16:creationId xmlns:a16="http://schemas.microsoft.com/office/drawing/2014/main" id="{3EDC882A-6070-412A-83C8-FE75A357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Post-break quarterly fee revenue: 2015 Q1 through 2025 Q4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81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8519c0da6e4494"/>
          </a:graphicData>
        </a:graphic>
      </p:graphicFrame>
      <p:sp>
        <p:nvSpPr>
          <p:cNvPr id="8" name="None of the 44 observed quarters falls below the adopted flo">
            <a:extLst xmlns:a="http://schemas.openxmlformats.org/drawingml/2006/main">
              <a:ext uri="{FF2B5EF4-FFF2-40B4-BE49-F238E27FC236}">
                <a16:creationId xmlns:a16="http://schemas.microsoft.com/office/drawing/2014/main" id="{1F077F4A-EFF4-4D9D-BEF7-2722C484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None of the 44 observed quarters falls below the adopted floor, including the COVID-period low of 3,954.</a:t>
            </a:r>
          </a:p>
        </p:txBody>
      </p:sp>
    </p:spTree>
    <p:extLst>
      <p:ext uri="{BB962C8B-B14F-4D97-AF65-F5344CB8AC3E}">
        <p14:creationId xmlns:p14="http://schemas.microsoft.com/office/powerpoint/2010/main" val="12344720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FDBBD05-8780-480E-A9D7-3E199E2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Stress Severity: COVID Reference Check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5EFE8EE1-B894-4D20-B3F2-98D2CBE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Comparison uses the reported calibration values and two diff">
            <a:extLst xmlns:a="http://schemas.openxmlformats.org/drawingml/2006/main">
              <a:ext uri="{FF2B5EF4-FFF2-40B4-BE49-F238E27FC236}">
                <a16:creationId xmlns:a16="http://schemas.microsoft.com/office/drawing/2014/main" id="{22467E60-79C1-4216-B72D-F6CAAB79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Comparison uses the reported calibration values and two different starting levels.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1971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143250"/>
                <a:gridCol w="3048000"/>
                <a:gridCol w="2066925"/>
              </a:tblGrid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Starting level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Downside level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Decline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</a:tr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Adopted stress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Baseline: 4,747.6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Floor: 3,815.9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19.6%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</a:tr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COVID reference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2019 H2 mean: 4,264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2020 Q2: 3,954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7.3%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19.6% ÷ 7.3% ≈ 2.7×">
            <a:extLst xmlns:a="http://schemas.openxmlformats.org/drawingml/2006/main">
              <a:ext uri="{FF2B5EF4-FFF2-40B4-BE49-F238E27FC236}">
                <a16:creationId xmlns:a16="http://schemas.microsoft.com/office/drawing/2014/main" id="{32CD0FB6-F8D7-4B03-BF85-FF454094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862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19.6% ÷ 7.3% ≈ 2.7×</a:t>
            </a:r>
          </a:p>
        </p:txBody>
      </p:sp>
      <p:sp>
        <p:nvSpPr>
          <p:cNvPr id="9" name="The percentage decline is about 2.7 times the reported COVID">
            <a:extLst xmlns:a="http://schemas.openxmlformats.org/drawingml/2006/main">
              <a:ext uri="{FF2B5EF4-FFF2-40B4-BE49-F238E27FC236}">
                <a16:creationId xmlns:a16="http://schemas.microsoft.com/office/drawing/2014/main" id="{F8BBC785-47C0-4FFA-B650-9FC57284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percentage decline is about 2.7 times the reported COVID comparison, providing a historical severity check.</a:t>
            </a:r>
          </a:p>
        </p:txBody>
      </p:sp>
      <p:sp>
        <p:nvSpPr>
          <p:cNvPr id="10" name="This is a comparison of percentage declines from different b">
            <a:extLst xmlns:a="http://schemas.openxmlformats.org/drawingml/2006/main">
              <a:ext uri="{FF2B5EF4-FFF2-40B4-BE49-F238E27FC236}">
                <a16:creationId xmlns:a16="http://schemas.microsoft.com/office/drawing/2014/main" id="{859E638F-B5B9-4D3B-8C75-1FEFE9F9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This is a comparison of percentage declines from different bases, not a ratio of absolute revenue losses.</a:t>
            </a:r>
          </a:p>
        </p:txBody>
      </p:sp>
    </p:spTree>
    <p:extLst>
      <p:ext uri="{BB962C8B-B14F-4D97-AF65-F5344CB8AC3E}">
        <p14:creationId xmlns:p14="http://schemas.microsoft.com/office/powerpoint/2010/main" val="1899410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Conclusion and Model Limitations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Adopted values">
            <a:extLst xmlns:a="http://schemas.openxmlformats.org/drawingml/2006/main">
              <a:ext uri="{FF2B5EF4-FFF2-40B4-BE49-F238E27FC236}">
                <a16:creationId xmlns:a16="http://schemas.microsoft.com/office/drawing/2014/main" id="{7F3BF6DF-CD72-42BA-9E2F-043200EC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192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Adopted values</a:t>
            </a:r>
          </a:p>
        </p:txBody>
      </p:sp>
      <p:sp>
        <p:nvSpPr>
          <p:cNvPr id="7" name="Quarterly baseline: 4,747.6. Quarterly stress floor: 3,815.9">
            <a:extLst xmlns:a="http://schemas.openxmlformats.org/drawingml/2006/main">
              <a:ext uri="{FF2B5EF4-FFF2-40B4-BE49-F238E27FC236}">
                <a16:creationId xmlns:a16="http://schemas.microsoft.com/office/drawing/2014/main" id="{820F5A3B-77E9-45A2-98EE-25E40B49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Quarterly baseline: 4,747.6. Quarterly stress floor: 3,815.9. Both are calibrated to the regime beginning in 2015.</a:t>
            </a:r>
          </a:p>
        </p:txBody>
      </p:sp>
      <p:sp>
        <p:nvSpPr>
          <p:cNvPr id="8" name="What the evidence supports">
            <a:extLst xmlns:a="http://schemas.openxmlformats.org/drawingml/2006/main">
              <a:ext uri="{FF2B5EF4-FFF2-40B4-BE49-F238E27FC236}">
                <a16:creationId xmlns:a16="http://schemas.microsoft.com/office/drawing/2014/main" id="{D51873CC-DB09-4E20-87DA-595C56F8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What the evidence supports</a:t>
            </a:r>
          </a:p>
        </p:txBody>
      </p:sp>
      <p:sp>
        <p:nvSpPr>
          <p:cNvPr id="9" name="The tested first-step regression screens do not produce an a">
            <a:extLst xmlns:a="http://schemas.openxmlformats.org/drawingml/2006/main">
              <a:ext uri="{FF2B5EF4-FFF2-40B4-BE49-F238E27FC236}">
                <a16:creationId xmlns:a16="http://schemas.microsoft.com/office/drawing/2014/main" id="{BF69EB84-5025-4C98-8CFC-4F775F7A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32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tested first-step regression screens do not produce an admissible model under the specified diagnostic gates.</a:t>
            </a:r>
          </a:p>
        </p:txBody>
      </p:sp>
      <p:sp>
        <p:nvSpPr>
          <p:cNvPr id="10" name="What remains unresolved">
            <a:extLst xmlns:a="http://schemas.openxmlformats.org/drawingml/2006/main">
              <a:ext uri="{FF2B5EF4-FFF2-40B4-BE49-F238E27FC236}">
                <a16:creationId xmlns:a16="http://schemas.microsoft.com/office/drawing/2014/main" id="{AB30DF0D-4F13-4CF7-BBD1-8FD1C846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What remains unresolved</a:t>
            </a:r>
          </a:p>
        </p:txBody>
      </p:sp>
      <p:sp>
        <p:nvSpPr>
          <p:cNvPr id="11" name="The 2014 events are unconfirmed; the 2015 shift is unexplain">
            <a:extLst xmlns:a="http://schemas.openxmlformats.org/drawingml/2006/main">
              <a:ext uri="{FF2B5EF4-FFF2-40B4-BE49-F238E27FC236}">
                <a16:creationId xmlns:a16="http://schemas.microsoft.com/office/drawing/2014/main" id="{D00C3649-11BE-49FD-B87A-053753DE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2014 events are unconfirmed; the 2015 shift is unexplained. The adopted treatment has no explicit macro-scenario linkage.</a:t>
            </a:r>
          </a:p>
        </p:txBody>
      </p:sp>
      <p:sp>
        <p:nvSpPr>
          <p:cNvPr id="12" name="Reconcile the calibration figures and revisit the treatment ">
            <a:extLst xmlns:a="http://schemas.openxmlformats.org/drawingml/2006/main">
              <a:ext uri="{FF2B5EF4-FFF2-40B4-BE49-F238E27FC236}">
                <a16:creationId xmlns:a16="http://schemas.microsoft.com/office/drawing/2014/main" id="{9A263785-59C2-4D41-8E6B-AE7B4A3A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Reconcile the calibration figures and revisit the treatment as business explanations or new evidence emerge.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E4FD2C8-4507-4351-9B83-8EE15173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920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Appendix: Calibration Reconciliation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81A532AC-267C-43BA-806B-3824C676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Adopted values follow the final report. Historical charts us">
            <a:extLst xmlns:a="http://schemas.openxmlformats.org/drawingml/2006/main">
              <a:ext uri="{FF2B5EF4-FFF2-40B4-BE49-F238E27FC236}">
                <a16:creationId xmlns:a16="http://schemas.microsoft.com/office/drawing/2014/main" id="{0D3EED07-2B15-4FB6-A0CF-BEE2EE6B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Adopted values follow the final report. Historical charts use the available source observations.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24450"/>
                <a:gridCol w="2343150"/>
                <a:gridCol w="3505200"/>
              </a:tblGrid>
              <a:tr h="47761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Calibration item</a:t>
                      </a:r>
                    </a:p>
                  </a:txBody>
                  <a:tcPr marL="114300" marR="85725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 report</a:t>
                      </a:r>
                    </a:p>
                  </a:txBody>
                  <a:tcPr marL="114300" marR="85725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Available-data calculation</a:t>
                      </a:r>
                    </a:p>
                  </a:txBody>
                  <a:tcPr marL="114300" marR="85725" marT="47625" marB="47625" anchor="ctr">
                    <a:solidFill>
                      <a:srgbClr val="006C98"/>
                    </a:solidFill>
                  </a:tcPr>
                </a:tc>
              </a:tr>
              <a:tr h="47761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Recent eight-quarter baseline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4,747.6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4,747.6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</a:tr>
              <a:tr h="47761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Post-2015 mean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4,553.9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4,553.1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Post-2015 sample SD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369.0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369.7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</a:tr>
              <a:tr h="47761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minus two sample SDs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3,815.9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3,813.7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2019 H2 quarterly mean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4,264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4,246</a:t>
                      </a:r>
                    </a:p>
                  </a:txBody>
                  <a:tcPr marL="114300" marR="85725" marT="47625" marB="47625" anchor="ctr">
                    <a:solidFill>
                      <a:srgbClr val="F3F5F6"/>
                    </a:solidFill>
                  </a:tcPr>
                </a:tc>
              </a:tr>
              <a:tr h="477611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COVID percentage decline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7.3%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6.9%</a:t>
                      </a:r>
                    </a:p>
                  </a:txBody>
                  <a:tcPr marL="114300" marR="85725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he baseline reconciles. Stress-calibration and COVID-refere">
            <a:extLst xmlns:a="http://schemas.openxmlformats.org/drawingml/2006/main">
              <a:ext uri="{FF2B5EF4-FFF2-40B4-BE49-F238E27FC236}">
                <a16:creationId xmlns:a16="http://schemas.microsoft.com/office/drawing/2014/main" id="{CE3DE424-8F3F-4958-A3E9-5BF20E8D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baseline reconciles. Stress-calibration and COVID-reference differences need resolution; adopted values are unchanged.</a:t>
            </a:r>
          </a:p>
        </p:txBody>
      </p:sp>
    </p:spTree>
    <p:extLst>
      <p:ext uri="{BB962C8B-B14F-4D97-AF65-F5344CB8AC3E}">
        <p14:creationId xmlns:p14="http://schemas.microsoft.com/office/powerpoint/2010/main" val="1557811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2026-09-25T22:48:27.2010000Z</dcterms:created>
  <dcterms:modified xsi:type="dcterms:W3CDTF">2026-09-25T22:48:27.2010000Z</dcterms:modified>
</coreProperties>
</file>