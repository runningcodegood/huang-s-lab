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2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5.xml" ContentType="application/vnd.openxmlformats-officedocument.drawingml.chart+xml"/>
  <Override PartName="/ppt/notesSlides/notesSlide20.xml" ContentType="application/vnd.openxmlformats-officedocument.presentationml.notesSlide+xml"/>
  <Override PartName="/ppt/charts/chart6.xml" ContentType="application/vnd.openxmlformats-officedocument.drawingml.chart+xml"/>
  <Override PartName="/ppt/notesSlides/notesSlide21.xml" ContentType="application/vnd.openxmlformats-officedocument.presentationml.notesSlide+xml"/>
  <Override PartName="/ppt/charts/chart7.xml" ContentType="application/vnd.openxmlformats-officedocument.drawingml.chart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4"/>
  </p:normalViewPr>
  <p:slideViewPr>
    <p:cSldViewPr snapToGrid="0">
      <p:cViewPr varScale="1">
        <p:scale>
          <a:sx n="102" d="100"/>
          <a:sy n="102" d="100"/>
        </p:scale>
        <p:origin x="8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Combined fee</c:v>
          </c:tx>
          <c:spPr>
            <a:ln w="23813">
              <a:solidFill>
                <a:srgbClr val="006C98"/>
              </a:solidFill>
              <a:prstDash val="solid"/>
            </a:ln>
          </c:spPr>
          <c:marker>
            <c:symbol val="none"/>
          </c:marker>
          <c:xVal>
            <c:numRef>
              <c:f>'Chart Data'!$A$2:$A$181</c:f>
              <c:numCache>
                <c:formatCode>General</c:formatCode>
                <c:ptCount val="180"/>
                <c:pt idx="0">
                  <c:v>2011</c:v>
                </c:pt>
                <c:pt idx="1">
                  <c:v>2011.083333</c:v>
                </c:pt>
                <c:pt idx="2">
                  <c:v>2011.166667</c:v>
                </c:pt>
                <c:pt idx="3">
                  <c:v>2011.25</c:v>
                </c:pt>
                <c:pt idx="4">
                  <c:v>2011.333333</c:v>
                </c:pt>
                <c:pt idx="5">
                  <c:v>2011.416667</c:v>
                </c:pt>
                <c:pt idx="6">
                  <c:v>2011.5</c:v>
                </c:pt>
                <c:pt idx="7">
                  <c:v>2011.583333</c:v>
                </c:pt>
                <c:pt idx="8">
                  <c:v>2011.666667</c:v>
                </c:pt>
                <c:pt idx="9">
                  <c:v>2011.75</c:v>
                </c:pt>
                <c:pt idx="10">
                  <c:v>2011.833333</c:v>
                </c:pt>
                <c:pt idx="11">
                  <c:v>2011.916667</c:v>
                </c:pt>
                <c:pt idx="12">
                  <c:v>2012</c:v>
                </c:pt>
                <c:pt idx="13">
                  <c:v>2012.083333</c:v>
                </c:pt>
                <c:pt idx="14">
                  <c:v>2012.166667</c:v>
                </c:pt>
                <c:pt idx="15">
                  <c:v>2012.25</c:v>
                </c:pt>
                <c:pt idx="16">
                  <c:v>2012.333333</c:v>
                </c:pt>
                <c:pt idx="17">
                  <c:v>2012.416667</c:v>
                </c:pt>
                <c:pt idx="18">
                  <c:v>2012.5</c:v>
                </c:pt>
                <c:pt idx="19">
                  <c:v>2012.583333</c:v>
                </c:pt>
                <c:pt idx="20">
                  <c:v>2012.666667</c:v>
                </c:pt>
                <c:pt idx="21">
                  <c:v>2012.75</c:v>
                </c:pt>
                <c:pt idx="22">
                  <c:v>2012.833333</c:v>
                </c:pt>
                <c:pt idx="23">
                  <c:v>2012.916667</c:v>
                </c:pt>
                <c:pt idx="24">
                  <c:v>2013</c:v>
                </c:pt>
                <c:pt idx="25">
                  <c:v>2013.083333</c:v>
                </c:pt>
                <c:pt idx="26">
                  <c:v>2013.166667</c:v>
                </c:pt>
                <c:pt idx="27">
                  <c:v>2013.25</c:v>
                </c:pt>
                <c:pt idx="28">
                  <c:v>2013.333333</c:v>
                </c:pt>
                <c:pt idx="29">
                  <c:v>2013.416667</c:v>
                </c:pt>
                <c:pt idx="30">
                  <c:v>2013.5</c:v>
                </c:pt>
                <c:pt idx="31">
                  <c:v>2013.583333</c:v>
                </c:pt>
                <c:pt idx="32">
                  <c:v>2013.666667</c:v>
                </c:pt>
                <c:pt idx="33">
                  <c:v>2013.75</c:v>
                </c:pt>
                <c:pt idx="34">
                  <c:v>2013.833333</c:v>
                </c:pt>
                <c:pt idx="35">
                  <c:v>2013.916667</c:v>
                </c:pt>
                <c:pt idx="36">
                  <c:v>2014</c:v>
                </c:pt>
                <c:pt idx="37">
                  <c:v>2014.083333</c:v>
                </c:pt>
                <c:pt idx="38">
                  <c:v>2014.166667</c:v>
                </c:pt>
                <c:pt idx="39">
                  <c:v>2014.25</c:v>
                </c:pt>
                <c:pt idx="40">
                  <c:v>2014.333333</c:v>
                </c:pt>
                <c:pt idx="41">
                  <c:v>2014.416667</c:v>
                </c:pt>
                <c:pt idx="42">
                  <c:v>2014.5</c:v>
                </c:pt>
                <c:pt idx="43">
                  <c:v>2014.583333</c:v>
                </c:pt>
                <c:pt idx="44">
                  <c:v>2014.666667</c:v>
                </c:pt>
                <c:pt idx="45">
                  <c:v>2014.75</c:v>
                </c:pt>
                <c:pt idx="46">
                  <c:v>2014.833333</c:v>
                </c:pt>
                <c:pt idx="47">
                  <c:v>2014.916667</c:v>
                </c:pt>
                <c:pt idx="48">
                  <c:v>2015</c:v>
                </c:pt>
                <c:pt idx="49">
                  <c:v>2015.083333</c:v>
                </c:pt>
                <c:pt idx="50">
                  <c:v>2015.166667</c:v>
                </c:pt>
                <c:pt idx="51">
                  <c:v>2015.25</c:v>
                </c:pt>
                <c:pt idx="52">
                  <c:v>2015.333333</c:v>
                </c:pt>
                <c:pt idx="53">
                  <c:v>2015.416667</c:v>
                </c:pt>
                <c:pt idx="54">
                  <c:v>2015.5</c:v>
                </c:pt>
                <c:pt idx="55">
                  <c:v>2015.583333</c:v>
                </c:pt>
                <c:pt idx="56">
                  <c:v>2015.666667</c:v>
                </c:pt>
                <c:pt idx="57">
                  <c:v>2015.75</c:v>
                </c:pt>
                <c:pt idx="58">
                  <c:v>2015.833333</c:v>
                </c:pt>
                <c:pt idx="59">
                  <c:v>2015.916667</c:v>
                </c:pt>
                <c:pt idx="60">
                  <c:v>2016</c:v>
                </c:pt>
                <c:pt idx="61">
                  <c:v>2016.083333</c:v>
                </c:pt>
                <c:pt idx="62">
                  <c:v>2016.166667</c:v>
                </c:pt>
                <c:pt idx="63">
                  <c:v>2016.25</c:v>
                </c:pt>
                <c:pt idx="64">
                  <c:v>2016.333333</c:v>
                </c:pt>
                <c:pt idx="65">
                  <c:v>2016.416667</c:v>
                </c:pt>
                <c:pt idx="66">
                  <c:v>2016.5</c:v>
                </c:pt>
                <c:pt idx="67">
                  <c:v>2016.583333</c:v>
                </c:pt>
                <c:pt idx="68">
                  <c:v>2016.666667</c:v>
                </c:pt>
                <c:pt idx="69">
                  <c:v>2016.75</c:v>
                </c:pt>
                <c:pt idx="70">
                  <c:v>2016.833333</c:v>
                </c:pt>
                <c:pt idx="71">
                  <c:v>2016.916667</c:v>
                </c:pt>
                <c:pt idx="72">
                  <c:v>2017</c:v>
                </c:pt>
                <c:pt idx="73">
                  <c:v>2017.083333</c:v>
                </c:pt>
                <c:pt idx="74">
                  <c:v>2017.166667</c:v>
                </c:pt>
                <c:pt idx="75">
                  <c:v>2017.25</c:v>
                </c:pt>
                <c:pt idx="76">
                  <c:v>2017.333333</c:v>
                </c:pt>
                <c:pt idx="77">
                  <c:v>2017.416667</c:v>
                </c:pt>
                <c:pt idx="78">
                  <c:v>2017.5</c:v>
                </c:pt>
                <c:pt idx="79">
                  <c:v>2017.583333</c:v>
                </c:pt>
                <c:pt idx="80">
                  <c:v>2017.666667</c:v>
                </c:pt>
                <c:pt idx="81">
                  <c:v>2017.75</c:v>
                </c:pt>
                <c:pt idx="82">
                  <c:v>2017.833333</c:v>
                </c:pt>
                <c:pt idx="83">
                  <c:v>2017.916667</c:v>
                </c:pt>
                <c:pt idx="84">
                  <c:v>2018</c:v>
                </c:pt>
                <c:pt idx="85">
                  <c:v>2018.083333</c:v>
                </c:pt>
                <c:pt idx="86">
                  <c:v>2018.166667</c:v>
                </c:pt>
                <c:pt idx="87">
                  <c:v>2018.25</c:v>
                </c:pt>
                <c:pt idx="88">
                  <c:v>2018.333333</c:v>
                </c:pt>
                <c:pt idx="89">
                  <c:v>2018.416667</c:v>
                </c:pt>
                <c:pt idx="90">
                  <c:v>2018.5</c:v>
                </c:pt>
                <c:pt idx="91">
                  <c:v>2018.583333</c:v>
                </c:pt>
                <c:pt idx="92">
                  <c:v>2018.666667</c:v>
                </c:pt>
                <c:pt idx="93">
                  <c:v>2018.75</c:v>
                </c:pt>
                <c:pt idx="94">
                  <c:v>2018.833333</c:v>
                </c:pt>
                <c:pt idx="95">
                  <c:v>2018.916667</c:v>
                </c:pt>
                <c:pt idx="96">
                  <c:v>2019</c:v>
                </c:pt>
                <c:pt idx="97">
                  <c:v>2019.083333</c:v>
                </c:pt>
                <c:pt idx="98">
                  <c:v>2019.166667</c:v>
                </c:pt>
                <c:pt idx="99">
                  <c:v>2019.25</c:v>
                </c:pt>
                <c:pt idx="100">
                  <c:v>2019.333333</c:v>
                </c:pt>
                <c:pt idx="101">
                  <c:v>2019.416667</c:v>
                </c:pt>
                <c:pt idx="102">
                  <c:v>2019.5</c:v>
                </c:pt>
                <c:pt idx="103">
                  <c:v>2019.583333</c:v>
                </c:pt>
                <c:pt idx="104">
                  <c:v>2019.666667</c:v>
                </c:pt>
                <c:pt idx="105">
                  <c:v>2019.75</c:v>
                </c:pt>
                <c:pt idx="106">
                  <c:v>2019.833333</c:v>
                </c:pt>
                <c:pt idx="107">
                  <c:v>2019.916667</c:v>
                </c:pt>
                <c:pt idx="108">
                  <c:v>2020</c:v>
                </c:pt>
                <c:pt idx="109">
                  <c:v>2020.083333</c:v>
                </c:pt>
                <c:pt idx="110">
                  <c:v>2020.166667</c:v>
                </c:pt>
                <c:pt idx="111">
                  <c:v>2020.25</c:v>
                </c:pt>
                <c:pt idx="112">
                  <c:v>2020.333333</c:v>
                </c:pt>
                <c:pt idx="113">
                  <c:v>2020.416667</c:v>
                </c:pt>
                <c:pt idx="114">
                  <c:v>2020.5</c:v>
                </c:pt>
                <c:pt idx="115">
                  <c:v>2020.583333</c:v>
                </c:pt>
                <c:pt idx="116">
                  <c:v>2020.666667</c:v>
                </c:pt>
                <c:pt idx="117">
                  <c:v>2020.75</c:v>
                </c:pt>
                <c:pt idx="118">
                  <c:v>2020.833333</c:v>
                </c:pt>
                <c:pt idx="119">
                  <c:v>2020.916667</c:v>
                </c:pt>
                <c:pt idx="120">
                  <c:v>2021</c:v>
                </c:pt>
                <c:pt idx="121">
                  <c:v>2021.083333</c:v>
                </c:pt>
                <c:pt idx="122">
                  <c:v>2021.166667</c:v>
                </c:pt>
                <c:pt idx="123">
                  <c:v>2021.25</c:v>
                </c:pt>
                <c:pt idx="124">
                  <c:v>2021.333333</c:v>
                </c:pt>
                <c:pt idx="125">
                  <c:v>2021.416667</c:v>
                </c:pt>
                <c:pt idx="126">
                  <c:v>2021.5</c:v>
                </c:pt>
                <c:pt idx="127">
                  <c:v>2021.583333</c:v>
                </c:pt>
                <c:pt idx="128">
                  <c:v>2021.666667</c:v>
                </c:pt>
                <c:pt idx="129">
                  <c:v>2021.75</c:v>
                </c:pt>
                <c:pt idx="130">
                  <c:v>2021.833333</c:v>
                </c:pt>
                <c:pt idx="131">
                  <c:v>2021.916667</c:v>
                </c:pt>
                <c:pt idx="132">
                  <c:v>2022</c:v>
                </c:pt>
                <c:pt idx="133">
                  <c:v>2022.083333</c:v>
                </c:pt>
                <c:pt idx="134">
                  <c:v>2022.166667</c:v>
                </c:pt>
                <c:pt idx="135">
                  <c:v>2022.25</c:v>
                </c:pt>
                <c:pt idx="136">
                  <c:v>2022.333333</c:v>
                </c:pt>
                <c:pt idx="137">
                  <c:v>2022.416667</c:v>
                </c:pt>
                <c:pt idx="138">
                  <c:v>2022.5</c:v>
                </c:pt>
                <c:pt idx="139">
                  <c:v>2022.583333</c:v>
                </c:pt>
                <c:pt idx="140">
                  <c:v>2022.666667</c:v>
                </c:pt>
                <c:pt idx="141">
                  <c:v>2022.75</c:v>
                </c:pt>
                <c:pt idx="142">
                  <c:v>2022.833333</c:v>
                </c:pt>
                <c:pt idx="143">
                  <c:v>2022.916667</c:v>
                </c:pt>
                <c:pt idx="144">
                  <c:v>2023</c:v>
                </c:pt>
                <c:pt idx="145">
                  <c:v>2023.083333</c:v>
                </c:pt>
                <c:pt idx="146">
                  <c:v>2023.166667</c:v>
                </c:pt>
                <c:pt idx="147">
                  <c:v>2023.25</c:v>
                </c:pt>
                <c:pt idx="148">
                  <c:v>2023.333333</c:v>
                </c:pt>
                <c:pt idx="149">
                  <c:v>2023.416667</c:v>
                </c:pt>
                <c:pt idx="150">
                  <c:v>2023.5</c:v>
                </c:pt>
                <c:pt idx="151">
                  <c:v>2023.583333</c:v>
                </c:pt>
                <c:pt idx="152">
                  <c:v>2023.666667</c:v>
                </c:pt>
                <c:pt idx="153">
                  <c:v>2023.75</c:v>
                </c:pt>
                <c:pt idx="154">
                  <c:v>2023.833333</c:v>
                </c:pt>
                <c:pt idx="155">
                  <c:v>2023.916667</c:v>
                </c:pt>
                <c:pt idx="156">
                  <c:v>2024</c:v>
                </c:pt>
                <c:pt idx="157">
                  <c:v>2024.083333</c:v>
                </c:pt>
                <c:pt idx="158">
                  <c:v>2024.166667</c:v>
                </c:pt>
                <c:pt idx="159">
                  <c:v>2024.25</c:v>
                </c:pt>
                <c:pt idx="160">
                  <c:v>2024.333333</c:v>
                </c:pt>
                <c:pt idx="161">
                  <c:v>2024.416667</c:v>
                </c:pt>
                <c:pt idx="162">
                  <c:v>2024.5</c:v>
                </c:pt>
                <c:pt idx="163">
                  <c:v>2024.583333</c:v>
                </c:pt>
                <c:pt idx="164">
                  <c:v>2024.666667</c:v>
                </c:pt>
                <c:pt idx="165">
                  <c:v>2024.75</c:v>
                </c:pt>
                <c:pt idx="166">
                  <c:v>2024.833333</c:v>
                </c:pt>
                <c:pt idx="167">
                  <c:v>2024.916667</c:v>
                </c:pt>
                <c:pt idx="168">
                  <c:v>2025</c:v>
                </c:pt>
                <c:pt idx="169">
                  <c:v>2025.083333</c:v>
                </c:pt>
                <c:pt idx="170">
                  <c:v>2025.166667</c:v>
                </c:pt>
                <c:pt idx="171">
                  <c:v>2025.25</c:v>
                </c:pt>
                <c:pt idx="172">
                  <c:v>2025.333333</c:v>
                </c:pt>
                <c:pt idx="173">
                  <c:v>2025.416667</c:v>
                </c:pt>
                <c:pt idx="174">
                  <c:v>2025.5</c:v>
                </c:pt>
                <c:pt idx="175">
                  <c:v>2025.583333</c:v>
                </c:pt>
                <c:pt idx="176">
                  <c:v>2025.666667</c:v>
                </c:pt>
                <c:pt idx="177">
                  <c:v>2025.75</c:v>
                </c:pt>
                <c:pt idx="178">
                  <c:v>2025.833333</c:v>
                </c:pt>
                <c:pt idx="179">
                  <c:v>2025.916667</c:v>
                </c:pt>
              </c:numCache>
            </c:numRef>
          </c:xVal>
          <c:yVal>
            <c:numRef>
              <c:f>'Chart Data'!$B$2:$B$181</c:f>
              <c:numCache>
                <c:formatCode>#,##0</c:formatCode>
                <c:ptCount val="180"/>
                <c:pt idx="0">
                  <c:v>771</c:v>
                </c:pt>
                <c:pt idx="1">
                  <c:v>842</c:v>
                </c:pt>
                <c:pt idx="2">
                  <c:v>1119</c:v>
                </c:pt>
                <c:pt idx="3">
                  <c:v>948</c:v>
                </c:pt>
                <c:pt idx="4">
                  <c:v>1047</c:v>
                </c:pt>
                <c:pt idx="5">
                  <c:v>971</c:v>
                </c:pt>
                <c:pt idx="6">
                  <c:v>868</c:v>
                </c:pt>
                <c:pt idx="7">
                  <c:v>1063</c:v>
                </c:pt>
                <c:pt idx="8">
                  <c:v>974</c:v>
                </c:pt>
                <c:pt idx="9">
                  <c:v>949</c:v>
                </c:pt>
                <c:pt idx="10">
                  <c:v>941</c:v>
                </c:pt>
                <c:pt idx="11">
                  <c:v>985</c:v>
                </c:pt>
                <c:pt idx="12">
                  <c:v>1009</c:v>
                </c:pt>
                <c:pt idx="13">
                  <c:v>957</c:v>
                </c:pt>
                <c:pt idx="14">
                  <c:v>1067</c:v>
                </c:pt>
                <c:pt idx="15">
                  <c:v>1089</c:v>
                </c:pt>
                <c:pt idx="16">
                  <c:v>1160</c:v>
                </c:pt>
                <c:pt idx="17">
                  <c:v>1079</c:v>
                </c:pt>
                <c:pt idx="18">
                  <c:v>1132</c:v>
                </c:pt>
                <c:pt idx="19">
                  <c:v>1134</c:v>
                </c:pt>
                <c:pt idx="20">
                  <c:v>983</c:v>
                </c:pt>
                <c:pt idx="21">
                  <c:v>1150</c:v>
                </c:pt>
                <c:pt idx="22">
                  <c:v>978</c:v>
                </c:pt>
                <c:pt idx="23">
                  <c:v>1025</c:v>
                </c:pt>
                <c:pt idx="24">
                  <c:v>989</c:v>
                </c:pt>
                <c:pt idx="25">
                  <c:v>943</c:v>
                </c:pt>
                <c:pt idx="26">
                  <c:v>1089</c:v>
                </c:pt>
                <c:pt idx="27">
                  <c:v>1128</c:v>
                </c:pt>
                <c:pt idx="28">
                  <c:v>1063</c:v>
                </c:pt>
                <c:pt idx="29">
                  <c:v>999</c:v>
                </c:pt>
                <c:pt idx="30">
                  <c:v>1160</c:v>
                </c:pt>
                <c:pt idx="31">
                  <c:v>1032</c:v>
                </c:pt>
                <c:pt idx="32">
                  <c:v>1022</c:v>
                </c:pt>
                <c:pt idx="33">
                  <c:v>1280</c:v>
                </c:pt>
                <c:pt idx="34">
                  <c:v>1090</c:v>
                </c:pt>
                <c:pt idx="35">
                  <c:v>1184</c:v>
                </c:pt>
                <c:pt idx="36">
                  <c:v>1121</c:v>
                </c:pt>
                <c:pt idx="37">
                  <c:v>1059</c:v>
                </c:pt>
                <c:pt idx="38">
                  <c:v>1158</c:v>
                </c:pt>
                <c:pt idx="39">
                  <c:v>1264</c:v>
                </c:pt>
                <c:pt idx="40">
                  <c:v>1231</c:v>
                </c:pt>
                <c:pt idx="41">
                  <c:v>1226</c:v>
                </c:pt>
                <c:pt idx="42">
                  <c:v>1277</c:v>
                </c:pt>
                <c:pt idx="43">
                  <c:v>1188</c:v>
                </c:pt>
                <c:pt idx="44">
                  <c:v>1206</c:v>
                </c:pt>
                <c:pt idx="45">
                  <c:v>1305</c:v>
                </c:pt>
                <c:pt idx="46">
                  <c:v>1166</c:v>
                </c:pt>
                <c:pt idx="47">
                  <c:v>1362</c:v>
                </c:pt>
                <c:pt idx="48">
                  <c:v>1140</c:v>
                </c:pt>
                <c:pt idx="49">
                  <c:v>1111</c:v>
                </c:pt>
                <c:pt idx="50">
                  <c:v>1455</c:v>
                </c:pt>
                <c:pt idx="51">
                  <c:v>1409</c:v>
                </c:pt>
                <c:pt idx="52">
                  <c:v>1294</c:v>
                </c:pt>
                <c:pt idx="53">
                  <c:v>1472</c:v>
                </c:pt>
                <c:pt idx="54">
                  <c:v>1360</c:v>
                </c:pt>
                <c:pt idx="55">
                  <c:v>1279</c:v>
                </c:pt>
                <c:pt idx="56">
                  <c:v>1336</c:v>
                </c:pt>
                <c:pt idx="57">
                  <c:v>1316</c:v>
                </c:pt>
                <c:pt idx="58">
                  <c:v>1233</c:v>
                </c:pt>
                <c:pt idx="59">
                  <c:v>1233</c:v>
                </c:pt>
                <c:pt idx="60">
                  <c:v>1151</c:v>
                </c:pt>
                <c:pt idx="61">
                  <c:v>1236</c:v>
                </c:pt>
                <c:pt idx="62">
                  <c:v>1539</c:v>
                </c:pt>
                <c:pt idx="63">
                  <c:v>1249</c:v>
                </c:pt>
                <c:pt idx="64">
                  <c:v>1388</c:v>
                </c:pt>
                <c:pt idx="65">
                  <c:v>1280</c:v>
                </c:pt>
                <c:pt idx="66">
                  <c:v>1184</c:v>
                </c:pt>
                <c:pt idx="67">
                  <c:v>1418</c:v>
                </c:pt>
                <c:pt idx="68">
                  <c:v>1310</c:v>
                </c:pt>
                <c:pt idx="69">
                  <c:v>1226</c:v>
                </c:pt>
                <c:pt idx="70">
                  <c:v>1166</c:v>
                </c:pt>
                <c:pt idx="71">
                  <c:v>1253</c:v>
                </c:pt>
                <c:pt idx="72">
                  <c:v>1278</c:v>
                </c:pt>
                <c:pt idx="73">
                  <c:v>1198</c:v>
                </c:pt>
                <c:pt idx="74">
                  <c:v>1373</c:v>
                </c:pt>
                <c:pt idx="75">
                  <c:v>1202</c:v>
                </c:pt>
                <c:pt idx="76">
                  <c:v>1409</c:v>
                </c:pt>
                <c:pt idx="77">
                  <c:v>1331</c:v>
                </c:pt>
                <c:pt idx="78">
                  <c:v>1245</c:v>
                </c:pt>
                <c:pt idx="79">
                  <c:v>1434</c:v>
                </c:pt>
                <c:pt idx="80">
                  <c:v>1245</c:v>
                </c:pt>
                <c:pt idx="81">
                  <c:v>1456</c:v>
                </c:pt>
                <c:pt idx="82">
                  <c:v>1298</c:v>
                </c:pt>
                <c:pt idx="83">
                  <c:v>1400</c:v>
                </c:pt>
                <c:pt idx="84">
                  <c:v>1441</c:v>
                </c:pt>
                <c:pt idx="85">
                  <c:v>1349</c:v>
                </c:pt>
                <c:pt idx="86">
                  <c:v>1673</c:v>
                </c:pt>
                <c:pt idx="87">
                  <c:v>1466</c:v>
                </c:pt>
                <c:pt idx="88">
                  <c:v>1667</c:v>
                </c:pt>
                <c:pt idx="89">
                  <c:v>1545</c:v>
                </c:pt>
                <c:pt idx="90">
                  <c:v>1512</c:v>
                </c:pt>
                <c:pt idx="91">
                  <c:v>1739</c:v>
                </c:pt>
                <c:pt idx="92">
                  <c:v>1656</c:v>
                </c:pt>
                <c:pt idx="93">
                  <c:v>1600</c:v>
                </c:pt>
                <c:pt idx="94">
                  <c:v>1516</c:v>
                </c:pt>
                <c:pt idx="95">
                  <c:v>1673</c:v>
                </c:pt>
                <c:pt idx="96">
                  <c:v>1565</c:v>
                </c:pt>
                <c:pt idx="97">
                  <c:v>1545</c:v>
                </c:pt>
                <c:pt idx="98">
                  <c:v>1856</c:v>
                </c:pt>
                <c:pt idx="99">
                  <c:v>1508</c:v>
                </c:pt>
                <c:pt idx="100">
                  <c:v>1672</c:v>
                </c:pt>
                <c:pt idx="101">
                  <c:v>1762</c:v>
                </c:pt>
                <c:pt idx="102">
                  <c:v>1606</c:v>
                </c:pt>
                <c:pt idx="103">
                  <c:v>1835</c:v>
                </c:pt>
                <c:pt idx="104">
                  <c:v>1697</c:v>
                </c:pt>
                <c:pt idx="105">
                  <c:v>1680</c:v>
                </c:pt>
                <c:pt idx="106">
                  <c:v>1668</c:v>
                </c:pt>
                <c:pt idx="107">
                  <c:v>1523</c:v>
                </c:pt>
                <c:pt idx="108">
                  <c:v>1745</c:v>
                </c:pt>
                <c:pt idx="109">
                  <c:v>1671</c:v>
                </c:pt>
                <c:pt idx="110">
                  <c:v>1497</c:v>
                </c:pt>
                <c:pt idx="111">
                  <c:v>1167</c:v>
                </c:pt>
                <c:pt idx="112">
                  <c:v>1265</c:v>
                </c:pt>
                <c:pt idx="113">
                  <c:v>1336</c:v>
                </c:pt>
                <c:pt idx="114">
                  <c:v>1450</c:v>
                </c:pt>
                <c:pt idx="115">
                  <c:v>1494</c:v>
                </c:pt>
                <c:pt idx="116">
                  <c:v>1691</c:v>
                </c:pt>
                <c:pt idx="117">
                  <c:v>1638</c:v>
                </c:pt>
                <c:pt idx="118">
                  <c:v>1673</c:v>
                </c:pt>
                <c:pt idx="119">
                  <c:v>1471</c:v>
                </c:pt>
                <c:pt idx="120">
                  <c:v>1597</c:v>
                </c:pt>
                <c:pt idx="121">
                  <c:v>1481</c:v>
                </c:pt>
                <c:pt idx="122">
                  <c:v>1780</c:v>
                </c:pt>
                <c:pt idx="123">
                  <c:v>1752</c:v>
                </c:pt>
                <c:pt idx="124">
                  <c:v>1892</c:v>
                </c:pt>
                <c:pt idx="125">
                  <c:v>1904</c:v>
                </c:pt>
                <c:pt idx="126">
                  <c:v>2006</c:v>
                </c:pt>
                <c:pt idx="127">
                  <c:v>2013</c:v>
                </c:pt>
                <c:pt idx="128">
                  <c:v>1968</c:v>
                </c:pt>
                <c:pt idx="129">
                  <c:v>2065</c:v>
                </c:pt>
                <c:pt idx="130">
                  <c:v>1860</c:v>
                </c:pt>
                <c:pt idx="131">
                  <c:v>2195</c:v>
                </c:pt>
                <c:pt idx="132">
                  <c:v>2135</c:v>
                </c:pt>
                <c:pt idx="133">
                  <c:v>2146</c:v>
                </c:pt>
                <c:pt idx="134">
                  <c:v>2349</c:v>
                </c:pt>
                <c:pt idx="135">
                  <c:v>2351</c:v>
                </c:pt>
                <c:pt idx="136">
                  <c:v>2432</c:v>
                </c:pt>
                <c:pt idx="137">
                  <c:v>2282</c:v>
                </c:pt>
                <c:pt idx="138">
                  <c:v>2334</c:v>
                </c:pt>
                <c:pt idx="139">
                  <c:v>2444</c:v>
                </c:pt>
                <c:pt idx="140">
                  <c:v>2416</c:v>
                </c:pt>
                <c:pt idx="141">
                  <c:v>2633</c:v>
                </c:pt>
                <c:pt idx="142">
                  <c:v>2274</c:v>
                </c:pt>
                <c:pt idx="143">
                  <c:v>2475</c:v>
                </c:pt>
                <c:pt idx="144">
                  <c:v>2322</c:v>
                </c:pt>
                <c:pt idx="145">
                  <c:v>2236</c:v>
                </c:pt>
                <c:pt idx="146">
                  <c:v>2631</c:v>
                </c:pt>
                <c:pt idx="147">
                  <c:v>2535</c:v>
                </c:pt>
                <c:pt idx="148">
                  <c:v>2525</c:v>
                </c:pt>
                <c:pt idx="149">
                  <c:v>2417</c:v>
                </c:pt>
                <c:pt idx="150">
                  <c:v>2426</c:v>
                </c:pt>
                <c:pt idx="151">
                  <c:v>2413</c:v>
                </c:pt>
                <c:pt idx="152">
                  <c:v>2414</c:v>
                </c:pt>
                <c:pt idx="153">
                  <c:v>2520</c:v>
                </c:pt>
                <c:pt idx="154">
                  <c:v>2328</c:v>
                </c:pt>
                <c:pt idx="155">
                  <c:v>2575</c:v>
                </c:pt>
                <c:pt idx="156">
                  <c:v>2196</c:v>
                </c:pt>
                <c:pt idx="157">
                  <c:v>2351</c:v>
                </c:pt>
                <c:pt idx="158">
                  <c:v>2556</c:v>
                </c:pt>
                <c:pt idx="159">
                  <c:v>2273</c:v>
                </c:pt>
                <c:pt idx="160">
                  <c:v>2370</c:v>
                </c:pt>
                <c:pt idx="161">
                  <c:v>2256</c:v>
                </c:pt>
                <c:pt idx="162">
                  <c:v>2333</c:v>
                </c:pt>
                <c:pt idx="163">
                  <c:v>2325</c:v>
                </c:pt>
                <c:pt idx="164">
                  <c:v>2237</c:v>
                </c:pt>
                <c:pt idx="165">
                  <c:v>2310</c:v>
                </c:pt>
                <c:pt idx="166">
                  <c:v>2326</c:v>
                </c:pt>
                <c:pt idx="167">
                  <c:v>1964</c:v>
                </c:pt>
                <c:pt idx="168">
                  <c:v>2150</c:v>
                </c:pt>
                <c:pt idx="169">
                  <c:v>2087</c:v>
                </c:pt>
                <c:pt idx="170">
                  <c:v>2316</c:v>
                </c:pt>
                <c:pt idx="171">
                  <c:v>2209</c:v>
                </c:pt>
                <c:pt idx="172">
                  <c:v>2270</c:v>
                </c:pt>
                <c:pt idx="173">
                  <c:v>2201</c:v>
                </c:pt>
                <c:pt idx="174">
                  <c:v>2086</c:v>
                </c:pt>
                <c:pt idx="175">
                  <c:v>2260</c:v>
                </c:pt>
                <c:pt idx="176">
                  <c:v>2004</c:v>
                </c:pt>
                <c:pt idx="177">
                  <c:v>2296</c:v>
                </c:pt>
                <c:pt idx="178">
                  <c:v>2116</c:v>
                </c:pt>
                <c:pt idx="179">
                  <c:v>1887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0F81-7643-B85F-90D6660C17F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in val="0"/>
        </c:scaling>
        <c:delete val="0"/>
        <c:axPos val="l"/>
        <c:majorGridlines>
          <c:spPr>
            <a:ln w="9525">
              <a:solidFill>
                <a:srgbClr val="D9E2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" sz="1350">
                    <a:solidFill>
                      <a:srgbClr val="5D6B75"/>
                    </a:solidFill>
                    <a:latin typeface="Arial"/>
                    <a:ea typeface="Arial"/>
                    <a:cs typeface="Arial"/>
                  </a:rPr>
                  <a:t>Fee revenue (source units)</a:t>
                </a:r>
              </a:p>
            </c:rich>
          </c:tx>
          <c:overlay val="0"/>
        </c:title>
        <c:numFmt formatCode="#,##0" sourceLinked="0"/>
        <c:majorTickMark val="none"/>
        <c:minorTickMark val="none"/>
        <c:tickLblPos val="nextTo"/>
        <c:spPr>
          <a:ln w="0">
            <a:noFill/>
          </a:ln>
        </c:spPr>
        <c:txPr>
          <a:bodyPr anchorCtr="1"/>
          <a:lstStyle/>
          <a:p>
            <a:pPr>
              <a:defRPr sz="13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50112"/>
        <c:crosses val="autoZero"/>
        <c:crossBetween val="midCat"/>
      </c:valAx>
      <c:valAx>
        <c:axId val="48650112"/>
        <c:scaling>
          <c:orientation val="minMax"/>
          <c:max val="2026"/>
          <c:min val="2011"/>
        </c:scaling>
        <c:delete val="0"/>
        <c:axPos val="b"/>
        <c:numFmt formatCode="0" sourceLinked="0"/>
        <c:majorTickMark val="none"/>
        <c:minorTickMark val="none"/>
        <c:tickLblPos val="nextTo"/>
        <c:spPr>
          <a:ln w="9525">
            <a:solidFill>
              <a:srgbClr val="D9E2E8"/>
            </a:solidFill>
          </a:ln>
        </c:spPr>
        <c:txPr>
          <a:bodyPr anchorCtr="1"/>
          <a:lstStyle/>
          <a:p>
            <a:pPr>
              <a:defRPr sz="13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72768"/>
        <c:crosses val="autoZero"/>
        <c:crossBetween val="midCat"/>
        <c:majorUnit val="3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Actual fee</c:v>
          </c:tx>
          <c:spPr>
            <a:ln w="23813">
              <a:solidFill>
                <a:srgbClr val="006C98"/>
              </a:solidFill>
              <a:prstDash val="solid"/>
            </a:ln>
          </c:spPr>
          <c:marker>
            <c:symbol val="none"/>
          </c:marker>
          <c:xVal>
            <c:numRef>
              <c:f>'Chart Data'!$A$2:$A$181</c:f>
              <c:numCache>
                <c:formatCode>General</c:formatCode>
                <c:ptCount val="180"/>
                <c:pt idx="0">
                  <c:v>2011</c:v>
                </c:pt>
                <c:pt idx="1">
                  <c:v>2011.083333</c:v>
                </c:pt>
                <c:pt idx="2">
                  <c:v>2011.166667</c:v>
                </c:pt>
                <c:pt idx="3">
                  <c:v>2011.25</c:v>
                </c:pt>
                <c:pt idx="4">
                  <c:v>2011.333333</c:v>
                </c:pt>
                <c:pt idx="5">
                  <c:v>2011.416667</c:v>
                </c:pt>
                <c:pt idx="6">
                  <c:v>2011.5</c:v>
                </c:pt>
                <c:pt idx="7">
                  <c:v>2011.583333</c:v>
                </c:pt>
                <c:pt idx="8">
                  <c:v>2011.666667</c:v>
                </c:pt>
                <c:pt idx="9">
                  <c:v>2011.75</c:v>
                </c:pt>
                <c:pt idx="10">
                  <c:v>2011.833333</c:v>
                </c:pt>
                <c:pt idx="11">
                  <c:v>2011.916667</c:v>
                </c:pt>
                <c:pt idx="12">
                  <c:v>2012</c:v>
                </c:pt>
                <c:pt idx="13">
                  <c:v>2012.083333</c:v>
                </c:pt>
                <c:pt idx="14">
                  <c:v>2012.166667</c:v>
                </c:pt>
                <c:pt idx="15">
                  <c:v>2012.25</c:v>
                </c:pt>
                <c:pt idx="16">
                  <c:v>2012.333333</c:v>
                </c:pt>
                <c:pt idx="17">
                  <c:v>2012.416667</c:v>
                </c:pt>
                <c:pt idx="18">
                  <c:v>2012.5</c:v>
                </c:pt>
                <c:pt idx="19">
                  <c:v>2012.583333</c:v>
                </c:pt>
                <c:pt idx="20">
                  <c:v>2012.666667</c:v>
                </c:pt>
                <c:pt idx="21">
                  <c:v>2012.75</c:v>
                </c:pt>
                <c:pt idx="22">
                  <c:v>2012.833333</c:v>
                </c:pt>
                <c:pt idx="23">
                  <c:v>2012.916667</c:v>
                </c:pt>
                <c:pt idx="24">
                  <c:v>2013</c:v>
                </c:pt>
                <c:pt idx="25">
                  <c:v>2013.083333</c:v>
                </c:pt>
                <c:pt idx="26">
                  <c:v>2013.166667</c:v>
                </c:pt>
                <c:pt idx="27">
                  <c:v>2013.25</c:v>
                </c:pt>
                <c:pt idx="28">
                  <c:v>2013.333333</c:v>
                </c:pt>
                <c:pt idx="29">
                  <c:v>2013.416667</c:v>
                </c:pt>
                <c:pt idx="30">
                  <c:v>2013.5</c:v>
                </c:pt>
                <c:pt idx="31">
                  <c:v>2013.583333</c:v>
                </c:pt>
                <c:pt idx="32">
                  <c:v>2013.666667</c:v>
                </c:pt>
                <c:pt idx="33">
                  <c:v>2013.75</c:v>
                </c:pt>
                <c:pt idx="34">
                  <c:v>2013.833333</c:v>
                </c:pt>
                <c:pt idx="35">
                  <c:v>2013.916667</c:v>
                </c:pt>
                <c:pt idx="36">
                  <c:v>2014</c:v>
                </c:pt>
                <c:pt idx="37">
                  <c:v>2014.083333</c:v>
                </c:pt>
                <c:pt idx="38">
                  <c:v>2014.166667</c:v>
                </c:pt>
                <c:pt idx="39">
                  <c:v>2014.25</c:v>
                </c:pt>
                <c:pt idx="40">
                  <c:v>2014.333333</c:v>
                </c:pt>
                <c:pt idx="41">
                  <c:v>2014.416667</c:v>
                </c:pt>
                <c:pt idx="42">
                  <c:v>2014.5</c:v>
                </c:pt>
                <c:pt idx="43">
                  <c:v>2014.583333</c:v>
                </c:pt>
                <c:pt idx="44">
                  <c:v>2014.666667</c:v>
                </c:pt>
                <c:pt idx="45">
                  <c:v>2014.75</c:v>
                </c:pt>
                <c:pt idx="46">
                  <c:v>2014.833333</c:v>
                </c:pt>
                <c:pt idx="47">
                  <c:v>2014.916667</c:v>
                </c:pt>
                <c:pt idx="48">
                  <c:v>2015</c:v>
                </c:pt>
                <c:pt idx="49">
                  <c:v>2015.083333</c:v>
                </c:pt>
                <c:pt idx="50">
                  <c:v>2015.166667</c:v>
                </c:pt>
                <c:pt idx="51">
                  <c:v>2015.25</c:v>
                </c:pt>
                <c:pt idx="52">
                  <c:v>2015.333333</c:v>
                </c:pt>
                <c:pt idx="53">
                  <c:v>2015.416667</c:v>
                </c:pt>
                <c:pt idx="54">
                  <c:v>2015.5</c:v>
                </c:pt>
                <c:pt idx="55">
                  <c:v>2015.583333</c:v>
                </c:pt>
                <c:pt idx="56">
                  <c:v>2015.666667</c:v>
                </c:pt>
                <c:pt idx="57">
                  <c:v>2015.75</c:v>
                </c:pt>
                <c:pt idx="58">
                  <c:v>2015.833333</c:v>
                </c:pt>
                <c:pt idx="59">
                  <c:v>2015.916667</c:v>
                </c:pt>
                <c:pt idx="60">
                  <c:v>2016</c:v>
                </c:pt>
                <c:pt idx="61">
                  <c:v>2016.083333</c:v>
                </c:pt>
                <c:pt idx="62">
                  <c:v>2016.166667</c:v>
                </c:pt>
                <c:pt idx="63">
                  <c:v>2016.25</c:v>
                </c:pt>
                <c:pt idx="64">
                  <c:v>2016.333333</c:v>
                </c:pt>
                <c:pt idx="65">
                  <c:v>2016.416667</c:v>
                </c:pt>
                <c:pt idx="66">
                  <c:v>2016.5</c:v>
                </c:pt>
                <c:pt idx="67">
                  <c:v>2016.583333</c:v>
                </c:pt>
                <c:pt idx="68">
                  <c:v>2016.666667</c:v>
                </c:pt>
                <c:pt idx="69">
                  <c:v>2016.75</c:v>
                </c:pt>
                <c:pt idx="70">
                  <c:v>2016.833333</c:v>
                </c:pt>
                <c:pt idx="71">
                  <c:v>2016.916667</c:v>
                </c:pt>
                <c:pt idx="72">
                  <c:v>2017</c:v>
                </c:pt>
                <c:pt idx="73">
                  <c:v>2017.083333</c:v>
                </c:pt>
                <c:pt idx="74">
                  <c:v>2017.166667</c:v>
                </c:pt>
                <c:pt idx="75">
                  <c:v>2017.25</c:v>
                </c:pt>
                <c:pt idx="76">
                  <c:v>2017.333333</c:v>
                </c:pt>
                <c:pt idx="77">
                  <c:v>2017.416667</c:v>
                </c:pt>
                <c:pt idx="78">
                  <c:v>2017.5</c:v>
                </c:pt>
                <c:pt idx="79">
                  <c:v>2017.583333</c:v>
                </c:pt>
                <c:pt idx="80">
                  <c:v>2017.666667</c:v>
                </c:pt>
                <c:pt idx="81">
                  <c:v>2017.75</c:v>
                </c:pt>
                <c:pt idx="82">
                  <c:v>2017.833333</c:v>
                </c:pt>
                <c:pt idx="83">
                  <c:v>2017.916667</c:v>
                </c:pt>
                <c:pt idx="84">
                  <c:v>2018</c:v>
                </c:pt>
                <c:pt idx="85">
                  <c:v>2018.083333</c:v>
                </c:pt>
                <c:pt idx="86">
                  <c:v>2018.166667</c:v>
                </c:pt>
                <c:pt idx="87">
                  <c:v>2018.25</c:v>
                </c:pt>
                <c:pt idx="88">
                  <c:v>2018.333333</c:v>
                </c:pt>
                <c:pt idx="89">
                  <c:v>2018.416667</c:v>
                </c:pt>
                <c:pt idx="90">
                  <c:v>2018.5</c:v>
                </c:pt>
                <c:pt idx="91">
                  <c:v>2018.583333</c:v>
                </c:pt>
                <c:pt idx="92">
                  <c:v>2018.666667</c:v>
                </c:pt>
                <c:pt idx="93">
                  <c:v>2018.75</c:v>
                </c:pt>
                <c:pt idx="94">
                  <c:v>2018.833333</c:v>
                </c:pt>
                <c:pt idx="95">
                  <c:v>2018.916667</c:v>
                </c:pt>
                <c:pt idx="96">
                  <c:v>2019</c:v>
                </c:pt>
                <c:pt idx="97">
                  <c:v>2019.083333</c:v>
                </c:pt>
                <c:pt idx="98">
                  <c:v>2019.166667</c:v>
                </c:pt>
                <c:pt idx="99">
                  <c:v>2019.25</c:v>
                </c:pt>
                <c:pt idx="100">
                  <c:v>2019.333333</c:v>
                </c:pt>
                <c:pt idx="101">
                  <c:v>2019.416667</c:v>
                </c:pt>
                <c:pt idx="102">
                  <c:v>2019.5</c:v>
                </c:pt>
                <c:pt idx="103">
                  <c:v>2019.583333</c:v>
                </c:pt>
                <c:pt idx="104">
                  <c:v>2019.666667</c:v>
                </c:pt>
                <c:pt idx="105">
                  <c:v>2019.75</c:v>
                </c:pt>
                <c:pt idx="106">
                  <c:v>2019.833333</c:v>
                </c:pt>
                <c:pt idx="107">
                  <c:v>2019.916667</c:v>
                </c:pt>
                <c:pt idx="108">
                  <c:v>2020</c:v>
                </c:pt>
                <c:pt idx="109">
                  <c:v>2020.083333</c:v>
                </c:pt>
                <c:pt idx="110">
                  <c:v>2020.166667</c:v>
                </c:pt>
                <c:pt idx="111">
                  <c:v>2020.25</c:v>
                </c:pt>
                <c:pt idx="112">
                  <c:v>2020.333333</c:v>
                </c:pt>
                <c:pt idx="113">
                  <c:v>2020.416667</c:v>
                </c:pt>
                <c:pt idx="114">
                  <c:v>2020.5</c:v>
                </c:pt>
                <c:pt idx="115">
                  <c:v>2020.583333</c:v>
                </c:pt>
                <c:pt idx="116">
                  <c:v>2020.666667</c:v>
                </c:pt>
                <c:pt idx="117">
                  <c:v>2020.75</c:v>
                </c:pt>
                <c:pt idx="118">
                  <c:v>2020.833333</c:v>
                </c:pt>
                <c:pt idx="119">
                  <c:v>2020.916667</c:v>
                </c:pt>
                <c:pt idx="120">
                  <c:v>2021</c:v>
                </c:pt>
                <c:pt idx="121">
                  <c:v>2021.083333</c:v>
                </c:pt>
                <c:pt idx="122">
                  <c:v>2021.166667</c:v>
                </c:pt>
                <c:pt idx="123">
                  <c:v>2021.25</c:v>
                </c:pt>
                <c:pt idx="124">
                  <c:v>2021.333333</c:v>
                </c:pt>
                <c:pt idx="125">
                  <c:v>2021.416667</c:v>
                </c:pt>
                <c:pt idx="126">
                  <c:v>2021.5</c:v>
                </c:pt>
                <c:pt idx="127">
                  <c:v>2021.583333</c:v>
                </c:pt>
                <c:pt idx="128">
                  <c:v>2021.666667</c:v>
                </c:pt>
                <c:pt idx="129">
                  <c:v>2021.75</c:v>
                </c:pt>
                <c:pt idx="130">
                  <c:v>2021.833333</c:v>
                </c:pt>
                <c:pt idx="131">
                  <c:v>2021.916667</c:v>
                </c:pt>
                <c:pt idx="132">
                  <c:v>2022</c:v>
                </c:pt>
                <c:pt idx="133">
                  <c:v>2022.083333</c:v>
                </c:pt>
                <c:pt idx="134">
                  <c:v>2022.166667</c:v>
                </c:pt>
                <c:pt idx="135">
                  <c:v>2022.25</c:v>
                </c:pt>
                <c:pt idx="136">
                  <c:v>2022.333333</c:v>
                </c:pt>
                <c:pt idx="137">
                  <c:v>2022.416667</c:v>
                </c:pt>
                <c:pt idx="138">
                  <c:v>2022.5</c:v>
                </c:pt>
                <c:pt idx="139">
                  <c:v>2022.583333</c:v>
                </c:pt>
                <c:pt idx="140">
                  <c:v>2022.666667</c:v>
                </c:pt>
                <c:pt idx="141">
                  <c:v>2022.75</c:v>
                </c:pt>
                <c:pt idx="142">
                  <c:v>2022.833333</c:v>
                </c:pt>
                <c:pt idx="143">
                  <c:v>2022.916667</c:v>
                </c:pt>
                <c:pt idx="144">
                  <c:v>2023</c:v>
                </c:pt>
                <c:pt idx="145">
                  <c:v>2023.083333</c:v>
                </c:pt>
                <c:pt idx="146">
                  <c:v>2023.166667</c:v>
                </c:pt>
                <c:pt idx="147">
                  <c:v>2023.25</c:v>
                </c:pt>
                <c:pt idx="148">
                  <c:v>2023.333333</c:v>
                </c:pt>
                <c:pt idx="149">
                  <c:v>2023.416667</c:v>
                </c:pt>
                <c:pt idx="150">
                  <c:v>2023.5</c:v>
                </c:pt>
                <c:pt idx="151">
                  <c:v>2023.583333</c:v>
                </c:pt>
                <c:pt idx="152">
                  <c:v>2023.666667</c:v>
                </c:pt>
                <c:pt idx="153">
                  <c:v>2023.75</c:v>
                </c:pt>
                <c:pt idx="154">
                  <c:v>2023.833333</c:v>
                </c:pt>
                <c:pt idx="155">
                  <c:v>2023.916667</c:v>
                </c:pt>
                <c:pt idx="156">
                  <c:v>2024</c:v>
                </c:pt>
                <c:pt idx="157">
                  <c:v>2024.083333</c:v>
                </c:pt>
                <c:pt idx="158">
                  <c:v>2024.166667</c:v>
                </c:pt>
                <c:pt idx="159">
                  <c:v>2024.25</c:v>
                </c:pt>
                <c:pt idx="160">
                  <c:v>2024.333333</c:v>
                </c:pt>
                <c:pt idx="161">
                  <c:v>2024.416667</c:v>
                </c:pt>
                <c:pt idx="162">
                  <c:v>2024.5</c:v>
                </c:pt>
                <c:pt idx="163">
                  <c:v>2024.583333</c:v>
                </c:pt>
                <c:pt idx="164">
                  <c:v>2024.666667</c:v>
                </c:pt>
                <c:pt idx="165">
                  <c:v>2024.75</c:v>
                </c:pt>
                <c:pt idx="166">
                  <c:v>2024.833333</c:v>
                </c:pt>
                <c:pt idx="167">
                  <c:v>2024.916667</c:v>
                </c:pt>
                <c:pt idx="168">
                  <c:v>2025</c:v>
                </c:pt>
                <c:pt idx="169">
                  <c:v>2025.083333</c:v>
                </c:pt>
                <c:pt idx="170">
                  <c:v>2025.166667</c:v>
                </c:pt>
                <c:pt idx="171">
                  <c:v>2025.25</c:v>
                </c:pt>
                <c:pt idx="172">
                  <c:v>2025.333333</c:v>
                </c:pt>
                <c:pt idx="173">
                  <c:v>2025.416667</c:v>
                </c:pt>
                <c:pt idx="174">
                  <c:v>2025.5</c:v>
                </c:pt>
                <c:pt idx="175">
                  <c:v>2025.583333</c:v>
                </c:pt>
                <c:pt idx="176">
                  <c:v>2025.666667</c:v>
                </c:pt>
                <c:pt idx="177">
                  <c:v>2025.75</c:v>
                </c:pt>
                <c:pt idx="178">
                  <c:v>2025.833333</c:v>
                </c:pt>
                <c:pt idx="179">
                  <c:v>2025.916667</c:v>
                </c:pt>
              </c:numCache>
            </c:numRef>
          </c:xVal>
          <c:yVal>
            <c:numRef>
              <c:f>'Chart Data'!$B$2:$B$181</c:f>
              <c:numCache>
                <c:formatCode>#,##0</c:formatCode>
                <c:ptCount val="180"/>
                <c:pt idx="0">
                  <c:v>771</c:v>
                </c:pt>
                <c:pt idx="1">
                  <c:v>842</c:v>
                </c:pt>
                <c:pt idx="2">
                  <c:v>1119</c:v>
                </c:pt>
                <c:pt idx="3">
                  <c:v>948</c:v>
                </c:pt>
                <c:pt idx="4">
                  <c:v>1047</c:v>
                </c:pt>
                <c:pt idx="5">
                  <c:v>971</c:v>
                </c:pt>
                <c:pt idx="6">
                  <c:v>868</c:v>
                </c:pt>
                <c:pt idx="7">
                  <c:v>1063</c:v>
                </c:pt>
                <c:pt idx="8">
                  <c:v>974</c:v>
                </c:pt>
                <c:pt idx="9">
                  <c:v>949</c:v>
                </c:pt>
                <c:pt idx="10">
                  <c:v>941</c:v>
                </c:pt>
                <c:pt idx="11">
                  <c:v>985</c:v>
                </c:pt>
                <c:pt idx="12">
                  <c:v>1009</c:v>
                </c:pt>
                <c:pt idx="13">
                  <c:v>957</c:v>
                </c:pt>
                <c:pt idx="14">
                  <c:v>1067</c:v>
                </c:pt>
                <c:pt idx="15">
                  <c:v>1089</c:v>
                </c:pt>
                <c:pt idx="16">
                  <c:v>1160</c:v>
                </c:pt>
                <c:pt idx="17">
                  <c:v>1079</c:v>
                </c:pt>
                <c:pt idx="18">
                  <c:v>1132</c:v>
                </c:pt>
                <c:pt idx="19">
                  <c:v>1134</c:v>
                </c:pt>
                <c:pt idx="20">
                  <c:v>983</c:v>
                </c:pt>
                <c:pt idx="21">
                  <c:v>1150</c:v>
                </c:pt>
                <c:pt idx="22">
                  <c:v>978</c:v>
                </c:pt>
                <c:pt idx="23">
                  <c:v>1025</c:v>
                </c:pt>
                <c:pt idx="24">
                  <c:v>989</c:v>
                </c:pt>
                <c:pt idx="25">
                  <c:v>943</c:v>
                </c:pt>
                <c:pt idx="26">
                  <c:v>1089</c:v>
                </c:pt>
                <c:pt idx="27">
                  <c:v>1128</c:v>
                </c:pt>
                <c:pt idx="28">
                  <c:v>1063</c:v>
                </c:pt>
                <c:pt idx="29">
                  <c:v>999</c:v>
                </c:pt>
                <c:pt idx="30">
                  <c:v>1160</c:v>
                </c:pt>
                <c:pt idx="31">
                  <c:v>1032</c:v>
                </c:pt>
                <c:pt idx="32">
                  <c:v>1022</c:v>
                </c:pt>
                <c:pt idx="33">
                  <c:v>1280</c:v>
                </c:pt>
                <c:pt idx="34">
                  <c:v>1090</c:v>
                </c:pt>
                <c:pt idx="35">
                  <c:v>1184</c:v>
                </c:pt>
                <c:pt idx="36">
                  <c:v>1121</c:v>
                </c:pt>
                <c:pt idx="37">
                  <c:v>1059</c:v>
                </c:pt>
                <c:pt idx="38">
                  <c:v>1158</c:v>
                </c:pt>
                <c:pt idx="39">
                  <c:v>1264</c:v>
                </c:pt>
                <c:pt idx="40">
                  <c:v>1231</c:v>
                </c:pt>
                <c:pt idx="41">
                  <c:v>1226</c:v>
                </c:pt>
                <c:pt idx="42">
                  <c:v>1277</c:v>
                </c:pt>
                <c:pt idx="43">
                  <c:v>1188</c:v>
                </c:pt>
                <c:pt idx="44">
                  <c:v>1206</c:v>
                </c:pt>
                <c:pt idx="45">
                  <c:v>1305</c:v>
                </c:pt>
                <c:pt idx="46">
                  <c:v>1166</c:v>
                </c:pt>
                <c:pt idx="47">
                  <c:v>1362</c:v>
                </c:pt>
                <c:pt idx="48">
                  <c:v>1140</c:v>
                </c:pt>
                <c:pt idx="49">
                  <c:v>1111</c:v>
                </c:pt>
                <c:pt idx="50">
                  <c:v>1455</c:v>
                </c:pt>
                <c:pt idx="51">
                  <c:v>1409</c:v>
                </c:pt>
                <c:pt idx="52">
                  <c:v>1294</c:v>
                </c:pt>
                <c:pt idx="53">
                  <c:v>1472</c:v>
                </c:pt>
                <c:pt idx="54">
                  <c:v>1360</c:v>
                </c:pt>
                <c:pt idx="55">
                  <c:v>1279</c:v>
                </c:pt>
                <c:pt idx="56">
                  <c:v>1336</c:v>
                </c:pt>
                <c:pt idx="57">
                  <c:v>1316</c:v>
                </c:pt>
                <c:pt idx="58">
                  <c:v>1233</c:v>
                </c:pt>
                <c:pt idx="59">
                  <c:v>1233</c:v>
                </c:pt>
                <c:pt idx="60">
                  <c:v>1151</c:v>
                </c:pt>
                <c:pt idx="61">
                  <c:v>1236</c:v>
                </c:pt>
                <c:pt idx="62">
                  <c:v>1539</c:v>
                </c:pt>
                <c:pt idx="63">
                  <c:v>1249</c:v>
                </c:pt>
                <c:pt idx="64">
                  <c:v>1388</c:v>
                </c:pt>
                <c:pt idx="65">
                  <c:v>1280</c:v>
                </c:pt>
                <c:pt idx="66">
                  <c:v>1184</c:v>
                </c:pt>
                <c:pt idx="67">
                  <c:v>1418</c:v>
                </c:pt>
                <c:pt idx="68">
                  <c:v>1310</c:v>
                </c:pt>
                <c:pt idx="69">
                  <c:v>1226</c:v>
                </c:pt>
                <c:pt idx="70">
                  <c:v>1166</c:v>
                </c:pt>
                <c:pt idx="71">
                  <c:v>1253</c:v>
                </c:pt>
                <c:pt idx="72">
                  <c:v>1278</c:v>
                </c:pt>
                <c:pt idx="73">
                  <c:v>1198</c:v>
                </c:pt>
                <c:pt idx="74">
                  <c:v>1373</c:v>
                </c:pt>
                <c:pt idx="75">
                  <c:v>1202</c:v>
                </c:pt>
                <c:pt idx="76">
                  <c:v>1409</c:v>
                </c:pt>
                <c:pt idx="77">
                  <c:v>1331</c:v>
                </c:pt>
                <c:pt idx="78">
                  <c:v>1245</c:v>
                </c:pt>
                <c:pt idx="79">
                  <c:v>1434</c:v>
                </c:pt>
                <c:pt idx="80">
                  <c:v>1245</c:v>
                </c:pt>
                <c:pt idx="81">
                  <c:v>1456</c:v>
                </c:pt>
                <c:pt idx="82">
                  <c:v>1298</c:v>
                </c:pt>
                <c:pt idx="83">
                  <c:v>1400</c:v>
                </c:pt>
                <c:pt idx="84">
                  <c:v>1441</c:v>
                </c:pt>
                <c:pt idx="85">
                  <c:v>1349</c:v>
                </c:pt>
                <c:pt idx="86">
                  <c:v>1673</c:v>
                </c:pt>
                <c:pt idx="87">
                  <c:v>1466</c:v>
                </c:pt>
                <c:pt idx="88">
                  <c:v>1667</c:v>
                </c:pt>
                <c:pt idx="89">
                  <c:v>1545</c:v>
                </c:pt>
                <c:pt idx="90">
                  <c:v>1512</c:v>
                </c:pt>
                <c:pt idx="91">
                  <c:v>1739</c:v>
                </c:pt>
                <c:pt idx="92">
                  <c:v>1656</c:v>
                </c:pt>
                <c:pt idx="93">
                  <c:v>1600</c:v>
                </c:pt>
                <c:pt idx="94">
                  <c:v>1516</c:v>
                </c:pt>
                <c:pt idx="95">
                  <c:v>1673</c:v>
                </c:pt>
                <c:pt idx="96">
                  <c:v>1565</c:v>
                </c:pt>
                <c:pt idx="97">
                  <c:v>1545</c:v>
                </c:pt>
                <c:pt idx="98">
                  <c:v>1856</c:v>
                </c:pt>
                <c:pt idx="99">
                  <c:v>1508</c:v>
                </c:pt>
                <c:pt idx="100">
                  <c:v>1672</c:v>
                </c:pt>
                <c:pt idx="101">
                  <c:v>1762</c:v>
                </c:pt>
                <c:pt idx="102">
                  <c:v>1606</c:v>
                </c:pt>
                <c:pt idx="103">
                  <c:v>1835</c:v>
                </c:pt>
                <c:pt idx="104">
                  <c:v>1697</c:v>
                </c:pt>
                <c:pt idx="105">
                  <c:v>1680</c:v>
                </c:pt>
                <c:pt idx="106">
                  <c:v>1668</c:v>
                </c:pt>
                <c:pt idx="107">
                  <c:v>1523</c:v>
                </c:pt>
                <c:pt idx="108">
                  <c:v>1745</c:v>
                </c:pt>
                <c:pt idx="109">
                  <c:v>1671</c:v>
                </c:pt>
                <c:pt idx="110">
                  <c:v>1497</c:v>
                </c:pt>
                <c:pt idx="111">
                  <c:v>1167</c:v>
                </c:pt>
                <c:pt idx="112">
                  <c:v>1265</c:v>
                </c:pt>
                <c:pt idx="113">
                  <c:v>1336</c:v>
                </c:pt>
                <c:pt idx="114">
                  <c:v>1450</c:v>
                </c:pt>
                <c:pt idx="115">
                  <c:v>1494</c:v>
                </c:pt>
                <c:pt idx="116">
                  <c:v>1691</c:v>
                </c:pt>
                <c:pt idx="117">
                  <c:v>1638</c:v>
                </c:pt>
                <c:pt idx="118">
                  <c:v>1673</c:v>
                </c:pt>
                <c:pt idx="119">
                  <c:v>1471</c:v>
                </c:pt>
                <c:pt idx="120">
                  <c:v>1597</c:v>
                </c:pt>
                <c:pt idx="121">
                  <c:v>1481</c:v>
                </c:pt>
                <c:pt idx="122">
                  <c:v>1780</c:v>
                </c:pt>
                <c:pt idx="123">
                  <c:v>1752</c:v>
                </c:pt>
                <c:pt idx="124">
                  <c:v>1892</c:v>
                </c:pt>
                <c:pt idx="125">
                  <c:v>1904</c:v>
                </c:pt>
                <c:pt idx="126">
                  <c:v>2006</c:v>
                </c:pt>
                <c:pt idx="127">
                  <c:v>2013</c:v>
                </c:pt>
                <c:pt idx="128">
                  <c:v>1968</c:v>
                </c:pt>
                <c:pt idx="129">
                  <c:v>2065</c:v>
                </c:pt>
                <c:pt idx="130">
                  <c:v>1860</c:v>
                </c:pt>
                <c:pt idx="131">
                  <c:v>2195</c:v>
                </c:pt>
                <c:pt idx="132">
                  <c:v>2135</c:v>
                </c:pt>
                <c:pt idx="133">
                  <c:v>2146</c:v>
                </c:pt>
                <c:pt idx="134">
                  <c:v>2349</c:v>
                </c:pt>
                <c:pt idx="135">
                  <c:v>2351</c:v>
                </c:pt>
                <c:pt idx="136">
                  <c:v>2432</c:v>
                </c:pt>
                <c:pt idx="137">
                  <c:v>2282</c:v>
                </c:pt>
                <c:pt idx="138">
                  <c:v>2334</c:v>
                </c:pt>
                <c:pt idx="139">
                  <c:v>2444</c:v>
                </c:pt>
                <c:pt idx="140">
                  <c:v>2416</c:v>
                </c:pt>
                <c:pt idx="141">
                  <c:v>2633</c:v>
                </c:pt>
                <c:pt idx="142">
                  <c:v>2274</c:v>
                </c:pt>
                <c:pt idx="143">
                  <c:v>2475</c:v>
                </c:pt>
                <c:pt idx="144">
                  <c:v>2322</c:v>
                </c:pt>
                <c:pt idx="145">
                  <c:v>2236</c:v>
                </c:pt>
                <c:pt idx="146">
                  <c:v>2631</c:v>
                </c:pt>
                <c:pt idx="147">
                  <c:v>2535</c:v>
                </c:pt>
                <c:pt idx="148">
                  <c:v>2525</c:v>
                </c:pt>
                <c:pt idx="149">
                  <c:v>2417</c:v>
                </c:pt>
                <c:pt idx="150">
                  <c:v>2426</c:v>
                </c:pt>
                <c:pt idx="151">
                  <c:v>2413</c:v>
                </c:pt>
                <c:pt idx="152">
                  <c:v>2414</c:v>
                </c:pt>
                <c:pt idx="153">
                  <c:v>2520</c:v>
                </c:pt>
                <c:pt idx="154">
                  <c:v>2328</c:v>
                </c:pt>
                <c:pt idx="155">
                  <c:v>2575</c:v>
                </c:pt>
                <c:pt idx="156">
                  <c:v>2196</c:v>
                </c:pt>
                <c:pt idx="157">
                  <c:v>2351</c:v>
                </c:pt>
                <c:pt idx="158">
                  <c:v>2556</c:v>
                </c:pt>
                <c:pt idx="159">
                  <c:v>2273</c:v>
                </c:pt>
                <c:pt idx="160">
                  <c:v>2370</c:v>
                </c:pt>
                <c:pt idx="161">
                  <c:v>2256</c:v>
                </c:pt>
                <c:pt idx="162">
                  <c:v>2333</c:v>
                </c:pt>
                <c:pt idx="163">
                  <c:v>2325</c:v>
                </c:pt>
                <c:pt idx="164">
                  <c:v>2237</c:v>
                </c:pt>
                <c:pt idx="165">
                  <c:v>2310</c:v>
                </c:pt>
                <c:pt idx="166">
                  <c:v>2326</c:v>
                </c:pt>
                <c:pt idx="167">
                  <c:v>1964</c:v>
                </c:pt>
                <c:pt idx="168">
                  <c:v>2150</c:v>
                </c:pt>
                <c:pt idx="169">
                  <c:v>2087</c:v>
                </c:pt>
                <c:pt idx="170">
                  <c:v>2316</c:v>
                </c:pt>
                <c:pt idx="171">
                  <c:v>2209</c:v>
                </c:pt>
                <c:pt idx="172">
                  <c:v>2270</c:v>
                </c:pt>
                <c:pt idx="173">
                  <c:v>2201</c:v>
                </c:pt>
                <c:pt idx="174">
                  <c:v>2086</c:v>
                </c:pt>
                <c:pt idx="175">
                  <c:v>2260</c:v>
                </c:pt>
                <c:pt idx="176">
                  <c:v>2004</c:v>
                </c:pt>
                <c:pt idx="177">
                  <c:v>2296</c:v>
                </c:pt>
                <c:pt idx="178">
                  <c:v>2116</c:v>
                </c:pt>
                <c:pt idx="179">
                  <c:v>1887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6AEB-F240-BFC7-B87318575670}"/>
            </c:ext>
          </c:extLst>
        </c:ser>
        <c:ser>
          <c:idx val="1"/>
          <c:order val="1"/>
          <c:tx>
            <c:v>Frozen long-run fitted level</c:v>
          </c:tx>
          <c:spPr>
            <a:ln w="23813">
              <a:solidFill>
                <a:srgbClr val="C77933"/>
              </a:solidFill>
              <a:prstDash val="solid"/>
            </a:ln>
          </c:spPr>
          <c:marker>
            <c:symbol val="none"/>
          </c:marker>
          <c:xVal>
            <c:numRef>
              <c:f>'Chart Data'!$C$2:$C$181</c:f>
              <c:numCache>
                <c:formatCode>General</c:formatCode>
                <c:ptCount val="180"/>
                <c:pt idx="0">
                  <c:v>2011</c:v>
                </c:pt>
                <c:pt idx="1">
                  <c:v>2011.083333</c:v>
                </c:pt>
                <c:pt idx="2">
                  <c:v>2011.166667</c:v>
                </c:pt>
                <c:pt idx="3">
                  <c:v>2011.25</c:v>
                </c:pt>
                <c:pt idx="4">
                  <c:v>2011.333333</c:v>
                </c:pt>
                <c:pt idx="5">
                  <c:v>2011.416667</c:v>
                </c:pt>
                <c:pt idx="6">
                  <c:v>2011.5</c:v>
                </c:pt>
                <c:pt idx="7">
                  <c:v>2011.583333</c:v>
                </c:pt>
                <c:pt idx="8">
                  <c:v>2011.666667</c:v>
                </c:pt>
                <c:pt idx="9">
                  <c:v>2011.75</c:v>
                </c:pt>
                <c:pt idx="10">
                  <c:v>2011.833333</c:v>
                </c:pt>
                <c:pt idx="11">
                  <c:v>2011.916667</c:v>
                </c:pt>
                <c:pt idx="12">
                  <c:v>2012</c:v>
                </c:pt>
                <c:pt idx="13">
                  <c:v>2012.083333</c:v>
                </c:pt>
                <c:pt idx="14">
                  <c:v>2012.166667</c:v>
                </c:pt>
                <c:pt idx="15">
                  <c:v>2012.25</c:v>
                </c:pt>
                <c:pt idx="16">
                  <c:v>2012.333333</c:v>
                </c:pt>
                <c:pt idx="17">
                  <c:v>2012.416667</c:v>
                </c:pt>
                <c:pt idx="18">
                  <c:v>2012.5</c:v>
                </c:pt>
                <c:pt idx="19">
                  <c:v>2012.583333</c:v>
                </c:pt>
                <c:pt idx="20">
                  <c:v>2012.666667</c:v>
                </c:pt>
                <c:pt idx="21">
                  <c:v>2012.75</c:v>
                </c:pt>
                <c:pt idx="22">
                  <c:v>2012.833333</c:v>
                </c:pt>
                <c:pt idx="23">
                  <c:v>2012.916667</c:v>
                </c:pt>
                <c:pt idx="24">
                  <c:v>2013</c:v>
                </c:pt>
                <c:pt idx="25">
                  <c:v>2013.083333</c:v>
                </c:pt>
                <c:pt idx="26">
                  <c:v>2013.166667</c:v>
                </c:pt>
                <c:pt idx="27">
                  <c:v>2013.25</c:v>
                </c:pt>
                <c:pt idx="28">
                  <c:v>2013.333333</c:v>
                </c:pt>
                <c:pt idx="29">
                  <c:v>2013.416667</c:v>
                </c:pt>
                <c:pt idx="30">
                  <c:v>2013.5</c:v>
                </c:pt>
                <c:pt idx="31">
                  <c:v>2013.583333</c:v>
                </c:pt>
                <c:pt idx="32">
                  <c:v>2013.666667</c:v>
                </c:pt>
                <c:pt idx="33">
                  <c:v>2013.75</c:v>
                </c:pt>
                <c:pt idx="34">
                  <c:v>2013.833333</c:v>
                </c:pt>
                <c:pt idx="35">
                  <c:v>2013.916667</c:v>
                </c:pt>
                <c:pt idx="36">
                  <c:v>2014</c:v>
                </c:pt>
                <c:pt idx="37">
                  <c:v>2014.083333</c:v>
                </c:pt>
                <c:pt idx="38">
                  <c:v>2014.166667</c:v>
                </c:pt>
                <c:pt idx="39">
                  <c:v>2014.25</c:v>
                </c:pt>
                <c:pt idx="40">
                  <c:v>2014.333333</c:v>
                </c:pt>
                <c:pt idx="41">
                  <c:v>2014.416667</c:v>
                </c:pt>
                <c:pt idx="42">
                  <c:v>2014.5</c:v>
                </c:pt>
                <c:pt idx="43">
                  <c:v>2014.583333</c:v>
                </c:pt>
                <c:pt idx="44">
                  <c:v>2014.666667</c:v>
                </c:pt>
                <c:pt idx="45">
                  <c:v>2014.75</c:v>
                </c:pt>
                <c:pt idx="46">
                  <c:v>2014.833333</c:v>
                </c:pt>
                <c:pt idx="47">
                  <c:v>2014.916667</c:v>
                </c:pt>
                <c:pt idx="48">
                  <c:v>2015</c:v>
                </c:pt>
                <c:pt idx="49">
                  <c:v>2015.083333</c:v>
                </c:pt>
                <c:pt idx="50">
                  <c:v>2015.166667</c:v>
                </c:pt>
                <c:pt idx="51">
                  <c:v>2015.25</c:v>
                </c:pt>
                <c:pt idx="52">
                  <c:v>2015.333333</c:v>
                </c:pt>
                <c:pt idx="53">
                  <c:v>2015.416667</c:v>
                </c:pt>
                <c:pt idx="54">
                  <c:v>2015.5</c:v>
                </c:pt>
                <c:pt idx="55">
                  <c:v>2015.583333</c:v>
                </c:pt>
                <c:pt idx="56">
                  <c:v>2015.666667</c:v>
                </c:pt>
                <c:pt idx="57">
                  <c:v>2015.75</c:v>
                </c:pt>
                <c:pt idx="58">
                  <c:v>2015.833333</c:v>
                </c:pt>
                <c:pt idx="59">
                  <c:v>2015.916667</c:v>
                </c:pt>
                <c:pt idx="60">
                  <c:v>2016</c:v>
                </c:pt>
                <c:pt idx="61">
                  <c:v>2016.083333</c:v>
                </c:pt>
                <c:pt idx="62">
                  <c:v>2016.166667</c:v>
                </c:pt>
                <c:pt idx="63">
                  <c:v>2016.25</c:v>
                </c:pt>
                <c:pt idx="64">
                  <c:v>2016.333333</c:v>
                </c:pt>
                <c:pt idx="65">
                  <c:v>2016.416667</c:v>
                </c:pt>
                <c:pt idx="66">
                  <c:v>2016.5</c:v>
                </c:pt>
                <c:pt idx="67">
                  <c:v>2016.583333</c:v>
                </c:pt>
                <c:pt idx="68">
                  <c:v>2016.666667</c:v>
                </c:pt>
                <c:pt idx="69">
                  <c:v>2016.75</c:v>
                </c:pt>
                <c:pt idx="70">
                  <c:v>2016.833333</c:v>
                </c:pt>
                <c:pt idx="71">
                  <c:v>2016.916667</c:v>
                </c:pt>
                <c:pt idx="72">
                  <c:v>2017</c:v>
                </c:pt>
                <c:pt idx="73">
                  <c:v>2017.083333</c:v>
                </c:pt>
                <c:pt idx="74">
                  <c:v>2017.166667</c:v>
                </c:pt>
                <c:pt idx="75">
                  <c:v>2017.25</c:v>
                </c:pt>
                <c:pt idx="76">
                  <c:v>2017.333333</c:v>
                </c:pt>
                <c:pt idx="77">
                  <c:v>2017.416667</c:v>
                </c:pt>
                <c:pt idx="78">
                  <c:v>2017.5</c:v>
                </c:pt>
                <c:pt idx="79">
                  <c:v>2017.583333</c:v>
                </c:pt>
                <c:pt idx="80">
                  <c:v>2017.666667</c:v>
                </c:pt>
                <c:pt idx="81">
                  <c:v>2017.75</c:v>
                </c:pt>
                <c:pt idx="82">
                  <c:v>2017.833333</c:v>
                </c:pt>
                <c:pt idx="83">
                  <c:v>2017.916667</c:v>
                </c:pt>
                <c:pt idx="84">
                  <c:v>2018</c:v>
                </c:pt>
                <c:pt idx="85">
                  <c:v>2018.083333</c:v>
                </c:pt>
                <c:pt idx="86">
                  <c:v>2018.166667</c:v>
                </c:pt>
                <c:pt idx="87">
                  <c:v>2018.25</c:v>
                </c:pt>
                <c:pt idx="88">
                  <c:v>2018.333333</c:v>
                </c:pt>
                <c:pt idx="89">
                  <c:v>2018.416667</c:v>
                </c:pt>
                <c:pt idx="90">
                  <c:v>2018.5</c:v>
                </c:pt>
                <c:pt idx="91">
                  <c:v>2018.583333</c:v>
                </c:pt>
                <c:pt idx="92">
                  <c:v>2018.666667</c:v>
                </c:pt>
                <c:pt idx="93">
                  <c:v>2018.75</c:v>
                </c:pt>
                <c:pt idx="94">
                  <c:v>2018.833333</c:v>
                </c:pt>
                <c:pt idx="95">
                  <c:v>2018.916667</c:v>
                </c:pt>
                <c:pt idx="96">
                  <c:v>2019</c:v>
                </c:pt>
                <c:pt idx="97">
                  <c:v>2019.083333</c:v>
                </c:pt>
                <c:pt idx="98">
                  <c:v>2019.166667</c:v>
                </c:pt>
                <c:pt idx="99">
                  <c:v>2019.25</c:v>
                </c:pt>
                <c:pt idx="100">
                  <c:v>2019.333333</c:v>
                </c:pt>
                <c:pt idx="101">
                  <c:v>2019.416667</c:v>
                </c:pt>
                <c:pt idx="102">
                  <c:v>2019.5</c:v>
                </c:pt>
                <c:pt idx="103">
                  <c:v>2019.583333</c:v>
                </c:pt>
                <c:pt idx="104">
                  <c:v>2019.666667</c:v>
                </c:pt>
                <c:pt idx="105">
                  <c:v>2019.75</c:v>
                </c:pt>
                <c:pt idx="106">
                  <c:v>2019.833333</c:v>
                </c:pt>
                <c:pt idx="107">
                  <c:v>2019.916667</c:v>
                </c:pt>
                <c:pt idx="108">
                  <c:v>2020</c:v>
                </c:pt>
                <c:pt idx="109">
                  <c:v>2020.083333</c:v>
                </c:pt>
                <c:pt idx="110">
                  <c:v>2020.166667</c:v>
                </c:pt>
                <c:pt idx="111">
                  <c:v>2020.25</c:v>
                </c:pt>
                <c:pt idx="112">
                  <c:v>2020.333333</c:v>
                </c:pt>
                <c:pt idx="113">
                  <c:v>2020.416667</c:v>
                </c:pt>
                <c:pt idx="114">
                  <c:v>2020.5</c:v>
                </c:pt>
                <c:pt idx="115">
                  <c:v>2020.583333</c:v>
                </c:pt>
                <c:pt idx="116">
                  <c:v>2020.666667</c:v>
                </c:pt>
                <c:pt idx="117">
                  <c:v>2020.75</c:v>
                </c:pt>
                <c:pt idx="118">
                  <c:v>2020.833333</c:v>
                </c:pt>
                <c:pt idx="119">
                  <c:v>2020.916667</c:v>
                </c:pt>
                <c:pt idx="120">
                  <c:v>2021</c:v>
                </c:pt>
                <c:pt idx="121">
                  <c:v>2021.083333</c:v>
                </c:pt>
                <c:pt idx="122">
                  <c:v>2021.166667</c:v>
                </c:pt>
                <c:pt idx="123">
                  <c:v>2021.25</c:v>
                </c:pt>
                <c:pt idx="124">
                  <c:v>2021.333333</c:v>
                </c:pt>
                <c:pt idx="125">
                  <c:v>2021.416667</c:v>
                </c:pt>
                <c:pt idx="126">
                  <c:v>2021.5</c:v>
                </c:pt>
                <c:pt idx="127">
                  <c:v>2021.583333</c:v>
                </c:pt>
                <c:pt idx="128">
                  <c:v>2021.666667</c:v>
                </c:pt>
                <c:pt idx="129">
                  <c:v>2021.75</c:v>
                </c:pt>
                <c:pt idx="130">
                  <c:v>2021.833333</c:v>
                </c:pt>
                <c:pt idx="131">
                  <c:v>2021.916667</c:v>
                </c:pt>
                <c:pt idx="132">
                  <c:v>2022</c:v>
                </c:pt>
                <c:pt idx="133">
                  <c:v>2022.083333</c:v>
                </c:pt>
                <c:pt idx="134">
                  <c:v>2022.166667</c:v>
                </c:pt>
                <c:pt idx="135">
                  <c:v>2022.25</c:v>
                </c:pt>
                <c:pt idx="136">
                  <c:v>2022.333333</c:v>
                </c:pt>
                <c:pt idx="137">
                  <c:v>2022.416667</c:v>
                </c:pt>
                <c:pt idx="138">
                  <c:v>2022.5</c:v>
                </c:pt>
                <c:pt idx="139">
                  <c:v>2022.583333</c:v>
                </c:pt>
                <c:pt idx="140">
                  <c:v>2022.666667</c:v>
                </c:pt>
                <c:pt idx="141">
                  <c:v>2022.75</c:v>
                </c:pt>
                <c:pt idx="142">
                  <c:v>2022.833333</c:v>
                </c:pt>
                <c:pt idx="143">
                  <c:v>2022.916667</c:v>
                </c:pt>
                <c:pt idx="144">
                  <c:v>2023</c:v>
                </c:pt>
                <c:pt idx="145">
                  <c:v>2023.083333</c:v>
                </c:pt>
                <c:pt idx="146">
                  <c:v>2023.166667</c:v>
                </c:pt>
                <c:pt idx="147">
                  <c:v>2023.25</c:v>
                </c:pt>
                <c:pt idx="148">
                  <c:v>2023.333333</c:v>
                </c:pt>
                <c:pt idx="149">
                  <c:v>2023.416667</c:v>
                </c:pt>
                <c:pt idx="150">
                  <c:v>2023.5</c:v>
                </c:pt>
                <c:pt idx="151">
                  <c:v>2023.583333</c:v>
                </c:pt>
                <c:pt idx="152">
                  <c:v>2023.666667</c:v>
                </c:pt>
                <c:pt idx="153">
                  <c:v>2023.75</c:v>
                </c:pt>
                <c:pt idx="154">
                  <c:v>2023.833333</c:v>
                </c:pt>
                <c:pt idx="155">
                  <c:v>2023.916667</c:v>
                </c:pt>
                <c:pt idx="156">
                  <c:v>2024</c:v>
                </c:pt>
                <c:pt idx="157">
                  <c:v>2024.083333</c:v>
                </c:pt>
                <c:pt idx="158">
                  <c:v>2024.166667</c:v>
                </c:pt>
                <c:pt idx="159">
                  <c:v>2024.25</c:v>
                </c:pt>
                <c:pt idx="160">
                  <c:v>2024.333333</c:v>
                </c:pt>
                <c:pt idx="161">
                  <c:v>2024.416667</c:v>
                </c:pt>
                <c:pt idx="162">
                  <c:v>2024.5</c:v>
                </c:pt>
                <c:pt idx="163">
                  <c:v>2024.583333</c:v>
                </c:pt>
                <c:pt idx="164">
                  <c:v>2024.666667</c:v>
                </c:pt>
                <c:pt idx="165">
                  <c:v>2024.75</c:v>
                </c:pt>
                <c:pt idx="166">
                  <c:v>2024.833333</c:v>
                </c:pt>
                <c:pt idx="167">
                  <c:v>2024.916667</c:v>
                </c:pt>
                <c:pt idx="168">
                  <c:v>2025</c:v>
                </c:pt>
                <c:pt idx="169">
                  <c:v>2025.083333</c:v>
                </c:pt>
                <c:pt idx="170">
                  <c:v>2025.166667</c:v>
                </c:pt>
                <c:pt idx="171">
                  <c:v>2025.25</c:v>
                </c:pt>
                <c:pt idx="172">
                  <c:v>2025.333333</c:v>
                </c:pt>
                <c:pt idx="173">
                  <c:v>2025.416667</c:v>
                </c:pt>
                <c:pt idx="174">
                  <c:v>2025.5</c:v>
                </c:pt>
                <c:pt idx="175">
                  <c:v>2025.583333</c:v>
                </c:pt>
                <c:pt idx="176">
                  <c:v>2025.666667</c:v>
                </c:pt>
                <c:pt idx="177">
                  <c:v>2025.75</c:v>
                </c:pt>
                <c:pt idx="178">
                  <c:v>2025.833333</c:v>
                </c:pt>
                <c:pt idx="179">
                  <c:v>2025.916667</c:v>
                </c:pt>
              </c:numCache>
            </c:numRef>
          </c:xVal>
          <c:yVal>
            <c:numRef>
              <c:f>'Chart Data'!$D$2:$D$181</c:f>
              <c:numCache>
                <c:formatCode>#,##0</c:formatCode>
                <c:ptCount val="180"/>
                <c:pt idx="0">
                  <c:v>896.07487400000002</c:v>
                </c:pt>
                <c:pt idx="1">
                  <c:v>912.933401</c:v>
                </c:pt>
                <c:pt idx="2">
                  <c:v>926.53356900000006</c:v>
                </c:pt>
                <c:pt idx="3">
                  <c:v>940.78375900000003</c:v>
                </c:pt>
                <c:pt idx="4">
                  <c:v>953.11257999999998</c:v>
                </c:pt>
                <c:pt idx="5">
                  <c:v>956.171606</c:v>
                </c:pt>
                <c:pt idx="6">
                  <c:v>963.80533500000001</c:v>
                </c:pt>
                <c:pt idx="7">
                  <c:v>968.69881099999998</c:v>
                </c:pt>
                <c:pt idx="8">
                  <c:v>981.939708</c:v>
                </c:pt>
                <c:pt idx="9">
                  <c:v>989.77277000000004</c:v>
                </c:pt>
                <c:pt idx="10">
                  <c:v>1004.131351</c:v>
                </c:pt>
                <c:pt idx="11">
                  <c:v>1012.653906</c:v>
                </c:pt>
                <c:pt idx="12">
                  <c:v>1024.6267310000001</c:v>
                </c:pt>
                <c:pt idx="13">
                  <c:v>1037.209357</c:v>
                </c:pt>
                <c:pt idx="14">
                  <c:v>1040.9626510000001</c:v>
                </c:pt>
                <c:pt idx="15">
                  <c:v>1052.6464249999999</c:v>
                </c:pt>
                <c:pt idx="16">
                  <c:v>1042.697635</c:v>
                </c:pt>
                <c:pt idx="17">
                  <c:v>1030.757057</c:v>
                </c:pt>
                <c:pt idx="18">
                  <c:v>1030.762307</c:v>
                </c:pt>
                <c:pt idx="19">
                  <c:v>1061.142533</c:v>
                </c:pt>
                <c:pt idx="20">
                  <c:v>1082.6769300000001</c:v>
                </c:pt>
                <c:pt idx="21">
                  <c:v>1095.772688</c:v>
                </c:pt>
                <c:pt idx="22">
                  <c:v>1065.7727319999999</c:v>
                </c:pt>
                <c:pt idx="23">
                  <c:v>1068.132515</c:v>
                </c:pt>
                <c:pt idx="24">
                  <c:v>1080.1707839999999</c:v>
                </c:pt>
                <c:pt idx="25">
                  <c:v>1112.9852370000001</c:v>
                </c:pt>
                <c:pt idx="26">
                  <c:v>1096.7500090000001</c:v>
                </c:pt>
                <c:pt idx="27">
                  <c:v>1093.8098729999999</c:v>
                </c:pt>
                <c:pt idx="28">
                  <c:v>1104.5038520000001</c:v>
                </c:pt>
                <c:pt idx="29">
                  <c:v>1115.2718</c:v>
                </c:pt>
                <c:pt idx="30">
                  <c:v>1125.4893930000001</c:v>
                </c:pt>
                <c:pt idx="31">
                  <c:v>1134.863355</c:v>
                </c:pt>
                <c:pt idx="32">
                  <c:v>1135.9148439999999</c:v>
                </c:pt>
                <c:pt idx="33">
                  <c:v>1129.5742110000001</c:v>
                </c:pt>
                <c:pt idx="34">
                  <c:v>1140.6034629999999</c:v>
                </c:pt>
                <c:pt idx="35">
                  <c:v>1158.7717829999999</c:v>
                </c:pt>
                <c:pt idx="36">
                  <c:v>1170.4698060000001</c:v>
                </c:pt>
                <c:pt idx="37">
                  <c:v>1166.1911789999999</c:v>
                </c:pt>
                <c:pt idx="38">
                  <c:v>1184.8136629999999</c:v>
                </c:pt>
                <c:pt idx="39">
                  <c:v>1196.618101</c:v>
                </c:pt>
                <c:pt idx="40">
                  <c:v>1210.7465999999999</c:v>
                </c:pt>
                <c:pt idx="41">
                  <c:v>1213.8288749999999</c:v>
                </c:pt>
                <c:pt idx="42">
                  <c:v>1221.2449959999999</c:v>
                </c:pt>
                <c:pt idx="43">
                  <c:v>1220.0416190000001</c:v>
                </c:pt>
                <c:pt idx="44">
                  <c:v>1218.1457479999999</c:v>
                </c:pt>
                <c:pt idx="45">
                  <c:v>1219.9619250000001</c:v>
                </c:pt>
                <c:pt idx="46">
                  <c:v>1218.1469729999999</c:v>
                </c:pt>
                <c:pt idx="47">
                  <c:v>1213.6004929999999</c:v>
                </c:pt>
                <c:pt idx="48">
                  <c:v>1174.4951020000001</c:v>
                </c:pt>
                <c:pt idx="49">
                  <c:v>1187.5886109999999</c:v>
                </c:pt>
                <c:pt idx="50">
                  <c:v>1190.5794679999999</c:v>
                </c:pt>
                <c:pt idx="51">
                  <c:v>1198.458001</c:v>
                </c:pt>
                <c:pt idx="52">
                  <c:v>1219.0390749999999</c:v>
                </c:pt>
                <c:pt idx="53">
                  <c:v>1219.0111280000001</c:v>
                </c:pt>
                <c:pt idx="54">
                  <c:v>1230.500542</c:v>
                </c:pt>
                <c:pt idx="55">
                  <c:v>1230.423098</c:v>
                </c:pt>
                <c:pt idx="56">
                  <c:v>1221.361161</c:v>
                </c:pt>
                <c:pt idx="57">
                  <c:v>1225.7927</c:v>
                </c:pt>
                <c:pt idx="58">
                  <c:v>1225.62084</c:v>
                </c:pt>
                <c:pt idx="59">
                  <c:v>1223.161865</c:v>
                </c:pt>
                <c:pt idx="60">
                  <c:v>1215.990074</c:v>
                </c:pt>
                <c:pt idx="61">
                  <c:v>1206.286364</c:v>
                </c:pt>
                <c:pt idx="62">
                  <c:v>1219.3524</c:v>
                </c:pt>
                <c:pt idx="63">
                  <c:v>1240.988713</c:v>
                </c:pt>
                <c:pt idx="64">
                  <c:v>1252.880345</c:v>
                </c:pt>
                <c:pt idx="65">
                  <c:v>1268.41858</c:v>
                </c:pt>
                <c:pt idx="66">
                  <c:v>1266.4734880000001</c:v>
                </c:pt>
                <c:pt idx="67">
                  <c:v>1274.4452140000001</c:v>
                </c:pt>
                <c:pt idx="68">
                  <c:v>1285.4507430000001</c:v>
                </c:pt>
                <c:pt idx="69">
                  <c:v>1299.4713260000001</c:v>
                </c:pt>
                <c:pt idx="70">
                  <c:v>1318.7765529999999</c:v>
                </c:pt>
                <c:pt idx="71">
                  <c:v>1359.015576</c:v>
                </c:pt>
                <c:pt idx="72">
                  <c:v>1378.333828</c:v>
                </c:pt>
                <c:pt idx="73">
                  <c:v>1383.667968</c:v>
                </c:pt>
                <c:pt idx="74">
                  <c:v>1378.973626</c:v>
                </c:pt>
                <c:pt idx="75">
                  <c:v>1384.1461300000001</c:v>
                </c:pt>
                <c:pt idx="76">
                  <c:v>1380.530749</c:v>
                </c:pt>
                <c:pt idx="77">
                  <c:v>1380.000642</c:v>
                </c:pt>
                <c:pt idx="78">
                  <c:v>1387.94462</c:v>
                </c:pt>
                <c:pt idx="79">
                  <c:v>1406.5241570000001</c:v>
                </c:pt>
                <c:pt idx="80">
                  <c:v>1421.991223</c:v>
                </c:pt>
                <c:pt idx="81">
                  <c:v>1428.8205170000001</c:v>
                </c:pt>
                <c:pt idx="82">
                  <c:v>1455.8196680000001</c:v>
                </c:pt>
                <c:pt idx="83">
                  <c:v>1455.97558</c:v>
                </c:pt>
                <c:pt idx="84">
                  <c:v>1484.088941</c:v>
                </c:pt>
                <c:pt idx="85">
                  <c:v>1500.13131</c:v>
                </c:pt>
                <c:pt idx="86">
                  <c:v>1489.563995</c:v>
                </c:pt>
                <c:pt idx="87">
                  <c:v>1502.58456</c:v>
                </c:pt>
                <c:pt idx="88">
                  <c:v>1525.2401150000001</c:v>
                </c:pt>
                <c:pt idx="89">
                  <c:v>1527.4645089999999</c:v>
                </c:pt>
                <c:pt idx="90">
                  <c:v>1533.6742529999999</c:v>
                </c:pt>
                <c:pt idx="91">
                  <c:v>1545.9053819999999</c:v>
                </c:pt>
                <c:pt idx="92">
                  <c:v>1552.6432580000001</c:v>
                </c:pt>
                <c:pt idx="93">
                  <c:v>1562.2905229999999</c:v>
                </c:pt>
                <c:pt idx="94">
                  <c:v>1548.4146029999999</c:v>
                </c:pt>
                <c:pt idx="95">
                  <c:v>1550.596526</c:v>
                </c:pt>
                <c:pt idx="96">
                  <c:v>1534.0852709999999</c:v>
                </c:pt>
                <c:pt idx="97">
                  <c:v>1550.8313820000001</c:v>
                </c:pt>
                <c:pt idx="98">
                  <c:v>1569.9545250000001</c:v>
                </c:pt>
                <c:pt idx="99">
                  <c:v>1594.8077510000001</c:v>
                </c:pt>
                <c:pt idx="100">
                  <c:v>1601.9378200000001</c:v>
                </c:pt>
                <c:pt idx="101">
                  <c:v>1593.722039</c:v>
                </c:pt>
                <c:pt idx="102">
                  <c:v>1610.532845</c:v>
                </c:pt>
                <c:pt idx="103">
                  <c:v>1609.1181349999999</c:v>
                </c:pt>
                <c:pt idx="104">
                  <c:v>1611.5481380000001</c:v>
                </c:pt>
                <c:pt idx="105">
                  <c:v>1628.1758339999999</c:v>
                </c:pt>
                <c:pt idx="106">
                  <c:v>1650.8821089999999</c:v>
                </c:pt>
                <c:pt idx="107">
                  <c:v>1657.7921220000001</c:v>
                </c:pt>
                <c:pt idx="108">
                  <c:v>1673.7830200000001</c:v>
                </c:pt>
                <c:pt idx="109">
                  <c:v>1677.044654</c:v>
                </c:pt>
                <c:pt idx="110">
                  <c:v>1622.939936</c:v>
                </c:pt>
                <c:pt idx="111">
                  <c:v>1561.566959</c:v>
                </c:pt>
                <c:pt idx="112">
                  <c:v>1570.6493439999999</c:v>
                </c:pt>
                <c:pt idx="113">
                  <c:v>1619.0284790000001</c:v>
                </c:pt>
                <c:pt idx="114">
                  <c:v>1637.442155</c:v>
                </c:pt>
                <c:pt idx="115">
                  <c:v>1661.522444</c:v>
                </c:pt>
                <c:pt idx="116">
                  <c:v>1689.4144470000001</c:v>
                </c:pt>
                <c:pt idx="117">
                  <c:v>1695.595219</c:v>
                </c:pt>
                <c:pt idx="118">
                  <c:v>1697.0334519999999</c:v>
                </c:pt>
                <c:pt idx="119">
                  <c:v>1698.086992</c:v>
                </c:pt>
                <c:pt idx="120">
                  <c:v>1706.924847</c:v>
                </c:pt>
                <c:pt idx="121">
                  <c:v>1727.2431180000001</c:v>
                </c:pt>
                <c:pt idx="122">
                  <c:v>1763.3966479999999</c:v>
                </c:pt>
                <c:pt idx="123">
                  <c:v>1801.7388510000001</c:v>
                </c:pt>
                <c:pt idx="124">
                  <c:v>1835.365988</c:v>
                </c:pt>
                <c:pt idx="125">
                  <c:v>1890.7148549999999</c:v>
                </c:pt>
                <c:pt idx="126">
                  <c:v>1904.167635</c:v>
                </c:pt>
                <c:pt idx="127">
                  <c:v>1920.8765249999999</c:v>
                </c:pt>
                <c:pt idx="128">
                  <c:v>1940.910519</c:v>
                </c:pt>
                <c:pt idx="129">
                  <c:v>1988.7363740000001</c:v>
                </c:pt>
                <c:pt idx="130">
                  <c:v>2035.5739349999999</c:v>
                </c:pt>
                <c:pt idx="131">
                  <c:v>2075.0213480000002</c:v>
                </c:pt>
                <c:pt idx="132">
                  <c:v>2100.8981159999998</c:v>
                </c:pt>
                <c:pt idx="133">
                  <c:v>2133.4940120000001</c:v>
                </c:pt>
                <c:pt idx="134">
                  <c:v>2185.502853</c:v>
                </c:pt>
                <c:pt idx="135">
                  <c:v>2202.6459319999999</c:v>
                </c:pt>
                <c:pt idx="136">
                  <c:v>2255.6292920000001</c:v>
                </c:pt>
                <c:pt idx="137">
                  <c:v>2312.8636069999998</c:v>
                </c:pt>
                <c:pt idx="138">
                  <c:v>2313.440685</c:v>
                </c:pt>
                <c:pt idx="139">
                  <c:v>2324.4906599999999</c:v>
                </c:pt>
                <c:pt idx="140">
                  <c:v>2349.947212</c:v>
                </c:pt>
                <c:pt idx="141">
                  <c:v>2378.9969219999998</c:v>
                </c:pt>
                <c:pt idx="142">
                  <c:v>2396.5964140000001</c:v>
                </c:pt>
                <c:pt idx="143">
                  <c:v>2389.2422630000001</c:v>
                </c:pt>
                <c:pt idx="144">
                  <c:v>2422.0814639999999</c:v>
                </c:pt>
                <c:pt idx="145">
                  <c:v>2444.423769</c:v>
                </c:pt>
                <c:pt idx="146">
                  <c:v>2448.5173110000001</c:v>
                </c:pt>
                <c:pt idx="147">
                  <c:v>2464.2769029999999</c:v>
                </c:pt>
                <c:pt idx="148">
                  <c:v>2475.155017</c:v>
                </c:pt>
                <c:pt idx="149">
                  <c:v>2494.4507709999998</c:v>
                </c:pt>
                <c:pt idx="150">
                  <c:v>2509.6747310000001</c:v>
                </c:pt>
                <c:pt idx="151">
                  <c:v>2535.9609399999999</c:v>
                </c:pt>
                <c:pt idx="152">
                  <c:v>2557.347949</c:v>
                </c:pt>
                <c:pt idx="153">
                  <c:v>2565.2012589999999</c:v>
                </c:pt>
                <c:pt idx="154">
                  <c:v>2573.4440380000001</c:v>
                </c:pt>
                <c:pt idx="155">
                  <c:v>2589.9837910000001</c:v>
                </c:pt>
                <c:pt idx="156">
                  <c:v>2600.7817369999998</c:v>
                </c:pt>
                <c:pt idx="157">
                  <c:v>2623.567982</c:v>
                </c:pt>
                <c:pt idx="158">
                  <c:v>2646.9820249999998</c:v>
                </c:pt>
                <c:pt idx="159">
                  <c:v>2664.6119899999999</c:v>
                </c:pt>
                <c:pt idx="160">
                  <c:v>2670.8582059999999</c:v>
                </c:pt>
                <c:pt idx="161">
                  <c:v>2672.0093619999998</c:v>
                </c:pt>
                <c:pt idx="162">
                  <c:v>2690.9066480000001</c:v>
                </c:pt>
                <c:pt idx="163">
                  <c:v>2690.6723419999998</c:v>
                </c:pt>
                <c:pt idx="164">
                  <c:v>2704.7011750000001</c:v>
                </c:pt>
                <c:pt idx="165">
                  <c:v>2731.0220810000001</c:v>
                </c:pt>
                <c:pt idx="166">
                  <c:v>2779.1433870000001</c:v>
                </c:pt>
                <c:pt idx="167">
                  <c:v>2813.4537420000001</c:v>
                </c:pt>
                <c:pt idx="168">
                  <c:v>2830.9805660000002</c:v>
                </c:pt>
                <c:pt idx="169">
                  <c:v>2836.7266730000001</c:v>
                </c:pt>
                <c:pt idx="170">
                  <c:v>2825.8540840000001</c:v>
                </c:pt>
                <c:pt idx="171">
                  <c:v>2829.8032370000001</c:v>
                </c:pt>
                <c:pt idx="172">
                  <c:v>2847.4456749999999</c:v>
                </c:pt>
                <c:pt idx="173">
                  <c:v>2862.5699690000001</c:v>
                </c:pt>
                <c:pt idx="174">
                  <c:v>2883.5345109999998</c:v>
                </c:pt>
                <c:pt idx="175">
                  <c:v>2907.2388310000001</c:v>
                </c:pt>
                <c:pt idx="176">
                  <c:v>2917.998055</c:v>
                </c:pt>
                <c:pt idx="177">
                  <c:v>2923.798358</c:v>
                </c:pt>
                <c:pt idx="178">
                  <c:v>2934.6317509999999</c:v>
                </c:pt>
                <c:pt idx="179">
                  <c:v>2955.381961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6AEB-F240-BFC7-B8731857567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in val="0"/>
        </c:scaling>
        <c:delete val="0"/>
        <c:axPos val="l"/>
        <c:majorGridlines>
          <c:spPr>
            <a:ln w="9525">
              <a:solidFill>
                <a:srgbClr val="D9E2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" sz="1350">
                    <a:solidFill>
                      <a:srgbClr val="5D6B75"/>
                    </a:solidFill>
                    <a:latin typeface="Arial"/>
                    <a:ea typeface="Arial"/>
                    <a:cs typeface="Arial"/>
                  </a:rPr>
                  <a:t>Fee revenue (source units)</a:t>
                </a:r>
              </a:p>
            </c:rich>
          </c:tx>
          <c:overlay val="0"/>
        </c:title>
        <c:numFmt formatCode="#,##0" sourceLinked="0"/>
        <c:majorTickMark val="none"/>
        <c:minorTickMark val="none"/>
        <c:tickLblPos val="nextTo"/>
        <c:spPr>
          <a:ln w="0">
            <a:noFill/>
          </a:ln>
        </c:spPr>
        <c:txPr>
          <a:bodyPr anchorCtr="1"/>
          <a:lstStyle/>
          <a:p>
            <a:pPr>
              <a:defRPr sz="13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50112"/>
        <c:crosses val="autoZero"/>
        <c:crossBetween val="midCat"/>
      </c:valAx>
      <c:valAx>
        <c:axId val="48650112"/>
        <c:scaling>
          <c:orientation val="minMax"/>
          <c:max val="2026"/>
          <c:min val="2011"/>
        </c:scaling>
        <c:delete val="0"/>
        <c:axPos val="b"/>
        <c:numFmt formatCode="0" sourceLinked="0"/>
        <c:majorTickMark val="none"/>
        <c:minorTickMark val="none"/>
        <c:tickLblPos val="nextTo"/>
        <c:spPr>
          <a:ln w="9525">
            <a:solidFill>
              <a:srgbClr val="D9E2E8"/>
            </a:solidFill>
          </a:ln>
        </c:spPr>
        <c:txPr>
          <a:bodyPr anchorCtr="1"/>
          <a:lstStyle/>
          <a:p>
            <a:pPr>
              <a:defRPr sz="13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72768"/>
        <c:crosses val="autoZero"/>
        <c:crossBetween val="midCat"/>
        <c:majorUnit val="2"/>
      </c:valAx>
      <c:spPr>
        <a:solidFill>
          <a:srgbClr val="FFFFFF"/>
        </a:solidFill>
        <a:ln w="0">
          <a:noFill/>
        </a:ln>
      </c:spPr>
    </c:plotArea>
    <c:legend>
      <c:legendPos val="b"/>
      <c:overlay val="0"/>
      <c:txPr>
        <a:bodyPr anchorCtr="1"/>
        <a:lstStyle/>
        <a:p>
          <a:pPr>
            <a:defRPr sz="1425">
              <a:solidFill>
                <a:srgbClr val="252F38"/>
              </a:solidFill>
              <a:latin typeface="Arial"/>
              <a:ea typeface="Arial"/>
              <a:cs typeface="Arial"/>
            </a:defRPr>
          </a:pPr>
          <a:endParaRPr lang="zh-CN"/>
        </a:p>
      </c:txPr>
    </c:legend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title>
      <c:tx>
        <c:rich>
          <a:bodyPr/>
          <a:lstStyle/>
          <a:p>
            <a:r>
              <a:rPr lang="en" sz="1725">
                <a:solidFill>
                  <a:srgbClr val="252F38"/>
                </a:solidFill>
                <a:latin typeface="Arial"/>
                <a:ea typeface="Arial"/>
                <a:cs typeface="Arial"/>
              </a:rPr>
              <a:t>CPI coefficient</a:t>
            </a:r>
          </a:p>
        </c:rich>
      </c:tx>
      <c:overlay val="0"/>
    </c:title>
    <c:autoTitleDeleted val="0"/>
    <c:plotArea>
      <c:layout/>
      <c:scatterChart>
        <c:scatterStyle val="lineMarker"/>
        <c:varyColors val="1"/>
        <c:ser>
          <c:idx val="0"/>
          <c:order val="0"/>
          <c:tx>
            <c:v>CPI</c:v>
          </c:tx>
          <c:spPr>
            <a:ln w="23813">
              <a:solidFill>
                <a:srgbClr val="006C98"/>
              </a:solidFill>
              <a:prstDash val="solid"/>
            </a:ln>
          </c:spPr>
          <c:marker>
            <c:symbol val="none"/>
          </c:marker>
          <c:xVal>
            <c:numRef>
              <c:f>'Chart Data'!$A$2:$A$152</c:f>
              <c:numCache>
                <c:formatCode>General</c:formatCode>
                <c:ptCount val="151"/>
                <c:pt idx="0">
                  <c:v>2013.416667</c:v>
                </c:pt>
                <c:pt idx="1">
                  <c:v>2013.5</c:v>
                </c:pt>
                <c:pt idx="2">
                  <c:v>2013.583333</c:v>
                </c:pt>
                <c:pt idx="3">
                  <c:v>2013.666667</c:v>
                </c:pt>
                <c:pt idx="4">
                  <c:v>2013.75</c:v>
                </c:pt>
                <c:pt idx="5">
                  <c:v>2013.833333</c:v>
                </c:pt>
                <c:pt idx="6">
                  <c:v>2013.916667</c:v>
                </c:pt>
                <c:pt idx="7">
                  <c:v>2014</c:v>
                </c:pt>
                <c:pt idx="8">
                  <c:v>2014.083333</c:v>
                </c:pt>
                <c:pt idx="9">
                  <c:v>2014.166667</c:v>
                </c:pt>
                <c:pt idx="10">
                  <c:v>2014.25</c:v>
                </c:pt>
                <c:pt idx="11">
                  <c:v>2014.333333</c:v>
                </c:pt>
                <c:pt idx="12">
                  <c:v>2014.416667</c:v>
                </c:pt>
                <c:pt idx="13">
                  <c:v>2014.5</c:v>
                </c:pt>
                <c:pt idx="14">
                  <c:v>2014.583333</c:v>
                </c:pt>
                <c:pt idx="15">
                  <c:v>2014.666667</c:v>
                </c:pt>
                <c:pt idx="16">
                  <c:v>2014.75</c:v>
                </c:pt>
                <c:pt idx="17">
                  <c:v>2014.833333</c:v>
                </c:pt>
                <c:pt idx="18">
                  <c:v>2014.916667</c:v>
                </c:pt>
                <c:pt idx="19">
                  <c:v>2015</c:v>
                </c:pt>
                <c:pt idx="20">
                  <c:v>2015.083333</c:v>
                </c:pt>
                <c:pt idx="21">
                  <c:v>2015.166667</c:v>
                </c:pt>
                <c:pt idx="22">
                  <c:v>2015.25</c:v>
                </c:pt>
                <c:pt idx="23">
                  <c:v>2015.333333</c:v>
                </c:pt>
                <c:pt idx="24">
                  <c:v>2015.416667</c:v>
                </c:pt>
                <c:pt idx="25">
                  <c:v>2015.5</c:v>
                </c:pt>
                <c:pt idx="26">
                  <c:v>2015.583333</c:v>
                </c:pt>
                <c:pt idx="27">
                  <c:v>2015.666667</c:v>
                </c:pt>
                <c:pt idx="28">
                  <c:v>2015.75</c:v>
                </c:pt>
                <c:pt idx="29">
                  <c:v>2015.833333</c:v>
                </c:pt>
                <c:pt idx="30">
                  <c:v>2015.916667</c:v>
                </c:pt>
                <c:pt idx="31">
                  <c:v>2016</c:v>
                </c:pt>
                <c:pt idx="32">
                  <c:v>2016.083333</c:v>
                </c:pt>
                <c:pt idx="33">
                  <c:v>2016.166667</c:v>
                </c:pt>
                <c:pt idx="34">
                  <c:v>2016.25</c:v>
                </c:pt>
                <c:pt idx="35">
                  <c:v>2016.333333</c:v>
                </c:pt>
                <c:pt idx="36">
                  <c:v>2016.416667</c:v>
                </c:pt>
                <c:pt idx="37">
                  <c:v>2016.5</c:v>
                </c:pt>
                <c:pt idx="38">
                  <c:v>2016.583333</c:v>
                </c:pt>
                <c:pt idx="39">
                  <c:v>2016.666667</c:v>
                </c:pt>
                <c:pt idx="40">
                  <c:v>2016.75</c:v>
                </c:pt>
                <c:pt idx="41">
                  <c:v>2016.833333</c:v>
                </c:pt>
                <c:pt idx="42">
                  <c:v>2016.916667</c:v>
                </c:pt>
                <c:pt idx="43">
                  <c:v>2017</c:v>
                </c:pt>
                <c:pt idx="44">
                  <c:v>2017.083333</c:v>
                </c:pt>
                <c:pt idx="45">
                  <c:v>2017.166667</c:v>
                </c:pt>
                <c:pt idx="46">
                  <c:v>2017.25</c:v>
                </c:pt>
                <c:pt idx="47">
                  <c:v>2017.333333</c:v>
                </c:pt>
                <c:pt idx="48">
                  <c:v>2017.416667</c:v>
                </c:pt>
                <c:pt idx="49">
                  <c:v>2017.5</c:v>
                </c:pt>
                <c:pt idx="50">
                  <c:v>2017.583333</c:v>
                </c:pt>
                <c:pt idx="51">
                  <c:v>2017.666667</c:v>
                </c:pt>
                <c:pt idx="52">
                  <c:v>2017.75</c:v>
                </c:pt>
                <c:pt idx="53">
                  <c:v>2017.833333</c:v>
                </c:pt>
                <c:pt idx="54">
                  <c:v>2017.916667</c:v>
                </c:pt>
                <c:pt idx="55">
                  <c:v>2018</c:v>
                </c:pt>
                <c:pt idx="56">
                  <c:v>2018.083333</c:v>
                </c:pt>
                <c:pt idx="57">
                  <c:v>2018.166667</c:v>
                </c:pt>
                <c:pt idx="58">
                  <c:v>2018.25</c:v>
                </c:pt>
                <c:pt idx="59">
                  <c:v>2018.333333</c:v>
                </c:pt>
                <c:pt idx="60">
                  <c:v>2018.416667</c:v>
                </c:pt>
                <c:pt idx="61">
                  <c:v>2018.5</c:v>
                </c:pt>
                <c:pt idx="62">
                  <c:v>2018.583333</c:v>
                </c:pt>
                <c:pt idx="63">
                  <c:v>2018.666667</c:v>
                </c:pt>
                <c:pt idx="64">
                  <c:v>2018.75</c:v>
                </c:pt>
                <c:pt idx="65">
                  <c:v>2018.833333</c:v>
                </c:pt>
                <c:pt idx="66">
                  <c:v>2018.916667</c:v>
                </c:pt>
                <c:pt idx="67">
                  <c:v>2019</c:v>
                </c:pt>
                <c:pt idx="68">
                  <c:v>2019.083333</c:v>
                </c:pt>
                <c:pt idx="69">
                  <c:v>2019.166667</c:v>
                </c:pt>
                <c:pt idx="70">
                  <c:v>2019.25</c:v>
                </c:pt>
                <c:pt idx="71">
                  <c:v>2019.333333</c:v>
                </c:pt>
                <c:pt idx="72">
                  <c:v>2019.416667</c:v>
                </c:pt>
                <c:pt idx="73">
                  <c:v>2019.5</c:v>
                </c:pt>
                <c:pt idx="74">
                  <c:v>2019.583333</c:v>
                </c:pt>
                <c:pt idx="75">
                  <c:v>2019.666667</c:v>
                </c:pt>
                <c:pt idx="76">
                  <c:v>2019.75</c:v>
                </c:pt>
                <c:pt idx="77">
                  <c:v>2019.833333</c:v>
                </c:pt>
                <c:pt idx="78">
                  <c:v>2019.916667</c:v>
                </c:pt>
                <c:pt idx="79">
                  <c:v>2020</c:v>
                </c:pt>
                <c:pt idx="80">
                  <c:v>2020.083333</c:v>
                </c:pt>
                <c:pt idx="81">
                  <c:v>2020.166667</c:v>
                </c:pt>
                <c:pt idx="82">
                  <c:v>2020.25</c:v>
                </c:pt>
                <c:pt idx="83">
                  <c:v>2020.333333</c:v>
                </c:pt>
                <c:pt idx="84">
                  <c:v>2020.416667</c:v>
                </c:pt>
                <c:pt idx="85">
                  <c:v>2020.5</c:v>
                </c:pt>
                <c:pt idx="86">
                  <c:v>2020.583333</c:v>
                </c:pt>
                <c:pt idx="87">
                  <c:v>2020.666667</c:v>
                </c:pt>
                <c:pt idx="88">
                  <c:v>2020.75</c:v>
                </c:pt>
                <c:pt idx="89">
                  <c:v>2020.833333</c:v>
                </c:pt>
                <c:pt idx="90">
                  <c:v>2020.916667</c:v>
                </c:pt>
                <c:pt idx="91">
                  <c:v>2021</c:v>
                </c:pt>
                <c:pt idx="92">
                  <c:v>2021.083333</c:v>
                </c:pt>
                <c:pt idx="93">
                  <c:v>2021.166667</c:v>
                </c:pt>
                <c:pt idx="94">
                  <c:v>2021.25</c:v>
                </c:pt>
                <c:pt idx="95">
                  <c:v>2021.333333</c:v>
                </c:pt>
                <c:pt idx="96">
                  <c:v>2021.416667</c:v>
                </c:pt>
                <c:pt idx="97">
                  <c:v>2021.5</c:v>
                </c:pt>
                <c:pt idx="98">
                  <c:v>2021.583333</c:v>
                </c:pt>
                <c:pt idx="99">
                  <c:v>2021.666667</c:v>
                </c:pt>
                <c:pt idx="100">
                  <c:v>2021.75</c:v>
                </c:pt>
                <c:pt idx="101">
                  <c:v>2021.833333</c:v>
                </c:pt>
                <c:pt idx="102">
                  <c:v>2021.916667</c:v>
                </c:pt>
                <c:pt idx="103">
                  <c:v>2022</c:v>
                </c:pt>
                <c:pt idx="104">
                  <c:v>2022.083333</c:v>
                </c:pt>
                <c:pt idx="105">
                  <c:v>2022.166667</c:v>
                </c:pt>
                <c:pt idx="106">
                  <c:v>2022.25</c:v>
                </c:pt>
                <c:pt idx="107">
                  <c:v>2022.333333</c:v>
                </c:pt>
                <c:pt idx="108">
                  <c:v>2022.416667</c:v>
                </c:pt>
                <c:pt idx="109">
                  <c:v>2022.5</c:v>
                </c:pt>
                <c:pt idx="110">
                  <c:v>2022.583333</c:v>
                </c:pt>
                <c:pt idx="111">
                  <c:v>2022.666667</c:v>
                </c:pt>
                <c:pt idx="112">
                  <c:v>2022.75</c:v>
                </c:pt>
                <c:pt idx="113">
                  <c:v>2022.833333</c:v>
                </c:pt>
                <c:pt idx="114">
                  <c:v>2022.916667</c:v>
                </c:pt>
                <c:pt idx="115">
                  <c:v>2023</c:v>
                </c:pt>
                <c:pt idx="116">
                  <c:v>2023.083333</c:v>
                </c:pt>
                <c:pt idx="117">
                  <c:v>2023.166667</c:v>
                </c:pt>
                <c:pt idx="118">
                  <c:v>2023.25</c:v>
                </c:pt>
                <c:pt idx="119">
                  <c:v>2023.333333</c:v>
                </c:pt>
                <c:pt idx="120">
                  <c:v>2023.416667</c:v>
                </c:pt>
                <c:pt idx="121">
                  <c:v>2023.5</c:v>
                </c:pt>
                <c:pt idx="122">
                  <c:v>2023.583333</c:v>
                </c:pt>
                <c:pt idx="123">
                  <c:v>2023.666667</c:v>
                </c:pt>
                <c:pt idx="124">
                  <c:v>2023.75</c:v>
                </c:pt>
                <c:pt idx="125">
                  <c:v>2023.833333</c:v>
                </c:pt>
                <c:pt idx="126">
                  <c:v>2023.916667</c:v>
                </c:pt>
                <c:pt idx="127">
                  <c:v>2024</c:v>
                </c:pt>
                <c:pt idx="128">
                  <c:v>2024.083333</c:v>
                </c:pt>
                <c:pt idx="129">
                  <c:v>2024.166667</c:v>
                </c:pt>
                <c:pt idx="130">
                  <c:v>2024.25</c:v>
                </c:pt>
                <c:pt idx="131">
                  <c:v>2024.333333</c:v>
                </c:pt>
                <c:pt idx="132">
                  <c:v>2024.416667</c:v>
                </c:pt>
                <c:pt idx="133">
                  <c:v>2024.5</c:v>
                </c:pt>
                <c:pt idx="134">
                  <c:v>2024.583333</c:v>
                </c:pt>
                <c:pt idx="135">
                  <c:v>2024.666667</c:v>
                </c:pt>
                <c:pt idx="136">
                  <c:v>2024.75</c:v>
                </c:pt>
                <c:pt idx="137">
                  <c:v>2024.833333</c:v>
                </c:pt>
                <c:pt idx="138">
                  <c:v>2024.916667</c:v>
                </c:pt>
                <c:pt idx="139">
                  <c:v>2025</c:v>
                </c:pt>
                <c:pt idx="140">
                  <c:v>2025.083333</c:v>
                </c:pt>
                <c:pt idx="141">
                  <c:v>2025.166667</c:v>
                </c:pt>
                <c:pt idx="142">
                  <c:v>2025.25</c:v>
                </c:pt>
                <c:pt idx="143">
                  <c:v>2025.333333</c:v>
                </c:pt>
                <c:pt idx="144">
                  <c:v>2025.416667</c:v>
                </c:pt>
                <c:pt idx="145">
                  <c:v>2025.5</c:v>
                </c:pt>
                <c:pt idx="146">
                  <c:v>2025.583333</c:v>
                </c:pt>
                <c:pt idx="147">
                  <c:v>2025.666667</c:v>
                </c:pt>
                <c:pt idx="148">
                  <c:v>2025.75</c:v>
                </c:pt>
                <c:pt idx="149">
                  <c:v>2025.833333</c:v>
                </c:pt>
                <c:pt idx="150">
                  <c:v>2025.916667</c:v>
                </c:pt>
              </c:numCache>
            </c:numRef>
          </c:xVal>
          <c:yVal>
            <c:numRef>
              <c:f>'Chart Data'!$B$2:$B$152</c:f>
              <c:numCache>
                <c:formatCode>#,##0</c:formatCode>
                <c:ptCount val="151"/>
                <c:pt idx="0">
                  <c:v>13.980406</c:v>
                </c:pt>
                <c:pt idx="1">
                  <c:v>10.966827</c:v>
                </c:pt>
                <c:pt idx="2">
                  <c:v>5.6718500000000001</c:v>
                </c:pt>
                <c:pt idx="3">
                  <c:v>8.0023409999999995</c:v>
                </c:pt>
                <c:pt idx="4">
                  <c:v>11.311202</c:v>
                </c:pt>
                <c:pt idx="5">
                  <c:v>12.822177999999999</c:v>
                </c:pt>
                <c:pt idx="6">
                  <c:v>14.065026</c:v>
                </c:pt>
                <c:pt idx="7">
                  <c:v>11.298018000000001</c:v>
                </c:pt>
                <c:pt idx="8">
                  <c:v>11.865097</c:v>
                </c:pt>
                <c:pt idx="9">
                  <c:v>12.330990999999999</c:v>
                </c:pt>
                <c:pt idx="10">
                  <c:v>13.910235</c:v>
                </c:pt>
                <c:pt idx="11">
                  <c:v>13.289638</c:v>
                </c:pt>
                <c:pt idx="12">
                  <c:v>12.644762999999999</c:v>
                </c:pt>
                <c:pt idx="13">
                  <c:v>12.784818</c:v>
                </c:pt>
                <c:pt idx="14">
                  <c:v>8.664104</c:v>
                </c:pt>
                <c:pt idx="15">
                  <c:v>8.5075959999999995</c:v>
                </c:pt>
                <c:pt idx="16">
                  <c:v>9.0958360000000003</c:v>
                </c:pt>
                <c:pt idx="17">
                  <c:v>12.370979999999999</c:v>
                </c:pt>
                <c:pt idx="18">
                  <c:v>12.120279</c:v>
                </c:pt>
                <c:pt idx="19">
                  <c:v>19.151152</c:v>
                </c:pt>
                <c:pt idx="20">
                  <c:v>26.380481</c:v>
                </c:pt>
                <c:pt idx="21">
                  <c:v>26.082303</c:v>
                </c:pt>
                <c:pt idx="22">
                  <c:v>30.612684000000002</c:v>
                </c:pt>
                <c:pt idx="23">
                  <c:v>30.716146999999999</c:v>
                </c:pt>
                <c:pt idx="24">
                  <c:v>39.543658999999998</c:v>
                </c:pt>
                <c:pt idx="25">
                  <c:v>41.198644999999999</c:v>
                </c:pt>
                <c:pt idx="26">
                  <c:v>39.446846000000001</c:v>
                </c:pt>
                <c:pt idx="27">
                  <c:v>40.695245</c:v>
                </c:pt>
                <c:pt idx="28">
                  <c:v>44.101697000000001</c:v>
                </c:pt>
                <c:pt idx="29">
                  <c:v>43.079121999999998</c:v>
                </c:pt>
                <c:pt idx="30">
                  <c:v>38.052477000000003</c:v>
                </c:pt>
                <c:pt idx="31">
                  <c:v>38.139820999999998</c:v>
                </c:pt>
                <c:pt idx="32">
                  <c:v>33.807274</c:v>
                </c:pt>
                <c:pt idx="33">
                  <c:v>38.368889000000003</c:v>
                </c:pt>
                <c:pt idx="34">
                  <c:v>45.584619000000004</c:v>
                </c:pt>
                <c:pt idx="35">
                  <c:v>46.512504999999997</c:v>
                </c:pt>
                <c:pt idx="36">
                  <c:v>40.610308000000003</c:v>
                </c:pt>
                <c:pt idx="37">
                  <c:v>25.429755</c:v>
                </c:pt>
                <c:pt idx="38">
                  <c:v>16.792755</c:v>
                </c:pt>
                <c:pt idx="39">
                  <c:v>7.4505840000000001</c:v>
                </c:pt>
                <c:pt idx="40">
                  <c:v>-0.224743</c:v>
                </c:pt>
                <c:pt idx="41">
                  <c:v>-5.7379959999999999</c:v>
                </c:pt>
                <c:pt idx="42">
                  <c:v>0.16606399999999999</c:v>
                </c:pt>
                <c:pt idx="43">
                  <c:v>2.2522470000000001</c:v>
                </c:pt>
                <c:pt idx="44">
                  <c:v>0.80712899999999999</c:v>
                </c:pt>
                <c:pt idx="45">
                  <c:v>2.6699090000000001</c:v>
                </c:pt>
                <c:pt idx="46">
                  <c:v>1.881915</c:v>
                </c:pt>
                <c:pt idx="47">
                  <c:v>1.7924180000000001</c:v>
                </c:pt>
                <c:pt idx="48">
                  <c:v>5.625362</c:v>
                </c:pt>
                <c:pt idx="49">
                  <c:v>-0.95769599999999999</c:v>
                </c:pt>
                <c:pt idx="50">
                  <c:v>-9.9797410000000006</c:v>
                </c:pt>
                <c:pt idx="51">
                  <c:v>-6.2744210000000002</c:v>
                </c:pt>
                <c:pt idx="52">
                  <c:v>4.2997360000000002</c:v>
                </c:pt>
                <c:pt idx="53">
                  <c:v>4.4417350000000004</c:v>
                </c:pt>
                <c:pt idx="54">
                  <c:v>11.074187999999999</c:v>
                </c:pt>
                <c:pt idx="55">
                  <c:v>16.075313000000001</c:v>
                </c:pt>
                <c:pt idx="56">
                  <c:v>15.631424000000001</c:v>
                </c:pt>
                <c:pt idx="57">
                  <c:v>30.171897000000001</c:v>
                </c:pt>
                <c:pt idx="58">
                  <c:v>31.845829999999999</c:v>
                </c:pt>
                <c:pt idx="59">
                  <c:v>36.785134999999997</c:v>
                </c:pt>
                <c:pt idx="60">
                  <c:v>38.080565999999997</c:v>
                </c:pt>
                <c:pt idx="61">
                  <c:v>36.990200999999999</c:v>
                </c:pt>
                <c:pt idx="62">
                  <c:v>41.336865000000003</c:v>
                </c:pt>
                <c:pt idx="63">
                  <c:v>44.418135999999997</c:v>
                </c:pt>
                <c:pt idx="64">
                  <c:v>43.514266999999997</c:v>
                </c:pt>
                <c:pt idx="65">
                  <c:v>39.419846999999997</c:v>
                </c:pt>
                <c:pt idx="66">
                  <c:v>40.185879</c:v>
                </c:pt>
                <c:pt idx="67">
                  <c:v>37.450138000000003</c:v>
                </c:pt>
                <c:pt idx="68">
                  <c:v>35.508609</c:v>
                </c:pt>
                <c:pt idx="69">
                  <c:v>39.701416000000002</c:v>
                </c:pt>
                <c:pt idx="70">
                  <c:v>36.519632999999999</c:v>
                </c:pt>
                <c:pt idx="71">
                  <c:v>35.84131</c:v>
                </c:pt>
                <c:pt idx="72">
                  <c:v>36.872011000000001</c:v>
                </c:pt>
                <c:pt idx="73">
                  <c:v>35.318047999999997</c:v>
                </c:pt>
                <c:pt idx="74">
                  <c:v>35.482393000000002</c:v>
                </c:pt>
                <c:pt idx="75">
                  <c:v>36.257137999999998</c:v>
                </c:pt>
                <c:pt idx="76">
                  <c:v>33.696235000000001</c:v>
                </c:pt>
                <c:pt idx="77">
                  <c:v>33.899962000000002</c:v>
                </c:pt>
                <c:pt idx="78">
                  <c:v>30.806853</c:v>
                </c:pt>
                <c:pt idx="79">
                  <c:v>28.370920000000002</c:v>
                </c:pt>
                <c:pt idx="80">
                  <c:v>27.900558</c:v>
                </c:pt>
                <c:pt idx="81">
                  <c:v>24.252272999999999</c:v>
                </c:pt>
                <c:pt idx="82">
                  <c:v>30.921939999999999</c:v>
                </c:pt>
                <c:pt idx="83">
                  <c:v>28.192208000000001</c:v>
                </c:pt>
                <c:pt idx="84">
                  <c:v>24.832377999999999</c:v>
                </c:pt>
                <c:pt idx="85">
                  <c:v>21.443577999999999</c:v>
                </c:pt>
                <c:pt idx="86">
                  <c:v>14.885265</c:v>
                </c:pt>
                <c:pt idx="87">
                  <c:v>17.972564999999999</c:v>
                </c:pt>
                <c:pt idx="88">
                  <c:v>14.281981999999999</c:v>
                </c:pt>
                <c:pt idx="89">
                  <c:v>15.439548</c:v>
                </c:pt>
                <c:pt idx="90">
                  <c:v>13.376485000000001</c:v>
                </c:pt>
                <c:pt idx="91">
                  <c:v>13.052167000000001</c:v>
                </c:pt>
                <c:pt idx="92">
                  <c:v>12.807129</c:v>
                </c:pt>
                <c:pt idx="93">
                  <c:v>16.832021999999998</c:v>
                </c:pt>
                <c:pt idx="94">
                  <c:v>17.257778999999999</c:v>
                </c:pt>
                <c:pt idx="95">
                  <c:v>19.817350000000001</c:v>
                </c:pt>
                <c:pt idx="96">
                  <c:v>20.350559000000001</c:v>
                </c:pt>
                <c:pt idx="97">
                  <c:v>24.119938999999999</c:v>
                </c:pt>
                <c:pt idx="98">
                  <c:v>25.875945999999999</c:v>
                </c:pt>
                <c:pt idx="99">
                  <c:v>28.536944999999999</c:v>
                </c:pt>
                <c:pt idx="100">
                  <c:v>28.830670000000001</c:v>
                </c:pt>
                <c:pt idx="101">
                  <c:v>26.112995999999999</c:v>
                </c:pt>
                <c:pt idx="102">
                  <c:v>27.794222999999999</c:v>
                </c:pt>
                <c:pt idx="103">
                  <c:v>27.783021000000002</c:v>
                </c:pt>
                <c:pt idx="104">
                  <c:v>28.70543</c:v>
                </c:pt>
                <c:pt idx="105">
                  <c:v>30.486208999999999</c:v>
                </c:pt>
                <c:pt idx="106">
                  <c:v>31.413792999999998</c:v>
                </c:pt>
                <c:pt idx="107">
                  <c:v>31.860838999999999</c:v>
                </c:pt>
                <c:pt idx="108">
                  <c:v>31.253765999999999</c:v>
                </c:pt>
                <c:pt idx="109">
                  <c:v>31.102319000000001</c:v>
                </c:pt>
                <c:pt idx="110">
                  <c:v>31.1325</c:v>
                </c:pt>
                <c:pt idx="111">
                  <c:v>31.31352</c:v>
                </c:pt>
                <c:pt idx="112">
                  <c:v>31.547602999999999</c:v>
                </c:pt>
                <c:pt idx="113">
                  <c:v>30.129740000000002</c:v>
                </c:pt>
                <c:pt idx="114">
                  <c:v>29.361149999999999</c:v>
                </c:pt>
                <c:pt idx="115">
                  <c:v>28.353662</c:v>
                </c:pt>
                <c:pt idx="116">
                  <c:v>26.560348000000001</c:v>
                </c:pt>
                <c:pt idx="117">
                  <c:v>26.925172</c:v>
                </c:pt>
                <c:pt idx="118">
                  <c:v>27.072355999999999</c:v>
                </c:pt>
                <c:pt idx="119">
                  <c:v>27.055396000000002</c:v>
                </c:pt>
                <c:pt idx="120">
                  <c:v>24.557376000000001</c:v>
                </c:pt>
                <c:pt idx="121">
                  <c:v>22.238054000000002</c:v>
                </c:pt>
                <c:pt idx="122">
                  <c:v>12.852474000000001</c:v>
                </c:pt>
                <c:pt idx="123">
                  <c:v>8.9218679999999999</c:v>
                </c:pt>
                <c:pt idx="124">
                  <c:v>7.1952259999999999</c:v>
                </c:pt>
                <c:pt idx="125">
                  <c:v>4.3427530000000001</c:v>
                </c:pt>
                <c:pt idx="126">
                  <c:v>6.7983289999999998</c:v>
                </c:pt>
                <c:pt idx="127">
                  <c:v>4.2416669999999996</c:v>
                </c:pt>
                <c:pt idx="128">
                  <c:v>3.166032</c:v>
                </c:pt>
                <c:pt idx="129">
                  <c:v>3.1010930000000001</c:v>
                </c:pt>
                <c:pt idx="130">
                  <c:v>1.005333</c:v>
                </c:pt>
                <c:pt idx="131">
                  <c:v>0.402283</c:v>
                </c:pt>
                <c:pt idx="132">
                  <c:v>-1.2613529999999999</c:v>
                </c:pt>
                <c:pt idx="133">
                  <c:v>-0.84954799999999997</c:v>
                </c:pt>
                <c:pt idx="134">
                  <c:v>-2.1360299999999999</c:v>
                </c:pt>
                <c:pt idx="135">
                  <c:v>-3.5344039999999999</c:v>
                </c:pt>
                <c:pt idx="136">
                  <c:v>-4.2527520000000001</c:v>
                </c:pt>
                <c:pt idx="137">
                  <c:v>-4.1175139999999999</c:v>
                </c:pt>
                <c:pt idx="138">
                  <c:v>-5.4537690000000003</c:v>
                </c:pt>
                <c:pt idx="139">
                  <c:v>-6.8973230000000001</c:v>
                </c:pt>
                <c:pt idx="140">
                  <c:v>-7.4886140000000001</c:v>
                </c:pt>
                <c:pt idx="141">
                  <c:v>-7.2145049999999999</c:v>
                </c:pt>
                <c:pt idx="142">
                  <c:v>-4.9450089999999998</c:v>
                </c:pt>
                <c:pt idx="143">
                  <c:v>-6.7666430000000002</c:v>
                </c:pt>
                <c:pt idx="144">
                  <c:v>-6.626093</c:v>
                </c:pt>
                <c:pt idx="145">
                  <c:v>-9.1425789999999996</c:v>
                </c:pt>
                <c:pt idx="146">
                  <c:v>-12.087916999999999</c:v>
                </c:pt>
                <c:pt idx="147">
                  <c:v>-11.763911</c:v>
                </c:pt>
                <c:pt idx="148">
                  <c:v>-8.9825700000000008</c:v>
                </c:pt>
                <c:pt idx="149">
                  <c:v>-8.5602479999999996</c:v>
                </c:pt>
                <c:pt idx="150">
                  <c:v>-11.931380000000001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5A0A-474D-A621-597A47AB76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w="9525">
              <a:solidFill>
                <a:srgbClr val="D9E2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" sz="1350">
                    <a:solidFill>
                      <a:srgbClr val="5D6B75"/>
                    </a:solidFill>
                    <a:latin typeface="Arial"/>
                    <a:ea typeface="Arial"/>
                    <a:cs typeface="Arial"/>
                  </a:rPr>
                  <a:t>Fee units per CPI index point</a:t>
                </a:r>
              </a:p>
            </c:rich>
          </c:tx>
          <c:overlay val="0"/>
        </c:title>
        <c:numFmt formatCode="#,##0" sourceLinked="0"/>
        <c:majorTickMark val="none"/>
        <c:minorTickMark val="none"/>
        <c:tickLblPos val="nextTo"/>
        <c:spPr>
          <a:ln w="0">
            <a:noFill/>
          </a:ln>
        </c:spPr>
        <c:txPr>
          <a:bodyPr anchorCtr="1"/>
          <a:lstStyle/>
          <a:p>
            <a:pPr>
              <a:defRPr sz="13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50112"/>
        <c:crosses val="autoZero"/>
        <c:crossBetween val="midCat"/>
      </c:valAx>
      <c:valAx>
        <c:axId val="48650112"/>
        <c:scaling>
          <c:orientation val="minMax"/>
          <c:max val="2026"/>
          <c:min val="2013"/>
        </c:scaling>
        <c:delete val="0"/>
        <c:axPos val="b"/>
        <c:numFmt formatCode="0" sourceLinked="0"/>
        <c:majorTickMark val="none"/>
        <c:minorTickMark val="none"/>
        <c:tickLblPos val="nextTo"/>
        <c:spPr>
          <a:ln w="9525">
            <a:solidFill>
              <a:srgbClr val="D9E2E8"/>
            </a:solidFill>
          </a:ln>
        </c:spPr>
        <c:txPr>
          <a:bodyPr anchorCtr="1"/>
          <a:lstStyle/>
          <a:p>
            <a:pPr>
              <a:defRPr sz="13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72768"/>
        <c:crosses val="autoZero"/>
        <c:crossBetween val="midCat"/>
        <c:majorUnit val="3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title>
      <c:tx>
        <c:rich>
          <a:bodyPr/>
          <a:lstStyle/>
          <a:p>
            <a:r>
              <a:rPr lang="en" sz="1725">
                <a:solidFill>
                  <a:srgbClr val="252F38"/>
                </a:solidFill>
                <a:latin typeface="Arial"/>
                <a:ea typeface="Arial"/>
                <a:cs typeface="Arial"/>
              </a:rPr>
              <a:t>Small-business optimism coefficient</a:t>
            </a:r>
          </a:p>
        </c:rich>
      </c:tx>
      <c:overlay val="0"/>
    </c:title>
    <c:autoTitleDeleted val="0"/>
    <c:plotArea>
      <c:layout/>
      <c:scatterChart>
        <c:scatterStyle val="lineMarker"/>
        <c:varyColors val="1"/>
        <c:ser>
          <c:idx val="0"/>
          <c:order val="0"/>
          <c:tx>
            <c:v>SBOpt</c:v>
          </c:tx>
          <c:spPr>
            <a:ln w="23813">
              <a:solidFill>
                <a:srgbClr val="C77933"/>
              </a:solidFill>
              <a:prstDash val="solid"/>
            </a:ln>
          </c:spPr>
          <c:marker>
            <c:symbol val="none"/>
          </c:marker>
          <c:xVal>
            <c:numRef>
              <c:f>'Chart Data'!$A$2:$A$152</c:f>
              <c:numCache>
                <c:formatCode>General</c:formatCode>
                <c:ptCount val="151"/>
                <c:pt idx="0">
                  <c:v>2013.416667</c:v>
                </c:pt>
                <c:pt idx="1">
                  <c:v>2013.5</c:v>
                </c:pt>
                <c:pt idx="2">
                  <c:v>2013.583333</c:v>
                </c:pt>
                <c:pt idx="3">
                  <c:v>2013.666667</c:v>
                </c:pt>
                <c:pt idx="4">
                  <c:v>2013.75</c:v>
                </c:pt>
                <c:pt idx="5">
                  <c:v>2013.833333</c:v>
                </c:pt>
                <c:pt idx="6">
                  <c:v>2013.916667</c:v>
                </c:pt>
                <c:pt idx="7">
                  <c:v>2014</c:v>
                </c:pt>
                <c:pt idx="8">
                  <c:v>2014.083333</c:v>
                </c:pt>
                <c:pt idx="9">
                  <c:v>2014.166667</c:v>
                </c:pt>
                <c:pt idx="10">
                  <c:v>2014.25</c:v>
                </c:pt>
                <c:pt idx="11">
                  <c:v>2014.333333</c:v>
                </c:pt>
                <c:pt idx="12">
                  <c:v>2014.416667</c:v>
                </c:pt>
                <c:pt idx="13">
                  <c:v>2014.5</c:v>
                </c:pt>
                <c:pt idx="14">
                  <c:v>2014.583333</c:v>
                </c:pt>
                <c:pt idx="15">
                  <c:v>2014.666667</c:v>
                </c:pt>
                <c:pt idx="16">
                  <c:v>2014.75</c:v>
                </c:pt>
                <c:pt idx="17">
                  <c:v>2014.833333</c:v>
                </c:pt>
                <c:pt idx="18">
                  <c:v>2014.916667</c:v>
                </c:pt>
                <c:pt idx="19">
                  <c:v>2015</c:v>
                </c:pt>
                <c:pt idx="20">
                  <c:v>2015.083333</c:v>
                </c:pt>
                <c:pt idx="21">
                  <c:v>2015.166667</c:v>
                </c:pt>
                <c:pt idx="22">
                  <c:v>2015.25</c:v>
                </c:pt>
                <c:pt idx="23">
                  <c:v>2015.333333</c:v>
                </c:pt>
                <c:pt idx="24">
                  <c:v>2015.416667</c:v>
                </c:pt>
                <c:pt idx="25">
                  <c:v>2015.5</c:v>
                </c:pt>
                <c:pt idx="26">
                  <c:v>2015.583333</c:v>
                </c:pt>
                <c:pt idx="27">
                  <c:v>2015.666667</c:v>
                </c:pt>
                <c:pt idx="28">
                  <c:v>2015.75</c:v>
                </c:pt>
                <c:pt idx="29">
                  <c:v>2015.833333</c:v>
                </c:pt>
                <c:pt idx="30">
                  <c:v>2015.916667</c:v>
                </c:pt>
                <c:pt idx="31">
                  <c:v>2016</c:v>
                </c:pt>
                <c:pt idx="32">
                  <c:v>2016.083333</c:v>
                </c:pt>
                <c:pt idx="33">
                  <c:v>2016.166667</c:v>
                </c:pt>
                <c:pt idx="34">
                  <c:v>2016.25</c:v>
                </c:pt>
                <c:pt idx="35">
                  <c:v>2016.333333</c:v>
                </c:pt>
                <c:pt idx="36">
                  <c:v>2016.416667</c:v>
                </c:pt>
                <c:pt idx="37">
                  <c:v>2016.5</c:v>
                </c:pt>
                <c:pt idx="38">
                  <c:v>2016.583333</c:v>
                </c:pt>
                <c:pt idx="39">
                  <c:v>2016.666667</c:v>
                </c:pt>
                <c:pt idx="40">
                  <c:v>2016.75</c:v>
                </c:pt>
                <c:pt idx="41">
                  <c:v>2016.833333</c:v>
                </c:pt>
                <c:pt idx="42">
                  <c:v>2016.916667</c:v>
                </c:pt>
                <c:pt idx="43">
                  <c:v>2017</c:v>
                </c:pt>
                <c:pt idx="44">
                  <c:v>2017.083333</c:v>
                </c:pt>
                <c:pt idx="45">
                  <c:v>2017.166667</c:v>
                </c:pt>
                <c:pt idx="46">
                  <c:v>2017.25</c:v>
                </c:pt>
                <c:pt idx="47">
                  <c:v>2017.333333</c:v>
                </c:pt>
                <c:pt idx="48">
                  <c:v>2017.416667</c:v>
                </c:pt>
                <c:pt idx="49">
                  <c:v>2017.5</c:v>
                </c:pt>
                <c:pt idx="50">
                  <c:v>2017.583333</c:v>
                </c:pt>
                <c:pt idx="51">
                  <c:v>2017.666667</c:v>
                </c:pt>
                <c:pt idx="52">
                  <c:v>2017.75</c:v>
                </c:pt>
                <c:pt idx="53">
                  <c:v>2017.833333</c:v>
                </c:pt>
                <c:pt idx="54">
                  <c:v>2017.916667</c:v>
                </c:pt>
                <c:pt idx="55">
                  <c:v>2018</c:v>
                </c:pt>
                <c:pt idx="56">
                  <c:v>2018.083333</c:v>
                </c:pt>
                <c:pt idx="57">
                  <c:v>2018.166667</c:v>
                </c:pt>
                <c:pt idx="58">
                  <c:v>2018.25</c:v>
                </c:pt>
                <c:pt idx="59">
                  <c:v>2018.333333</c:v>
                </c:pt>
                <c:pt idx="60">
                  <c:v>2018.416667</c:v>
                </c:pt>
                <c:pt idx="61">
                  <c:v>2018.5</c:v>
                </c:pt>
                <c:pt idx="62">
                  <c:v>2018.583333</c:v>
                </c:pt>
                <c:pt idx="63">
                  <c:v>2018.666667</c:v>
                </c:pt>
                <c:pt idx="64">
                  <c:v>2018.75</c:v>
                </c:pt>
                <c:pt idx="65">
                  <c:v>2018.833333</c:v>
                </c:pt>
                <c:pt idx="66">
                  <c:v>2018.916667</c:v>
                </c:pt>
                <c:pt idx="67">
                  <c:v>2019</c:v>
                </c:pt>
                <c:pt idx="68">
                  <c:v>2019.083333</c:v>
                </c:pt>
                <c:pt idx="69">
                  <c:v>2019.166667</c:v>
                </c:pt>
                <c:pt idx="70">
                  <c:v>2019.25</c:v>
                </c:pt>
                <c:pt idx="71">
                  <c:v>2019.333333</c:v>
                </c:pt>
                <c:pt idx="72">
                  <c:v>2019.416667</c:v>
                </c:pt>
                <c:pt idx="73">
                  <c:v>2019.5</c:v>
                </c:pt>
                <c:pt idx="74">
                  <c:v>2019.583333</c:v>
                </c:pt>
                <c:pt idx="75">
                  <c:v>2019.666667</c:v>
                </c:pt>
                <c:pt idx="76">
                  <c:v>2019.75</c:v>
                </c:pt>
                <c:pt idx="77">
                  <c:v>2019.833333</c:v>
                </c:pt>
                <c:pt idx="78">
                  <c:v>2019.916667</c:v>
                </c:pt>
                <c:pt idx="79">
                  <c:v>2020</c:v>
                </c:pt>
                <c:pt idx="80">
                  <c:v>2020.083333</c:v>
                </c:pt>
                <c:pt idx="81">
                  <c:v>2020.166667</c:v>
                </c:pt>
                <c:pt idx="82">
                  <c:v>2020.25</c:v>
                </c:pt>
                <c:pt idx="83">
                  <c:v>2020.333333</c:v>
                </c:pt>
                <c:pt idx="84">
                  <c:v>2020.416667</c:v>
                </c:pt>
                <c:pt idx="85">
                  <c:v>2020.5</c:v>
                </c:pt>
                <c:pt idx="86">
                  <c:v>2020.583333</c:v>
                </c:pt>
                <c:pt idx="87">
                  <c:v>2020.666667</c:v>
                </c:pt>
                <c:pt idx="88">
                  <c:v>2020.75</c:v>
                </c:pt>
                <c:pt idx="89">
                  <c:v>2020.833333</c:v>
                </c:pt>
                <c:pt idx="90">
                  <c:v>2020.916667</c:v>
                </c:pt>
                <c:pt idx="91">
                  <c:v>2021</c:v>
                </c:pt>
                <c:pt idx="92">
                  <c:v>2021.083333</c:v>
                </c:pt>
                <c:pt idx="93">
                  <c:v>2021.166667</c:v>
                </c:pt>
                <c:pt idx="94">
                  <c:v>2021.25</c:v>
                </c:pt>
                <c:pt idx="95">
                  <c:v>2021.333333</c:v>
                </c:pt>
                <c:pt idx="96">
                  <c:v>2021.416667</c:v>
                </c:pt>
                <c:pt idx="97">
                  <c:v>2021.5</c:v>
                </c:pt>
                <c:pt idx="98">
                  <c:v>2021.583333</c:v>
                </c:pt>
                <c:pt idx="99">
                  <c:v>2021.666667</c:v>
                </c:pt>
                <c:pt idx="100">
                  <c:v>2021.75</c:v>
                </c:pt>
                <c:pt idx="101">
                  <c:v>2021.833333</c:v>
                </c:pt>
                <c:pt idx="102">
                  <c:v>2021.916667</c:v>
                </c:pt>
                <c:pt idx="103">
                  <c:v>2022</c:v>
                </c:pt>
                <c:pt idx="104">
                  <c:v>2022.083333</c:v>
                </c:pt>
                <c:pt idx="105">
                  <c:v>2022.166667</c:v>
                </c:pt>
                <c:pt idx="106">
                  <c:v>2022.25</c:v>
                </c:pt>
                <c:pt idx="107">
                  <c:v>2022.333333</c:v>
                </c:pt>
                <c:pt idx="108">
                  <c:v>2022.416667</c:v>
                </c:pt>
                <c:pt idx="109">
                  <c:v>2022.5</c:v>
                </c:pt>
                <c:pt idx="110">
                  <c:v>2022.583333</c:v>
                </c:pt>
                <c:pt idx="111">
                  <c:v>2022.666667</c:v>
                </c:pt>
                <c:pt idx="112">
                  <c:v>2022.75</c:v>
                </c:pt>
                <c:pt idx="113">
                  <c:v>2022.833333</c:v>
                </c:pt>
                <c:pt idx="114">
                  <c:v>2022.916667</c:v>
                </c:pt>
                <c:pt idx="115">
                  <c:v>2023</c:v>
                </c:pt>
                <c:pt idx="116">
                  <c:v>2023.083333</c:v>
                </c:pt>
                <c:pt idx="117">
                  <c:v>2023.166667</c:v>
                </c:pt>
                <c:pt idx="118">
                  <c:v>2023.25</c:v>
                </c:pt>
                <c:pt idx="119">
                  <c:v>2023.333333</c:v>
                </c:pt>
                <c:pt idx="120">
                  <c:v>2023.416667</c:v>
                </c:pt>
                <c:pt idx="121">
                  <c:v>2023.5</c:v>
                </c:pt>
                <c:pt idx="122">
                  <c:v>2023.583333</c:v>
                </c:pt>
                <c:pt idx="123">
                  <c:v>2023.666667</c:v>
                </c:pt>
                <c:pt idx="124">
                  <c:v>2023.75</c:v>
                </c:pt>
                <c:pt idx="125">
                  <c:v>2023.833333</c:v>
                </c:pt>
                <c:pt idx="126">
                  <c:v>2023.916667</c:v>
                </c:pt>
                <c:pt idx="127">
                  <c:v>2024</c:v>
                </c:pt>
                <c:pt idx="128">
                  <c:v>2024.083333</c:v>
                </c:pt>
                <c:pt idx="129">
                  <c:v>2024.166667</c:v>
                </c:pt>
                <c:pt idx="130">
                  <c:v>2024.25</c:v>
                </c:pt>
                <c:pt idx="131">
                  <c:v>2024.333333</c:v>
                </c:pt>
                <c:pt idx="132">
                  <c:v>2024.416667</c:v>
                </c:pt>
                <c:pt idx="133">
                  <c:v>2024.5</c:v>
                </c:pt>
                <c:pt idx="134">
                  <c:v>2024.583333</c:v>
                </c:pt>
                <c:pt idx="135">
                  <c:v>2024.666667</c:v>
                </c:pt>
                <c:pt idx="136">
                  <c:v>2024.75</c:v>
                </c:pt>
                <c:pt idx="137">
                  <c:v>2024.833333</c:v>
                </c:pt>
                <c:pt idx="138">
                  <c:v>2024.916667</c:v>
                </c:pt>
                <c:pt idx="139">
                  <c:v>2025</c:v>
                </c:pt>
                <c:pt idx="140">
                  <c:v>2025.083333</c:v>
                </c:pt>
                <c:pt idx="141">
                  <c:v>2025.166667</c:v>
                </c:pt>
                <c:pt idx="142">
                  <c:v>2025.25</c:v>
                </c:pt>
                <c:pt idx="143">
                  <c:v>2025.333333</c:v>
                </c:pt>
                <c:pt idx="144">
                  <c:v>2025.416667</c:v>
                </c:pt>
                <c:pt idx="145">
                  <c:v>2025.5</c:v>
                </c:pt>
                <c:pt idx="146">
                  <c:v>2025.583333</c:v>
                </c:pt>
                <c:pt idx="147">
                  <c:v>2025.666667</c:v>
                </c:pt>
                <c:pt idx="148">
                  <c:v>2025.75</c:v>
                </c:pt>
                <c:pt idx="149">
                  <c:v>2025.833333</c:v>
                </c:pt>
                <c:pt idx="150">
                  <c:v>2025.916667</c:v>
                </c:pt>
              </c:numCache>
            </c:numRef>
          </c:xVal>
          <c:yVal>
            <c:numRef>
              <c:f>'Chart Data'!$B$2:$B$152</c:f>
              <c:numCache>
                <c:formatCode>#,##0</c:formatCode>
                <c:ptCount val="151"/>
                <c:pt idx="0">
                  <c:v>3.688625</c:v>
                </c:pt>
                <c:pt idx="1">
                  <c:v>7.4950099999999997</c:v>
                </c:pt>
                <c:pt idx="2">
                  <c:v>10.668884</c:v>
                </c:pt>
                <c:pt idx="3">
                  <c:v>8.4484940000000002</c:v>
                </c:pt>
                <c:pt idx="4">
                  <c:v>6.8508469999999999</c:v>
                </c:pt>
                <c:pt idx="5">
                  <c:v>7.1955070000000001</c:v>
                </c:pt>
                <c:pt idx="6">
                  <c:v>7.7395230000000002</c:v>
                </c:pt>
                <c:pt idx="7">
                  <c:v>6.9738660000000001</c:v>
                </c:pt>
                <c:pt idx="8">
                  <c:v>10.163907</c:v>
                </c:pt>
                <c:pt idx="9">
                  <c:v>10.432674</c:v>
                </c:pt>
                <c:pt idx="10">
                  <c:v>11.744088</c:v>
                </c:pt>
                <c:pt idx="11">
                  <c:v>12.506399</c:v>
                </c:pt>
                <c:pt idx="12">
                  <c:v>13.869899</c:v>
                </c:pt>
                <c:pt idx="13">
                  <c:v>15.732021</c:v>
                </c:pt>
                <c:pt idx="14">
                  <c:v>19.012024</c:v>
                </c:pt>
                <c:pt idx="15">
                  <c:v>19.275362999999999</c:v>
                </c:pt>
                <c:pt idx="16">
                  <c:v>20.759644999999999</c:v>
                </c:pt>
                <c:pt idx="17">
                  <c:v>15.696400000000001</c:v>
                </c:pt>
                <c:pt idx="18">
                  <c:v>19.016735000000001</c:v>
                </c:pt>
                <c:pt idx="19">
                  <c:v>14.445695000000001</c:v>
                </c:pt>
                <c:pt idx="20">
                  <c:v>9.1929569999999998</c:v>
                </c:pt>
                <c:pt idx="21">
                  <c:v>10.962066</c:v>
                </c:pt>
                <c:pt idx="22">
                  <c:v>10.719839</c:v>
                </c:pt>
                <c:pt idx="23">
                  <c:v>11.076917</c:v>
                </c:pt>
                <c:pt idx="24">
                  <c:v>8.0345700000000004</c:v>
                </c:pt>
                <c:pt idx="25">
                  <c:v>7.1264779999999996</c:v>
                </c:pt>
                <c:pt idx="26">
                  <c:v>4.3943209999999997</c:v>
                </c:pt>
                <c:pt idx="27">
                  <c:v>5.4873339999999997</c:v>
                </c:pt>
                <c:pt idx="28">
                  <c:v>7.1178660000000002</c:v>
                </c:pt>
                <c:pt idx="29">
                  <c:v>8.4018890000000006</c:v>
                </c:pt>
                <c:pt idx="30">
                  <c:v>9.3924800000000008</c:v>
                </c:pt>
                <c:pt idx="31">
                  <c:v>11.599613</c:v>
                </c:pt>
                <c:pt idx="32">
                  <c:v>11.729146</c:v>
                </c:pt>
                <c:pt idx="33">
                  <c:v>3.5351750000000002</c:v>
                </c:pt>
                <c:pt idx="34">
                  <c:v>10.509214</c:v>
                </c:pt>
                <c:pt idx="35">
                  <c:v>10.003602000000001</c:v>
                </c:pt>
                <c:pt idx="36">
                  <c:v>10.641619</c:v>
                </c:pt>
                <c:pt idx="37">
                  <c:v>7.4653640000000001</c:v>
                </c:pt>
                <c:pt idx="38">
                  <c:v>-4.0736179999999997</c:v>
                </c:pt>
                <c:pt idx="39">
                  <c:v>-10.48319</c:v>
                </c:pt>
                <c:pt idx="40">
                  <c:v>-14.401695999999999</c:v>
                </c:pt>
                <c:pt idx="41">
                  <c:v>-18.748643999999999</c:v>
                </c:pt>
                <c:pt idx="42">
                  <c:v>-9.5177370000000003</c:v>
                </c:pt>
                <c:pt idx="43">
                  <c:v>-7.0484010000000001</c:v>
                </c:pt>
                <c:pt idx="44">
                  <c:v>-7.6734049999999998</c:v>
                </c:pt>
                <c:pt idx="45">
                  <c:v>-5.9835269999999996</c:v>
                </c:pt>
                <c:pt idx="46">
                  <c:v>-6.5302720000000001</c:v>
                </c:pt>
                <c:pt idx="47">
                  <c:v>-4.2478350000000002</c:v>
                </c:pt>
                <c:pt idx="48">
                  <c:v>-5.8706990000000001</c:v>
                </c:pt>
                <c:pt idx="49">
                  <c:v>-3.1094189999999999</c:v>
                </c:pt>
                <c:pt idx="50">
                  <c:v>3.20275</c:v>
                </c:pt>
                <c:pt idx="51">
                  <c:v>1.6060140000000001</c:v>
                </c:pt>
                <c:pt idx="52">
                  <c:v>-2.3486630000000002</c:v>
                </c:pt>
                <c:pt idx="53">
                  <c:v>-2.5422319999999998</c:v>
                </c:pt>
                <c:pt idx="54">
                  <c:v>-4.6399210000000002</c:v>
                </c:pt>
                <c:pt idx="55">
                  <c:v>-6.2999609999999997</c:v>
                </c:pt>
                <c:pt idx="56">
                  <c:v>-6.1829530000000004</c:v>
                </c:pt>
                <c:pt idx="57">
                  <c:v>-13.105513999999999</c:v>
                </c:pt>
                <c:pt idx="58">
                  <c:v>-13.724665999999999</c:v>
                </c:pt>
                <c:pt idx="59">
                  <c:v>-15.318593</c:v>
                </c:pt>
                <c:pt idx="60">
                  <c:v>-15.771162</c:v>
                </c:pt>
                <c:pt idx="61">
                  <c:v>-15.735446</c:v>
                </c:pt>
                <c:pt idx="62">
                  <c:v>-16.792930999999999</c:v>
                </c:pt>
                <c:pt idx="63">
                  <c:v>-14.565868999999999</c:v>
                </c:pt>
                <c:pt idx="64">
                  <c:v>-13.882361</c:v>
                </c:pt>
                <c:pt idx="65">
                  <c:v>-9.0800649999999994</c:v>
                </c:pt>
                <c:pt idx="66">
                  <c:v>-8.8222930000000002</c:v>
                </c:pt>
                <c:pt idx="67">
                  <c:v>-7.2542530000000003</c:v>
                </c:pt>
                <c:pt idx="68">
                  <c:v>-0.30551400000000001</c:v>
                </c:pt>
                <c:pt idx="69">
                  <c:v>0.20087099999999999</c:v>
                </c:pt>
                <c:pt idx="70">
                  <c:v>5.3351940000000004</c:v>
                </c:pt>
                <c:pt idx="71">
                  <c:v>4.374771</c:v>
                </c:pt>
                <c:pt idx="72">
                  <c:v>3.272999</c:v>
                </c:pt>
                <c:pt idx="73">
                  <c:v>3.5290940000000002</c:v>
                </c:pt>
                <c:pt idx="74">
                  <c:v>1.7751710000000001</c:v>
                </c:pt>
                <c:pt idx="75">
                  <c:v>3.1734550000000001</c:v>
                </c:pt>
                <c:pt idx="76">
                  <c:v>3.1479680000000001</c:v>
                </c:pt>
                <c:pt idx="77">
                  <c:v>3.7021670000000002</c:v>
                </c:pt>
                <c:pt idx="78">
                  <c:v>6.0456620000000001</c:v>
                </c:pt>
                <c:pt idx="79">
                  <c:v>4.7470970000000001</c:v>
                </c:pt>
                <c:pt idx="80">
                  <c:v>4.3937929999999996</c:v>
                </c:pt>
                <c:pt idx="81">
                  <c:v>8.4287609999999997</c:v>
                </c:pt>
                <c:pt idx="82">
                  <c:v>24.647470999999999</c:v>
                </c:pt>
                <c:pt idx="83">
                  <c:v>27.937580000000001</c:v>
                </c:pt>
                <c:pt idx="84">
                  <c:v>28.318116</c:v>
                </c:pt>
                <c:pt idx="85">
                  <c:v>28.717116000000001</c:v>
                </c:pt>
                <c:pt idx="86">
                  <c:v>29.380565000000001</c:v>
                </c:pt>
                <c:pt idx="87">
                  <c:v>30.013929999999998</c:v>
                </c:pt>
                <c:pt idx="88">
                  <c:v>29.043845000000001</c:v>
                </c:pt>
                <c:pt idx="89">
                  <c:v>29.182396000000001</c:v>
                </c:pt>
                <c:pt idx="90">
                  <c:v>29.826781</c:v>
                </c:pt>
                <c:pt idx="91">
                  <c:v>29.785810000000001</c:v>
                </c:pt>
                <c:pt idx="92">
                  <c:v>29.790414999999999</c:v>
                </c:pt>
                <c:pt idx="93">
                  <c:v>30.720348000000001</c:v>
                </c:pt>
                <c:pt idx="94">
                  <c:v>32.322448999999999</c:v>
                </c:pt>
                <c:pt idx="95">
                  <c:v>33.763477999999999</c:v>
                </c:pt>
                <c:pt idx="96">
                  <c:v>33.323951999999998</c:v>
                </c:pt>
                <c:pt idx="97">
                  <c:v>33.752496999999998</c:v>
                </c:pt>
                <c:pt idx="98">
                  <c:v>33.968195999999999</c:v>
                </c:pt>
                <c:pt idx="99">
                  <c:v>33.518357000000002</c:v>
                </c:pt>
                <c:pt idx="100">
                  <c:v>33.938321000000002</c:v>
                </c:pt>
                <c:pt idx="101">
                  <c:v>33.715330000000002</c:v>
                </c:pt>
                <c:pt idx="102">
                  <c:v>32.387971999999998</c:v>
                </c:pt>
                <c:pt idx="103">
                  <c:v>32.672972000000001</c:v>
                </c:pt>
                <c:pt idx="104">
                  <c:v>30.391923999999999</c:v>
                </c:pt>
                <c:pt idx="105">
                  <c:v>27.746120999999999</c:v>
                </c:pt>
                <c:pt idx="106">
                  <c:v>26.030778999999999</c:v>
                </c:pt>
                <c:pt idx="107">
                  <c:v>24.759293</c:v>
                </c:pt>
                <c:pt idx="108">
                  <c:v>26.877869</c:v>
                </c:pt>
                <c:pt idx="109">
                  <c:v>26.066065999999999</c:v>
                </c:pt>
                <c:pt idx="110">
                  <c:v>25.707408000000001</c:v>
                </c:pt>
                <c:pt idx="111">
                  <c:v>26.896471999999999</c:v>
                </c:pt>
                <c:pt idx="112">
                  <c:v>25.741966000000001</c:v>
                </c:pt>
                <c:pt idx="113">
                  <c:v>24.747935999999999</c:v>
                </c:pt>
                <c:pt idx="114">
                  <c:v>23.814823000000001</c:v>
                </c:pt>
                <c:pt idx="115">
                  <c:v>23.510262999999998</c:v>
                </c:pt>
                <c:pt idx="116">
                  <c:v>21.939872000000001</c:v>
                </c:pt>
                <c:pt idx="117">
                  <c:v>21.757023</c:v>
                </c:pt>
                <c:pt idx="118">
                  <c:v>23.121677999999999</c:v>
                </c:pt>
                <c:pt idx="119">
                  <c:v>23.150100999999999</c:v>
                </c:pt>
                <c:pt idx="120">
                  <c:v>17.373068</c:v>
                </c:pt>
                <c:pt idx="121">
                  <c:v>11.381462000000001</c:v>
                </c:pt>
                <c:pt idx="122">
                  <c:v>-14.682817999999999</c:v>
                </c:pt>
                <c:pt idx="123">
                  <c:v>-24.571987</c:v>
                </c:pt>
                <c:pt idx="124">
                  <c:v>-27.64594</c:v>
                </c:pt>
                <c:pt idx="125">
                  <c:v>-33.805912999999997</c:v>
                </c:pt>
                <c:pt idx="126">
                  <c:v>-27.169513999999999</c:v>
                </c:pt>
                <c:pt idx="127">
                  <c:v>-32.286673999999998</c:v>
                </c:pt>
                <c:pt idx="128">
                  <c:v>-34.395454000000001</c:v>
                </c:pt>
                <c:pt idx="129">
                  <c:v>-33.01596</c:v>
                </c:pt>
                <c:pt idx="130">
                  <c:v>-36.459673000000002</c:v>
                </c:pt>
                <c:pt idx="131">
                  <c:v>-27.324797</c:v>
                </c:pt>
                <c:pt idx="132">
                  <c:v>-34.833177999999997</c:v>
                </c:pt>
                <c:pt idx="133">
                  <c:v>-26.179198</c:v>
                </c:pt>
                <c:pt idx="134">
                  <c:v>-15.765402999999999</c:v>
                </c:pt>
                <c:pt idx="135">
                  <c:v>-16.744730000000001</c:v>
                </c:pt>
                <c:pt idx="136">
                  <c:v>-13.60134</c:v>
                </c:pt>
                <c:pt idx="137">
                  <c:v>-5.4558410000000004</c:v>
                </c:pt>
                <c:pt idx="138">
                  <c:v>-17.323640000000001</c:v>
                </c:pt>
                <c:pt idx="139">
                  <c:v>-16.102803999999999</c:v>
                </c:pt>
                <c:pt idx="140">
                  <c:v>-16.617224</c:v>
                </c:pt>
                <c:pt idx="141">
                  <c:v>-15.879308</c:v>
                </c:pt>
                <c:pt idx="142">
                  <c:v>-17.755258999999999</c:v>
                </c:pt>
                <c:pt idx="143">
                  <c:v>-15.346503</c:v>
                </c:pt>
                <c:pt idx="144">
                  <c:v>-15.353032000000001</c:v>
                </c:pt>
                <c:pt idx="145">
                  <c:v>-14.227205</c:v>
                </c:pt>
                <c:pt idx="146">
                  <c:v>-10.899692</c:v>
                </c:pt>
                <c:pt idx="147">
                  <c:v>-11.346087000000001</c:v>
                </c:pt>
                <c:pt idx="148">
                  <c:v>-12.915433</c:v>
                </c:pt>
                <c:pt idx="149">
                  <c:v>-13.028997</c:v>
                </c:pt>
                <c:pt idx="150">
                  <c:v>-11.351428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216-A149-9680-FA97B96356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w="9525">
              <a:solidFill>
                <a:srgbClr val="D9E2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" sz="1350">
                    <a:solidFill>
                      <a:srgbClr val="5D6B75"/>
                    </a:solidFill>
                    <a:latin typeface="Arial"/>
                    <a:ea typeface="Arial"/>
                    <a:cs typeface="Arial"/>
                  </a:rPr>
                  <a:t>Fee units per optimism index point</a:t>
                </a:r>
              </a:p>
            </c:rich>
          </c:tx>
          <c:overlay val="0"/>
        </c:title>
        <c:numFmt formatCode="#,##0" sourceLinked="0"/>
        <c:majorTickMark val="none"/>
        <c:minorTickMark val="none"/>
        <c:tickLblPos val="nextTo"/>
        <c:spPr>
          <a:ln w="0">
            <a:noFill/>
          </a:ln>
        </c:spPr>
        <c:txPr>
          <a:bodyPr anchorCtr="1"/>
          <a:lstStyle/>
          <a:p>
            <a:pPr>
              <a:defRPr sz="13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50112"/>
        <c:crosses val="autoZero"/>
        <c:crossBetween val="midCat"/>
      </c:valAx>
      <c:valAx>
        <c:axId val="48650112"/>
        <c:scaling>
          <c:orientation val="minMax"/>
          <c:max val="2026"/>
          <c:min val="2013"/>
        </c:scaling>
        <c:delete val="0"/>
        <c:axPos val="b"/>
        <c:numFmt formatCode="0" sourceLinked="0"/>
        <c:majorTickMark val="none"/>
        <c:minorTickMark val="none"/>
        <c:tickLblPos val="nextTo"/>
        <c:spPr>
          <a:ln w="9525">
            <a:solidFill>
              <a:srgbClr val="D9E2E8"/>
            </a:solidFill>
          </a:ln>
        </c:spPr>
        <c:txPr>
          <a:bodyPr anchorCtr="1"/>
          <a:lstStyle/>
          <a:p>
            <a:pPr>
              <a:defRPr sz="13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72768"/>
        <c:crosses val="autoZero"/>
        <c:crossBetween val="midCat"/>
        <c:majorUnit val="3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Actual fee</c:v>
          </c:tx>
          <c:spPr>
            <a:ln w="23813">
              <a:solidFill>
                <a:srgbClr val="006C98"/>
              </a:solidFill>
              <a:prstDash val="solid"/>
            </a:ln>
          </c:spPr>
          <c:marker>
            <c:symbol val="none"/>
          </c:marker>
          <c:xVal>
            <c:numRef>
              <c:f>'Chart Data'!$A$2:$A$136</c:f>
              <c:numCache>
                <c:formatCode>General</c:formatCode>
                <c:ptCount val="135"/>
                <c:pt idx="0">
                  <c:v>2012.5</c:v>
                </c:pt>
                <c:pt idx="1">
                  <c:v>2012.583333</c:v>
                </c:pt>
                <c:pt idx="2">
                  <c:v>2012.666667</c:v>
                </c:pt>
                <c:pt idx="3">
                  <c:v>2012.75</c:v>
                </c:pt>
                <c:pt idx="4">
                  <c:v>2012.833333</c:v>
                </c:pt>
                <c:pt idx="5">
                  <c:v>2012.916667</c:v>
                </c:pt>
                <c:pt idx="6">
                  <c:v>2013</c:v>
                </c:pt>
                <c:pt idx="7">
                  <c:v>2013.083333</c:v>
                </c:pt>
                <c:pt idx="8">
                  <c:v>2013.166667</c:v>
                </c:pt>
                <c:pt idx="9">
                  <c:v>2013.25</c:v>
                </c:pt>
                <c:pt idx="10">
                  <c:v>2013.333333</c:v>
                </c:pt>
                <c:pt idx="11">
                  <c:v>2013.416667</c:v>
                </c:pt>
                <c:pt idx="12">
                  <c:v>2013.5</c:v>
                </c:pt>
                <c:pt idx="13">
                  <c:v>2013.583333</c:v>
                </c:pt>
                <c:pt idx="14">
                  <c:v>2013.666667</c:v>
                </c:pt>
                <c:pt idx="15">
                  <c:v>2013.75</c:v>
                </c:pt>
                <c:pt idx="16">
                  <c:v>2013.833333</c:v>
                </c:pt>
                <c:pt idx="17">
                  <c:v>2013.916667</c:v>
                </c:pt>
                <c:pt idx="18">
                  <c:v>2014</c:v>
                </c:pt>
                <c:pt idx="19">
                  <c:v>2014.083333</c:v>
                </c:pt>
                <c:pt idx="20">
                  <c:v>2014.166667</c:v>
                </c:pt>
                <c:pt idx="21">
                  <c:v>2014.25</c:v>
                </c:pt>
                <c:pt idx="22">
                  <c:v>2014.333333</c:v>
                </c:pt>
                <c:pt idx="23">
                  <c:v>2014.416667</c:v>
                </c:pt>
                <c:pt idx="24">
                  <c:v>2014.5</c:v>
                </c:pt>
                <c:pt idx="25">
                  <c:v>2014.583333</c:v>
                </c:pt>
                <c:pt idx="26">
                  <c:v>2014.666667</c:v>
                </c:pt>
                <c:pt idx="27">
                  <c:v>2014.75</c:v>
                </c:pt>
                <c:pt idx="28">
                  <c:v>2014.833333</c:v>
                </c:pt>
                <c:pt idx="29">
                  <c:v>2014.916667</c:v>
                </c:pt>
                <c:pt idx="30">
                  <c:v>2015</c:v>
                </c:pt>
                <c:pt idx="31">
                  <c:v>2015.083333</c:v>
                </c:pt>
                <c:pt idx="32">
                  <c:v>2015.166667</c:v>
                </c:pt>
                <c:pt idx="33">
                  <c:v>2015.25</c:v>
                </c:pt>
                <c:pt idx="34">
                  <c:v>2015.333333</c:v>
                </c:pt>
                <c:pt idx="35">
                  <c:v>2015.416667</c:v>
                </c:pt>
                <c:pt idx="36">
                  <c:v>2015.5</c:v>
                </c:pt>
                <c:pt idx="37">
                  <c:v>2015.583333</c:v>
                </c:pt>
                <c:pt idx="38">
                  <c:v>2015.666667</c:v>
                </c:pt>
                <c:pt idx="39">
                  <c:v>2015.75</c:v>
                </c:pt>
                <c:pt idx="40">
                  <c:v>2015.833333</c:v>
                </c:pt>
                <c:pt idx="41">
                  <c:v>2015.916667</c:v>
                </c:pt>
                <c:pt idx="42">
                  <c:v>2016</c:v>
                </c:pt>
                <c:pt idx="43">
                  <c:v>2016.083333</c:v>
                </c:pt>
                <c:pt idx="44">
                  <c:v>2016.166667</c:v>
                </c:pt>
                <c:pt idx="45">
                  <c:v>2016.25</c:v>
                </c:pt>
                <c:pt idx="46">
                  <c:v>2016.333333</c:v>
                </c:pt>
                <c:pt idx="47">
                  <c:v>2016.416667</c:v>
                </c:pt>
                <c:pt idx="48">
                  <c:v>2016.5</c:v>
                </c:pt>
                <c:pt idx="49">
                  <c:v>2016.583333</c:v>
                </c:pt>
                <c:pt idx="50">
                  <c:v>2016.666667</c:v>
                </c:pt>
                <c:pt idx="51">
                  <c:v>2016.75</c:v>
                </c:pt>
                <c:pt idx="52">
                  <c:v>2016.833333</c:v>
                </c:pt>
                <c:pt idx="53">
                  <c:v>2016.916667</c:v>
                </c:pt>
                <c:pt idx="54">
                  <c:v>2017</c:v>
                </c:pt>
                <c:pt idx="55">
                  <c:v>2017.083333</c:v>
                </c:pt>
                <c:pt idx="56">
                  <c:v>2017.166667</c:v>
                </c:pt>
                <c:pt idx="57">
                  <c:v>2017.25</c:v>
                </c:pt>
                <c:pt idx="58">
                  <c:v>2017.333333</c:v>
                </c:pt>
                <c:pt idx="59">
                  <c:v>2017.416667</c:v>
                </c:pt>
                <c:pt idx="60">
                  <c:v>2017.5</c:v>
                </c:pt>
                <c:pt idx="61">
                  <c:v>2017.583333</c:v>
                </c:pt>
                <c:pt idx="62">
                  <c:v>2017.666667</c:v>
                </c:pt>
                <c:pt idx="63">
                  <c:v>2017.75</c:v>
                </c:pt>
                <c:pt idx="64">
                  <c:v>2017.833333</c:v>
                </c:pt>
                <c:pt idx="65">
                  <c:v>2017.916667</c:v>
                </c:pt>
                <c:pt idx="66">
                  <c:v>2018</c:v>
                </c:pt>
                <c:pt idx="67">
                  <c:v>2018.083333</c:v>
                </c:pt>
                <c:pt idx="68">
                  <c:v>2018.166667</c:v>
                </c:pt>
                <c:pt idx="69">
                  <c:v>2018.25</c:v>
                </c:pt>
                <c:pt idx="70">
                  <c:v>2018.333333</c:v>
                </c:pt>
                <c:pt idx="71">
                  <c:v>2018.416667</c:v>
                </c:pt>
                <c:pt idx="72">
                  <c:v>2018.5</c:v>
                </c:pt>
                <c:pt idx="73">
                  <c:v>2018.583333</c:v>
                </c:pt>
                <c:pt idx="74">
                  <c:v>2018.666667</c:v>
                </c:pt>
                <c:pt idx="75">
                  <c:v>2018.75</c:v>
                </c:pt>
                <c:pt idx="76">
                  <c:v>2018.833333</c:v>
                </c:pt>
                <c:pt idx="77">
                  <c:v>2018.916667</c:v>
                </c:pt>
                <c:pt idx="78">
                  <c:v>2019</c:v>
                </c:pt>
                <c:pt idx="79">
                  <c:v>2019.083333</c:v>
                </c:pt>
                <c:pt idx="80">
                  <c:v>2019.166667</c:v>
                </c:pt>
                <c:pt idx="81">
                  <c:v>2019.25</c:v>
                </c:pt>
                <c:pt idx="82">
                  <c:v>2019.333333</c:v>
                </c:pt>
                <c:pt idx="83">
                  <c:v>2019.416667</c:v>
                </c:pt>
                <c:pt idx="84">
                  <c:v>2019.5</c:v>
                </c:pt>
                <c:pt idx="85">
                  <c:v>2019.583333</c:v>
                </c:pt>
                <c:pt idx="86">
                  <c:v>2019.666667</c:v>
                </c:pt>
                <c:pt idx="87">
                  <c:v>2019.75</c:v>
                </c:pt>
                <c:pt idx="88">
                  <c:v>2019.833333</c:v>
                </c:pt>
                <c:pt idx="89">
                  <c:v>2019.916667</c:v>
                </c:pt>
                <c:pt idx="90">
                  <c:v>2020</c:v>
                </c:pt>
                <c:pt idx="91">
                  <c:v>2020.083333</c:v>
                </c:pt>
                <c:pt idx="92">
                  <c:v>2020.166667</c:v>
                </c:pt>
                <c:pt idx="93">
                  <c:v>2020.25</c:v>
                </c:pt>
                <c:pt idx="94">
                  <c:v>2020.333333</c:v>
                </c:pt>
                <c:pt idx="95">
                  <c:v>2020.416667</c:v>
                </c:pt>
                <c:pt idx="96">
                  <c:v>2020.5</c:v>
                </c:pt>
                <c:pt idx="97">
                  <c:v>2020.583333</c:v>
                </c:pt>
                <c:pt idx="98">
                  <c:v>2020.666667</c:v>
                </c:pt>
                <c:pt idx="99">
                  <c:v>2020.75</c:v>
                </c:pt>
                <c:pt idx="100">
                  <c:v>2020.833333</c:v>
                </c:pt>
                <c:pt idx="101">
                  <c:v>2020.916667</c:v>
                </c:pt>
                <c:pt idx="102">
                  <c:v>2021</c:v>
                </c:pt>
                <c:pt idx="103">
                  <c:v>2021.083333</c:v>
                </c:pt>
                <c:pt idx="104">
                  <c:v>2021.166667</c:v>
                </c:pt>
                <c:pt idx="105">
                  <c:v>2021.25</c:v>
                </c:pt>
                <c:pt idx="106">
                  <c:v>2021.333333</c:v>
                </c:pt>
                <c:pt idx="107">
                  <c:v>2021.416667</c:v>
                </c:pt>
                <c:pt idx="108">
                  <c:v>2021.5</c:v>
                </c:pt>
                <c:pt idx="109">
                  <c:v>2021.583333</c:v>
                </c:pt>
                <c:pt idx="110">
                  <c:v>2021.666667</c:v>
                </c:pt>
                <c:pt idx="111">
                  <c:v>2021.75</c:v>
                </c:pt>
                <c:pt idx="112">
                  <c:v>2021.833333</c:v>
                </c:pt>
                <c:pt idx="113">
                  <c:v>2021.916667</c:v>
                </c:pt>
                <c:pt idx="114">
                  <c:v>2022</c:v>
                </c:pt>
                <c:pt idx="115">
                  <c:v>2022.083333</c:v>
                </c:pt>
                <c:pt idx="116">
                  <c:v>2022.166667</c:v>
                </c:pt>
                <c:pt idx="117">
                  <c:v>2022.25</c:v>
                </c:pt>
                <c:pt idx="118">
                  <c:v>2022.333333</c:v>
                </c:pt>
                <c:pt idx="119">
                  <c:v>2022.416667</c:v>
                </c:pt>
                <c:pt idx="120">
                  <c:v>2022.5</c:v>
                </c:pt>
                <c:pt idx="121">
                  <c:v>2022.583333</c:v>
                </c:pt>
                <c:pt idx="122">
                  <c:v>2022.666667</c:v>
                </c:pt>
                <c:pt idx="123">
                  <c:v>2022.75</c:v>
                </c:pt>
                <c:pt idx="124">
                  <c:v>2022.833333</c:v>
                </c:pt>
                <c:pt idx="125">
                  <c:v>2022.916667</c:v>
                </c:pt>
                <c:pt idx="126">
                  <c:v>2023</c:v>
                </c:pt>
                <c:pt idx="127">
                  <c:v>2023.083333</c:v>
                </c:pt>
                <c:pt idx="128">
                  <c:v>2023.166667</c:v>
                </c:pt>
                <c:pt idx="129">
                  <c:v>2023.25</c:v>
                </c:pt>
                <c:pt idx="130">
                  <c:v>2023.333333</c:v>
                </c:pt>
                <c:pt idx="131">
                  <c:v>2023.416667</c:v>
                </c:pt>
                <c:pt idx="132">
                  <c:v>2023.5</c:v>
                </c:pt>
                <c:pt idx="133">
                  <c:v>2023.583333</c:v>
                </c:pt>
                <c:pt idx="134">
                  <c:v>2023.666667</c:v>
                </c:pt>
              </c:numCache>
            </c:numRef>
          </c:xVal>
          <c:yVal>
            <c:numRef>
              <c:f>'Chart Data'!$B$2:$B$136</c:f>
              <c:numCache>
                <c:formatCode>#,##0</c:formatCode>
                <c:ptCount val="135"/>
                <c:pt idx="0">
                  <c:v>1132</c:v>
                </c:pt>
                <c:pt idx="1">
                  <c:v>1134</c:v>
                </c:pt>
                <c:pt idx="2">
                  <c:v>983</c:v>
                </c:pt>
                <c:pt idx="3">
                  <c:v>1150</c:v>
                </c:pt>
                <c:pt idx="4">
                  <c:v>978</c:v>
                </c:pt>
                <c:pt idx="5">
                  <c:v>1025</c:v>
                </c:pt>
                <c:pt idx="6">
                  <c:v>989</c:v>
                </c:pt>
                <c:pt idx="7">
                  <c:v>943</c:v>
                </c:pt>
                <c:pt idx="8">
                  <c:v>1089</c:v>
                </c:pt>
                <c:pt idx="9">
                  <c:v>1128</c:v>
                </c:pt>
                <c:pt idx="10">
                  <c:v>1063</c:v>
                </c:pt>
                <c:pt idx="11">
                  <c:v>999</c:v>
                </c:pt>
                <c:pt idx="12">
                  <c:v>1160</c:v>
                </c:pt>
                <c:pt idx="13">
                  <c:v>1032</c:v>
                </c:pt>
                <c:pt idx="14">
                  <c:v>1022</c:v>
                </c:pt>
                <c:pt idx="15">
                  <c:v>1280</c:v>
                </c:pt>
                <c:pt idx="16">
                  <c:v>1090</c:v>
                </c:pt>
                <c:pt idx="17">
                  <c:v>1184</c:v>
                </c:pt>
                <c:pt idx="18">
                  <c:v>1121</c:v>
                </c:pt>
                <c:pt idx="19">
                  <c:v>1059</c:v>
                </c:pt>
                <c:pt idx="20">
                  <c:v>1158</c:v>
                </c:pt>
                <c:pt idx="21">
                  <c:v>1264</c:v>
                </c:pt>
                <c:pt idx="22">
                  <c:v>1231</c:v>
                </c:pt>
                <c:pt idx="23">
                  <c:v>1226</c:v>
                </c:pt>
                <c:pt idx="24">
                  <c:v>1277</c:v>
                </c:pt>
                <c:pt idx="25">
                  <c:v>1188</c:v>
                </c:pt>
                <c:pt idx="26">
                  <c:v>1206</c:v>
                </c:pt>
                <c:pt idx="27">
                  <c:v>1305</c:v>
                </c:pt>
                <c:pt idx="28">
                  <c:v>1166</c:v>
                </c:pt>
                <c:pt idx="29">
                  <c:v>1362</c:v>
                </c:pt>
                <c:pt idx="30">
                  <c:v>1140</c:v>
                </c:pt>
                <c:pt idx="31">
                  <c:v>1111</c:v>
                </c:pt>
                <c:pt idx="32">
                  <c:v>1455</c:v>
                </c:pt>
                <c:pt idx="33">
                  <c:v>1409</c:v>
                </c:pt>
                <c:pt idx="34">
                  <c:v>1294</c:v>
                </c:pt>
                <c:pt idx="35">
                  <c:v>1472</c:v>
                </c:pt>
                <c:pt idx="36">
                  <c:v>1360</c:v>
                </c:pt>
                <c:pt idx="37">
                  <c:v>1279</c:v>
                </c:pt>
                <c:pt idx="38">
                  <c:v>1336</c:v>
                </c:pt>
                <c:pt idx="39">
                  <c:v>1316</c:v>
                </c:pt>
                <c:pt idx="40">
                  <c:v>1233</c:v>
                </c:pt>
                <c:pt idx="41">
                  <c:v>1233</c:v>
                </c:pt>
                <c:pt idx="42">
                  <c:v>1151</c:v>
                </c:pt>
                <c:pt idx="43">
                  <c:v>1236</c:v>
                </c:pt>
                <c:pt idx="44">
                  <c:v>1539</c:v>
                </c:pt>
                <c:pt idx="45">
                  <c:v>1249</c:v>
                </c:pt>
                <c:pt idx="46">
                  <c:v>1388</c:v>
                </c:pt>
                <c:pt idx="47">
                  <c:v>1280</c:v>
                </c:pt>
                <c:pt idx="48">
                  <c:v>1184</c:v>
                </c:pt>
                <c:pt idx="49">
                  <c:v>1418</c:v>
                </c:pt>
                <c:pt idx="50">
                  <c:v>1310</c:v>
                </c:pt>
                <c:pt idx="51">
                  <c:v>1226</c:v>
                </c:pt>
                <c:pt idx="52">
                  <c:v>1166</c:v>
                </c:pt>
                <c:pt idx="53">
                  <c:v>1253</c:v>
                </c:pt>
                <c:pt idx="54">
                  <c:v>1278</c:v>
                </c:pt>
                <c:pt idx="55">
                  <c:v>1198</c:v>
                </c:pt>
                <c:pt idx="56">
                  <c:v>1373</c:v>
                </c:pt>
                <c:pt idx="57">
                  <c:v>1202</c:v>
                </c:pt>
                <c:pt idx="58">
                  <c:v>1409</c:v>
                </c:pt>
                <c:pt idx="59">
                  <c:v>1331</c:v>
                </c:pt>
                <c:pt idx="60">
                  <c:v>1245</c:v>
                </c:pt>
                <c:pt idx="61">
                  <c:v>1434</c:v>
                </c:pt>
                <c:pt idx="62">
                  <c:v>1245</c:v>
                </c:pt>
                <c:pt idx="63">
                  <c:v>1456</c:v>
                </c:pt>
                <c:pt idx="64">
                  <c:v>1298</c:v>
                </c:pt>
                <c:pt idx="65">
                  <c:v>1400</c:v>
                </c:pt>
                <c:pt idx="66">
                  <c:v>1441</c:v>
                </c:pt>
                <c:pt idx="67">
                  <c:v>1349</c:v>
                </c:pt>
                <c:pt idx="68">
                  <c:v>1673</c:v>
                </c:pt>
                <c:pt idx="69">
                  <c:v>1466</c:v>
                </c:pt>
                <c:pt idx="70">
                  <c:v>1667</c:v>
                </c:pt>
                <c:pt idx="71">
                  <c:v>1545</c:v>
                </c:pt>
                <c:pt idx="72">
                  <c:v>1512</c:v>
                </c:pt>
                <c:pt idx="73">
                  <c:v>1739</c:v>
                </c:pt>
                <c:pt idx="74">
                  <c:v>1656</c:v>
                </c:pt>
                <c:pt idx="75">
                  <c:v>1600</c:v>
                </c:pt>
                <c:pt idx="76">
                  <c:v>1516</c:v>
                </c:pt>
                <c:pt idx="77">
                  <c:v>1673</c:v>
                </c:pt>
                <c:pt idx="78">
                  <c:v>1565</c:v>
                </c:pt>
                <c:pt idx="79">
                  <c:v>1545</c:v>
                </c:pt>
                <c:pt idx="80">
                  <c:v>1856</c:v>
                </c:pt>
                <c:pt idx="81">
                  <c:v>1508</c:v>
                </c:pt>
                <c:pt idx="82">
                  <c:v>1672</c:v>
                </c:pt>
                <c:pt idx="83">
                  <c:v>1762</c:v>
                </c:pt>
                <c:pt idx="84">
                  <c:v>1606</c:v>
                </c:pt>
                <c:pt idx="85">
                  <c:v>1835</c:v>
                </c:pt>
                <c:pt idx="86">
                  <c:v>1697</c:v>
                </c:pt>
                <c:pt idx="87">
                  <c:v>1680</c:v>
                </c:pt>
                <c:pt idx="88">
                  <c:v>1668</c:v>
                </c:pt>
                <c:pt idx="89">
                  <c:v>1523</c:v>
                </c:pt>
                <c:pt idx="90">
                  <c:v>1745</c:v>
                </c:pt>
                <c:pt idx="91">
                  <c:v>1671</c:v>
                </c:pt>
                <c:pt idx="92">
                  <c:v>1497</c:v>
                </c:pt>
                <c:pt idx="93">
                  <c:v>1167</c:v>
                </c:pt>
                <c:pt idx="94">
                  <c:v>1265</c:v>
                </c:pt>
                <c:pt idx="95">
                  <c:v>1336</c:v>
                </c:pt>
                <c:pt idx="96">
                  <c:v>1450</c:v>
                </c:pt>
                <c:pt idx="97">
                  <c:v>1494</c:v>
                </c:pt>
                <c:pt idx="98">
                  <c:v>1691</c:v>
                </c:pt>
                <c:pt idx="99">
                  <c:v>1638</c:v>
                </c:pt>
                <c:pt idx="100">
                  <c:v>1673</c:v>
                </c:pt>
                <c:pt idx="101">
                  <c:v>1471</c:v>
                </c:pt>
                <c:pt idx="102">
                  <c:v>1597</c:v>
                </c:pt>
                <c:pt idx="103">
                  <c:v>1481</c:v>
                </c:pt>
                <c:pt idx="104">
                  <c:v>1780</c:v>
                </c:pt>
                <c:pt idx="105">
                  <c:v>1752</c:v>
                </c:pt>
                <c:pt idx="106">
                  <c:v>1892</c:v>
                </c:pt>
                <c:pt idx="107">
                  <c:v>1904</c:v>
                </c:pt>
                <c:pt idx="108">
                  <c:v>2006</c:v>
                </c:pt>
                <c:pt idx="109">
                  <c:v>2013</c:v>
                </c:pt>
                <c:pt idx="110">
                  <c:v>1968</c:v>
                </c:pt>
                <c:pt idx="111">
                  <c:v>2065</c:v>
                </c:pt>
                <c:pt idx="112">
                  <c:v>1860</c:v>
                </c:pt>
                <c:pt idx="113">
                  <c:v>2195</c:v>
                </c:pt>
                <c:pt idx="114">
                  <c:v>2135</c:v>
                </c:pt>
                <c:pt idx="115">
                  <c:v>2146</c:v>
                </c:pt>
                <c:pt idx="116">
                  <c:v>2349</c:v>
                </c:pt>
                <c:pt idx="117">
                  <c:v>2351</c:v>
                </c:pt>
                <c:pt idx="118">
                  <c:v>2432</c:v>
                </c:pt>
                <c:pt idx="119">
                  <c:v>2282</c:v>
                </c:pt>
                <c:pt idx="120">
                  <c:v>2334</c:v>
                </c:pt>
                <c:pt idx="121">
                  <c:v>2444</c:v>
                </c:pt>
                <c:pt idx="122">
                  <c:v>2416</c:v>
                </c:pt>
                <c:pt idx="123">
                  <c:v>2633</c:v>
                </c:pt>
                <c:pt idx="124">
                  <c:v>2274</c:v>
                </c:pt>
                <c:pt idx="125">
                  <c:v>2475</c:v>
                </c:pt>
                <c:pt idx="126">
                  <c:v>2322</c:v>
                </c:pt>
                <c:pt idx="127">
                  <c:v>2236</c:v>
                </c:pt>
                <c:pt idx="128">
                  <c:v>2631</c:v>
                </c:pt>
                <c:pt idx="129">
                  <c:v>2535</c:v>
                </c:pt>
                <c:pt idx="130">
                  <c:v>2525</c:v>
                </c:pt>
                <c:pt idx="131">
                  <c:v>2417</c:v>
                </c:pt>
                <c:pt idx="132">
                  <c:v>2426</c:v>
                </c:pt>
                <c:pt idx="133">
                  <c:v>2413</c:v>
                </c:pt>
                <c:pt idx="134">
                  <c:v>2414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12A2-DB42-9FA0-A0164215302A}"/>
            </c:ext>
          </c:extLst>
        </c:ser>
        <c:ser>
          <c:idx val="1"/>
          <c:order val="1"/>
          <c:tx>
            <c:v>Fitted fee</c:v>
          </c:tx>
          <c:spPr>
            <a:ln w="23813">
              <a:solidFill>
                <a:srgbClr val="C77933"/>
              </a:solidFill>
              <a:prstDash val="solid"/>
            </a:ln>
          </c:spPr>
          <c:marker>
            <c:symbol val="none"/>
          </c:marker>
          <c:xVal>
            <c:numRef>
              <c:f>'Chart Data'!$C$2:$C$136</c:f>
              <c:numCache>
                <c:formatCode>General</c:formatCode>
                <c:ptCount val="135"/>
                <c:pt idx="0">
                  <c:v>2012.5</c:v>
                </c:pt>
                <c:pt idx="1">
                  <c:v>2012.583333</c:v>
                </c:pt>
                <c:pt idx="2">
                  <c:v>2012.666667</c:v>
                </c:pt>
                <c:pt idx="3">
                  <c:v>2012.75</c:v>
                </c:pt>
                <c:pt idx="4">
                  <c:v>2012.833333</c:v>
                </c:pt>
                <c:pt idx="5">
                  <c:v>2012.916667</c:v>
                </c:pt>
                <c:pt idx="6">
                  <c:v>2013</c:v>
                </c:pt>
                <c:pt idx="7">
                  <c:v>2013.083333</c:v>
                </c:pt>
                <c:pt idx="8">
                  <c:v>2013.166667</c:v>
                </c:pt>
                <c:pt idx="9">
                  <c:v>2013.25</c:v>
                </c:pt>
                <c:pt idx="10">
                  <c:v>2013.333333</c:v>
                </c:pt>
                <c:pt idx="11">
                  <c:v>2013.416667</c:v>
                </c:pt>
                <c:pt idx="12">
                  <c:v>2013.5</c:v>
                </c:pt>
                <c:pt idx="13">
                  <c:v>2013.583333</c:v>
                </c:pt>
                <c:pt idx="14">
                  <c:v>2013.666667</c:v>
                </c:pt>
                <c:pt idx="15">
                  <c:v>2013.75</c:v>
                </c:pt>
                <c:pt idx="16">
                  <c:v>2013.833333</c:v>
                </c:pt>
                <c:pt idx="17">
                  <c:v>2013.916667</c:v>
                </c:pt>
                <c:pt idx="18">
                  <c:v>2014</c:v>
                </c:pt>
                <c:pt idx="19">
                  <c:v>2014.083333</c:v>
                </c:pt>
                <c:pt idx="20">
                  <c:v>2014.166667</c:v>
                </c:pt>
                <c:pt idx="21">
                  <c:v>2014.25</c:v>
                </c:pt>
                <c:pt idx="22">
                  <c:v>2014.333333</c:v>
                </c:pt>
                <c:pt idx="23">
                  <c:v>2014.416667</c:v>
                </c:pt>
                <c:pt idx="24">
                  <c:v>2014.5</c:v>
                </c:pt>
                <c:pt idx="25">
                  <c:v>2014.583333</c:v>
                </c:pt>
                <c:pt idx="26">
                  <c:v>2014.666667</c:v>
                </c:pt>
                <c:pt idx="27">
                  <c:v>2014.75</c:v>
                </c:pt>
                <c:pt idx="28">
                  <c:v>2014.833333</c:v>
                </c:pt>
                <c:pt idx="29">
                  <c:v>2014.916667</c:v>
                </c:pt>
                <c:pt idx="30">
                  <c:v>2015</c:v>
                </c:pt>
                <c:pt idx="31">
                  <c:v>2015.083333</c:v>
                </c:pt>
                <c:pt idx="32">
                  <c:v>2015.166667</c:v>
                </c:pt>
                <c:pt idx="33">
                  <c:v>2015.25</c:v>
                </c:pt>
                <c:pt idx="34">
                  <c:v>2015.333333</c:v>
                </c:pt>
                <c:pt idx="35">
                  <c:v>2015.416667</c:v>
                </c:pt>
                <c:pt idx="36">
                  <c:v>2015.5</c:v>
                </c:pt>
                <c:pt idx="37">
                  <c:v>2015.583333</c:v>
                </c:pt>
                <c:pt idx="38">
                  <c:v>2015.666667</c:v>
                </c:pt>
                <c:pt idx="39">
                  <c:v>2015.75</c:v>
                </c:pt>
                <c:pt idx="40">
                  <c:v>2015.833333</c:v>
                </c:pt>
                <c:pt idx="41">
                  <c:v>2015.916667</c:v>
                </c:pt>
                <c:pt idx="42">
                  <c:v>2016</c:v>
                </c:pt>
                <c:pt idx="43">
                  <c:v>2016.083333</c:v>
                </c:pt>
                <c:pt idx="44">
                  <c:v>2016.166667</c:v>
                </c:pt>
                <c:pt idx="45">
                  <c:v>2016.25</c:v>
                </c:pt>
                <c:pt idx="46">
                  <c:v>2016.333333</c:v>
                </c:pt>
                <c:pt idx="47">
                  <c:v>2016.416667</c:v>
                </c:pt>
                <c:pt idx="48">
                  <c:v>2016.5</c:v>
                </c:pt>
                <c:pt idx="49">
                  <c:v>2016.583333</c:v>
                </c:pt>
                <c:pt idx="50">
                  <c:v>2016.666667</c:v>
                </c:pt>
                <c:pt idx="51">
                  <c:v>2016.75</c:v>
                </c:pt>
                <c:pt idx="52">
                  <c:v>2016.833333</c:v>
                </c:pt>
                <c:pt idx="53">
                  <c:v>2016.916667</c:v>
                </c:pt>
                <c:pt idx="54">
                  <c:v>2017</c:v>
                </c:pt>
                <c:pt idx="55">
                  <c:v>2017.083333</c:v>
                </c:pt>
                <c:pt idx="56">
                  <c:v>2017.166667</c:v>
                </c:pt>
                <c:pt idx="57">
                  <c:v>2017.25</c:v>
                </c:pt>
                <c:pt idx="58">
                  <c:v>2017.333333</c:v>
                </c:pt>
                <c:pt idx="59">
                  <c:v>2017.416667</c:v>
                </c:pt>
                <c:pt idx="60">
                  <c:v>2017.5</c:v>
                </c:pt>
                <c:pt idx="61">
                  <c:v>2017.583333</c:v>
                </c:pt>
                <c:pt idx="62">
                  <c:v>2017.666667</c:v>
                </c:pt>
                <c:pt idx="63">
                  <c:v>2017.75</c:v>
                </c:pt>
                <c:pt idx="64">
                  <c:v>2017.833333</c:v>
                </c:pt>
                <c:pt idx="65">
                  <c:v>2017.916667</c:v>
                </c:pt>
                <c:pt idx="66">
                  <c:v>2018</c:v>
                </c:pt>
                <c:pt idx="67">
                  <c:v>2018.083333</c:v>
                </c:pt>
                <c:pt idx="68">
                  <c:v>2018.166667</c:v>
                </c:pt>
                <c:pt idx="69">
                  <c:v>2018.25</c:v>
                </c:pt>
                <c:pt idx="70">
                  <c:v>2018.333333</c:v>
                </c:pt>
                <c:pt idx="71">
                  <c:v>2018.416667</c:v>
                </c:pt>
                <c:pt idx="72">
                  <c:v>2018.5</c:v>
                </c:pt>
                <c:pt idx="73">
                  <c:v>2018.583333</c:v>
                </c:pt>
                <c:pt idx="74">
                  <c:v>2018.666667</c:v>
                </c:pt>
                <c:pt idx="75">
                  <c:v>2018.75</c:v>
                </c:pt>
                <c:pt idx="76">
                  <c:v>2018.833333</c:v>
                </c:pt>
                <c:pt idx="77">
                  <c:v>2018.916667</c:v>
                </c:pt>
                <c:pt idx="78">
                  <c:v>2019</c:v>
                </c:pt>
                <c:pt idx="79">
                  <c:v>2019.083333</c:v>
                </c:pt>
                <c:pt idx="80">
                  <c:v>2019.166667</c:v>
                </c:pt>
                <c:pt idx="81">
                  <c:v>2019.25</c:v>
                </c:pt>
                <c:pt idx="82">
                  <c:v>2019.333333</c:v>
                </c:pt>
                <c:pt idx="83">
                  <c:v>2019.416667</c:v>
                </c:pt>
                <c:pt idx="84">
                  <c:v>2019.5</c:v>
                </c:pt>
                <c:pt idx="85">
                  <c:v>2019.583333</c:v>
                </c:pt>
                <c:pt idx="86">
                  <c:v>2019.666667</c:v>
                </c:pt>
                <c:pt idx="87">
                  <c:v>2019.75</c:v>
                </c:pt>
                <c:pt idx="88">
                  <c:v>2019.833333</c:v>
                </c:pt>
                <c:pt idx="89">
                  <c:v>2019.916667</c:v>
                </c:pt>
                <c:pt idx="90">
                  <c:v>2020</c:v>
                </c:pt>
                <c:pt idx="91">
                  <c:v>2020.083333</c:v>
                </c:pt>
                <c:pt idx="92">
                  <c:v>2020.166667</c:v>
                </c:pt>
                <c:pt idx="93">
                  <c:v>2020.25</c:v>
                </c:pt>
                <c:pt idx="94">
                  <c:v>2020.333333</c:v>
                </c:pt>
                <c:pt idx="95">
                  <c:v>2020.416667</c:v>
                </c:pt>
                <c:pt idx="96">
                  <c:v>2020.5</c:v>
                </c:pt>
                <c:pt idx="97">
                  <c:v>2020.583333</c:v>
                </c:pt>
                <c:pt idx="98">
                  <c:v>2020.666667</c:v>
                </c:pt>
                <c:pt idx="99">
                  <c:v>2020.75</c:v>
                </c:pt>
                <c:pt idx="100">
                  <c:v>2020.833333</c:v>
                </c:pt>
                <c:pt idx="101">
                  <c:v>2020.916667</c:v>
                </c:pt>
                <c:pt idx="102">
                  <c:v>2021</c:v>
                </c:pt>
                <c:pt idx="103">
                  <c:v>2021.083333</c:v>
                </c:pt>
                <c:pt idx="104">
                  <c:v>2021.166667</c:v>
                </c:pt>
                <c:pt idx="105">
                  <c:v>2021.25</c:v>
                </c:pt>
                <c:pt idx="106">
                  <c:v>2021.333333</c:v>
                </c:pt>
                <c:pt idx="107">
                  <c:v>2021.416667</c:v>
                </c:pt>
                <c:pt idx="108">
                  <c:v>2021.5</c:v>
                </c:pt>
                <c:pt idx="109">
                  <c:v>2021.583333</c:v>
                </c:pt>
                <c:pt idx="110">
                  <c:v>2021.666667</c:v>
                </c:pt>
                <c:pt idx="111">
                  <c:v>2021.75</c:v>
                </c:pt>
                <c:pt idx="112">
                  <c:v>2021.833333</c:v>
                </c:pt>
                <c:pt idx="113">
                  <c:v>2021.916667</c:v>
                </c:pt>
                <c:pt idx="114">
                  <c:v>2022</c:v>
                </c:pt>
                <c:pt idx="115">
                  <c:v>2022.083333</c:v>
                </c:pt>
                <c:pt idx="116">
                  <c:v>2022.166667</c:v>
                </c:pt>
                <c:pt idx="117">
                  <c:v>2022.25</c:v>
                </c:pt>
                <c:pt idx="118">
                  <c:v>2022.333333</c:v>
                </c:pt>
                <c:pt idx="119">
                  <c:v>2022.416667</c:v>
                </c:pt>
                <c:pt idx="120">
                  <c:v>2022.5</c:v>
                </c:pt>
                <c:pt idx="121">
                  <c:v>2022.583333</c:v>
                </c:pt>
                <c:pt idx="122">
                  <c:v>2022.666667</c:v>
                </c:pt>
                <c:pt idx="123">
                  <c:v>2022.75</c:v>
                </c:pt>
                <c:pt idx="124">
                  <c:v>2022.833333</c:v>
                </c:pt>
                <c:pt idx="125">
                  <c:v>2022.916667</c:v>
                </c:pt>
                <c:pt idx="126">
                  <c:v>2023</c:v>
                </c:pt>
                <c:pt idx="127">
                  <c:v>2023.083333</c:v>
                </c:pt>
                <c:pt idx="128">
                  <c:v>2023.166667</c:v>
                </c:pt>
                <c:pt idx="129">
                  <c:v>2023.25</c:v>
                </c:pt>
                <c:pt idx="130">
                  <c:v>2023.333333</c:v>
                </c:pt>
                <c:pt idx="131">
                  <c:v>2023.416667</c:v>
                </c:pt>
                <c:pt idx="132">
                  <c:v>2023.5</c:v>
                </c:pt>
                <c:pt idx="133">
                  <c:v>2023.583333</c:v>
                </c:pt>
                <c:pt idx="134">
                  <c:v>2023.666667</c:v>
                </c:pt>
              </c:numCache>
            </c:numRef>
          </c:xVal>
          <c:yVal>
            <c:numRef>
              <c:f>'Chart Data'!$D$2:$D$136</c:f>
              <c:numCache>
                <c:formatCode>#,##0</c:formatCode>
                <c:ptCount val="135"/>
                <c:pt idx="0">
                  <c:v>1058.3778850000001</c:v>
                </c:pt>
                <c:pt idx="1">
                  <c:v>1208.307427</c:v>
                </c:pt>
                <c:pt idx="2">
                  <c:v>1032.3612479999999</c:v>
                </c:pt>
                <c:pt idx="3">
                  <c:v>1042.1145759999999</c:v>
                </c:pt>
                <c:pt idx="4">
                  <c:v>1104.3619659999999</c:v>
                </c:pt>
                <c:pt idx="5">
                  <c:v>1071.052099</c:v>
                </c:pt>
                <c:pt idx="6">
                  <c:v>1127.907406</c:v>
                </c:pt>
                <c:pt idx="7">
                  <c:v>1027.2980680000001</c:v>
                </c:pt>
                <c:pt idx="8">
                  <c:v>1068.446412</c:v>
                </c:pt>
                <c:pt idx="9">
                  <c:v>1145.426154</c:v>
                </c:pt>
                <c:pt idx="10">
                  <c:v>1131.356503</c:v>
                </c:pt>
                <c:pt idx="11">
                  <c:v>1047.540395</c:v>
                </c:pt>
                <c:pt idx="12">
                  <c:v>1057.0978970000001</c:v>
                </c:pt>
                <c:pt idx="13">
                  <c:v>1120.5960700000001</c:v>
                </c:pt>
                <c:pt idx="14">
                  <c:v>1031.2461290000001</c:v>
                </c:pt>
                <c:pt idx="15">
                  <c:v>1169.380189</c:v>
                </c:pt>
                <c:pt idx="16">
                  <c:v>1073.2314679999999</c:v>
                </c:pt>
                <c:pt idx="17">
                  <c:v>1106.685185</c:v>
                </c:pt>
                <c:pt idx="18">
                  <c:v>1133.3359969999999</c:v>
                </c:pt>
                <c:pt idx="19">
                  <c:v>1089.4913979999999</c:v>
                </c:pt>
                <c:pt idx="20">
                  <c:v>1182.312563</c:v>
                </c:pt>
                <c:pt idx="21">
                  <c:v>1184.049023</c:v>
                </c:pt>
                <c:pt idx="22">
                  <c:v>1178.761974</c:v>
                </c:pt>
                <c:pt idx="23">
                  <c:v>1174.856035</c:v>
                </c:pt>
                <c:pt idx="24">
                  <c:v>1302.484134</c:v>
                </c:pt>
                <c:pt idx="25">
                  <c:v>1195.6485110000001</c:v>
                </c:pt>
                <c:pt idx="26">
                  <c:v>1202.2756139999999</c:v>
                </c:pt>
                <c:pt idx="27">
                  <c:v>1354.3533910000001</c:v>
                </c:pt>
                <c:pt idx="28">
                  <c:v>1217.101052</c:v>
                </c:pt>
                <c:pt idx="29">
                  <c:v>1308.56123</c:v>
                </c:pt>
                <c:pt idx="30">
                  <c:v>1282.4910640000001</c:v>
                </c:pt>
                <c:pt idx="31">
                  <c:v>1204.436475</c:v>
                </c:pt>
                <c:pt idx="32">
                  <c:v>1292.0364870000001</c:v>
                </c:pt>
                <c:pt idx="33">
                  <c:v>1403.596847</c:v>
                </c:pt>
                <c:pt idx="34">
                  <c:v>1349.7899540000001</c:v>
                </c:pt>
                <c:pt idx="35">
                  <c:v>1334.8482799999999</c:v>
                </c:pt>
                <c:pt idx="36">
                  <c:v>1378.52586</c:v>
                </c:pt>
                <c:pt idx="37">
                  <c:v>1277.907627</c:v>
                </c:pt>
                <c:pt idx="38">
                  <c:v>1338.5488829999999</c:v>
                </c:pt>
                <c:pt idx="39">
                  <c:v>1350.275541</c:v>
                </c:pt>
                <c:pt idx="40">
                  <c:v>1231.7172330000001</c:v>
                </c:pt>
                <c:pt idx="41">
                  <c:v>1352.2110479999999</c:v>
                </c:pt>
                <c:pt idx="42">
                  <c:v>1142.794402</c:v>
                </c:pt>
                <c:pt idx="43">
                  <c:v>1183.4083700000001</c:v>
                </c:pt>
                <c:pt idx="44">
                  <c:v>1350.448441</c:v>
                </c:pt>
                <c:pt idx="45">
                  <c:v>1300.9088979999999</c:v>
                </c:pt>
                <c:pt idx="46">
                  <c:v>1230.8314419999999</c:v>
                </c:pt>
                <c:pt idx="47">
                  <c:v>1309.383879</c:v>
                </c:pt>
                <c:pt idx="48">
                  <c:v>1228.3168539999999</c:v>
                </c:pt>
                <c:pt idx="49">
                  <c:v>1237.397571</c:v>
                </c:pt>
                <c:pt idx="50">
                  <c:v>1343.44685</c:v>
                </c:pt>
                <c:pt idx="51">
                  <c:v>1231.712679</c:v>
                </c:pt>
                <c:pt idx="52">
                  <c:v>1243.363057</c:v>
                </c:pt>
                <c:pt idx="53">
                  <c:v>1200.472814</c:v>
                </c:pt>
                <c:pt idx="54">
                  <c:v>1205.4791560000001</c:v>
                </c:pt>
                <c:pt idx="55">
                  <c:v>1344.374341</c:v>
                </c:pt>
                <c:pt idx="56">
                  <c:v>1310.1542830000001</c:v>
                </c:pt>
                <c:pt idx="57">
                  <c:v>1226.6852429999999</c:v>
                </c:pt>
                <c:pt idx="58">
                  <c:v>1306.371099</c:v>
                </c:pt>
                <c:pt idx="59">
                  <c:v>1337.1944699999999</c:v>
                </c:pt>
                <c:pt idx="60">
                  <c:v>1335.474631</c:v>
                </c:pt>
                <c:pt idx="61">
                  <c:v>1388.855149</c:v>
                </c:pt>
                <c:pt idx="62">
                  <c:v>1327.2278630000001</c:v>
                </c:pt>
                <c:pt idx="63">
                  <c:v>1298.9693090000001</c:v>
                </c:pt>
                <c:pt idx="64">
                  <c:v>1400.6267989999999</c:v>
                </c:pt>
                <c:pt idx="65">
                  <c:v>1446.8429000000001</c:v>
                </c:pt>
                <c:pt idx="66">
                  <c:v>1477.652597</c:v>
                </c:pt>
                <c:pt idx="67">
                  <c:v>1433.39267</c:v>
                </c:pt>
                <c:pt idx="68">
                  <c:v>1484.0225809999999</c:v>
                </c:pt>
                <c:pt idx="69">
                  <c:v>1513.6885199999999</c:v>
                </c:pt>
                <c:pt idx="70">
                  <c:v>1587.7038299999999</c:v>
                </c:pt>
                <c:pt idx="71">
                  <c:v>1542.1018449999999</c:v>
                </c:pt>
                <c:pt idx="72">
                  <c:v>1503.718445</c:v>
                </c:pt>
                <c:pt idx="73">
                  <c:v>1630.392996</c:v>
                </c:pt>
                <c:pt idx="74">
                  <c:v>1578.9825069999999</c:v>
                </c:pt>
                <c:pt idx="75">
                  <c:v>1743.9507309999999</c:v>
                </c:pt>
                <c:pt idx="76">
                  <c:v>1562.2384259999999</c:v>
                </c:pt>
                <c:pt idx="77">
                  <c:v>1633.494285</c:v>
                </c:pt>
                <c:pt idx="78">
                  <c:v>1701.564378</c:v>
                </c:pt>
                <c:pt idx="79">
                  <c:v>1617.8146569999999</c:v>
                </c:pt>
                <c:pt idx="80">
                  <c:v>1779.609886</c:v>
                </c:pt>
                <c:pt idx="81">
                  <c:v>1640.62556</c:v>
                </c:pt>
                <c:pt idx="82">
                  <c:v>1677.5935340000001</c:v>
                </c:pt>
                <c:pt idx="83">
                  <c:v>1652.2572009999999</c:v>
                </c:pt>
                <c:pt idx="84">
                  <c:v>1687.47792</c:v>
                </c:pt>
                <c:pt idx="85">
                  <c:v>1709.7878330000001</c:v>
                </c:pt>
                <c:pt idx="86">
                  <c:v>1694.523042</c:v>
                </c:pt>
                <c:pt idx="87">
                  <c:v>1651.838139</c:v>
                </c:pt>
                <c:pt idx="88">
                  <c:v>1631.1988429999999</c:v>
                </c:pt>
                <c:pt idx="89">
                  <c:v>1740.44867</c:v>
                </c:pt>
                <c:pt idx="90">
                  <c:v>1568.458153</c:v>
                </c:pt>
                <c:pt idx="91">
                  <c:v>1688.758008</c:v>
                </c:pt>
                <c:pt idx="92">
                  <c:v>1690.0665630000001</c:v>
                </c:pt>
                <c:pt idx="93">
                  <c:v>1525.623349</c:v>
                </c:pt>
                <c:pt idx="94">
                  <c:v>1526.1297790000001</c:v>
                </c:pt>
                <c:pt idx="95">
                  <c:v>1398.9892150000001</c:v>
                </c:pt>
                <c:pt idx="96">
                  <c:v>1478.6299590000001</c:v>
                </c:pt>
                <c:pt idx="97">
                  <c:v>1545.8145910000001</c:v>
                </c:pt>
                <c:pt idx="98">
                  <c:v>1439.5071519999999</c:v>
                </c:pt>
                <c:pt idx="99">
                  <c:v>1605.2017599999999</c:v>
                </c:pt>
                <c:pt idx="100">
                  <c:v>1636.0140289999999</c:v>
                </c:pt>
                <c:pt idx="101">
                  <c:v>1629.1897449999999</c:v>
                </c:pt>
                <c:pt idx="102">
                  <c:v>1673.049379</c:v>
                </c:pt>
                <c:pt idx="103">
                  <c:v>1588.8667009999999</c:v>
                </c:pt>
                <c:pt idx="104">
                  <c:v>1573.2558120000001</c:v>
                </c:pt>
                <c:pt idx="105">
                  <c:v>1545.9794360000001</c:v>
                </c:pt>
                <c:pt idx="106">
                  <c:v>1805.860103</c:v>
                </c:pt>
                <c:pt idx="107">
                  <c:v>1927.1194539999999</c:v>
                </c:pt>
                <c:pt idx="108">
                  <c:v>2007.570725</c:v>
                </c:pt>
                <c:pt idx="109">
                  <c:v>2016.2678759999999</c:v>
                </c:pt>
                <c:pt idx="110">
                  <c:v>2147.9058759999998</c:v>
                </c:pt>
                <c:pt idx="111">
                  <c:v>2068.02484</c:v>
                </c:pt>
                <c:pt idx="112">
                  <c:v>2104.5119749999999</c:v>
                </c:pt>
                <c:pt idx="113">
                  <c:v>1918.3253569999999</c:v>
                </c:pt>
                <c:pt idx="114">
                  <c:v>2219.746126</c:v>
                </c:pt>
                <c:pt idx="115">
                  <c:v>2095.4837320000001</c:v>
                </c:pt>
                <c:pt idx="116">
                  <c:v>2249.77187</c:v>
                </c:pt>
                <c:pt idx="117">
                  <c:v>2193.4530519999998</c:v>
                </c:pt>
                <c:pt idx="118">
                  <c:v>2178.3576039999998</c:v>
                </c:pt>
                <c:pt idx="119">
                  <c:v>2344.2525049999999</c:v>
                </c:pt>
                <c:pt idx="120">
                  <c:v>2242.9801539999999</c:v>
                </c:pt>
                <c:pt idx="121">
                  <c:v>2296.2550649999998</c:v>
                </c:pt>
                <c:pt idx="122">
                  <c:v>2306.8442879999998</c:v>
                </c:pt>
                <c:pt idx="123">
                  <c:v>2393.8894780000001</c:v>
                </c:pt>
                <c:pt idx="124">
                  <c:v>2421.3750110000001</c:v>
                </c:pt>
                <c:pt idx="125">
                  <c:v>2409.2354110000001</c:v>
                </c:pt>
                <c:pt idx="126">
                  <c:v>2341.9199509999999</c:v>
                </c:pt>
                <c:pt idx="127">
                  <c:v>2370.436608</c:v>
                </c:pt>
                <c:pt idx="128">
                  <c:v>2384.5669950000001</c:v>
                </c:pt>
                <c:pt idx="129">
                  <c:v>2521.672822</c:v>
                </c:pt>
                <c:pt idx="130">
                  <c:v>2520.5887659999999</c:v>
                </c:pt>
                <c:pt idx="131">
                  <c:v>2536.1544899999999</c:v>
                </c:pt>
                <c:pt idx="132">
                  <c:v>2506.4280530000001</c:v>
                </c:pt>
                <c:pt idx="133">
                  <c:v>2430.1475</c:v>
                </c:pt>
                <c:pt idx="134">
                  <c:v>2457.8392159999999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12A2-DB42-9FA0-A0164215302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in val="500"/>
        </c:scaling>
        <c:delete val="0"/>
        <c:axPos val="l"/>
        <c:majorGridlines>
          <c:spPr>
            <a:ln w="9525">
              <a:solidFill>
                <a:srgbClr val="D9E2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" sz="1350">
                    <a:solidFill>
                      <a:srgbClr val="5D6B75"/>
                    </a:solidFill>
                    <a:latin typeface="Arial"/>
                    <a:ea typeface="Arial"/>
                    <a:cs typeface="Arial"/>
                  </a:rPr>
                  <a:t>Fee revenue (source units)</a:t>
                </a:r>
              </a:p>
            </c:rich>
          </c:tx>
          <c:overlay val="0"/>
        </c:title>
        <c:numFmt formatCode="#,##0" sourceLinked="0"/>
        <c:majorTickMark val="none"/>
        <c:minorTickMark val="none"/>
        <c:tickLblPos val="nextTo"/>
        <c:spPr>
          <a:ln w="0">
            <a:noFill/>
          </a:ln>
        </c:spPr>
        <c:txPr>
          <a:bodyPr anchorCtr="1"/>
          <a:lstStyle/>
          <a:p>
            <a:pPr>
              <a:defRPr sz="13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50112"/>
        <c:crosses val="autoZero"/>
        <c:crossBetween val="midCat"/>
      </c:valAx>
      <c:valAx>
        <c:axId val="48650112"/>
        <c:scaling>
          <c:orientation val="minMax"/>
          <c:max val="2024"/>
          <c:min val="2012"/>
        </c:scaling>
        <c:delete val="0"/>
        <c:axPos val="b"/>
        <c:numFmt formatCode="0" sourceLinked="0"/>
        <c:majorTickMark val="none"/>
        <c:minorTickMark val="none"/>
        <c:tickLblPos val="nextTo"/>
        <c:spPr>
          <a:ln w="9525">
            <a:solidFill>
              <a:srgbClr val="D9E2E8"/>
            </a:solidFill>
          </a:ln>
        </c:spPr>
        <c:txPr>
          <a:bodyPr anchorCtr="1"/>
          <a:lstStyle/>
          <a:p>
            <a:pPr>
              <a:defRPr sz="13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72768"/>
        <c:crosses val="autoZero"/>
        <c:crossBetween val="midCat"/>
        <c:majorUnit val="2"/>
      </c:valAx>
      <c:spPr>
        <a:solidFill>
          <a:srgbClr val="FFFFFF"/>
        </a:solidFill>
        <a:ln w="0">
          <a:noFill/>
        </a:ln>
      </c:spPr>
    </c:plotArea>
    <c:legend>
      <c:legendPos val="b"/>
      <c:overlay val="0"/>
      <c:txPr>
        <a:bodyPr anchorCtr="1"/>
        <a:lstStyle/>
        <a:p>
          <a:pPr>
            <a:defRPr sz="1425">
              <a:solidFill>
                <a:srgbClr val="252F38"/>
              </a:solidFill>
              <a:latin typeface="Arial"/>
              <a:ea typeface="Arial"/>
              <a:cs typeface="Arial"/>
            </a:defRPr>
          </a:pPr>
          <a:endParaRPr lang="zh-CN"/>
        </a:p>
      </c:txPr>
    </c:legend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Actual fee</c:v>
          </c:tx>
          <c:spPr>
            <a:ln w="23813">
              <a:solidFill>
                <a:srgbClr val="006C98"/>
              </a:solidFill>
              <a:prstDash val="solid"/>
            </a:ln>
          </c:spPr>
          <c:marker>
            <c:symbol val="none"/>
          </c:marker>
          <c:xVal>
            <c:numRef>
              <c:f>'Chart Data'!$A$2:$A$28</c:f>
              <c:numCache>
                <c:formatCode>General</c:formatCode>
                <c:ptCount val="27"/>
                <c:pt idx="0">
                  <c:v>45200</c:v>
                </c:pt>
                <c:pt idx="1">
                  <c:v>45231</c:v>
                </c:pt>
                <c:pt idx="2">
                  <c:v>45261</c:v>
                </c:pt>
                <c:pt idx="3">
                  <c:v>45292</c:v>
                </c:pt>
                <c:pt idx="4">
                  <c:v>45323</c:v>
                </c:pt>
                <c:pt idx="5">
                  <c:v>45352</c:v>
                </c:pt>
                <c:pt idx="6">
                  <c:v>45383</c:v>
                </c:pt>
                <c:pt idx="7">
                  <c:v>45413</c:v>
                </c:pt>
                <c:pt idx="8">
                  <c:v>45444</c:v>
                </c:pt>
                <c:pt idx="9">
                  <c:v>45474</c:v>
                </c:pt>
                <c:pt idx="10">
                  <c:v>45505</c:v>
                </c:pt>
                <c:pt idx="11">
                  <c:v>45536</c:v>
                </c:pt>
                <c:pt idx="12">
                  <c:v>45566</c:v>
                </c:pt>
                <c:pt idx="13">
                  <c:v>45597</c:v>
                </c:pt>
                <c:pt idx="14">
                  <c:v>45627</c:v>
                </c:pt>
                <c:pt idx="15">
                  <c:v>45658</c:v>
                </c:pt>
                <c:pt idx="16">
                  <c:v>45689</c:v>
                </c:pt>
                <c:pt idx="17">
                  <c:v>45717</c:v>
                </c:pt>
                <c:pt idx="18">
                  <c:v>45748</c:v>
                </c:pt>
                <c:pt idx="19">
                  <c:v>45778</c:v>
                </c:pt>
                <c:pt idx="20">
                  <c:v>45809</c:v>
                </c:pt>
                <c:pt idx="21">
                  <c:v>45839</c:v>
                </c:pt>
                <c:pt idx="22">
                  <c:v>45870</c:v>
                </c:pt>
                <c:pt idx="23">
                  <c:v>45901</c:v>
                </c:pt>
                <c:pt idx="24">
                  <c:v>45931</c:v>
                </c:pt>
                <c:pt idx="25">
                  <c:v>45962</c:v>
                </c:pt>
                <c:pt idx="26">
                  <c:v>45992</c:v>
                </c:pt>
              </c:numCache>
            </c:numRef>
          </c:xVal>
          <c:yVal>
            <c:numRef>
              <c:f>'Chart Data'!$B$2:$B$28</c:f>
              <c:numCache>
                <c:formatCode>#,##0</c:formatCode>
                <c:ptCount val="27"/>
                <c:pt idx="0">
                  <c:v>2520</c:v>
                </c:pt>
                <c:pt idx="1">
                  <c:v>2328</c:v>
                </c:pt>
                <c:pt idx="2">
                  <c:v>2575</c:v>
                </c:pt>
                <c:pt idx="3">
                  <c:v>2196</c:v>
                </c:pt>
                <c:pt idx="4">
                  <c:v>2351</c:v>
                </c:pt>
                <c:pt idx="5">
                  <c:v>2556</c:v>
                </c:pt>
                <c:pt idx="6">
                  <c:v>2273</c:v>
                </c:pt>
                <c:pt idx="7">
                  <c:v>2370</c:v>
                </c:pt>
                <c:pt idx="8">
                  <c:v>2256</c:v>
                </c:pt>
                <c:pt idx="9">
                  <c:v>2333</c:v>
                </c:pt>
                <c:pt idx="10">
                  <c:v>2325</c:v>
                </c:pt>
                <c:pt idx="11">
                  <c:v>2237</c:v>
                </c:pt>
                <c:pt idx="12">
                  <c:v>2310</c:v>
                </c:pt>
                <c:pt idx="13">
                  <c:v>2326</c:v>
                </c:pt>
                <c:pt idx="14">
                  <c:v>1964</c:v>
                </c:pt>
                <c:pt idx="15">
                  <c:v>2150</c:v>
                </c:pt>
                <c:pt idx="16">
                  <c:v>2087</c:v>
                </c:pt>
                <c:pt idx="17">
                  <c:v>2316</c:v>
                </c:pt>
                <c:pt idx="18">
                  <c:v>2209</c:v>
                </c:pt>
                <c:pt idx="19">
                  <c:v>2270</c:v>
                </c:pt>
                <c:pt idx="20">
                  <c:v>2201</c:v>
                </c:pt>
                <c:pt idx="21">
                  <c:v>2086</c:v>
                </c:pt>
                <c:pt idx="22">
                  <c:v>2260</c:v>
                </c:pt>
                <c:pt idx="23">
                  <c:v>2004</c:v>
                </c:pt>
                <c:pt idx="24">
                  <c:v>2296</c:v>
                </c:pt>
                <c:pt idx="25">
                  <c:v>2116</c:v>
                </c:pt>
                <c:pt idx="26">
                  <c:v>1887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D23B-8042-AD14-39DBBBB85AEB}"/>
            </c:ext>
          </c:extLst>
        </c:ser>
        <c:ser>
          <c:idx val="1"/>
          <c:order val="1"/>
          <c:tx>
            <c:v>Static forecast</c:v>
          </c:tx>
          <c:spPr>
            <a:ln w="23813">
              <a:solidFill>
                <a:srgbClr val="C77933"/>
              </a:solidFill>
              <a:prstDash val="solid"/>
            </a:ln>
          </c:spPr>
          <c:marker>
            <c:symbol val="none"/>
          </c:marker>
          <c:xVal>
            <c:numRef>
              <c:f>'Chart Data'!$C$2:$C$28</c:f>
              <c:numCache>
                <c:formatCode>General</c:formatCode>
                <c:ptCount val="27"/>
                <c:pt idx="0">
                  <c:v>45200</c:v>
                </c:pt>
                <c:pt idx="1">
                  <c:v>45231</c:v>
                </c:pt>
                <c:pt idx="2">
                  <c:v>45261</c:v>
                </c:pt>
                <c:pt idx="3">
                  <c:v>45292</c:v>
                </c:pt>
                <c:pt idx="4">
                  <c:v>45323</c:v>
                </c:pt>
                <c:pt idx="5">
                  <c:v>45352</c:v>
                </c:pt>
                <c:pt idx="6">
                  <c:v>45383</c:v>
                </c:pt>
                <c:pt idx="7">
                  <c:v>45413</c:v>
                </c:pt>
                <c:pt idx="8">
                  <c:v>45444</c:v>
                </c:pt>
                <c:pt idx="9">
                  <c:v>45474</c:v>
                </c:pt>
                <c:pt idx="10">
                  <c:v>45505</c:v>
                </c:pt>
                <c:pt idx="11">
                  <c:v>45536</c:v>
                </c:pt>
                <c:pt idx="12">
                  <c:v>45566</c:v>
                </c:pt>
                <c:pt idx="13">
                  <c:v>45597</c:v>
                </c:pt>
                <c:pt idx="14">
                  <c:v>45627</c:v>
                </c:pt>
                <c:pt idx="15">
                  <c:v>45658</c:v>
                </c:pt>
                <c:pt idx="16">
                  <c:v>45689</c:v>
                </c:pt>
                <c:pt idx="17">
                  <c:v>45717</c:v>
                </c:pt>
                <c:pt idx="18">
                  <c:v>45748</c:v>
                </c:pt>
                <c:pt idx="19">
                  <c:v>45778</c:v>
                </c:pt>
                <c:pt idx="20">
                  <c:v>45809</c:v>
                </c:pt>
                <c:pt idx="21">
                  <c:v>45839</c:v>
                </c:pt>
                <c:pt idx="22">
                  <c:v>45870</c:v>
                </c:pt>
                <c:pt idx="23">
                  <c:v>45901</c:v>
                </c:pt>
                <c:pt idx="24">
                  <c:v>45931</c:v>
                </c:pt>
                <c:pt idx="25">
                  <c:v>45962</c:v>
                </c:pt>
                <c:pt idx="26">
                  <c:v>45992</c:v>
                </c:pt>
              </c:numCache>
            </c:numRef>
          </c:xVal>
          <c:yVal>
            <c:numRef>
              <c:f>'Chart Data'!$D$2:$D$28</c:f>
              <c:numCache>
                <c:formatCode>#,##0</c:formatCode>
                <c:ptCount val="27"/>
                <c:pt idx="0">
                  <c:v>2395.7604919999999</c:v>
                </c:pt>
                <c:pt idx="1">
                  <c:v>2491.5482470000002</c:v>
                </c:pt>
                <c:pt idx="2">
                  <c:v>2520.7033929999998</c:v>
                </c:pt>
                <c:pt idx="3">
                  <c:v>2621.262917</c:v>
                </c:pt>
                <c:pt idx="4">
                  <c:v>2557.3990680000002</c:v>
                </c:pt>
                <c:pt idx="5">
                  <c:v>2539.5354459999999</c:v>
                </c:pt>
                <c:pt idx="6">
                  <c:v>2479.5362169999999</c:v>
                </c:pt>
                <c:pt idx="7">
                  <c:v>2451.8485310000001</c:v>
                </c:pt>
                <c:pt idx="8">
                  <c:v>2564.0379710000002</c:v>
                </c:pt>
                <c:pt idx="9">
                  <c:v>2538.7201409999998</c:v>
                </c:pt>
                <c:pt idx="10">
                  <c:v>2665.291698</c:v>
                </c:pt>
                <c:pt idx="11">
                  <c:v>2645.6595769999999</c:v>
                </c:pt>
                <c:pt idx="12">
                  <c:v>2536.005341</c:v>
                </c:pt>
                <c:pt idx="13">
                  <c:v>2599.4777989999998</c:v>
                </c:pt>
                <c:pt idx="14">
                  <c:v>2625.7115869999998</c:v>
                </c:pt>
                <c:pt idx="15">
                  <c:v>2537.7517979999998</c:v>
                </c:pt>
                <c:pt idx="16">
                  <c:v>2745.4130070000001</c:v>
                </c:pt>
                <c:pt idx="17">
                  <c:v>2636.7908400000001</c:v>
                </c:pt>
                <c:pt idx="18">
                  <c:v>2735.2420240000001</c:v>
                </c:pt>
                <c:pt idx="19">
                  <c:v>2834.687488</c:v>
                </c:pt>
                <c:pt idx="20">
                  <c:v>2703.468488</c:v>
                </c:pt>
                <c:pt idx="21">
                  <c:v>2838.576184</c:v>
                </c:pt>
                <c:pt idx="22">
                  <c:v>2720.0632730000002</c:v>
                </c:pt>
                <c:pt idx="23">
                  <c:v>2823.1997390000001</c:v>
                </c:pt>
                <c:pt idx="24">
                  <c:v>2840.7944969999999</c:v>
                </c:pt>
                <c:pt idx="25">
                  <c:v>2990.3423429999998</c:v>
                </c:pt>
                <c:pt idx="26">
                  <c:v>2899.4224859999999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D23B-8042-AD14-39DBBBB85AEB}"/>
            </c:ext>
          </c:extLst>
        </c:ser>
        <c:ser>
          <c:idx val="2"/>
          <c:order val="2"/>
          <c:tx>
            <c:v>Recursive forecast</c:v>
          </c:tx>
          <c:spPr>
            <a:ln w="23813">
              <a:solidFill>
                <a:srgbClr val="A5483C"/>
              </a:solidFill>
              <a:prstDash val="solid"/>
            </a:ln>
          </c:spPr>
          <c:marker>
            <c:symbol val="none"/>
          </c:marker>
          <c:xVal>
            <c:numRef>
              <c:f>'Chart Data'!$E$2:$E$28</c:f>
              <c:numCache>
                <c:formatCode>General</c:formatCode>
                <c:ptCount val="27"/>
                <c:pt idx="0">
                  <c:v>45200</c:v>
                </c:pt>
                <c:pt idx="1">
                  <c:v>45231</c:v>
                </c:pt>
                <c:pt idx="2">
                  <c:v>45261</c:v>
                </c:pt>
                <c:pt idx="3">
                  <c:v>45292</c:v>
                </c:pt>
                <c:pt idx="4">
                  <c:v>45323</c:v>
                </c:pt>
                <c:pt idx="5">
                  <c:v>45352</c:v>
                </c:pt>
                <c:pt idx="6">
                  <c:v>45383</c:v>
                </c:pt>
                <c:pt idx="7">
                  <c:v>45413</c:v>
                </c:pt>
                <c:pt idx="8">
                  <c:v>45444</c:v>
                </c:pt>
                <c:pt idx="9">
                  <c:v>45474</c:v>
                </c:pt>
                <c:pt idx="10">
                  <c:v>45505</c:v>
                </c:pt>
                <c:pt idx="11">
                  <c:v>45536</c:v>
                </c:pt>
                <c:pt idx="12">
                  <c:v>45566</c:v>
                </c:pt>
                <c:pt idx="13">
                  <c:v>45597</c:v>
                </c:pt>
                <c:pt idx="14">
                  <c:v>45627</c:v>
                </c:pt>
                <c:pt idx="15">
                  <c:v>45658</c:v>
                </c:pt>
                <c:pt idx="16">
                  <c:v>45689</c:v>
                </c:pt>
                <c:pt idx="17">
                  <c:v>45717</c:v>
                </c:pt>
                <c:pt idx="18">
                  <c:v>45748</c:v>
                </c:pt>
                <c:pt idx="19">
                  <c:v>45778</c:v>
                </c:pt>
                <c:pt idx="20">
                  <c:v>45809</c:v>
                </c:pt>
                <c:pt idx="21">
                  <c:v>45839</c:v>
                </c:pt>
                <c:pt idx="22">
                  <c:v>45870</c:v>
                </c:pt>
                <c:pt idx="23">
                  <c:v>45901</c:v>
                </c:pt>
                <c:pt idx="24">
                  <c:v>45931</c:v>
                </c:pt>
                <c:pt idx="25">
                  <c:v>45962</c:v>
                </c:pt>
                <c:pt idx="26">
                  <c:v>45992</c:v>
                </c:pt>
              </c:numCache>
            </c:numRef>
          </c:xVal>
          <c:yVal>
            <c:numRef>
              <c:f>'Chart Data'!$F$2:$F$28</c:f>
              <c:numCache>
                <c:formatCode>#,##0</c:formatCode>
                <c:ptCount val="27"/>
                <c:pt idx="0">
                  <c:v>2395.7604919999999</c:v>
                </c:pt>
                <c:pt idx="1">
                  <c:v>2452.2834699999999</c:v>
                </c:pt>
                <c:pt idx="2">
                  <c:v>2570.2030199999999</c:v>
                </c:pt>
                <c:pt idx="3">
                  <c:v>2619.6160490000002</c:v>
                </c:pt>
                <c:pt idx="4">
                  <c:v>2706.673628</c:v>
                </c:pt>
                <c:pt idx="5">
                  <c:v>2692.6810460000002</c:v>
                </c:pt>
                <c:pt idx="6">
                  <c:v>2501.3821419999999</c:v>
                </c:pt>
                <c:pt idx="7">
                  <c:v>2565.4868999999999</c:v>
                </c:pt>
                <c:pt idx="8">
                  <c:v>2631.481929</c:v>
                </c:pt>
                <c:pt idx="9">
                  <c:v>2774.1146269999999</c:v>
                </c:pt>
                <c:pt idx="10">
                  <c:v>2910.3846920000001</c:v>
                </c:pt>
                <c:pt idx="11">
                  <c:v>2887.5822800000001</c:v>
                </c:pt>
                <c:pt idx="12">
                  <c:v>2857.3269289999998</c:v>
                </c:pt>
                <c:pt idx="13">
                  <c:v>2861.3069959999998</c:v>
                </c:pt>
                <c:pt idx="14">
                  <c:v>2873.176547</c:v>
                </c:pt>
                <c:pt idx="15">
                  <c:v>2866.6721499999999</c:v>
                </c:pt>
                <c:pt idx="16">
                  <c:v>2893.8306400000001</c:v>
                </c:pt>
                <c:pt idx="17">
                  <c:v>2915.4278079999999</c:v>
                </c:pt>
                <c:pt idx="18">
                  <c:v>3011.8300819999999</c:v>
                </c:pt>
                <c:pt idx="19">
                  <c:v>3107.3774579999999</c:v>
                </c:pt>
                <c:pt idx="20">
                  <c:v>3063.733702</c:v>
                </c:pt>
                <c:pt idx="21">
                  <c:v>2968.9644859999999</c:v>
                </c:pt>
                <c:pt idx="22">
                  <c:v>2778.42841</c:v>
                </c:pt>
                <c:pt idx="23">
                  <c:v>2712.3554810000001</c:v>
                </c:pt>
                <c:pt idx="24">
                  <c:v>2851.4785189999998</c:v>
                </c:pt>
                <c:pt idx="25">
                  <c:v>3006.0310899999999</c:v>
                </c:pt>
                <c:pt idx="26">
                  <c:v>3082.6214960000002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D23B-8042-AD14-39DBBBB85AE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in val="1200"/>
        </c:scaling>
        <c:delete val="0"/>
        <c:axPos val="l"/>
        <c:majorGridlines>
          <c:spPr>
            <a:ln w="9525">
              <a:solidFill>
                <a:srgbClr val="D9E2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" sz="1350">
                    <a:solidFill>
                      <a:srgbClr val="5D6B75"/>
                    </a:solidFill>
                    <a:latin typeface="Arial"/>
                    <a:ea typeface="Arial"/>
                    <a:cs typeface="Arial"/>
                  </a:rPr>
                  <a:t>Fee revenue (source units)</a:t>
                </a:r>
              </a:p>
            </c:rich>
          </c:tx>
          <c:overlay val="0"/>
        </c:title>
        <c:numFmt formatCode="#,##0" sourceLinked="0"/>
        <c:majorTickMark val="none"/>
        <c:minorTickMark val="none"/>
        <c:tickLblPos val="nextTo"/>
        <c:spPr>
          <a:ln w="0">
            <a:noFill/>
          </a:ln>
        </c:spPr>
        <c:txPr>
          <a:bodyPr anchorCtr="1"/>
          <a:lstStyle/>
          <a:p>
            <a:pPr>
              <a:defRPr sz="13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50112"/>
        <c:crosses val="autoZero"/>
        <c:crossBetween val="midCat"/>
      </c:valAx>
      <c:valAx>
        <c:axId val="48650112"/>
        <c:scaling>
          <c:orientation val="minMax"/>
          <c:max val="46023"/>
          <c:min val="45200"/>
        </c:scaling>
        <c:delete val="0"/>
        <c:axPos val="b"/>
        <c:numFmt formatCode="yyyy\-mm" sourceLinked="0"/>
        <c:majorTickMark val="none"/>
        <c:minorTickMark val="none"/>
        <c:tickLblPos val="nextTo"/>
        <c:spPr>
          <a:ln w="9525">
            <a:solidFill>
              <a:srgbClr val="D9E2E8"/>
            </a:solidFill>
          </a:ln>
        </c:spPr>
        <c:txPr>
          <a:bodyPr anchorCtr="1"/>
          <a:lstStyle/>
          <a:p>
            <a:pPr>
              <a:defRPr sz="13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72768"/>
        <c:crosses val="autoZero"/>
        <c:crossBetween val="midCat"/>
        <c:majorUnit val="183"/>
      </c:valAx>
      <c:spPr>
        <a:solidFill>
          <a:srgbClr val="FFFFFF"/>
        </a:solidFill>
        <a:ln w="0">
          <a:noFill/>
        </a:ln>
      </c:spPr>
    </c:plotArea>
    <c:legend>
      <c:legendPos val="b"/>
      <c:overlay val="0"/>
      <c:txPr>
        <a:bodyPr anchorCtr="1"/>
        <a:lstStyle/>
        <a:p>
          <a:pPr>
            <a:defRPr sz="1425">
              <a:solidFill>
                <a:srgbClr val="252F38"/>
              </a:solidFill>
              <a:latin typeface="Arial"/>
              <a:ea typeface="Arial"/>
              <a:cs typeface="Arial"/>
            </a:defRPr>
          </a:pPr>
          <a:endParaRPr lang="zh-CN"/>
        </a:p>
      </c:txPr>
    </c:legend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Actual fee</c:v>
          </c:tx>
          <c:spPr>
            <a:ln w="23813">
              <a:solidFill>
                <a:srgbClr val="006C98"/>
              </a:solidFill>
              <a:prstDash val="solid"/>
            </a:ln>
          </c:spPr>
          <c:marker>
            <c:symbol val="none"/>
          </c:marker>
          <c:xVal>
            <c:numRef>
              <c:f>'Chart Data'!$A$2:$A$28</c:f>
              <c:numCache>
                <c:formatCode>General</c:formatCode>
                <c:ptCount val="27"/>
                <c:pt idx="0">
                  <c:v>45200</c:v>
                </c:pt>
                <c:pt idx="1">
                  <c:v>45231</c:v>
                </c:pt>
                <c:pt idx="2">
                  <c:v>45261</c:v>
                </c:pt>
                <c:pt idx="3">
                  <c:v>45292</c:v>
                </c:pt>
                <c:pt idx="4">
                  <c:v>45323</c:v>
                </c:pt>
                <c:pt idx="5">
                  <c:v>45352</c:v>
                </c:pt>
                <c:pt idx="6">
                  <c:v>45383</c:v>
                </c:pt>
                <c:pt idx="7">
                  <c:v>45413</c:v>
                </c:pt>
                <c:pt idx="8">
                  <c:v>45444</c:v>
                </c:pt>
                <c:pt idx="9">
                  <c:v>45474</c:v>
                </c:pt>
                <c:pt idx="10">
                  <c:v>45505</c:v>
                </c:pt>
                <c:pt idx="11">
                  <c:v>45536</c:v>
                </c:pt>
                <c:pt idx="12">
                  <c:v>45566</c:v>
                </c:pt>
                <c:pt idx="13">
                  <c:v>45597</c:v>
                </c:pt>
                <c:pt idx="14">
                  <c:v>45627</c:v>
                </c:pt>
                <c:pt idx="15">
                  <c:v>45658</c:v>
                </c:pt>
                <c:pt idx="16">
                  <c:v>45689</c:v>
                </c:pt>
                <c:pt idx="17">
                  <c:v>45717</c:v>
                </c:pt>
                <c:pt idx="18">
                  <c:v>45748</c:v>
                </c:pt>
                <c:pt idx="19">
                  <c:v>45778</c:v>
                </c:pt>
                <c:pt idx="20">
                  <c:v>45809</c:v>
                </c:pt>
                <c:pt idx="21">
                  <c:v>45839</c:v>
                </c:pt>
                <c:pt idx="22">
                  <c:v>45870</c:v>
                </c:pt>
                <c:pt idx="23">
                  <c:v>45901</c:v>
                </c:pt>
                <c:pt idx="24">
                  <c:v>45931</c:v>
                </c:pt>
                <c:pt idx="25">
                  <c:v>45962</c:v>
                </c:pt>
                <c:pt idx="26">
                  <c:v>45992</c:v>
                </c:pt>
              </c:numCache>
            </c:numRef>
          </c:xVal>
          <c:yVal>
            <c:numRef>
              <c:f>'Chart Data'!$B$2:$B$28</c:f>
              <c:numCache>
                <c:formatCode>#,##0</c:formatCode>
                <c:ptCount val="27"/>
                <c:pt idx="0">
                  <c:v>2520</c:v>
                </c:pt>
                <c:pt idx="1">
                  <c:v>2328</c:v>
                </c:pt>
                <c:pt idx="2">
                  <c:v>2575</c:v>
                </c:pt>
                <c:pt idx="3">
                  <c:v>2196</c:v>
                </c:pt>
                <c:pt idx="4">
                  <c:v>2351</c:v>
                </c:pt>
                <c:pt idx="5">
                  <c:v>2556</c:v>
                </c:pt>
                <c:pt idx="6">
                  <c:v>2273</c:v>
                </c:pt>
                <c:pt idx="7">
                  <c:v>2370</c:v>
                </c:pt>
                <c:pt idx="8">
                  <c:v>2256</c:v>
                </c:pt>
                <c:pt idx="9">
                  <c:v>2333</c:v>
                </c:pt>
                <c:pt idx="10">
                  <c:v>2325</c:v>
                </c:pt>
                <c:pt idx="11">
                  <c:v>2237</c:v>
                </c:pt>
                <c:pt idx="12">
                  <c:v>2310</c:v>
                </c:pt>
                <c:pt idx="13">
                  <c:v>2326</c:v>
                </c:pt>
                <c:pt idx="14">
                  <c:v>1964</c:v>
                </c:pt>
                <c:pt idx="15">
                  <c:v>2150</c:v>
                </c:pt>
                <c:pt idx="16">
                  <c:v>2087</c:v>
                </c:pt>
                <c:pt idx="17">
                  <c:v>2316</c:v>
                </c:pt>
                <c:pt idx="18">
                  <c:v>2209</c:v>
                </c:pt>
                <c:pt idx="19">
                  <c:v>2270</c:v>
                </c:pt>
                <c:pt idx="20">
                  <c:v>2201</c:v>
                </c:pt>
                <c:pt idx="21">
                  <c:v>2086</c:v>
                </c:pt>
                <c:pt idx="22">
                  <c:v>2260</c:v>
                </c:pt>
                <c:pt idx="23">
                  <c:v>2004</c:v>
                </c:pt>
                <c:pt idx="24">
                  <c:v>2296</c:v>
                </c:pt>
                <c:pt idx="25">
                  <c:v>2116</c:v>
                </c:pt>
                <c:pt idx="26">
                  <c:v>1887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74D9-234F-BAE3-1EE27EF0C949}"/>
            </c:ext>
          </c:extLst>
        </c:ser>
        <c:ser>
          <c:idx val="1"/>
          <c:order val="1"/>
          <c:tx>
            <c:v>Long-run level</c:v>
          </c:tx>
          <c:spPr>
            <a:ln w="23813">
              <a:solidFill>
                <a:srgbClr val="C77933"/>
              </a:solidFill>
              <a:prstDash val="solid"/>
            </a:ln>
          </c:spPr>
          <c:marker>
            <c:symbol val="none"/>
          </c:marker>
          <c:xVal>
            <c:numRef>
              <c:f>'Chart Data'!$C$2:$C$28</c:f>
              <c:numCache>
                <c:formatCode>General</c:formatCode>
                <c:ptCount val="27"/>
                <c:pt idx="0">
                  <c:v>45200</c:v>
                </c:pt>
                <c:pt idx="1">
                  <c:v>45231</c:v>
                </c:pt>
                <c:pt idx="2">
                  <c:v>45261</c:v>
                </c:pt>
                <c:pt idx="3">
                  <c:v>45292</c:v>
                </c:pt>
                <c:pt idx="4">
                  <c:v>45323</c:v>
                </c:pt>
                <c:pt idx="5">
                  <c:v>45352</c:v>
                </c:pt>
                <c:pt idx="6">
                  <c:v>45383</c:v>
                </c:pt>
                <c:pt idx="7">
                  <c:v>45413</c:v>
                </c:pt>
                <c:pt idx="8">
                  <c:v>45444</c:v>
                </c:pt>
                <c:pt idx="9">
                  <c:v>45474</c:v>
                </c:pt>
                <c:pt idx="10">
                  <c:v>45505</c:v>
                </c:pt>
                <c:pt idx="11">
                  <c:v>45536</c:v>
                </c:pt>
                <c:pt idx="12">
                  <c:v>45566</c:v>
                </c:pt>
                <c:pt idx="13">
                  <c:v>45597</c:v>
                </c:pt>
                <c:pt idx="14">
                  <c:v>45627</c:v>
                </c:pt>
                <c:pt idx="15">
                  <c:v>45658</c:v>
                </c:pt>
                <c:pt idx="16">
                  <c:v>45689</c:v>
                </c:pt>
                <c:pt idx="17">
                  <c:v>45717</c:v>
                </c:pt>
                <c:pt idx="18">
                  <c:v>45748</c:v>
                </c:pt>
                <c:pt idx="19">
                  <c:v>45778</c:v>
                </c:pt>
                <c:pt idx="20">
                  <c:v>45809</c:v>
                </c:pt>
                <c:pt idx="21">
                  <c:v>45839</c:v>
                </c:pt>
                <c:pt idx="22">
                  <c:v>45870</c:v>
                </c:pt>
                <c:pt idx="23">
                  <c:v>45901</c:v>
                </c:pt>
                <c:pt idx="24">
                  <c:v>45931</c:v>
                </c:pt>
                <c:pt idx="25">
                  <c:v>45962</c:v>
                </c:pt>
                <c:pt idx="26">
                  <c:v>45992</c:v>
                </c:pt>
              </c:numCache>
            </c:numRef>
          </c:xVal>
          <c:yVal>
            <c:numRef>
              <c:f>'Chart Data'!$D$2:$D$28</c:f>
              <c:numCache>
                <c:formatCode>#,##0</c:formatCode>
                <c:ptCount val="27"/>
                <c:pt idx="0">
                  <c:v>2565.2012589999999</c:v>
                </c:pt>
                <c:pt idx="1">
                  <c:v>2573.4440380000001</c:v>
                </c:pt>
                <c:pt idx="2">
                  <c:v>2589.9837910000001</c:v>
                </c:pt>
                <c:pt idx="3">
                  <c:v>2600.7817369999998</c:v>
                </c:pt>
                <c:pt idx="4">
                  <c:v>2623.567982</c:v>
                </c:pt>
                <c:pt idx="5">
                  <c:v>2646.9820249999998</c:v>
                </c:pt>
                <c:pt idx="6">
                  <c:v>2664.6119899999999</c:v>
                </c:pt>
                <c:pt idx="7">
                  <c:v>2670.8582059999999</c:v>
                </c:pt>
                <c:pt idx="8">
                  <c:v>2672.0093619999998</c:v>
                </c:pt>
                <c:pt idx="9">
                  <c:v>2690.9066480000001</c:v>
                </c:pt>
                <c:pt idx="10">
                  <c:v>2690.6723419999998</c:v>
                </c:pt>
                <c:pt idx="11">
                  <c:v>2704.7011750000001</c:v>
                </c:pt>
                <c:pt idx="12">
                  <c:v>2731.0220810000001</c:v>
                </c:pt>
                <c:pt idx="13">
                  <c:v>2779.1433870000001</c:v>
                </c:pt>
                <c:pt idx="14">
                  <c:v>2813.4537420000001</c:v>
                </c:pt>
                <c:pt idx="15">
                  <c:v>2830.9805660000002</c:v>
                </c:pt>
                <c:pt idx="16">
                  <c:v>2836.7266730000001</c:v>
                </c:pt>
                <c:pt idx="17">
                  <c:v>2825.8540840000001</c:v>
                </c:pt>
                <c:pt idx="18">
                  <c:v>2829.8032370000001</c:v>
                </c:pt>
                <c:pt idx="19">
                  <c:v>2847.4456749999999</c:v>
                </c:pt>
                <c:pt idx="20">
                  <c:v>2862.5699690000001</c:v>
                </c:pt>
                <c:pt idx="21">
                  <c:v>2883.5345109999998</c:v>
                </c:pt>
                <c:pt idx="22">
                  <c:v>2907.2388310000001</c:v>
                </c:pt>
                <c:pt idx="23">
                  <c:v>2917.998055</c:v>
                </c:pt>
                <c:pt idx="24">
                  <c:v>2923.798358</c:v>
                </c:pt>
                <c:pt idx="25">
                  <c:v>2934.6317509999999</c:v>
                </c:pt>
                <c:pt idx="26">
                  <c:v>2955.381961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74D9-234F-BAE3-1EE27EF0C949}"/>
            </c:ext>
          </c:extLst>
        </c:ser>
        <c:ser>
          <c:idx val="2"/>
          <c:order val="2"/>
          <c:tx>
            <c:v>Trend-adjusted level</c:v>
          </c:tx>
          <c:spPr>
            <a:ln w="23813">
              <a:solidFill>
                <a:srgbClr val="237F83"/>
              </a:solidFill>
              <a:prstDash val="solid"/>
            </a:ln>
          </c:spPr>
          <c:marker>
            <c:symbol val="none"/>
          </c:marker>
          <c:xVal>
            <c:numRef>
              <c:f>'Chart Data'!$E$2:$E$28</c:f>
              <c:numCache>
                <c:formatCode>General</c:formatCode>
                <c:ptCount val="27"/>
                <c:pt idx="0">
                  <c:v>45200</c:v>
                </c:pt>
                <c:pt idx="1">
                  <c:v>45231</c:v>
                </c:pt>
                <c:pt idx="2">
                  <c:v>45261</c:v>
                </c:pt>
                <c:pt idx="3">
                  <c:v>45292</c:v>
                </c:pt>
                <c:pt idx="4">
                  <c:v>45323</c:v>
                </c:pt>
                <c:pt idx="5">
                  <c:v>45352</c:v>
                </c:pt>
                <c:pt idx="6">
                  <c:v>45383</c:v>
                </c:pt>
                <c:pt idx="7">
                  <c:v>45413</c:v>
                </c:pt>
                <c:pt idx="8">
                  <c:v>45444</c:v>
                </c:pt>
                <c:pt idx="9">
                  <c:v>45474</c:v>
                </c:pt>
                <c:pt idx="10">
                  <c:v>45505</c:v>
                </c:pt>
                <c:pt idx="11">
                  <c:v>45536</c:v>
                </c:pt>
                <c:pt idx="12">
                  <c:v>45566</c:v>
                </c:pt>
                <c:pt idx="13">
                  <c:v>45597</c:v>
                </c:pt>
                <c:pt idx="14">
                  <c:v>45627</c:v>
                </c:pt>
                <c:pt idx="15">
                  <c:v>45658</c:v>
                </c:pt>
                <c:pt idx="16">
                  <c:v>45689</c:v>
                </c:pt>
                <c:pt idx="17">
                  <c:v>45717</c:v>
                </c:pt>
                <c:pt idx="18">
                  <c:v>45748</c:v>
                </c:pt>
                <c:pt idx="19">
                  <c:v>45778</c:v>
                </c:pt>
                <c:pt idx="20">
                  <c:v>45809</c:v>
                </c:pt>
                <c:pt idx="21">
                  <c:v>45839</c:v>
                </c:pt>
                <c:pt idx="22">
                  <c:v>45870</c:v>
                </c:pt>
                <c:pt idx="23">
                  <c:v>45901</c:v>
                </c:pt>
                <c:pt idx="24">
                  <c:v>45931</c:v>
                </c:pt>
                <c:pt idx="25">
                  <c:v>45962</c:v>
                </c:pt>
                <c:pt idx="26">
                  <c:v>45992</c:v>
                </c:pt>
              </c:numCache>
            </c:numRef>
          </c:xVal>
          <c:yVal>
            <c:numRef>
              <c:f>'Chart Data'!$F$2:$F$28</c:f>
              <c:numCache>
                <c:formatCode>#,##0</c:formatCode>
                <c:ptCount val="27"/>
                <c:pt idx="0">
                  <c:v>2467.7587920000001</c:v>
                </c:pt>
                <c:pt idx="1">
                  <c:v>2441.4660370000001</c:v>
                </c:pt>
                <c:pt idx="2">
                  <c:v>2423.4702560000001</c:v>
                </c:pt>
                <c:pt idx="3">
                  <c:v>2399.732669</c:v>
                </c:pt>
                <c:pt idx="4">
                  <c:v>2387.9833789999998</c:v>
                </c:pt>
                <c:pt idx="5">
                  <c:v>2376.8618889999998</c:v>
                </c:pt>
                <c:pt idx="6">
                  <c:v>2359.9563189999999</c:v>
                </c:pt>
                <c:pt idx="7">
                  <c:v>2331.6670020000001</c:v>
                </c:pt>
                <c:pt idx="8">
                  <c:v>2298.2826239999999</c:v>
                </c:pt>
                <c:pt idx="9">
                  <c:v>2282.6443760000002</c:v>
                </c:pt>
                <c:pt idx="10">
                  <c:v>2247.8745370000001</c:v>
                </c:pt>
                <c:pt idx="11">
                  <c:v>2227.367835</c:v>
                </c:pt>
                <c:pt idx="12">
                  <c:v>2219.1532080000002</c:v>
                </c:pt>
                <c:pt idx="13">
                  <c:v>2232.7389790000002</c:v>
                </c:pt>
                <c:pt idx="14">
                  <c:v>2232.5138010000001</c:v>
                </c:pt>
                <c:pt idx="15">
                  <c:v>2215.5050900000001</c:v>
                </c:pt>
                <c:pt idx="16">
                  <c:v>2186.7156639999998</c:v>
                </c:pt>
                <c:pt idx="17">
                  <c:v>2141.3075410000001</c:v>
                </c:pt>
                <c:pt idx="18">
                  <c:v>2110.7211609999999</c:v>
                </c:pt>
                <c:pt idx="19">
                  <c:v>2093.8280650000002</c:v>
                </c:pt>
                <c:pt idx="20">
                  <c:v>2074.4168239999999</c:v>
                </c:pt>
                <c:pt idx="21">
                  <c:v>2060.8458329999999</c:v>
                </c:pt>
                <c:pt idx="22">
                  <c:v>2050.014619</c:v>
                </c:pt>
                <c:pt idx="23">
                  <c:v>2026.2383090000001</c:v>
                </c:pt>
                <c:pt idx="24">
                  <c:v>1997.503078</c:v>
                </c:pt>
                <c:pt idx="25">
                  <c:v>1973.800937</c:v>
                </c:pt>
                <c:pt idx="26">
                  <c:v>1960.0156139999999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74D9-234F-BAE3-1EE27EF0C94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in val="1200"/>
        </c:scaling>
        <c:delete val="0"/>
        <c:axPos val="l"/>
        <c:majorGridlines>
          <c:spPr>
            <a:ln w="9525">
              <a:solidFill>
                <a:srgbClr val="D9E2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" sz="1350">
                    <a:solidFill>
                      <a:srgbClr val="5D6B75"/>
                    </a:solidFill>
                    <a:latin typeface="Arial"/>
                    <a:ea typeface="Arial"/>
                    <a:cs typeface="Arial"/>
                  </a:rPr>
                  <a:t>Fee revenue (source units)</a:t>
                </a:r>
              </a:p>
            </c:rich>
          </c:tx>
          <c:overlay val="0"/>
        </c:title>
        <c:numFmt formatCode="#,##0" sourceLinked="0"/>
        <c:majorTickMark val="none"/>
        <c:minorTickMark val="none"/>
        <c:tickLblPos val="nextTo"/>
        <c:spPr>
          <a:ln w="0">
            <a:noFill/>
          </a:ln>
        </c:spPr>
        <c:txPr>
          <a:bodyPr anchorCtr="1"/>
          <a:lstStyle/>
          <a:p>
            <a:pPr>
              <a:defRPr sz="13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50112"/>
        <c:crosses val="autoZero"/>
        <c:crossBetween val="midCat"/>
      </c:valAx>
      <c:valAx>
        <c:axId val="48650112"/>
        <c:scaling>
          <c:orientation val="minMax"/>
          <c:max val="46023"/>
          <c:min val="45200"/>
        </c:scaling>
        <c:delete val="0"/>
        <c:axPos val="b"/>
        <c:numFmt formatCode="yyyy\-mm" sourceLinked="0"/>
        <c:majorTickMark val="none"/>
        <c:minorTickMark val="none"/>
        <c:tickLblPos val="nextTo"/>
        <c:spPr>
          <a:ln w="9525">
            <a:solidFill>
              <a:srgbClr val="D9E2E8"/>
            </a:solidFill>
          </a:ln>
        </c:spPr>
        <c:txPr>
          <a:bodyPr anchorCtr="1"/>
          <a:lstStyle/>
          <a:p>
            <a:pPr>
              <a:defRPr sz="13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72768"/>
        <c:crosses val="autoZero"/>
        <c:crossBetween val="midCat"/>
        <c:majorUnit val="183"/>
      </c:valAx>
      <c:spPr>
        <a:solidFill>
          <a:srgbClr val="FFFFFF"/>
        </a:solidFill>
        <a:ln w="0">
          <a:noFill/>
        </a:ln>
      </c:spPr>
    </c:plotArea>
    <c:legend>
      <c:legendPos val="b"/>
      <c:overlay val="0"/>
      <c:txPr>
        <a:bodyPr anchorCtr="1"/>
        <a:lstStyle/>
        <a:p>
          <a:pPr>
            <a:defRPr sz="1425">
              <a:solidFill>
                <a:srgbClr val="252F38"/>
              </a:solidFill>
              <a:latin typeface="Arial"/>
              <a:ea typeface="Arial"/>
              <a:cs typeface="Arial"/>
            </a:defRPr>
          </a:pPr>
          <a:endParaRPr lang="zh-CN"/>
        </a:p>
      </c:txPr>
    </c:legend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n-Interest Income">
            <a:extLst>
              <a:ext uri="{FF2B5EF4-FFF2-40B4-BE49-F238E27FC236}">
                <a16:creationId xmlns:a16="http://schemas.microsoft.com/office/drawing/2014/main" id="{EB96CD7F-DDE9-4EE8-AB10-F92DC897A09E}"/>
              </a:ext>
            </a:extLst>
          </p:cNvPr>
          <p:cNvSpPr>
            <a:spLocks noGrp="1"/>
          </p:cNvSpPr>
          <p:nvPr/>
        </p:nvSpPr>
        <p:spPr>
          <a:xfrm>
            <a:off x="742950" y="2143125"/>
            <a:ext cx="10477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550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Non-Interest Income</a:t>
            </a:r>
          </a:p>
        </p:txBody>
      </p:sp>
      <p:sp>
        <p:nvSpPr>
          <p:cNvPr id="4" name="Commercial Card&#10;Fee Revenue Modeling">
            <a:extLst>
              <a:ext uri="{FF2B5EF4-FFF2-40B4-BE49-F238E27FC236}">
                <a16:creationId xmlns:a16="http://schemas.microsoft.com/office/drawing/2014/main" id="{2B2941FA-FEA4-4756-8BE5-AEB8DE759756}"/>
              </a:ext>
            </a:extLst>
          </p:cNvPr>
          <p:cNvSpPr>
            <a:spLocks noGrp="1"/>
          </p:cNvSpPr>
          <p:nvPr/>
        </p:nvSpPr>
        <p:spPr>
          <a:xfrm>
            <a:off x="742950" y="2914650"/>
            <a:ext cx="10668000" cy="1409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975" b="1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252F38"/>
                </a:solidFill>
                <a:latin typeface="Arial"/>
                <a:ea typeface="Arial"/>
                <a:cs typeface="Arial"/>
              </a:rPr>
              <a:t>Commercial Card</a:t>
            </a:r>
          </a:p>
          <a:p>
            <a:pPr algn="l">
              <a:buNone/>
              <a:defRPr sz="3975" b="1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252F38"/>
                </a:solidFill>
                <a:latin typeface="Arial"/>
                <a:ea typeface="Arial"/>
                <a:cs typeface="Arial"/>
              </a:rPr>
              <a:t>Fee Revenue Modeling</a:t>
            </a:r>
          </a:p>
        </p:txBody>
      </p:sp>
      <p:sp>
        <p:nvSpPr>
          <p:cNvPr id="5" name="Small Business + Commercial Card">
            <a:extLst>
              <a:ext uri="{FF2B5EF4-FFF2-40B4-BE49-F238E27FC236}">
                <a16:creationId xmlns:a16="http://schemas.microsoft.com/office/drawing/2014/main" id="{D07C77B4-83A1-471B-B1E5-C9B0BCD47105}"/>
              </a:ext>
            </a:extLst>
          </p:cNvPr>
          <p:cNvSpPr>
            <a:spLocks noGrp="1"/>
          </p:cNvSpPr>
          <p:nvPr/>
        </p:nvSpPr>
        <p:spPr>
          <a:xfrm>
            <a:off x="762000" y="4638675"/>
            <a:ext cx="101917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175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Small Business + Commercial Card</a:t>
            </a:r>
          </a:p>
        </p:txBody>
      </p:sp>
      <p:sp>
        <p:nvSpPr>
          <p:cNvPr id="6" name="PPNR / CCAR Model Development Review&#10;September 24, 2026">
            <a:extLst>
              <a:ext uri="{FF2B5EF4-FFF2-40B4-BE49-F238E27FC236}">
                <a16:creationId xmlns:a16="http://schemas.microsoft.com/office/drawing/2014/main" id="{015241B9-DB50-4CF5-9750-4C00960542B9}"/>
              </a:ext>
            </a:extLst>
          </p:cNvPr>
          <p:cNvSpPr>
            <a:spLocks noGrp="1"/>
          </p:cNvSpPr>
          <p:nvPr/>
        </p:nvSpPr>
        <p:spPr>
          <a:xfrm>
            <a:off x="762000" y="5562600"/>
            <a:ext cx="1019175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00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PPNR / CCAR Model Development Review</a:t>
            </a:r>
          </a:p>
          <a:p>
            <a:pPr algn="l">
              <a:buNone/>
              <a:defRPr sz="1800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September 24, 2026</a:t>
            </a:r>
          </a:p>
        </p:txBody>
      </p:sp>
    </p:spTree>
    <p:extLst>
      <p:ext uri="{BB962C8B-B14F-4D97-AF65-F5344CB8AC3E}">
        <p14:creationId xmlns:p14="http://schemas.microsoft.com/office/powerpoint/2010/main" val="16093949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title">
            <a:extLst>
              <a:ext uri="{FF2B5EF4-FFF2-40B4-BE49-F238E27FC236}">
                <a16:creationId xmlns:a16="http://schemas.microsoft.com/office/drawing/2014/main" id="{9EFA5779-F429-4C88-BB4B-2324EC1F5201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92011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Executive Summary</a:t>
            </a:r>
          </a:p>
        </p:txBody>
      </p:sp>
      <p:sp>
        <p:nvSpPr>
          <p:cNvPr id="5" name="2">
            <a:extLst>
              <a:ext uri="{FF2B5EF4-FFF2-40B4-BE49-F238E27FC236}">
                <a16:creationId xmlns:a16="http://schemas.microsoft.com/office/drawing/2014/main" id="{F0D91A24-D116-4E88-BC93-50C0AF618F29}"/>
              </a:ext>
            </a:extLst>
          </p:cNvPr>
          <p:cNvSpPr>
            <a:spLocks noGrp="1"/>
          </p:cNvSpPr>
          <p:nvPr/>
        </p:nvSpPr>
        <p:spPr>
          <a:xfrm>
            <a:off x="11382375" y="65913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Objective">
            <a:extLst>
              <a:ext uri="{FF2B5EF4-FFF2-40B4-BE49-F238E27FC236}">
                <a16:creationId xmlns:a16="http://schemas.microsoft.com/office/drawing/2014/main" id="{48594869-DE9E-4578-8B61-8497E28377EF}"/>
              </a:ext>
            </a:extLst>
          </p:cNvPr>
          <p:cNvSpPr>
            <a:spLocks noGrp="1"/>
          </p:cNvSpPr>
          <p:nvPr/>
        </p:nvSpPr>
        <p:spPr>
          <a:xfrm>
            <a:off x="647700" y="1400175"/>
            <a:ext cx="105251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950" b="1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52F38"/>
                </a:solidFill>
                <a:latin typeface="Arial"/>
                <a:ea typeface="Arial"/>
                <a:cs typeface="Arial"/>
              </a:rPr>
              <a:t>Objective</a:t>
            </a:r>
          </a:p>
        </p:txBody>
      </p:sp>
      <p:sp>
        <p:nvSpPr>
          <p:cNvPr id="8" name="Explain and forecast the combined monthly fee revenue u">
            <a:extLst>
              <a:ext uri="{FF2B5EF4-FFF2-40B4-BE49-F238E27FC236}">
                <a16:creationId xmlns:a16="http://schemas.microsoft.com/office/drawing/2014/main" id="{D3F85233-266E-4A10-9A71-BE9AAC2DFF3F}"/>
              </a:ext>
            </a:extLst>
          </p:cNvPr>
          <p:cNvSpPr>
            <a:spLocks noGrp="1"/>
          </p:cNvSpPr>
          <p:nvPr/>
        </p:nvSpPr>
        <p:spPr>
          <a:xfrm>
            <a:off x="647700" y="1800225"/>
            <a:ext cx="10525125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75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Explain and forecast the combined monthly fee revenue using a long-run level relationship and a short-run year-over-year growth equation.</a:t>
            </a:r>
          </a:p>
        </p:txBody>
      </p:sp>
      <p:sp>
        <p:nvSpPr>
          <p:cNvPr id="9" name="Selected specification">
            <a:extLst>
              <a:ext uri="{FF2B5EF4-FFF2-40B4-BE49-F238E27FC236}">
                <a16:creationId xmlns:a16="http://schemas.microsoft.com/office/drawing/2014/main" id="{EC1F38BA-6D5B-40B9-89A6-37C71651139E}"/>
              </a:ext>
            </a:extLst>
          </p:cNvPr>
          <p:cNvSpPr>
            <a:spLocks noGrp="1"/>
          </p:cNvSpPr>
          <p:nvPr/>
        </p:nvSpPr>
        <p:spPr>
          <a:xfrm>
            <a:off x="647700" y="2762250"/>
            <a:ext cx="105251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950" b="1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52F38"/>
                </a:solidFill>
                <a:latin typeface="Arial"/>
                <a:ea typeface="Arial"/>
                <a:cs typeface="Arial"/>
              </a:rPr>
              <a:t>Selected specification</a:t>
            </a:r>
          </a:p>
        </p:txBody>
      </p:sp>
      <p:sp>
        <p:nvSpPr>
          <p:cNvPr id="10" name="Long run: CPI + Small Business Optimism&#10;Short run: lagg">
            <a:extLst>
              <a:ext uri="{FF2B5EF4-FFF2-40B4-BE49-F238E27FC236}">
                <a16:creationId xmlns:a16="http://schemas.microsoft.com/office/drawing/2014/main" id="{CAB2012E-B94E-4DEB-A4BE-EAD53BA5F872}"/>
              </a:ext>
            </a:extLst>
          </p:cNvPr>
          <p:cNvSpPr>
            <a:spLocks noGrp="1"/>
          </p:cNvSpPr>
          <p:nvPr/>
        </p:nvSpPr>
        <p:spPr>
          <a:xfrm>
            <a:off x="647700" y="3162300"/>
            <a:ext cx="10525125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75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Long run: CPI + Small Business Optimism</a:t>
            </a:r>
          </a:p>
          <a:p>
            <a:pPr algn="l">
              <a:buNone/>
              <a:defRPr sz="1875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Short run: lagged EC + growth lags 1 and 6 + Corporate Profits growth lag 3</a:t>
            </a:r>
          </a:p>
        </p:txBody>
      </p:sp>
      <p:graphicFrame>
        <p:nvGraphicFramePr>
          <p:cNvPr id="23" name="表格 26"/>
          <p:cNvGraphicFramePr/>
          <p:nvPr/>
        </p:nvGraphicFramePr>
        <p:xfrm>
          <a:off x="609600" y="4295775"/>
          <a:ext cx="10972800" cy="93345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67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IS adjusted R²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Static OOT MAPE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Recursive OOT MAPE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71.3%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19.1%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25.6%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A strong historical fit coexists with a material post-2">
            <a:extLst>
              <a:ext uri="{FF2B5EF4-FFF2-40B4-BE49-F238E27FC236}">
                <a16:creationId xmlns:a16="http://schemas.microsoft.com/office/drawing/2014/main" id="{B4637912-76E0-482B-BBEC-8F7E5C310467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A strong historical fit coexists with a material post-2023 level shift. Further redevelopment is needed.</a:t>
            </a:r>
          </a:p>
        </p:txBody>
      </p:sp>
    </p:spTree>
    <p:extLst>
      <p:ext uri="{BB962C8B-B14F-4D97-AF65-F5344CB8AC3E}">
        <p14:creationId xmlns:p14="http://schemas.microsoft.com/office/powerpoint/2010/main" val="737880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title">
            <a:extLst>
              <a:ext uri="{FF2B5EF4-FFF2-40B4-BE49-F238E27FC236}">
                <a16:creationId xmlns:a16="http://schemas.microsoft.com/office/drawing/2014/main" id="{836B9294-8BBE-4B0D-B520-648277F9B2E8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92011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Business Problem</a:t>
            </a:r>
          </a:p>
        </p:txBody>
      </p:sp>
      <p:sp>
        <p:nvSpPr>
          <p:cNvPr id="5" name="3">
            <a:extLst>
              <a:ext uri="{FF2B5EF4-FFF2-40B4-BE49-F238E27FC236}">
                <a16:creationId xmlns:a16="http://schemas.microsoft.com/office/drawing/2014/main" id="{B72CF65C-219A-492B-884C-18DFC28245C4}"/>
              </a:ext>
            </a:extLst>
          </p:cNvPr>
          <p:cNvSpPr>
            <a:spLocks noGrp="1"/>
          </p:cNvSpPr>
          <p:nvPr/>
        </p:nvSpPr>
        <p:spPr>
          <a:xfrm>
            <a:off x="11382375" y="65913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7" name="Potential economic drivers">
            <a:extLst>
              <a:ext uri="{FF2B5EF4-FFF2-40B4-BE49-F238E27FC236}">
                <a16:creationId xmlns:a16="http://schemas.microsoft.com/office/drawing/2014/main" id="{6D31CBB6-AD4F-4674-A0BF-3B0F65149021}"/>
              </a:ext>
            </a:extLst>
          </p:cNvPr>
          <p:cNvSpPr>
            <a:spLocks noGrp="1"/>
          </p:cNvSpPr>
          <p:nvPr/>
        </p:nvSpPr>
        <p:spPr>
          <a:xfrm>
            <a:off x="619125" y="1476375"/>
            <a:ext cx="39433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025" b="1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52F38"/>
                </a:solidFill>
                <a:latin typeface="Arial"/>
                <a:ea typeface="Arial"/>
                <a:cs typeface="Arial"/>
              </a:rPr>
              <a:t>Potential economic drivers</a:t>
            </a:r>
          </a:p>
        </p:txBody>
      </p:sp>
      <p:sp>
        <p:nvSpPr>
          <p:cNvPr id="8" name="Business spending and activity&#10;Price levels and nominal">
            <a:extLst>
              <a:ext uri="{FF2B5EF4-FFF2-40B4-BE49-F238E27FC236}">
                <a16:creationId xmlns:a16="http://schemas.microsoft.com/office/drawing/2014/main" id="{02B5F5C2-4162-47B8-8AA5-641988997A2A}"/>
              </a:ext>
            </a:extLst>
          </p:cNvPr>
          <p:cNvSpPr>
            <a:spLocks noGrp="1"/>
          </p:cNvSpPr>
          <p:nvPr/>
        </p:nvSpPr>
        <p:spPr>
          <a:xfrm>
            <a:off x="619125" y="1933575"/>
            <a:ext cx="3952875" cy="1266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75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Business spending and activity</a:t>
            </a:r>
          </a:p>
          <a:p>
            <a:pPr algn="l">
              <a:buNone/>
              <a:defRPr sz="1875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Price levels and nominal revenue</a:t>
            </a:r>
          </a:p>
          <a:p>
            <a:pPr algn="l">
              <a:buNone/>
              <a:defRPr sz="1875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Small-business conditions</a:t>
            </a:r>
          </a:p>
        </p:txBody>
      </p:sp>
      <p:sp>
        <p:nvSpPr>
          <p:cNvPr id="9" name="Observed modeling challenge">
            <a:extLst>
              <a:ext uri="{FF2B5EF4-FFF2-40B4-BE49-F238E27FC236}">
                <a16:creationId xmlns:a16="http://schemas.microsoft.com/office/drawing/2014/main" id="{FB3BB7CA-7D66-4021-80EC-8C4372DBDF33}"/>
              </a:ext>
            </a:extLst>
          </p:cNvPr>
          <p:cNvSpPr>
            <a:spLocks noGrp="1"/>
          </p:cNvSpPr>
          <p:nvPr/>
        </p:nvSpPr>
        <p:spPr>
          <a:xfrm>
            <a:off x="619125" y="3438525"/>
            <a:ext cx="39433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025" b="1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52F38"/>
                </a:solidFill>
                <a:latin typeface="Arial"/>
                <a:ea typeface="Arial"/>
                <a:cs typeface="Arial"/>
              </a:rPr>
              <a:t>Observed modeling challenge</a:t>
            </a:r>
          </a:p>
        </p:txBody>
      </p:sp>
      <p:sp>
        <p:nvSpPr>
          <p:cNvPr id="10" name="The historical upward trend weakens after 2023. A model">
            <a:extLst>
              <a:ext uri="{FF2B5EF4-FFF2-40B4-BE49-F238E27FC236}">
                <a16:creationId xmlns:a16="http://schemas.microsoft.com/office/drawing/2014/main" id="{991B9C45-746A-4A02-9007-7EE16849542F}"/>
              </a:ext>
            </a:extLst>
          </p:cNvPr>
          <p:cNvSpPr>
            <a:spLocks noGrp="1"/>
          </p:cNvSpPr>
          <p:nvPr/>
        </p:nvSpPr>
        <p:spPr>
          <a:xfrm>
            <a:off x="619125" y="3905250"/>
            <a:ext cx="3952875" cy="152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75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The historical upward trend weakens after 2023. A model trained on the earlier relationship overpredicts later revenue.</a:t>
            </a:r>
          </a:p>
        </p:txBody>
      </p:sp>
      <p:graphicFrame>
        <p:nvGraphicFramePr>
          <p:cNvPr id="23" name="Chart"/>
          <p:cNvGraphicFramePr/>
          <p:nvPr/>
        </p:nvGraphicFramePr>
        <p:xfrm>
          <a:off x="4762500" y="1571625"/>
          <a:ext cx="6743700" cy="3905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The main business question is whether historical macro ">
            <a:extLst>
              <a:ext uri="{FF2B5EF4-FFF2-40B4-BE49-F238E27FC236}">
                <a16:creationId xmlns:a16="http://schemas.microsoft.com/office/drawing/2014/main" id="{5B5CF34F-59B2-4A12-98CA-40F3C4BD87C4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endParaRPr sz="1650" b="1">
              <a:solidFill>
                <a:srgbClr val="00476B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220542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title">
            <a:extLst>
              <a:ext uri="{FF2B5EF4-FFF2-40B4-BE49-F238E27FC236}">
                <a16:creationId xmlns:a16="http://schemas.microsoft.com/office/drawing/2014/main" id="{0BDF0BA8-81E5-414F-963F-5D4A5004DD93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92011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Target Definition and Study Windows</a:t>
            </a:r>
          </a:p>
        </p:txBody>
      </p:sp>
      <p:sp>
        <p:nvSpPr>
          <p:cNvPr id="5" name="4">
            <a:extLst>
              <a:ext uri="{FF2B5EF4-FFF2-40B4-BE49-F238E27FC236}">
                <a16:creationId xmlns:a16="http://schemas.microsoft.com/office/drawing/2014/main" id="{2CE2D929-FC26-4CFA-A6BB-A17F71A91A59}"/>
              </a:ext>
            </a:extLst>
          </p:cNvPr>
          <p:cNvSpPr>
            <a:spLocks noGrp="1"/>
          </p:cNvSpPr>
          <p:nvPr/>
        </p:nvSpPr>
        <p:spPr>
          <a:xfrm>
            <a:off x="11382375" y="65913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7" name="Fₜ = Commercial Cardₜ + Small Businessₜ">
            <a:extLst>
              <a:ext uri="{FF2B5EF4-FFF2-40B4-BE49-F238E27FC236}">
                <a16:creationId xmlns:a16="http://schemas.microsoft.com/office/drawing/2014/main" id="{87367FE4-A57F-48DC-B70F-F516375260C9}"/>
              </a:ext>
            </a:extLst>
          </p:cNvPr>
          <p:cNvSpPr>
            <a:spLocks noGrp="1"/>
          </p:cNvSpPr>
          <p:nvPr/>
        </p:nvSpPr>
        <p:spPr>
          <a:xfrm>
            <a:off x="619125" y="1438275"/>
            <a:ext cx="10668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475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Fₜ = Commercial Cardₜ + Small Businessₜ</a:t>
            </a:r>
          </a:p>
        </p:txBody>
      </p:sp>
      <p:sp>
        <p:nvSpPr>
          <p:cNvPr id="8" name="gₜ = 100 × (Fₜ / Fₜ₋₁₂ − 1)">
            <a:extLst>
              <a:ext uri="{FF2B5EF4-FFF2-40B4-BE49-F238E27FC236}">
                <a16:creationId xmlns:a16="http://schemas.microsoft.com/office/drawing/2014/main" id="{23477880-8249-4223-BF90-66F05C3D27A9}"/>
              </a:ext>
            </a:extLst>
          </p:cNvPr>
          <p:cNvSpPr>
            <a:spLocks noGrp="1"/>
          </p:cNvSpPr>
          <p:nvPr/>
        </p:nvSpPr>
        <p:spPr>
          <a:xfrm>
            <a:off x="619125" y="2057400"/>
            <a:ext cx="106680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400" b="0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00476B"/>
                </a:solidFill>
                <a:latin typeface="Arial"/>
                <a:ea typeface="Arial"/>
                <a:cs typeface="Arial"/>
              </a:rPr>
              <a:t>gₜ = 100 × (Fₜ / Fₜ₋₁₂ − 1)</a:t>
            </a:r>
          </a:p>
        </p:txBody>
      </p:sp>
      <p:graphicFrame>
        <p:nvGraphicFramePr>
          <p:cNvPr id="20" name="表格 23"/>
          <p:cNvGraphicFramePr/>
          <p:nvPr/>
        </p:nvGraphicFramePr>
        <p:xfrm>
          <a:off x="609600" y="2876550"/>
          <a:ext cx="10972800" cy="2324100"/>
        </p:xfrm>
        <a:graphic>
          <a:graphicData uri="http://schemas.openxmlformats.org/drawingml/2006/table">
            <a:tbl>
              <a:tblPr/>
              <a:tblGrid>
                <a:gridCol w="419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482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Purpose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Period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Observations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482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Long-run estimation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Jan 2011 – Sep 2023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153 months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482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Short-run final estimation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Jul 2012 – Sep 2023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135 months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482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Historical OOT evaluation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Oct 2023 – Dec 2025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27 months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482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Complete fee history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Jan 2011 – Dec 2025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180 months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Annual transformations use data from Jan 2011 onward. F">
            <a:extLst>
              <a:ext uri="{FF2B5EF4-FFF2-40B4-BE49-F238E27FC236}">
                <a16:creationId xmlns:a16="http://schemas.microsoft.com/office/drawing/2014/main" id="{FD9BE0A3-3005-46D1-ADE8-2A41FF18322B}"/>
              </a:ext>
            </a:extLst>
          </p:cNvPr>
          <p:cNvSpPr>
            <a:spLocks noGrp="1"/>
          </p:cNvSpPr>
          <p:nvPr/>
        </p:nvSpPr>
        <p:spPr>
          <a:xfrm>
            <a:off x="619125" y="5419725"/>
            <a:ext cx="10763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Annual transformations use data from Jan 2011 onward. Fee amounts retain the source units.</a:t>
            </a:r>
          </a:p>
        </p:txBody>
      </p:sp>
      <p:sp>
        <p:nvSpPr>
          <p:cNvPr id="12" name="The modeled target is year-over-year percentage growth,">
            <a:extLst>
              <a:ext uri="{FF2B5EF4-FFF2-40B4-BE49-F238E27FC236}">
                <a16:creationId xmlns:a16="http://schemas.microsoft.com/office/drawing/2014/main" id="{5CF6321C-0FD7-4E6B-B623-B5A4E120C7D8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The modeled target is year-over-year percentage growth, while forecast errors use restored fee levels.</a:t>
            </a:r>
          </a:p>
        </p:txBody>
      </p:sp>
    </p:spTree>
    <p:extLst>
      <p:ext uri="{BB962C8B-B14F-4D97-AF65-F5344CB8AC3E}">
        <p14:creationId xmlns:p14="http://schemas.microsoft.com/office/powerpoint/2010/main" val="12397505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title">
            <a:extLst>
              <a:ext uri="{FF2B5EF4-FFF2-40B4-BE49-F238E27FC236}">
                <a16:creationId xmlns:a16="http://schemas.microsoft.com/office/drawing/2014/main" id="{6D996EEB-E170-415E-B005-9742539AAD6F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92011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Data Universe</a:t>
            </a:r>
          </a:p>
        </p:txBody>
      </p:sp>
      <p:sp>
        <p:nvSpPr>
          <p:cNvPr id="5" name="5">
            <a:extLst>
              <a:ext uri="{FF2B5EF4-FFF2-40B4-BE49-F238E27FC236}">
                <a16:creationId xmlns:a16="http://schemas.microsoft.com/office/drawing/2014/main" id="{3E3D7F31-3CF7-41A2-BE6F-A01EAB7D4592}"/>
              </a:ext>
            </a:extLst>
          </p:cNvPr>
          <p:cNvSpPr>
            <a:spLocks noGrp="1"/>
          </p:cNvSpPr>
          <p:nvPr/>
        </p:nvSpPr>
        <p:spPr>
          <a:xfrm>
            <a:off x="11382375" y="65913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graphicFrame>
        <p:nvGraphicFramePr>
          <p:cNvPr id="15" name="表格 18"/>
          <p:cNvGraphicFramePr/>
          <p:nvPr/>
        </p:nvGraphicFramePr>
        <p:xfrm>
          <a:off x="609600" y="1438275"/>
          <a:ext cx="10972800" cy="4048128"/>
        </p:xfrm>
        <a:graphic>
          <a:graphicData uri="http://schemas.openxmlformats.org/drawingml/2006/table">
            <a:tbl>
              <a:tblPr/>
              <a:tblGrid>
                <a:gridCol w="2152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24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9792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Group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Variable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Economic measure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792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Core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Unrate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Unemployment rate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792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Core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CPI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Consumer price index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9792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Core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DPI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Disposable personal income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9792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Small Business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SBOpt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Small-business optimism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9792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Small Business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GDP_Wholesale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Wholesale trade output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9792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Commercial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IP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Industrial production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9792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Commercial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CorpProfits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Corporate profits after tax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9792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Commercial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DJ_TotalMkt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Dow Jones U.S. total market index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Eight macro families cover core conditions, small-busin">
            <a:extLst>
              <a:ext uri="{FF2B5EF4-FFF2-40B4-BE49-F238E27FC236}">
                <a16:creationId xmlns:a16="http://schemas.microsoft.com/office/drawing/2014/main" id="{7BA35B63-CF8D-40F9-B172-27F129443E2A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Eight macro families cover core conditions, small-business activity and commercial spending proxies.</a:t>
            </a:r>
          </a:p>
        </p:txBody>
      </p:sp>
    </p:spTree>
    <p:extLst>
      <p:ext uri="{BB962C8B-B14F-4D97-AF65-F5344CB8AC3E}">
        <p14:creationId xmlns:p14="http://schemas.microsoft.com/office/powerpoint/2010/main" val="14439061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title">
            <a:extLst>
              <a:ext uri="{FF2B5EF4-FFF2-40B4-BE49-F238E27FC236}">
                <a16:creationId xmlns:a16="http://schemas.microsoft.com/office/drawing/2014/main" id="{0004EBA2-3C31-4628-94F8-87AF53726848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92011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Engle–Granger Two-Step Framework</a:t>
            </a:r>
          </a:p>
        </p:txBody>
      </p:sp>
      <p:sp>
        <p:nvSpPr>
          <p:cNvPr id="5" name="6">
            <a:extLst>
              <a:ext uri="{FF2B5EF4-FFF2-40B4-BE49-F238E27FC236}">
                <a16:creationId xmlns:a16="http://schemas.microsoft.com/office/drawing/2014/main" id="{F8A26AF4-9209-48C1-A217-C41406238275}"/>
              </a:ext>
            </a:extLst>
          </p:cNvPr>
          <p:cNvSpPr>
            <a:spLocks noGrp="1"/>
          </p:cNvSpPr>
          <p:nvPr/>
        </p:nvSpPr>
        <p:spPr>
          <a:xfrm>
            <a:off x="11382375" y="65913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7" name="1   Long-run level relationship">
            <a:extLst>
              <a:ext uri="{FF2B5EF4-FFF2-40B4-BE49-F238E27FC236}">
                <a16:creationId xmlns:a16="http://schemas.microsoft.com/office/drawing/2014/main" id="{A3DD59D4-62B0-4540-8551-A5FB5FDC639D}"/>
              </a:ext>
            </a:extLst>
          </p:cNvPr>
          <p:cNvSpPr>
            <a:spLocks noGrp="1"/>
          </p:cNvSpPr>
          <p:nvPr/>
        </p:nvSpPr>
        <p:spPr>
          <a:xfrm>
            <a:off x="647700" y="1419225"/>
            <a:ext cx="10477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950" b="1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52F38"/>
                </a:solidFill>
                <a:latin typeface="Arial"/>
                <a:ea typeface="Arial"/>
                <a:cs typeface="Arial"/>
              </a:rPr>
              <a:t>Step 1   Long-run level relationship and residual test</a:t>
            </a:r>
          </a:p>
        </p:txBody>
      </p:sp>
      <p:sp>
        <p:nvSpPr>
          <p:cNvPr id="8" name="Estimate Fₜ from macro levels. Define the equilibrium g">
            <a:extLst>
              <a:ext uri="{FF2B5EF4-FFF2-40B4-BE49-F238E27FC236}">
                <a16:creationId xmlns:a16="http://schemas.microsoft.com/office/drawing/2014/main" id="{6C429247-0757-4C24-81AA-728CFB0BCB88}"/>
              </a:ext>
            </a:extLst>
          </p:cNvPr>
          <p:cNvSpPr>
            <a:spLocks noGrp="1"/>
          </p:cNvSpPr>
          <p:nvPr/>
        </p:nvSpPr>
        <p:spPr>
          <a:xfrm>
            <a:off x="647700" y="1819275"/>
            <a:ext cx="104775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75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Estimate Fₜ from macro levels. Test the fitted residual for cointegration and define ECₜ = actual Fₜ − fitted long-run Fₜ.</a:t>
            </a:r>
          </a:p>
        </p:txBody>
      </p:sp>
      <p:sp>
        <p:nvSpPr>
          <p:cNvPr id="9" name="2   Short-run annual growth">
            <a:extLst>
              <a:ext uri="{FF2B5EF4-FFF2-40B4-BE49-F238E27FC236}">
                <a16:creationId xmlns:a16="http://schemas.microsoft.com/office/drawing/2014/main" id="{7BF4DCAA-7A60-44A0-8D43-A157E650A08B}"/>
              </a:ext>
            </a:extLst>
          </p:cNvPr>
          <p:cNvSpPr>
            <a:spLocks noGrp="1"/>
          </p:cNvSpPr>
          <p:nvPr/>
        </p:nvSpPr>
        <p:spPr>
          <a:xfrm>
            <a:off x="647700" y="2943225"/>
            <a:ext cx="10477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950" b="1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52F38"/>
                </a:solidFill>
                <a:latin typeface="Arial"/>
                <a:ea typeface="Arial"/>
                <a:cs typeface="Arial"/>
              </a:rPr>
              <a:t>Step 2   Short-run annual growth</a:t>
            </a:r>
          </a:p>
        </p:txBody>
      </p:sp>
      <p:sp>
        <p:nvSpPr>
          <p:cNvPr id="10" name="Explain gₜ using ECₜ₋₁₂, lagged g, and annual macro cha">
            <a:extLst>
              <a:ext uri="{FF2B5EF4-FFF2-40B4-BE49-F238E27FC236}">
                <a16:creationId xmlns:a16="http://schemas.microsoft.com/office/drawing/2014/main" id="{9777B6D2-8D6B-4B65-BB94-E5D71155D00D}"/>
              </a:ext>
            </a:extLst>
          </p:cNvPr>
          <p:cNvSpPr>
            <a:spLocks noGrp="1"/>
          </p:cNvSpPr>
          <p:nvPr/>
        </p:nvSpPr>
        <p:spPr>
          <a:xfrm>
            <a:off x="647700" y="3343275"/>
            <a:ext cx="104775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75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Explain gₜ using ECₜ₋₁₂, lagged g, and annual macro changes. The EC term remains in original fee units.</a:t>
            </a:r>
          </a:p>
        </p:txBody>
      </p:sp>
      <p:sp>
        <p:nvSpPr>
          <p:cNvPr id="11" name="Forecast restoration">
            <a:extLst>
              <a:ext uri="{FF2B5EF4-FFF2-40B4-BE49-F238E27FC236}">
                <a16:creationId xmlns:a16="http://schemas.microsoft.com/office/drawing/2014/main" id="{A2CBB187-EA39-4234-A4E2-C133D4E8FF4C}"/>
              </a:ext>
            </a:extLst>
          </p:cNvPr>
          <p:cNvSpPr>
            <a:spLocks noGrp="1"/>
          </p:cNvSpPr>
          <p:nvPr/>
        </p:nvSpPr>
        <p:spPr>
          <a:xfrm>
            <a:off x="647700" y="4467225"/>
            <a:ext cx="10477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950" b="1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52F38"/>
                </a:solidFill>
                <a:latin typeface="Arial"/>
                <a:ea typeface="Arial"/>
                <a:cs typeface="Arial"/>
              </a:rPr>
              <a:t>Forecast restoration</a:t>
            </a:r>
          </a:p>
        </p:txBody>
      </p:sp>
      <p:sp>
        <p:nvSpPr>
          <p:cNvPr id="12" name="F̂ₜ = Fₜ₋₁₂ × (1 + ĝₜ / 100). Recursive forecasts repla">
            <a:extLst>
              <a:ext uri="{FF2B5EF4-FFF2-40B4-BE49-F238E27FC236}">
                <a16:creationId xmlns:a16="http://schemas.microsoft.com/office/drawing/2014/main" id="{34EDE2D3-FAC2-4614-8A56-B487318D8DF1}"/>
              </a:ext>
            </a:extLst>
          </p:cNvPr>
          <p:cNvSpPr>
            <a:spLocks noGrp="1"/>
          </p:cNvSpPr>
          <p:nvPr/>
        </p:nvSpPr>
        <p:spPr>
          <a:xfrm>
            <a:off x="647700" y="4867275"/>
            <a:ext cx="104775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75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F̂ₜ = Fₜ₋₁₂ × (1 + ĝₜ / 100). Recursive forecasts replace unavailable fee history with prior predictions.</a:t>
            </a:r>
          </a:p>
        </p:txBody>
      </p:sp>
      <p:sp>
        <p:nvSpPr>
          <p:cNvPr id="14" name="The 12-month error-correction lag matches the annual gr">
            <a:extLst>
              <a:ext uri="{FF2B5EF4-FFF2-40B4-BE49-F238E27FC236}">
                <a16:creationId xmlns:a16="http://schemas.microsoft.com/office/drawing/2014/main" id="{6D50FFDD-6559-4DF9-B314-C9950F2BCCC0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The 12-month error-correction lag matches the annual growth target. Formal cointegration evidence is qualified.</a:t>
            </a:r>
          </a:p>
        </p:txBody>
      </p:sp>
    </p:spTree>
    <p:extLst>
      <p:ext uri="{BB962C8B-B14F-4D97-AF65-F5344CB8AC3E}">
        <p14:creationId xmlns:p14="http://schemas.microsoft.com/office/powerpoint/2010/main" val="446966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title">
            <a:extLst>
              <a:ext uri="{FF2B5EF4-FFF2-40B4-BE49-F238E27FC236}">
                <a16:creationId xmlns:a16="http://schemas.microsoft.com/office/drawing/2014/main" id="{CE11BCAC-5587-4C0E-A24E-AAFC1ABD9916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92011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Feature Reduction and Selection</a:t>
            </a:r>
          </a:p>
        </p:txBody>
      </p:sp>
      <p:sp>
        <p:nvSpPr>
          <p:cNvPr id="5" name="7">
            <a:extLst>
              <a:ext uri="{FF2B5EF4-FFF2-40B4-BE49-F238E27FC236}">
                <a16:creationId xmlns:a16="http://schemas.microsoft.com/office/drawing/2014/main" id="{49FD2A59-1653-44BB-98CD-5AA95890A726}"/>
              </a:ext>
            </a:extLst>
          </p:cNvPr>
          <p:cNvSpPr>
            <a:spLocks noGrp="1"/>
          </p:cNvSpPr>
          <p:nvPr/>
        </p:nvSpPr>
        <p:spPr>
          <a:xfrm>
            <a:off x="11382375" y="65913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graphicFrame>
        <p:nvGraphicFramePr>
          <p:cNvPr id="16" name="表格 19"/>
          <p:cNvGraphicFramePr/>
          <p:nvPr/>
        </p:nvGraphicFramePr>
        <p:xfrm>
          <a:off x="609600" y="1533525"/>
          <a:ext cx="10972800" cy="3525520"/>
        </p:xfrm>
        <a:graphic>
          <a:graphicData uri="http://schemas.openxmlformats.org/drawingml/2006/table">
            <a:tbl>
              <a:tblPr/>
              <a:tblGrid>
                <a:gridCol w="3000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43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78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Selection stage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Long-run model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Short-run model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78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Initial universe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8 macro levels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8 families × 13 lags = 104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78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Stationarity screen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6 level candidates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6 eligible families = 78 lags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78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Correlation screen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Residual ADF gate during selection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19 lags pass both-window screen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78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Family reduction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Forward selection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9 macro lags after family cap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78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Selected model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CPI + SBOpt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EC + 2 growth lags + 1 macro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Forward-selection gates: added-term p &lt; 0.05 and maximu">
            <a:extLst>
              <a:ext uri="{FF2B5EF4-FFF2-40B4-BE49-F238E27FC236}">
                <a16:creationId xmlns:a16="http://schemas.microsoft.com/office/drawing/2014/main" id="{56C5581E-DC74-4DFF-B63E-D6DD38C84E70}"/>
              </a:ext>
            </a:extLst>
          </p:cNvPr>
          <p:cNvSpPr>
            <a:spLocks noGrp="1"/>
          </p:cNvSpPr>
          <p:nvPr/>
        </p:nvSpPr>
        <p:spPr>
          <a:xfrm>
            <a:off x="619125" y="5219700"/>
            <a:ext cx="1083945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75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Forward-selection gates: added-term p &lt; 0.05 and maximum slope VIF &lt; 10. Rank eligible trials by adjusted R².</a:t>
            </a:r>
          </a:p>
        </p:txBody>
      </p:sp>
      <p:sp>
        <p:nvSpPr>
          <p:cNvPr id="10" name="OOT participates in the correlation screen and lag rank">
            <a:extLst>
              <a:ext uri="{FF2B5EF4-FFF2-40B4-BE49-F238E27FC236}">
                <a16:creationId xmlns:a16="http://schemas.microsoft.com/office/drawing/2014/main" id="{F2A16009-3AA5-486A-A06D-99E685D2F445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OOT participates in the correlation screen and lag ranking. This is an exploratory evaluation.</a:t>
            </a:r>
          </a:p>
        </p:txBody>
      </p:sp>
    </p:spTree>
    <p:extLst>
      <p:ext uri="{BB962C8B-B14F-4D97-AF65-F5344CB8AC3E}">
        <p14:creationId xmlns:p14="http://schemas.microsoft.com/office/powerpoint/2010/main" val="19964388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title">
            <a:extLst>
              <a:ext uri="{FF2B5EF4-FFF2-40B4-BE49-F238E27FC236}">
                <a16:creationId xmlns:a16="http://schemas.microsoft.com/office/drawing/2014/main" id="{BD9C853C-A826-48E5-B13B-7302381FCF3F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92011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Step 1: Long-Run Level Screening</a:t>
            </a:r>
          </a:p>
        </p:txBody>
      </p:sp>
      <p:sp>
        <p:nvSpPr>
          <p:cNvPr id="5" name="8">
            <a:extLst>
              <a:ext uri="{FF2B5EF4-FFF2-40B4-BE49-F238E27FC236}">
                <a16:creationId xmlns:a16="http://schemas.microsoft.com/office/drawing/2014/main" id="{CBDAFAA8-658A-46A6-AC82-A6C99E79C06C}"/>
              </a:ext>
            </a:extLst>
          </p:cNvPr>
          <p:cNvSpPr>
            <a:spLocks noGrp="1"/>
          </p:cNvSpPr>
          <p:nvPr/>
        </p:nvSpPr>
        <p:spPr>
          <a:xfrm>
            <a:off x="11382375" y="65913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7" name="Level candidate rule: ADF p ≥ 0.05 and KPSS p &lt; 0.05, u">
            <a:extLst>
              <a:ext uri="{FF2B5EF4-FFF2-40B4-BE49-F238E27FC236}">
                <a16:creationId xmlns:a16="http://schemas.microsoft.com/office/drawing/2014/main" id="{536C60AF-6DD3-4DCC-AD70-60A3869752A4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9061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0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Level candidate rule: ADF p ≥ 0.05 and KPSS p &lt; 0.05, using IS only.</a:t>
            </a:r>
          </a:p>
        </p:txBody>
      </p:sp>
      <p:graphicFrame>
        <p:nvGraphicFramePr>
          <p:cNvPr id="17" name="表格 20"/>
          <p:cNvGraphicFramePr/>
          <p:nvPr/>
        </p:nvGraphicFramePr>
        <p:xfrm>
          <a:off x="609600" y="1828800"/>
          <a:ext cx="10972800" cy="3848100"/>
        </p:xfrm>
        <a:graphic>
          <a:graphicData uri="http://schemas.openxmlformats.org/drawingml/2006/table">
            <a:tbl>
              <a:tblPr/>
              <a:tblGrid>
                <a:gridCol w="3857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4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623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Variable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ADF p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KPSS p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Level screen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23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Combined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0.932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≤0.010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Target series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623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Unrate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0.046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≤0.010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Exclude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623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CPI</a:t>
                      </a:r>
                    </a:p>
                  </a:txBody>
                  <a:tcPr marL="114300" marR="85725" marT="66675" marB="66675" anchor="ctr">
                    <a:solidFill>
                      <a:srgbClr val="DF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0.999</a:t>
                      </a:r>
                    </a:p>
                  </a:txBody>
                  <a:tcPr marL="114300" marR="85725" marT="66675" marB="66675" anchor="ctr">
                    <a:solidFill>
                      <a:srgbClr val="DF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≤0.010</a:t>
                      </a:r>
                    </a:p>
                  </a:txBody>
                  <a:tcPr marL="114300" marR="85725" marT="66675" marB="66675" anchor="ctr">
                    <a:solidFill>
                      <a:srgbClr val="DF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Candidate</a:t>
                      </a:r>
                    </a:p>
                  </a:txBody>
                  <a:tcPr marL="114300" marR="85725" marT="66675" marB="66675" anchor="ctr">
                    <a:solidFill>
                      <a:srgbClr val="DF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623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DPI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0.999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≤0.010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Candidate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623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SBOpt</a:t>
                      </a:r>
                    </a:p>
                  </a:txBody>
                  <a:tcPr marL="114300" marR="85725" marT="66675" marB="66675" anchor="ctr">
                    <a:solidFill>
                      <a:srgbClr val="DF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0.337</a:t>
                      </a:r>
                    </a:p>
                  </a:txBody>
                  <a:tcPr marL="114300" marR="85725" marT="66675" marB="66675" anchor="ctr">
                    <a:solidFill>
                      <a:srgbClr val="DF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0.043</a:t>
                      </a:r>
                    </a:p>
                  </a:txBody>
                  <a:tcPr marL="114300" marR="85725" marT="66675" marB="66675" anchor="ctr">
                    <a:solidFill>
                      <a:srgbClr val="DF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Candidate</a:t>
                      </a:r>
                    </a:p>
                  </a:txBody>
                  <a:tcPr marL="114300" marR="85725" marT="66675" marB="66675" anchor="ctr">
                    <a:solidFill>
                      <a:srgbClr val="DF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623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GDP_Wholesale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0.995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≤0.010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Candidate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623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IP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0.029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≥0.100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Exclude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623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CorpProfits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0.999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≤0.010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Candidate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623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DJ_TotalMkt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0.958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≤0.010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Candidate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0" name="CPI and SBOpt pass the level screen. The screen alone d">
            <a:extLst>
              <a:ext uri="{FF2B5EF4-FFF2-40B4-BE49-F238E27FC236}">
                <a16:creationId xmlns:a16="http://schemas.microsoft.com/office/drawing/2014/main" id="{B6A501A5-C839-428A-BE35-593C1D1C9EB4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CPI and SBOpt pass the level screen. The screen alone does not establish integration of order one.</a:t>
            </a:r>
          </a:p>
        </p:txBody>
      </p:sp>
    </p:spTree>
    <p:extLst>
      <p:ext uri="{BB962C8B-B14F-4D97-AF65-F5344CB8AC3E}">
        <p14:creationId xmlns:p14="http://schemas.microsoft.com/office/powerpoint/2010/main" val="18525347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title">
            <a:extLst>
              <a:ext uri="{FF2B5EF4-FFF2-40B4-BE49-F238E27FC236}">
                <a16:creationId xmlns:a16="http://schemas.microsoft.com/office/drawing/2014/main" id="{CA6C28DE-6F6A-489B-BE84-B5010111143D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92011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Long-Run Equilibrium Equation</a:t>
            </a:r>
          </a:p>
        </p:txBody>
      </p:sp>
      <p:sp>
        <p:nvSpPr>
          <p:cNvPr id="5" name="11">
            <a:extLst>
              <a:ext uri="{FF2B5EF4-FFF2-40B4-BE49-F238E27FC236}">
                <a16:creationId xmlns:a16="http://schemas.microsoft.com/office/drawing/2014/main" id="{5BD6D01F-AFE8-4F33-A913-C03A3940090E}"/>
              </a:ext>
            </a:extLst>
          </p:cNvPr>
          <p:cNvSpPr>
            <a:spLocks noGrp="1"/>
          </p:cNvSpPr>
          <p:nvPr/>
        </p:nvSpPr>
        <p:spPr>
          <a:xfrm>
            <a:off x="11382375" y="65913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7" name="F̂ₜ = −3,766.52 + 19.4359 CPIₜ + 3.8722 SBOptₜ">
            <a:extLst>
              <a:ext uri="{FF2B5EF4-FFF2-40B4-BE49-F238E27FC236}">
                <a16:creationId xmlns:a16="http://schemas.microsoft.com/office/drawing/2014/main" id="{3BD702A4-C4DA-4D31-827A-3CDB227AC014}"/>
              </a:ext>
            </a:extLst>
          </p:cNvPr>
          <p:cNvSpPr>
            <a:spLocks noGrp="1"/>
          </p:cNvSpPr>
          <p:nvPr/>
        </p:nvSpPr>
        <p:spPr>
          <a:xfrm>
            <a:off x="619125" y="1476375"/>
            <a:ext cx="107632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F̂ₜ = −3,766.52 + 19.4359 CPIₜ + 3.8722 SBOptₜ</a:t>
            </a:r>
          </a:p>
        </p:txBody>
      </p:sp>
      <p:graphicFrame>
        <p:nvGraphicFramePr>
          <p:cNvPr id="19" name="表格 22"/>
          <p:cNvGraphicFramePr/>
          <p:nvPr/>
        </p:nvGraphicFramePr>
        <p:xfrm>
          <a:off x="609600" y="2409825"/>
          <a:ext cx="10972800" cy="2190752"/>
        </p:xfrm>
        <a:graphic>
          <a:graphicData uri="http://schemas.openxmlformats.org/drawingml/2006/table">
            <a:tbl>
              <a:tblPr/>
              <a:tblGrid>
                <a:gridCol w="3714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95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768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Term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Estimate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t-stat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p-value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76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const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-3766.5151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-18.41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&lt;0.001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76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CPI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19.4359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44.43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&lt;0.001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76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SBOpt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3.8722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2.20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0.029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R² 92.95%     Adjusted R² 92.85%     n = 153     Maximu">
            <a:extLst>
              <a:ext uri="{FF2B5EF4-FFF2-40B4-BE49-F238E27FC236}">
                <a16:creationId xmlns:a16="http://schemas.microsoft.com/office/drawing/2014/main" id="{38399AAB-CD07-492D-BD51-76603BDB1AC7}"/>
              </a:ext>
            </a:extLst>
          </p:cNvPr>
          <p:cNvSpPr>
            <a:spLocks noGrp="1"/>
          </p:cNvSpPr>
          <p:nvPr/>
        </p:nvSpPr>
        <p:spPr>
          <a:xfrm>
            <a:off x="619125" y="4905375"/>
            <a:ext cx="10763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00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R² 92.95%     Adjusted R² 92.85%     n = 153     Maximum VIF 1.0003</a:t>
            </a:r>
          </a:p>
        </p:txBody>
      </p:sp>
      <p:sp>
        <p:nvSpPr>
          <p:cNvPr id="10" name="CPI and optimism capture an estimated nominal-revenue r">
            <a:extLst>
              <a:ext uri="{FF2B5EF4-FFF2-40B4-BE49-F238E27FC236}">
                <a16:creationId xmlns:a16="http://schemas.microsoft.com/office/drawing/2014/main" id="{31EB0ED6-B35B-4012-9C3F-D22D38C6CE3B}"/>
              </a:ext>
            </a:extLst>
          </p:cNvPr>
          <p:cNvSpPr>
            <a:spLocks noGrp="1"/>
          </p:cNvSpPr>
          <p:nvPr/>
        </p:nvSpPr>
        <p:spPr>
          <a:xfrm>
            <a:off x="619125" y="5314950"/>
            <a:ext cx="107632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CPI and optimism capture an estimated nominal-revenue relationship within the historical sample.</a:t>
            </a:r>
          </a:p>
        </p:txBody>
      </p:sp>
      <p:sp>
        <p:nvSpPr>
          <p:cNvPr id="12" name="Positive IS coefficients do not establish a stable long">
            <a:extLst>
              <a:ext uri="{FF2B5EF4-FFF2-40B4-BE49-F238E27FC236}">
                <a16:creationId xmlns:a16="http://schemas.microsoft.com/office/drawing/2014/main" id="{DAE17A43-DA3C-449D-A346-22A84D931AC7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Positive IS coefficients do not establish a stable long-run relationship after the estimation cutoff.</a:t>
            </a:r>
          </a:p>
        </p:txBody>
      </p:sp>
    </p:spTree>
    <p:extLst>
      <p:ext uri="{BB962C8B-B14F-4D97-AF65-F5344CB8AC3E}">
        <p14:creationId xmlns:p14="http://schemas.microsoft.com/office/powerpoint/2010/main" val="1566395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title">
            <a:extLst>
              <a:ext uri="{FF2B5EF4-FFF2-40B4-BE49-F238E27FC236}">
                <a16:creationId xmlns:a16="http://schemas.microsoft.com/office/drawing/2014/main" id="{0402936A-A84C-49AE-8D37-A80F78D90143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92011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Long-Run Residual and Cointegration Tests</a:t>
            </a:r>
          </a:p>
        </p:txBody>
      </p:sp>
      <p:sp>
        <p:nvSpPr>
          <p:cNvPr id="5" name="14">
            <a:extLst>
              <a:ext uri="{FF2B5EF4-FFF2-40B4-BE49-F238E27FC236}">
                <a16:creationId xmlns:a16="http://schemas.microsoft.com/office/drawing/2014/main" id="{8B86A4A4-50D0-4621-B9F9-3CF3052C8D0A}"/>
              </a:ext>
            </a:extLst>
          </p:cNvPr>
          <p:cNvSpPr>
            <a:spLocks noGrp="1"/>
          </p:cNvSpPr>
          <p:nvPr/>
        </p:nvSpPr>
        <p:spPr>
          <a:xfrm>
            <a:off x="11382375" y="65913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8" name="Nominal p-values are conditional on the selected specif">
            <a:extLst>
              <a:ext uri="{FF2B5EF4-FFF2-40B4-BE49-F238E27FC236}">
                <a16:creationId xmlns:a16="http://schemas.microsoft.com/office/drawing/2014/main" id="{4410BD07-5CB7-4D9D-822D-00CE8A963038}"/>
              </a:ext>
            </a:extLst>
          </p:cNvPr>
          <p:cNvSpPr>
            <a:spLocks noGrp="1"/>
          </p:cNvSpPr>
          <p:nvPr/>
        </p:nvSpPr>
        <p:spPr>
          <a:xfrm>
            <a:off x="619125" y="5219700"/>
            <a:ext cx="106680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The formal residual-based test accounts for the estimated long-run relationship. Its evidence is weaker than the ordinary ADF gate suggests.</a:t>
            </a:r>
          </a:p>
        </p:txBody>
      </p:sp>
      <p:sp>
        <p:nvSpPr>
          <p:cNvPr id="10" name="Residual diagnostics are favorable, while formal cointe">
            <a:extLst>
              <a:ext uri="{FF2B5EF4-FFF2-40B4-BE49-F238E27FC236}">
                <a16:creationId xmlns:a16="http://schemas.microsoft.com/office/drawing/2014/main" id="{8F1857F6-63BE-462B-99CA-A2F331657A32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Formal cointegration evidence remains qualified. The short-run ECM is an exploratory specification.</a:t>
            </a:r>
          </a:p>
        </p:txBody>
      </p:sp>
      <p:graphicFrame>
        <p:nvGraphicFramePr>
          <p:cNvPr id="18" name="表格 22"/>
          <p:cNvGraphicFramePr/>
          <p:nvPr/>
        </p:nvGraphicFramePr>
        <p:xfrm>
          <a:off x="609600" y="1990725"/>
          <a:ext cx="10972800" cy="2171700"/>
        </p:xfrm>
        <a:graphic>
          <a:graphicData uri="http://schemas.openxmlformats.org/drawingml/2006/table">
            <a:tbl>
              <a:tblPr/>
              <a:tblGrid>
                <a:gridCol w="495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10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239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Diagnostic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Result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Interpretation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Ordinary long-run residual ADF p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0.008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Passes the implemented gate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Formal Engle–Granger p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0.087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Does not reject at 5%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11700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title">
            <a:extLst>
              <a:ext uri="{FF2B5EF4-FFF2-40B4-BE49-F238E27FC236}">
                <a16:creationId xmlns:a16="http://schemas.microsoft.com/office/drawing/2014/main" id="{ABE5A248-4371-435F-9075-1F7A68954ABA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92011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Historical Relationship and OOT Drift</a:t>
            </a:r>
          </a:p>
        </p:txBody>
      </p:sp>
      <p:sp>
        <p:nvSpPr>
          <p:cNvPr id="5" name="17">
            <a:extLst>
              <a:ext uri="{FF2B5EF4-FFF2-40B4-BE49-F238E27FC236}">
                <a16:creationId xmlns:a16="http://schemas.microsoft.com/office/drawing/2014/main" id="{D0C6B3AC-E260-41D2-9C19-4F7FD50C638E}"/>
              </a:ext>
            </a:extLst>
          </p:cNvPr>
          <p:cNvSpPr>
            <a:spLocks noGrp="1"/>
          </p:cNvSpPr>
          <p:nvPr/>
        </p:nvSpPr>
        <p:spPr>
          <a:xfrm>
            <a:off x="11382375" y="65913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7" name="Frozen September 2023 long-run fit versus actual fee; O">
            <a:extLst>
              <a:ext uri="{FF2B5EF4-FFF2-40B4-BE49-F238E27FC236}">
                <a16:creationId xmlns:a16="http://schemas.microsoft.com/office/drawing/2014/main" id="{E138ADA1-8FE8-4CD1-81B4-71B0AB7122AA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9061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0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Frozen September 2023 long-run fit versus actual fee; OOT begins October 2023.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="609600" y="1771650"/>
          <a:ext cx="10972800" cy="3781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he mean long-run gap falls from approximately zero in ">
            <a:extLst>
              <a:ext uri="{FF2B5EF4-FFF2-40B4-BE49-F238E27FC236}">
                <a16:creationId xmlns:a16="http://schemas.microsoft.com/office/drawing/2014/main" id="{4415AE64-502A-4449-AF11-84EC3CDCB825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The mean long-run gap falls from approximately zero in IS to −510.05 source units in OOT.</a:t>
            </a:r>
          </a:p>
        </p:txBody>
      </p:sp>
    </p:spTree>
    <p:extLst>
      <p:ext uri="{BB962C8B-B14F-4D97-AF65-F5344CB8AC3E}">
        <p14:creationId xmlns:p14="http://schemas.microsoft.com/office/powerpoint/2010/main" val="19510978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title">
            <a:extLst>
              <a:ext uri="{FF2B5EF4-FFF2-40B4-BE49-F238E27FC236}">
                <a16:creationId xmlns:a16="http://schemas.microsoft.com/office/drawing/2014/main" id="{7A91DD84-C589-4064-AD62-D95E741C4FF7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92011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Structural Change Tests</a:t>
            </a:r>
          </a:p>
        </p:txBody>
      </p:sp>
      <p:sp>
        <p:nvSpPr>
          <p:cNvPr id="5" name="18">
            <a:extLst>
              <a:ext uri="{FF2B5EF4-FFF2-40B4-BE49-F238E27FC236}">
                <a16:creationId xmlns:a16="http://schemas.microsoft.com/office/drawing/2014/main" id="{D2D8FD21-C161-4F3A-ACF7-9D76FC1475AE}"/>
              </a:ext>
            </a:extLst>
          </p:cNvPr>
          <p:cNvSpPr>
            <a:spLocks noGrp="1"/>
          </p:cNvSpPr>
          <p:nvPr/>
        </p:nvSpPr>
        <p:spPr>
          <a:xfrm>
            <a:off x="11382375" y="65913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16" name="表格 19"/>
          <p:cNvGraphicFramePr/>
          <p:nvPr/>
        </p:nvGraphicFramePr>
        <p:xfrm>
          <a:off x="609600" y="1533525"/>
          <a:ext cx="10972800" cy="3695699"/>
        </p:xfrm>
        <a:graphic>
          <a:graphicData uri="http://schemas.openxmlformats.org/drawingml/2006/table">
            <a:tbl>
              <a:tblPr/>
              <a:tblGrid>
                <a:gridCol w="5429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90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52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7957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Test / period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Statistic or estimate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p-value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795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CUSUM: IS long-run residuals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0.951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0.327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795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CUSUM: full history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2.173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&lt;0.001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795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Chow break: October 2023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F = 85.391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&lt;0.001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795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Mean EC: October–December 2023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−101.88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795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Mean EC: 2024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−399.31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795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Mean EC: 2025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−722.83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CUSUM uses ddof = 3. Chow evaluates the fixed CPI + SBO">
            <a:extLst>
              <a:ext uri="{FF2B5EF4-FFF2-40B4-BE49-F238E27FC236}">
                <a16:creationId xmlns:a16="http://schemas.microsoft.com/office/drawing/2014/main" id="{546AD5F7-D706-4EFE-A596-0B5286B1B37F}"/>
              </a:ext>
            </a:extLst>
          </p:cNvPr>
          <p:cNvSpPr>
            <a:spLocks noGrp="1"/>
          </p:cNvSpPr>
          <p:nvPr/>
        </p:nvSpPr>
        <p:spPr>
          <a:xfrm>
            <a:off x="619125" y="5438775"/>
            <a:ext cx="10763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CUSUM uses ddof = 3. Chow evaluates the fixed CPI + SBOpt specification on both sides of the break.</a:t>
            </a:r>
          </a:p>
        </p:txBody>
      </p:sp>
      <p:sp>
        <p:nvSpPr>
          <p:cNvPr id="10" name="The later sample provides evidence of parameter instabi">
            <a:extLst>
              <a:ext uri="{FF2B5EF4-FFF2-40B4-BE49-F238E27FC236}">
                <a16:creationId xmlns:a16="http://schemas.microsoft.com/office/drawing/2014/main" id="{97FC4CDF-CFDA-4AE6-B025-9D5665D254BA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The later sample provides evidence of parameter instability. The tests do not identify the business cause.</a:t>
            </a:r>
          </a:p>
        </p:txBody>
      </p:sp>
    </p:spTree>
    <p:extLst>
      <p:ext uri="{BB962C8B-B14F-4D97-AF65-F5344CB8AC3E}">
        <p14:creationId xmlns:p14="http://schemas.microsoft.com/office/powerpoint/2010/main" val="2829121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title">
            <a:extLst>
              <a:ext uri="{FF2B5EF4-FFF2-40B4-BE49-F238E27FC236}">
                <a16:creationId xmlns:a16="http://schemas.microsoft.com/office/drawing/2014/main" id="{F1586FFC-EF50-4235-89A5-9C6028902D1E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92011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Rolling Long-Run Coefficient Stability</a:t>
            </a:r>
          </a:p>
        </p:txBody>
      </p:sp>
      <p:sp>
        <p:nvSpPr>
          <p:cNvPr id="5" name="19">
            <a:extLst>
              <a:ext uri="{FF2B5EF4-FFF2-40B4-BE49-F238E27FC236}">
                <a16:creationId xmlns:a16="http://schemas.microsoft.com/office/drawing/2014/main" id="{C3100EF5-2E7F-4F0B-BCB8-DBDBEFBFB659}"/>
              </a:ext>
            </a:extLst>
          </p:cNvPr>
          <p:cNvSpPr>
            <a:spLocks noGrp="1"/>
          </p:cNvSpPr>
          <p:nvPr/>
        </p:nvSpPr>
        <p:spPr>
          <a:xfrm>
            <a:off x="11382375" y="65913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7" name="30-month windows, June 2013 – December 2025. The predic">
            <a:extLst>
              <a:ext uri="{FF2B5EF4-FFF2-40B4-BE49-F238E27FC236}">
                <a16:creationId xmlns:a16="http://schemas.microsoft.com/office/drawing/2014/main" id="{115D133D-EE81-4BEE-A6BF-FA63F3F1C723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9061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0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30-month windows, June 2013 – December 2025. The predictor list remains CPI + SBOpt.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="533400" y="1914525"/>
          <a:ext cx="5448300" cy="3390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0" name="Chart"/>
          <p:cNvGraphicFramePr/>
          <p:nvPr/>
        </p:nvGraphicFramePr>
        <p:xfrm>
          <a:off x="6191250" y="1914525"/>
          <a:ext cx="5391150" cy="3390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Both coefficients change sign across windows. The lates">
            <a:extLst>
              <a:ext uri="{FF2B5EF4-FFF2-40B4-BE49-F238E27FC236}">
                <a16:creationId xmlns:a16="http://schemas.microsoft.com/office/drawing/2014/main" id="{B4FB4673-F9DB-4B89-B5DC-2953EC683892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 dirty="0">
                <a:solidFill>
                  <a:srgbClr val="00476B"/>
                </a:solidFill>
                <a:latin typeface="Arial"/>
                <a:ea typeface="Arial"/>
                <a:cs typeface="Arial"/>
              </a:rPr>
              <a:t>Both coefficients change sign across windows. The latest estimates are negative, unlike the frozen IS estimates.</a:t>
            </a:r>
          </a:p>
        </p:txBody>
      </p:sp>
    </p:spTree>
    <p:extLst>
      <p:ext uri="{BB962C8B-B14F-4D97-AF65-F5344CB8AC3E}">
        <p14:creationId xmlns:p14="http://schemas.microsoft.com/office/powerpoint/2010/main" val="9240557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title">
            <a:extLst>
              <a:ext uri="{FF2B5EF4-FFF2-40B4-BE49-F238E27FC236}">
                <a16:creationId xmlns:a16="http://schemas.microsoft.com/office/drawing/2014/main" id="{A61F9A7A-634F-46EC-8F7E-85A47A5B5BC1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92011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Step 2: Short-Run Feature Screening</a:t>
            </a:r>
          </a:p>
        </p:txBody>
      </p:sp>
      <p:sp>
        <p:nvSpPr>
          <p:cNvPr id="5" name="9">
            <a:extLst>
              <a:ext uri="{FF2B5EF4-FFF2-40B4-BE49-F238E27FC236}">
                <a16:creationId xmlns:a16="http://schemas.microsoft.com/office/drawing/2014/main" id="{D3720EAC-6718-4C60-82E6-2E4D09676111}"/>
              </a:ext>
            </a:extLst>
          </p:cNvPr>
          <p:cNvSpPr>
            <a:spLocks noGrp="1"/>
          </p:cNvSpPr>
          <p:nvPr/>
        </p:nvSpPr>
        <p:spPr>
          <a:xfrm>
            <a:off x="11382375" y="65913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7" name="Actual study rule: ADF p &lt; 0.05 OR KPSS p &gt; 0.05.">
            <a:extLst>
              <a:ext uri="{FF2B5EF4-FFF2-40B4-BE49-F238E27FC236}">
                <a16:creationId xmlns:a16="http://schemas.microsoft.com/office/drawing/2014/main" id="{D21686C2-A2A5-4575-AAB3-03200338D834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9061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0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Actual study rule: ADF p &lt; 0.05 OR KPSS p &gt; 0.05.</a:t>
            </a:r>
          </a:p>
        </p:txBody>
      </p:sp>
      <p:graphicFrame>
        <p:nvGraphicFramePr>
          <p:cNvPr id="18" name="表格 21"/>
          <p:cNvGraphicFramePr/>
          <p:nvPr/>
        </p:nvGraphicFramePr>
        <p:xfrm>
          <a:off x="609600" y="1857375"/>
          <a:ext cx="10972800" cy="3514725"/>
        </p:xfrm>
        <a:graphic>
          <a:graphicData uri="http://schemas.openxmlformats.org/drawingml/2006/table">
            <a:tbl>
              <a:tblPr/>
              <a:tblGrid>
                <a:gridCol w="3857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4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052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Variable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ADF p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KPSS p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IS screen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Unrate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0.080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≥0.100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Retain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CPI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0.371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≤0.010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Exclude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DPI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0.007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0.042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Retain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SBOpt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0.281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0.042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Exclude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GDP_Wholesale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0.315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≥0.100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Retain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IP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0.038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≥0.100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Retain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CorpProfits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0.219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≥0.100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Retain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DJ_TotalMkt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0.006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≥0.100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Retain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Unrate: 12-month percentage-point difference. Other mac">
            <a:extLst>
              <a:ext uri="{FF2B5EF4-FFF2-40B4-BE49-F238E27FC236}">
                <a16:creationId xmlns:a16="http://schemas.microsoft.com/office/drawing/2014/main" id="{5C4BC61A-9457-413B-8589-0E63A8D5FEEB}"/>
              </a:ext>
            </a:extLst>
          </p:cNvPr>
          <p:cNvSpPr>
            <a:spLocks noGrp="1"/>
          </p:cNvSpPr>
          <p:nvPr/>
        </p:nvSpPr>
        <p:spPr>
          <a:xfrm>
            <a:off x="619125" y="5514975"/>
            <a:ext cx="108585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Unrate: 12-month percentage-point difference. Other macros: 100 × (level / 12-month lag − 1).</a:t>
            </a:r>
          </a:p>
        </p:txBody>
      </p:sp>
      <p:sp>
        <p:nvSpPr>
          <p:cNvPr id="11" name="Six families remain eligible. CPI and SBOpt annual chan">
            <a:extLst>
              <a:ext uri="{FF2B5EF4-FFF2-40B4-BE49-F238E27FC236}">
                <a16:creationId xmlns:a16="http://schemas.microsoft.com/office/drawing/2014/main" id="{6D1BF925-6571-4E0F-9E4D-3706C1062E17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Six families remain eligible. CPI and SBOpt annual changes fail the IS screening rule.</a:t>
            </a:r>
          </a:p>
        </p:txBody>
      </p:sp>
    </p:spTree>
    <p:extLst>
      <p:ext uri="{BB962C8B-B14F-4D97-AF65-F5344CB8AC3E}">
        <p14:creationId xmlns:p14="http://schemas.microsoft.com/office/powerpoint/2010/main" val="9835164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title">
            <a:extLst>
              <a:ext uri="{FF2B5EF4-FFF2-40B4-BE49-F238E27FC236}">
                <a16:creationId xmlns:a16="http://schemas.microsoft.com/office/drawing/2014/main" id="{08D5A779-8687-4DFC-8C29-FE37619E94C7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92011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Partial-Correlation Screening</a:t>
            </a:r>
          </a:p>
        </p:txBody>
      </p:sp>
      <p:sp>
        <p:nvSpPr>
          <p:cNvPr id="5" name="10">
            <a:extLst>
              <a:ext uri="{FF2B5EF4-FFF2-40B4-BE49-F238E27FC236}">
                <a16:creationId xmlns:a16="http://schemas.microsoft.com/office/drawing/2014/main" id="{A5B212A1-C77F-44D3-BFF6-A885385C791E}"/>
              </a:ext>
            </a:extLst>
          </p:cNvPr>
          <p:cNvSpPr>
            <a:spLocks noGrp="1"/>
          </p:cNvSpPr>
          <p:nvPr/>
        </p:nvSpPr>
        <p:spPr>
          <a:xfrm>
            <a:off x="11382375" y="65913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7" name="Correlations after removing ECₜ₋₁₂ from both growth and">
            <a:extLst>
              <a:ext uri="{FF2B5EF4-FFF2-40B4-BE49-F238E27FC236}">
                <a16:creationId xmlns:a16="http://schemas.microsoft.com/office/drawing/2014/main" id="{D3AD88E5-45C9-4637-B0F8-71DCEF2A19E9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9061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0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Correlations after removing ECₜ₋₁₂ from both growth and each macro candidate.</a:t>
            </a:r>
          </a:p>
        </p:txBody>
      </p:sp>
      <p:graphicFrame>
        <p:nvGraphicFramePr>
          <p:cNvPr id="17" name="表格 20"/>
          <p:cNvGraphicFramePr/>
          <p:nvPr/>
        </p:nvGraphicFramePr>
        <p:xfrm>
          <a:off x="609600" y="1838325"/>
          <a:ext cx="10972800" cy="3733800"/>
        </p:xfrm>
        <a:graphic>
          <a:graphicData uri="http://schemas.openxmlformats.org/drawingml/2006/table">
            <a:tbl>
              <a:tblPr/>
              <a:tblGrid>
                <a:gridCol w="428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6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6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52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242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Macro candidate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IS correlation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OOT correlation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OOT p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42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Unrate_lag8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-0.323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-0.641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&lt;0.001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242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Unrate_lag10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-0.150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-0.551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0.003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242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DPI_lag10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0.123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0.439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0.022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242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GDP_Wholesale_lag11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0.124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0.437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0.023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242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CorpProfits_lag3</a:t>
                      </a:r>
                    </a:p>
                  </a:txBody>
                  <a:tcPr marL="114300" marR="85725" marT="66675" marB="66675" anchor="ctr">
                    <a:solidFill>
                      <a:srgbClr val="DF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0.473</a:t>
                      </a:r>
                    </a:p>
                  </a:txBody>
                  <a:tcPr marL="114300" marR="85725" marT="66675" marB="66675" anchor="ctr">
                    <a:solidFill>
                      <a:srgbClr val="DF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0.381</a:t>
                      </a:r>
                    </a:p>
                  </a:txBody>
                  <a:tcPr marL="114300" marR="85725" marT="66675" marB="66675" anchor="ctr">
                    <a:solidFill>
                      <a:srgbClr val="DF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0.050</a:t>
                      </a:r>
                    </a:p>
                  </a:txBody>
                  <a:tcPr marL="114300" marR="85725" marT="66675" marB="66675" anchor="ctr">
                    <a:solidFill>
                      <a:srgbClr val="DF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242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CorpProfits_lag10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0.401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0.377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0.052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242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GDP_Wholesale_lag10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0.210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0.348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0.075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242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IP_lag11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0.161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0.317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0.107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242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IP_lag3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0.412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0.263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0.184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0" name="Retain same-sign candidates with p &lt; 0.20 in both windo">
            <a:extLst>
              <a:ext uri="{FF2B5EF4-FFF2-40B4-BE49-F238E27FC236}">
                <a16:creationId xmlns:a16="http://schemas.microsoft.com/office/drawing/2014/main" id="{15EAC33A-1E9B-4D19-B5D4-CF2799D7208C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Retain same-sign candidates with p &lt; 0.20 in both windows, then cap at two lags per family by |OOT correlation|.</a:t>
            </a:r>
          </a:p>
        </p:txBody>
      </p:sp>
    </p:spTree>
    <p:extLst>
      <p:ext uri="{BB962C8B-B14F-4D97-AF65-F5344CB8AC3E}">
        <p14:creationId xmlns:p14="http://schemas.microsoft.com/office/powerpoint/2010/main" val="3789807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title">
            <a:extLst>
              <a:ext uri="{FF2B5EF4-FFF2-40B4-BE49-F238E27FC236}">
                <a16:creationId xmlns:a16="http://schemas.microsoft.com/office/drawing/2014/main" id="{39B26093-50CE-4B85-945C-5FB5D23385B0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92011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Short-Run Model Development Journey</a:t>
            </a:r>
          </a:p>
        </p:txBody>
      </p:sp>
      <p:sp>
        <p:nvSpPr>
          <p:cNvPr id="5" name="13">
            <a:extLst>
              <a:ext uri="{FF2B5EF4-FFF2-40B4-BE49-F238E27FC236}">
                <a16:creationId xmlns:a16="http://schemas.microsoft.com/office/drawing/2014/main" id="{C3315CA4-23AC-4745-BE84-A3F4E0F50DF0}"/>
              </a:ext>
            </a:extLst>
          </p:cNvPr>
          <p:cNvSpPr>
            <a:spLocks noGrp="1"/>
          </p:cNvSpPr>
          <p:nvPr/>
        </p:nvSpPr>
        <p:spPr>
          <a:xfrm>
            <a:off x="11382375" y="65913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7" name="Short-run forward selection begins with the lagged equi">
            <a:extLst>
              <a:ext uri="{FF2B5EF4-FFF2-40B4-BE49-F238E27FC236}">
                <a16:creationId xmlns:a16="http://schemas.microsoft.com/office/drawing/2014/main" id="{38C304DE-0391-4CA1-AFF9-698E49387FF2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9061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0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Short-run forward selection begins with the lagged equilibrium gap.</a:t>
            </a:r>
          </a:p>
        </p:txBody>
      </p:sp>
      <p:graphicFrame>
        <p:nvGraphicFramePr>
          <p:cNvPr id="18" name="表格 21"/>
          <p:cNvGraphicFramePr/>
          <p:nvPr/>
        </p:nvGraphicFramePr>
        <p:xfrm>
          <a:off x="609600" y="1952625"/>
          <a:ext cx="10972800" cy="2686050"/>
        </p:xfrm>
        <a:graphic>
          <a:graphicData uri="http://schemas.openxmlformats.org/drawingml/2006/table">
            <a:tbl>
              <a:tblPr/>
              <a:tblGrid>
                <a:gridCol w="571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14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721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Specification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Adjusted R²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Added-term p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EC lag 12 only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41.65%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141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+ fee growth lag 1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66.50%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140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&lt;0.001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+ fee growth lag 6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70.38%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135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&lt;0.001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+ corporate profits growth lag 3</a:t>
                      </a:r>
                    </a:p>
                  </a:txBody>
                  <a:tcPr marL="114300" marR="85725" marT="66675" marB="66675" anchor="ctr">
                    <a:solidFill>
                      <a:srgbClr val="DF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71.31%</a:t>
                      </a:r>
                    </a:p>
                  </a:txBody>
                  <a:tcPr marL="114300" marR="85725" marT="66675" marB="66675" anchor="ctr">
                    <a:solidFill>
                      <a:srgbClr val="DF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135</a:t>
                      </a:r>
                    </a:p>
                  </a:txBody>
                  <a:tcPr marL="114300" marR="85725" marT="66675" marB="66675" anchor="ctr">
                    <a:solidFill>
                      <a:srgbClr val="DF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0.024</a:t>
                      </a:r>
                    </a:p>
                  </a:txBody>
                  <a:tcPr marL="114300" marR="85725" marT="66675" marB="66675" anchor="ctr">
                    <a:solidFill>
                      <a:srgbClr val="DF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he last macro term adds 0.93 percentage points of adju">
            <a:extLst>
              <a:ext uri="{FF2B5EF4-FFF2-40B4-BE49-F238E27FC236}">
                <a16:creationId xmlns:a16="http://schemas.microsoft.com/office/drawing/2014/main" id="{F3D0767E-F564-4E36-A790-B25205E45DC9}"/>
              </a:ext>
            </a:extLst>
          </p:cNvPr>
          <p:cNvSpPr>
            <a:spLocks noGrp="1"/>
          </p:cNvSpPr>
          <p:nvPr/>
        </p:nvSpPr>
        <p:spPr>
          <a:xfrm>
            <a:off x="619125" y="4991100"/>
            <a:ext cx="107632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00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The last macro term adds 0.93 percentage points of adjusted R² on the same 135-month sample.</a:t>
            </a:r>
          </a:p>
        </p:txBody>
      </p:sp>
      <p:sp>
        <p:nvSpPr>
          <p:cNvPr id="11" name="Earlier steps use different complete-case samples, so t">
            <a:extLst>
              <a:ext uri="{FF2B5EF4-FFF2-40B4-BE49-F238E27FC236}">
                <a16:creationId xmlns:a16="http://schemas.microsoft.com/office/drawing/2014/main" id="{8F3576AD-D559-454B-B9A3-BC5EB4A0BE31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Earlier steps use different complete-case samples, so their R² changes are descriptive rather than pure attribution.</a:t>
            </a:r>
          </a:p>
        </p:txBody>
      </p:sp>
    </p:spTree>
    <p:extLst>
      <p:ext uri="{BB962C8B-B14F-4D97-AF65-F5344CB8AC3E}">
        <p14:creationId xmlns:p14="http://schemas.microsoft.com/office/powerpoint/2010/main" val="12344720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title">
            <a:extLst>
              <a:ext uri="{FF2B5EF4-FFF2-40B4-BE49-F238E27FC236}">
                <a16:creationId xmlns:a16="http://schemas.microsoft.com/office/drawing/2014/main" id="{9FDBBD05-8780-480E-A9D7-3E199E22D762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92011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Short-Run Growth Equation</a:t>
            </a:r>
          </a:p>
        </p:txBody>
      </p:sp>
      <p:sp>
        <p:nvSpPr>
          <p:cNvPr id="5" name="12">
            <a:extLst>
              <a:ext uri="{FF2B5EF4-FFF2-40B4-BE49-F238E27FC236}">
                <a16:creationId xmlns:a16="http://schemas.microsoft.com/office/drawing/2014/main" id="{5EFE8EE1-B894-4D20-B3F2-98D2CBE30513}"/>
              </a:ext>
            </a:extLst>
          </p:cNvPr>
          <p:cNvSpPr>
            <a:spLocks noGrp="1"/>
          </p:cNvSpPr>
          <p:nvPr/>
        </p:nvSpPr>
        <p:spPr>
          <a:xfrm>
            <a:off x="11382375" y="65913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7" name="ĝₜ = 2.5139 − 0.05461 ECₜ₋₁₂ + 0.36593 gₜ₋₁&#10;       + 0.">
            <a:extLst>
              <a:ext uri="{FF2B5EF4-FFF2-40B4-BE49-F238E27FC236}">
                <a16:creationId xmlns:a16="http://schemas.microsoft.com/office/drawing/2014/main" id="{CC425C28-D3B4-4B15-A2BD-2EC16CBD9124}"/>
              </a:ext>
            </a:extLst>
          </p:cNvPr>
          <p:cNvSpPr>
            <a:spLocks noGrp="1"/>
          </p:cNvSpPr>
          <p:nvPr/>
        </p:nvSpPr>
        <p:spPr>
          <a:xfrm>
            <a:off x="619125" y="1419225"/>
            <a:ext cx="1076325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325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ĝₜ = 2.5139 − 0.05461 ECₜ₋₁₂ + 0.36593 gₜ₋₁</a:t>
            </a:r>
          </a:p>
          <a:p>
            <a:pPr algn="l">
              <a:buNone/>
              <a:defRPr sz="2325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       + 0.22025 gₜ₋₆ + 0.21348 CorpProfits_YoYₜ₋₃</a:t>
            </a:r>
          </a:p>
        </p:txBody>
      </p:sp>
      <p:graphicFrame>
        <p:nvGraphicFramePr>
          <p:cNvPr id="18" name="表格 21"/>
          <p:cNvGraphicFramePr/>
          <p:nvPr/>
        </p:nvGraphicFramePr>
        <p:xfrm>
          <a:off x="609600" y="2581275"/>
          <a:ext cx="10972800" cy="2600328"/>
        </p:xfrm>
        <a:graphic>
          <a:graphicData uri="http://schemas.openxmlformats.org/drawingml/2006/table">
            <a:tbl>
              <a:tblPr/>
              <a:tblGrid>
                <a:gridCol w="428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1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1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43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338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Term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Estimate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t-stat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p-value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33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Constant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2.51386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2.84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0.005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33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EC lag 12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-0.05461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-8.80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&lt;0.001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33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Fee growth lag 1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0.36593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5.22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&lt;0.001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33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Fee growth lag 6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0.22025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4.27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&lt;0.001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33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Corp. profits growth lag 3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0.21348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2.29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0.024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Adjusted R² 71.31%     n = 135     Ordinary OLS coeffic">
            <a:extLst>
              <a:ext uri="{FF2B5EF4-FFF2-40B4-BE49-F238E27FC236}">
                <a16:creationId xmlns:a16="http://schemas.microsoft.com/office/drawing/2014/main" id="{F12DB2EB-B96A-48C6-AD76-B1AA129702E1}"/>
              </a:ext>
            </a:extLst>
          </p:cNvPr>
          <p:cNvSpPr>
            <a:spLocks noGrp="1"/>
          </p:cNvSpPr>
          <p:nvPr/>
        </p:nvSpPr>
        <p:spPr>
          <a:xfrm>
            <a:off x="619125" y="5410200"/>
            <a:ext cx="10763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725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Adjusted R² 71.31%     n = 135     Ordinary OLS coefficient inference</a:t>
            </a:r>
          </a:p>
        </p:txBody>
      </p:sp>
      <p:sp>
        <p:nvSpPr>
          <p:cNvPr id="11" name="The negative EC coefficient offsets prior deviations, c">
            <a:extLst>
              <a:ext uri="{FF2B5EF4-FFF2-40B4-BE49-F238E27FC236}">
                <a16:creationId xmlns:a16="http://schemas.microsoft.com/office/drawing/2014/main" id="{721150AE-2FCB-4CEB-A26C-E6A82B883554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The negative EC coefficient offsets prior deviations, conditional on growth dynamics and corporate profits.</a:t>
            </a:r>
          </a:p>
        </p:txBody>
      </p:sp>
    </p:spTree>
    <p:extLst>
      <p:ext uri="{BB962C8B-B14F-4D97-AF65-F5344CB8AC3E}">
        <p14:creationId xmlns:p14="http://schemas.microsoft.com/office/powerpoint/2010/main" val="1899410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title">
            <a:extLst>
              <a:ext uri="{FF2B5EF4-FFF2-40B4-BE49-F238E27FC236}">
                <a16:creationId xmlns:a16="http://schemas.microsoft.com/office/drawing/2014/main" id="{0402936A-A84C-49AE-8D37-A80F78D90143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92011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Short-Run Diagnostics and Inference</a:t>
            </a:r>
          </a:p>
        </p:txBody>
      </p:sp>
      <p:sp>
        <p:nvSpPr>
          <p:cNvPr id="5" name="14">
            <a:extLst>
              <a:ext uri="{FF2B5EF4-FFF2-40B4-BE49-F238E27FC236}">
                <a16:creationId xmlns:a16="http://schemas.microsoft.com/office/drawing/2014/main" id="{8B86A4A4-50D0-4621-B9F9-3CF3052C8D0A}"/>
              </a:ext>
            </a:extLst>
          </p:cNvPr>
          <p:cNvSpPr>
            <a:spLocks noGrp="1"/>
          </p:cNvSpPr>
          <p:nvPr/>
        </p:nvSpPr>
        <p:spPr>
          <a:xfrm>
            <a:off x="11382375" y="65913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8" name="Nominal p-values are conditional on the selected specif">
            <a:extLst>
              <a:ext uri="{FF2B5EF4-FFF2-40B4-BE49-F238E27FC236}">
                <a16:creationId xmlns:a16="http://schemas.microsoft.com/office/drawing/2014/main" id="{4410BD07-5CB7-4D9D-822D-00CE8A963038}"/>
              </a:ext>
            </a:extLst>
          </p:cNvPr>
          <p:cNvSpPr>
            <a:spLocks noGrp="1"/>
          </p:cNvSpPr>
          <p:nvPr/>
        </p:nvSpPr>
        <p:spPr>
          <a:xfrm>
            <a:off x="619125" y="5219700"/>
            <a:ext cx="106680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Nominal p-values are conditional on the selected specification. They do not account for the entire model search.</a:t>
            </a:r>
          </a:p>
        </p:txBody>
      </p:sp>
      <p:sp>
        <p:nvSpPr>
          <p:cNvPr id="10" name="Residual diagnostics are favorable, while formal cointe">
            <a:extLst>
              <a:ext uri="{FF2B5EF4-FFF2-40B4-BE49-F238E27FC236}">
                <a16:creationId xmlns:a16="http://schemas.microsoft.com/office/drawing/2014/main" id="{8F1857F6-63BE-462B-99CA-A2F331657A32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Short-run residual diagnostics are favorable within the selected specification.</a:t>
            </a:r>
          </a:p>
        </p:txBody>
      </p:sp>
      <p:graphicFrame>
        <p:nvGraphicFramePr>
          <p:cNvPr id="18" name="表格 22"/>
          <p:cNvGraphicFramePr/>
          <p:nvPr/>
        </p:nvGraphicFramePr>
        <p:xfrm>
          <a:off x="609600" y="1990725"/>
          <a:ext cx="10972800" cy="2628900"/>
        </p:xfrm>
        <a:graphic>
          <a:graphicData uri="http://schemas.openxmlformats.org/drawingml/2006/table">
            <a:tbl>
              <a:tblPr/>
              <a:tblGrid>
                <a:gridCol w="495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10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72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Diagnostic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Result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Interpretation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Short-run Durbin–Watson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2.075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Near 2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Short-run Jarque–Bera p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0.935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No normality rejection at 5%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Short-run maximum VIF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2.291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Below the study limit of 10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11700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title">
            <a:extLst>
              <a:ext uri="{FF2B5EF4-FFF2-40B4-BE49-F238E27FC236}">
                <a16:creationId xmlns:a16="http://schemas.microsoft.com/office/drawing/2014/main" id="{AE4FD2C8-4507-4351-9B83-8EE151730206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92011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In-Sample Testing Result</a:t>
            </a:r>
          </a:p>
        </p:txBody>
      </p:sp>
      <p:sp>
        <p:nvSpPr>
          <p:cNvPr id="5" name="15">
            <a:extLst>
              <a:ext uri="{FF2B5EF4-FFF2-40B4-BE49-F238E27FC236}">
                <a16:creationId xmlns:a16="http://schemas.microsoft.com/office/drawing/2014/main" id="{81A532AC-267C-43BA-806B-3824C676BAB4}"/>
              </a:ext>
            </a:extLst>
          </p:cNvPr>
          <p:cNvSpPr>
            <a:spLocks noGrp="1"/>
          </p:cNvSpPr>
          <p:nvPr/>
        </p:nvSpPr>
        <p:spPr>
          <a:xfrm>
            <a:off x="11382375" y="65913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7" name="Restored monthly fee levels, July 2012 – September 2023">
            <a:extLst>
              <a:ext uri="{FF2B5EF4-FFF2-40B4-BE49-F238E27FC236}">
                <a16:creationId xmlns:a16="http://schemas.microsoft.com/office/drawing/2014/main" id="{8B5AF632-68D9-4EE9-AA2A-D9E308A9D80F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9061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0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Restored monthly fee levels, July 2012 – September 2023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="609600" y="1809750"/>
          <a:ext cx="10972800" cy="3790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IS RMSE 110.43 source units and MAPE 5.56%. Strong in-s">
            <a:extLst>
              <a:ext uri="{FF2B5EF4-FFF2-40B4-BE49-F238E27FC236}">
                <a16:creationId xmlns:a16="http://schemas.microsoft.com/office/drawing/2014/main" id="{ECAEB876-DEB9-4218-826B-380D3299A5E9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IS RMSE 110.43 source units and MAPE 5.56%. Strong in-sample fit does not carry through to OOT.</a:t>
            </a:r>
          </a:p>
        </p:txBody>
      </p:sp>
    </p:spTree>
    <p:extLst>
      <p:ext uri="{BB962C8B-B14F-4D97-AF65-F5344CB8AC3E}">
        <p14:creationId xmlns:p14="http://schemas.microsoft.com/office/powerpoint/2010/main" val="15578119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title">
            <a:extLst>
              <a:ext uri="{FF2B5EF4-FFF2-40B4-BE49-F238E27FC236}">
                <a16:creationId xmlns:a16="http://schemas.microsoft.com/office/drawing/2014/main" id="{04B2D256-661A-413A-B067-26C62FBCB76C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92011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OOT: Static and Recursive Forecasts</a:t>
            </a:r>
          </a:p>
        </p:txBody>
      </p:sp>
      <p:sp>
        <p:nvSpPr>
          <p:cNvPr id="5" name="16">
            <a:extLst>
              <a:ext uri="{FF2B5EF4-FFF2-40B4-BE49-F238E27FC236}">
                <a16:creationId xmlns:a16="http://schemas.microsoft.com/office/drawing/2014/main" id="{B18967CE-514E-4B63-BFA2-12BFFAA69BC4}"/>
              </a:ext>
            </a:extLst>
          </p:cNvPr>
          <p:cNvSpPr>
            <a:spLocks noGrp="1"/>
          </p:cNvSpPr>
          <p:nvPr/>
        </p:nvSpPr>
        <p:spPr>
          <a:xfrm>
            <a:off x="11382375" y="65913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7" name="27 months, October 2023 – December 2025. Both use froze">
            <a:extLst>
              <a:ext uri="{FF2B5EF4-FFF2-40B4-BE49-F238E27FC236}">
                <a16:creationId xmlns:a16="http://schemas.microsoft.com/office/drawing/2014/main" id="{5D519A26-3DDF-42C2-BDD4-2911214D0B7C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9061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0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27 months, October 2023 – December 2025. Both use frozen IS coefficients.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="609600" y="1685925"/>
          <a:ext cx="10972800" cy="2724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0" name="表格 23"/>
          <p:cNvGraphicFramePr/>
          <p:nvPr/>
        </p:nvGraphicFramePr>
        <p:xfrm>
          <a:off x="609600" y="4552950"/>
          <a:ext cx="10972800" cy="1143000"/>
        </p:xfrm>
        <a:graphic>
          <a:graphicData uri="http://schemas.openxmlformats.org/drawingml/2006/table">
            <a:tbl>
              <a:tblPr/>
              <a:tblGrid>
                <a:gridCol w="5295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5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Forecast mode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RMSE (source units)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MAPE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Static, observed lag history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485.81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19.15%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Fully recursive fee / growth / EC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628.18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25.62%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Static forecasts use observed lagged fees. Recursive fo">
            <a:extLst>
              <a:ext uri="{FF2B5EF4-FFF2-40B4-BE49-F238E27FC236}">
                <a16:creationId xmlns:a16="http://schemas.microsoft.com/office/drawing/2014/main" id="{1F3E50BE-5273-4502-9962-C9084BE98510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Static forecasts use observed lagged fees. Recursive forecasts update the fee path without future actuals.</a:t>
            </a:r>
          </a:p>
        </p:txBody>
      </p:sp>
    </p:spTree>
    <p:extLst>
      <p:ext uri="{BB962C8B-B14F-4D97-AF65-F5344CB8AC3E}">
        <p14:creationId xmlns:p14="http://schemas.microsoft.com/office/powerpoint/2010/main" val="768487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title">
            <a:extLst>
              <a:ext uri="{FF2B5EF4-FFF2-40B4-BE49-F238E27FC236}">
                <a16:creationId xmlns:a16="http://schemas.microsoft.com/office/drawing/2014/main" id="{B00BF503-DD45-429F-98D1-CD1B1037E99D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92011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Exploratory Trend Overlay</a:t>
            </a:r>
          </a:p>
        </p:txBody>
      </p:sp>
      <p:sp>
        <p:nvSpPr>
          <p:cNvPr id="5" name="20">
            <a:extLst>
              <a:ext uri="{FF2B5EF4-FFF2-40B4-BE49-F238E27FC236}">
                <a16:creationId xmlns:a16="http://schemas.microsoft.com/office/drawing/2014/main" id="{EF000836-7285-489F-BA0F-68DD57D09473}"/>
              </a:ext>
            </a:extLst>
          </p:cNvPr>
          <p:cNvSpPr>
            <a:spLocks noGrp="1"/>
          </p:cNvSpPr>
          <p:nvPr/>
        </p:nvSpPr>
        <p:spPr>
          <a:xfrm>
            <a:off x="11382375" y="65913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7" name="Adjusted level = frozen long-run fit + EC trend. Last-n">
            <a:extLst>
              <a:ext uri="{FF2B5EF4-FFF2-40B4-BE49-F238E27FC236}">
                <a16:creationId xmlns:a16="http://schemas.microsoft.com/office/drawing/2014/main" id="{828E080D-FBA5-4877-9206-230727452F60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9061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0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Adjusted level = frozen long-run fit + EC trend. Last-nine-month evaluation begins April 2025.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="609600" y="1685925"/>
          <a:ext cx="10972800" cy="2724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0" name="表格 23"/>
          <p:cNvGraphicFramePr/>
          <p:nvPr/>
        </p:nvGraphicFramePr>
        <p:xfrm>
          <a:off x="609600" y="4552950"/>
          <a:ext cx="10972800" cy="1143000"/>
        </p:xfrm>
        <a:graphic>
          <a:graphicData uri="http://schemas.openxmlformats.org/drawingml/2006/table">
            <a:tbl>
              <a:tblPr/>
              <a:tblGrid>
                <a:gridCol w="666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2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2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Trend estimation / evaluation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RMSE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MAPE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All 27 OOT months: retrospective fit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122.49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4.60%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First 18 fit, last 9 evaluate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155.13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5.91%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The last-nine-month check is encouraging, but it is a l">
            <a:extLst>
              <a:ext uri="{FF2B5EF4-FFF2-40B4-BE49-F238E27FC236}">
                <a16:creationId xmlns:a16="http://schemas.microsoft.com/office/drawing/2014/main" id="{DC8E3973-2E1D-48F9-9712-9E66BCD860DD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The last-nine-month check is encouraging, but it is a limited exploratory test of a separate level adjustment.</a:t>
            </a:r>
          </a:p>
        </p:txBody>
      </p:sp>
    </p:spTree>
    <p:extLst>
      <p:ext uri="{BB962C8B-B14F-4D97-AF65-F5344CB8AC3E}">
        <p14:creationId xmlns:p14="http://schemas.microsoft.com/office/powerpoint/2010/main" val="8464461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title">
            <a:extLst>
              <a:ext uri="{FF2B5EF4-FFF2-40B4-BE49-F238E27FC236}">
                <a16:creationId xmlns:a16="http://schemas.microsoft.com/office/drawing/2014/main" id="{90CB9C0D-F2F5-4EC0-BE7F-297E51DCE134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92011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Forecast Application and Scenario Readiness</a:t>
            </a:r>
          </a:p>
        </p:txBody>
      </p:sp>
      <p:sp>
        <p:nvSpPr>
          <p:cNvPr id="5" name="21">
            <a:extLst>
              <a:ext uri="{FF2B5EF4-FFF2-40B4-BE49-F238E27FC236}">
                <a16:creationId xmlns:a16="http://schemas.microsoft.com/office/drawing/2014/main" id="{82F601E0-C27A-4DF0-A950-5CA565C9339A}"/>
              </a:ext>
            </a:extLst>
          </p:cNvPr>
          <p:cNvSpPr>
            <a:spLocks noGrp="1"/>
          </p:cNvSpPr>
          <p:nvPr/>
        </p:nvSpPr>
        <p:spPr>
          <a:xfrm>
            <a:off x="11382375" y="65913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7" name="Inputs required for a conditional forecast">
            <a:extLst>
              <a:ext uri="{FF2B5EF4-FFF2-40B4-BE49-F238E27FC236}">
                <a16:creationId xmlns:a16="http://schemas.microsoft.com/office/drawing/2014/main" id="{27FB8053-5F4B-4053-AD27-2F9C40580D60}"/>
              </a:ext>
            </a:extLst>
          </p:cNvPr>
          <p:cNvSpPr>
            <a:spLocks noGrp="1"/>
          </p:cNvSpPr>
          <p:nvPr/>
        </p:nvSpPr>
        <p:spPr>
          <a:xfrm>
            <a:off x="647700" y="1438275"/>
            <a:ext cx="10477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950" b="1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52F38"/>
                </a:solidFill>
                <a:latin typeface="Arial"/>
                <a:ea typeface="Arial"/>
                <a:cs typeface="Arial"/>
              </a:rPr>
              <a:t>Inputs required for a conditional forecast</a:t>
            </a:r>
          </a:p>
        </p:txBody>
      </p:sp>
      <p:sp>
        <p:nvSpPr>
          <p:cNvPr id="8" name="Observed fee and growth history, CPI and SBOpt level pa">
            <a:extLst>
              <a:ext uri="{FF2B5EF4-FFF2-40B4-BE49-F238E27FC236}">
                <a16:creationId xmlns:a16="http://schemas.microsoft.com/office/drawing/2014/main" id="{4C451C36-6EC1-47D6-8A9F-6438279994D8}"/>
              </a:ext>
            </a:extLst>
          </p:cNvPr>
          <p:cNvSpPr>
            <a:spLocks noGrp="1"/>
          </p:cNvSpPr>
          <p:nvPr/>
        </p:nvSpPr>
        <p:spPr>
          <a:xfrm>
            <a:off x="647700" y="1838325"/>
            <a:ext cx="104775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75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Observed fee and growth history, CPI and SBOpt level paths, and corporate-profits annual growth.</a:t>
            </a:r>
          </a:p>
        </p:txBody>
      </p:sp>
      <p:sp>
        <p:nvSpPr>
          <p:cNvPr id="9" name="Recursive implementation">
            <a:extLst>
              <a:ext uri="{FF2B5EF4-FFF2-40B4-BE49-F238E27FC236}">
                <a16:creationId xmlns:a16="http://schemas.microsoft.com/office/drawing/2014/main" id="{E07C30E4-9CE0-4E68-92E6-9848D1F19371}"/>
              </a:ext>
            </a:extLst>
          </p:cNvPr>
          <p:cNvSpPr>
            <a:spLocks noGrp="1"/>
          </p:cNvSpPr>
          <p:nvPr/>
        </p:nvSpPr>
        <p:spPr>
          <a:xfrm>
            <a:off x="647700" y="2943225"/>
            <a:ext cx="10477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950" b="1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52F38"/>
                </a:solidFill>
                <a:latin typeface="Arial"/>
                <a:ea typeface="Arial"/>
                <a:cs typeface="Arial"/>
              </a:rPr>
              <a:t>Recursive implementation</a:t>
            </a:r>
          </a:p>
        </p:txBody>
      </p:sp>
      <p:sp>
        <p:nvSpPr>
          <p:cNvPr id="10" name="Freeze coefficients at the forecast origin. Update fee ">
            <a:extLst>
              <a:ext uri="{FF2B5EF4-FFF2-40B4-BE49-F238E27FC236}">
                <a16:creationId xmlns:a16="http://schemas.microsoft.com/office/drawing/2014/main" id="{41B666FB-9F0F-4171-986B-40AC6D9BF13C}"/>
              </a:ext>
            </a:extLst>
          </p:cNvPr>
          <p:cNvSpPr>
            <a:spLocks noGrp="1"/>
          </p:cNvSpPr>
          <p:nvPr/>
        </p:nvSpPr>
        <p:spPr>
          <a:xfrm>
            <a:off x="647700" y="3343275"/>
            <a:ext cx="104775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75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Freeze coefficients at the forecast origin. Update fee levels, annual growth and EC from the generated path after actual data end.</a:t>
            </a:r>
          </a:p>
        </p:txBody>
      </p:sp>
      <p:sp>
        <p:nvSpPr>
          <p:cNvPr id="11" name="Decision before stress-testing use">
            <a:extLst>
              <a:ext uri="{FF2B5EF4-FFF2-40B4-BE49-F238E27FC236}">
                <a16:creationId xmlns:a16="http://schemas.microsoft.com/office/drawing/2014/main" id="{03F4A78B-870E-4EA6-87D5-4FC39EE9E3BB}"/>
              </a:ext>
            </a:extLst>
          </p:cNvPr>
          <p:cNvSpPr>
            <a:spLocks noGrp="1"/>
          </p:cNvSpPr>
          <p:nvPr/>
        </p:nvSpPr>
        <p:spPr>
          <a:xfrm>
            <a:off x="647700" y="4457700"/>
            <a:ext cx="10477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950" b="1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52F38"/>
                </a:solidFill>
                <a:latin typeface="Arial"/>
                <a:ea typeface="Arial"/>
                <a:cs typeface="Arial"/>
              </a:rPr>
              <a:t>Decision before stress-testing use</a:t>
            </a:r>
          </a:p>
        </p:txBody>
      </p:sp>
      <p:sp>
        <p:nvSpPr>
          <p:cNvPr id="12" name="Resolve the shifted fee baseline and specify any overla">
            <a:extLst>
              <a:ext uri="{FF2B5EF4-FFF2-40B4-BE49-F238E27FC236}">
                <a16:creationId xmlns:a16="http://schemas.microsoft.com/office/drawing/2014/main" id="{84CD8ED3-7D70-41EF-8AAD-F8C322DCC15E}"/>
              </a:ext>
            </a:extLst>
          </p:cNvPr>
          <p:cNvSpPr>
            <a:spLocks noGrp="1"/>
          </p:cNvSpPr>
          <p:nvPr/>
        </p:nvSpPr>
        <p:spPr>
          <a:xfrm>
            <a:off x="647700" y="4857750"/>
            <a:ext cx="104775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75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Resolve the shifted fee baseline and specify any overlay. The saved research does not establish a validated future stress scenario.</a:t>
            </a:r>
          </a:p>
        </p:txBody>
      </p:sp>
      <p:sp>
        <p:nvSpPr>
          <p:cNvPr id="14" name="Backtests use supplied macro paths with unverified rele">
            <a:extLst>
              <a:ext uri="{FF2B5EF4-FFF2-40B4-BE49-F238E27FC236}">
                <a16:creationId xmlns:a16="http://schemas.microsoft.com/office/drawing/2014/main" id="{CCFB4617-F194-4FF6-9E59-B27C9033881B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Backtests use supplied macro paths with unverified release vintages. Results are conditional, not fully ex-ante.</a:t>
            </a:r>
          </a:p>
        </p:txBody>
      </p:sp>
    </p:spTree>
    <p:extLst>
      <p:ext uri="{BB962C8B-B14F-4D97-AF65-F5344CB8AC3E}">
        <p14:creationId xmlns:p14="http://schemas.microsoft.com/office/powerpoint/2010/main" val="6844836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title">
            <a:extLst>
              <a:ext uri="{FF2B5EF4-FFF2-40B4-BE49-F238E27FC236}">
                <a16:creationId xmlns:a16="http://schemas.microsoft.com/office/drawing/2014/main" id="{389CE828-964B-4DA0-A92D-BED26B394595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92011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Model Risk Assessment</a:t>
            </a:r>
          </a:p>
        </p:txBody>
      </p:sp>
      <p:sp>
        <p:nvSpPr>
          <p:cNvPr id="5" name="22">
            <a:extLst>
              <a:ext uri="{FF2B5EF4-FFF2-40B4-BE49-F238E27FC236}">
                <a16:creationId xmlns:a16="http://schemas.microsoft.com/office/drawing/2014/main" id="{6FF66CDA-9E47-489C-A61B-7E0BADDEC5FC}"/>
              </a:ext>
            </a:extLst>
          </p:cNvPr>
          <p:cNvSpPr>
            <a:spLocks noGrp="1"/>
          </p:cNvSpPr>
          <p:nvPr/>
        </p:nvSpPr>
        <p:spPr>
          <a:xfrm>
            <a:off x="11382375" y="65913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graphicFrame>
        <p:nvGraphicFramePr>
          <p:cNvPr id="15" name="表格 18"/>
          <p:cNvGraphicFramePr/>
          <p:nvPr/>
        </p:nvGraphicFramePr>
        <p:xfrm>
          <a:off x="609600" y="1495425"/>
          <a:ext cx="10972800" cy="4122420"/>
        </p:xfrm>
        <a:graphic>
          <a:graphicData uri="http://schemas.openxmlformats.org/drawingml/2006/table">
            <a:tbl>
              <a:tblPr/>
              <a:tblGrid>
                <a:gridCol w="5095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76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102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Evidence / limitation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Implication for model use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Transparent equations and low VIF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Interpretable specification with limited linear collinearity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Formal EG p = 0.087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Long-run equilibrium assumption needs further support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OOT informs screening and lag ranking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A new untouched validation window is needed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Large OOT errors and coefficient drift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Historical parameters do not describe the later period reliably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Overlay fitted to observed post-cutoff gaps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Document cause, duration and prospective validation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Macro releases / vintages unverified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Historical forecasts remain conditional on supplied macro data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Current status: research candidate requiring redevelopm">
            <a:extLst>
              <a:ext uri="{FF2B5EF4-FFF2-40B4-BE49-F238E27FC236}">
                <a16:creationId xmlns:a16="http://schemas.microsoft.com/office/drawing/2014/main" id="{FC05EDF5-0398-4D4F-BB3E-E48F266DC290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Current status: research candidate requiring redevelopment and independent validation before operational use.</a:t>
            </a:r>
          </a:p>
        </p:txBody>
      </p:sp>
    </p:spTree>
    <p:extLst>
      <p:ext uri="{BB962C8B-B14F-4D97-AF65-F5344CB8AC3E}">
        <p14:creationId xmlns:p14="http://schemas.microsoft.com/office/powerpoint/2010/main" val="3367490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title">
            <a:extLst>
              <a:ext uri="{FF2B5EF4-FFF2-40B4-BE49-F238E27FC236}">
                <a16:creationId xmlns:a16="http://schemas.microsoft.com/office/drawing/2014/main" id="{57E5BFB8-8F06-4673-A236-59C792FFCC95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92011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5" name="23">
            <a:extLst>
              <a:ext uri="{FF2B5EF4-FFF2-40B4-BE49-F238E27FC236}">
                <a16:creationId xmlns:a16="http://schemas.microsoft.com/office/drawing/2014/main" id="{E3D218D6-BCF4-4689-BF54-126573DDD9D5}"/>
              </a:ext>
            </a:extLst>
          </p:cNvPr>
          <p:cNvSpPr>
            <a:spLocks noGrp="1"/>
          </p:cNvSpPr>
          <p:nvPr/>
        </p:nvSpPr>
        <p:spPr>
          <a:xfrm>
            <a:off x="11382375" y="65913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7" name="What the research establishes">
            <a:extLst>
              <a:ext uri="{FF2B5EF4-FFF2-40B4-BE49-F238E27FC236}">
                <a16:creationId xmlns:a16="http://schemas.microsoft.com/office/drawing/2014/main" id="{FF6BEC75-5EB9-460F-B701-04872E4034D7}"/>
              </a:ext>
            </a:extLst>
          </p:cNvPr>
          <p:cNvSpPr>
            <a:spLocks noGrp="1"/>
          </p:cNvSpPr>
          <p:nvPr/>
        </p:nvSpPr>
        <p:spPr>
          <a:xfrm>
            <a:off x="647700" y="1428750"/>
            <a:ext cx="10477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950" b="1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52F38"/>
                </a:solidFill>
                <a:latin typeface="Arial"/>
                <a:ea typeface="Arial"/>
                <a:cs typeface="Arial"/>
              </a:rPr>
              <a:t>What the research establishes</a:t>
            </a:r>
          </a:p>
        </p:txBody>
      </p:sp>
      <p:sp>
        <p:nvSpPr>
          <p:cNvPr id="8" name="The two-step model explains much of historical annual f">
            <a:extLst>
              <a:ext uri="{FF2B5EF4-FFF2-40B4-BE49-F238E27FC236}">
                <a16:creationId xmlns:a16="http://schemas.microsoft.com/office/drawing/2014/main" id="{344216F6-83BA-41E4-9229-7A2ED0B93FAE}"/>
              </a:ext>
            </a:extLst>
          </p:cNvPr>
          <p:cNvSpPr>
            <a:spLocks noGrp="1"/>
          </p:cNvSpPr>
          <p:nvPr/>
        </p:nvSpPr>
        <p:spPr>
          <a:xfrm>
            <a:off x="647700" y="1828800"/>
            <a:ext cx="104775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75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The two-step model explains much of historical annual fee growth. Growth persistence and the lagged equilibrium gap drive most of the short-run fit.</a:t>
            </a:r>
          </a:p>
        </p:txBody>
      </p:sp>
      <p:sp>
        <p:nvSpPr>
          <p:cNvPr id="9" name="What prevents a stronger conclusion">
            <a:extLst>
              <a:ext uri="{FF2B5EF4-FFF2-40B4-BE49-F238E27FC236}">
                <a16:creationId xmlns:a16="http://schemas.microsoft.com/office/drawing/2014/main" id="{6C199771-E9B2-47D5-96CD-A9FFD807D35A}"/>
              </a:ext>
            </a:extLst>
          </p:cNvPr>
          <p:cNvSpPr>
            <a:spLocks noGrp="1"/>
          </p:cNvSpPr>
          <p:nvPr/>
        </p:nvSpPr>
        <p:spPr>
          <a:xfrm>
            <a:off x="647700" y="2933700"/>
            <a:ext cx="10477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950" b="1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52F38"/>
                </a:solidFill>
                <a:latin typeface="Arial"/>
                <a:ea typeface="Arial"/>
                <a:cs typeface="Arial"/>
              </a:rPr>
              <a:t>What prevents a stronger conclusion</a:t>
            </a:r>
          </a:p>
        </p:txBody>
      </p:sp>
      <p:sp>
        <p:nvSpPr>
          <p:cNvPr id="10" name="The later fee level separates from the CPI / optimism r">
            <a:extLst>
              <a:ext uri="{FF2B5EF4-FFF2-40B4-BE49-F238E27FC236}">
                <a16:creationId xmlns:a16="http://schemas.microsoft.com/office/drawing/2014/main" id="{F56B6846-78D8-4FD2-A3EB-A0674493CC11}"/>
              </a:ext>
            </a:extLst>
          </p:cNvPr>
          <p:cNvSpPr>
            <a:spLocks noGrp="1"/>
          </p:cNvSpPr>
          <p:nvPr/>
        </p:nvSpPr>
        <p:spPr>
          <a:xfrm>
            <a:off x="647700" y="3333750"/>
            <a:ext cx="104775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75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The later fee level separates from the CPI / optimism relationship. Both static and recursive forecasts show material error, and OOT informed selection.</a:t>
            </a:r>
          </a:p>
        </p:txBody>
      </p:sp>
      <p:sp>
        <p:nvSpPr>
          <p:cNvPr id="11" name="Next development cycle">
            <a:extLst>
              <a:ext uri="{FF2B5EF4-FFF2-40B4-BE49-F238E27FC236}">
                <a16:creationId xmlns:a16="http://schemas.microsoft.com/office/drawing/2014/main" id="{39C3DB68-4E35-4C30-9DBD-39C6239A337B}"/>
              </a:ext>
            </a:extLst>
          </p:cNvPr>
          <p:cNvSpPr>
            <a:spLocks noGrp="1"/>
          </p:cNvSpPr>
          <p:nvPr/>
        </p:nvSpPr>
        <p:spPr>
          <a:xfrm>
            <a:off x="647700" y="4438650"/>
            <a:ext cx="10477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950" b="1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52F38"/>
                </a:solidFill>
                <a:latin typeface="Arial"/>
                <a:ea typeface="Arial"/>
                <a:cs typeface="Arial"/>
              </a:rPr>
              <a:t>Next development cycle</a:t>
            </a:r>
          </a:p>
        </p:txBody>
      </p:sp>
      <p:sp>
        <p:nvSpPr>
          <p:cNvPr id="12" name="Reconcile the post-2023 business change, refresh the lo">
            <a:extLst>
              <a:ext uri="{FF2B5EF4-FFF2-40B4-BE49-F238E27FC236}">
                <a16:creationId xmlns:a16="http://schemas.microsoft.com/office/drawing/2014/main" id="{9A87704A-A536-420F-BC7B-4F0F448CE7DF}"/>
              </a:ext>
            </a:extLst>
          </p:cNvPr>
          <p:cNvSpPr>
            <a:spLocks noGrp="1"/>
          </p:cNvSpPr>
          <p:nvPr/>
        </p:nvSpPr>
        <p:spPr>
          <a:xfrm>
            <a:off x="647700" y="4838700"/>
            <a:ext cx="104775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75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Reconcile the post-2023 business change, refresh the long-run specification, freeze selection rules, and test the model and any overlay on new data.</a:t>
            </a:r>
          </a:p>
        </p:txBody>
      </p:sp>
      <p:sp>
        <p:nvSpPr>
          <p:cNvPr id="14" name="Retain the documented model as a challenger and use the">
            <a:extLst>
              <a:ext uri="{FF2B5EF4-FFF2-40B4-BE49-F238E27FC236}">
                <a16:creationId xmlns:a16="http://schemas.microsoft.com/office/drawing/2014/main" id="{F68B0743-E1EA-4BAC-9D17-3D2AA10E0F26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Retain the documented model as a challenger and use the observed level shift to guide the next specification.</a:t>
            </a:r>
          </a:p>
        </p:txBody>
      </p:sp>
    </p:spTree>
    <p:extLst>
      <p:ext uri="{BB962C8B-B14F-4D97-AF65-F5344CB8AC3E}">
        <p14:creationId xmlns:p14="http://schemas.microsoft.com/office/powerpoint/2010/main" val="6018934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title">
            <a:extLst>
              <a:ext uri="{FF2B5EF4-FFF2-40B4-BE49-F238E27FC236}">
                <a16:creationId xmlns:a16="http://schemas.microsoft.com/office/drawing/2014/main" id="{3D03390E-5011-47D3-A74E-DDFF0AFB88FA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92011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Appendix: Model Definitions</a:t>
            </a:r>
          </a:p>
        </p:txBody>
      </p:sp>
      <p:sp>
        <p:nvSpPr>
          <p:cNvPr id="5" name="24">
            <a:extLst>
              <a:ext uri="{FF2B5EF4-FFF2-40B4-BE49-F238E27FC236}">
                <a16:creationId xmlns:a16="http://schemas.microsoft.com/office/drawing/2014/main" id="{DB08544F-68B9-4F2C-A0C3-1A5E30F33CE6}"/>
              </a:ext>
            </a:extLst>
          </p:cNvPr>
          <p:cNvSpPr>
            <a:spLocks noGrp="1"/>
          </p:cNvSpPr>
          <p:nvPr/>
        </p:nvSpPr>
        <p:spPr>
          <a:xfrm>
            <a:off x="11382375" y="65913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graphicFrame>
        <p:nvGraphicFramePr>
          <p:cNvPr id="17" name="表格 20"/>
          <p:cNvGraphicFramePr/>
          <p:nvPr/>
        </p:nvGraphicFramePr>
        <p:xfrm>
          <a:off x="609600" y="1476375"/>
          <a:ext cx="10972800" cy="3190873"/>
        </p:xfrm>
        <a:graphic>
          <a:graphicData uri="http://schemas.openxmlformats.org/drawingml/2006/table">
            <a:tbl>
              <a:tblPr/>
              <a:tblGrid>
                <a:gridCol w="2905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67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5839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Term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Definition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5839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Fₜ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Commercial Card fee + Small Business fee, original source units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5839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gₜ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100 × (Fₜ / Fₜ₋₁₂ − 1), expressed as a percentage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5839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ECₜ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Fₜ − (−3,766.5151 + 19.435917 CPIₜ + 3.872185 SBOptₜ)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5839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CorpProfits_YoYₜ₋₃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100 × (CorpProfitsₜ₋₃ / CorpProfitsₜ₋₁₅ − 1)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5839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Static / recursive OOT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Observed lagged fees / recursively generated post-cutoff fee history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5839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Overlay evaluation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First 18 months: Oct 2023–Mar 2025. Last 9: Apr–Dec 2025.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024140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2033</Words>
  <Application>Microsoft Macintosh PowerPoint</Application>
  <DocSecurity>0</DocSecurity>
  <PresentationFormat>宽屏</PresentationFormat>
  <Paragraphs>468</Paragraphs>
  <Slides>25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28" baseType="lpstr">
      <vt:lpstr>Arial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宇轩 黄</cp:lastModifiedBy>
  <cp:revision>1</cp:revision>
  <dcterms:created xsi:type="dcterms:W3CDTF">2026-09-24T19:18:25Z</dcterms:created>
  <dcterms:modified xsi:type="dcterms:W3CDTF">2026-09-24T20:04:17Z</dcterms:modified>
</cp:coreProperties>
</file>