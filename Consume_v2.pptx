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74"/>
  </p:normalViewPr>
  <p:slideViewPr>
    <p:cSldViewPr snapToGrid="0">
      <p:cViewPr varScale="1">
        <p:scale>
          <a:sx n="102" d="100"/>
          <a:sy n="102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Monthly Consumer Card fee revenue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Actual fee revenue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Data'!$A$2:$A$187</c:f>
              <c:numCache>
                <c:formatCode>General</c:formatCode>
                <c:ptCount val="186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  <c:pt idx="62">
                  <c:v>42430</c:v>
                </c:pt>
                <c:pt idx="63">
                  <c:v>42461</c:v>
                </c:pt>
                <c:pt idx="64">
                  <c:v>42491</c:v>
                </c:pt>
                <c:pt idx="65">
                  <c:v>42522</c:v>
                </c:pt>
                <c:pt idx="66">
                  <c:v>42552</c:v>
                </c:pt>
                <c:pt idx="67">
                  <c:v>42583</c:v>
                </c:pt>
                <c:pt idx="68">
                  <c:v>42614</c:v>
                </c:pt>
                <c:pt idx="69">
                  <c:v>42644</c:v>
                </c:pt>
                <c:pt idx="70">
                  <c:v>42675</c:v>
                </c:pt>
                <c:pt idx="71">
                  <c:v>42705</c:v>
                </c:pt>
                <c:pt idx="72">
                  <c:v>42736</c:v>
                </c:pt>
                <c:pt idx="73">
                  <c:v>42767</c:v>
                </c:pt>
                <c:pt idx="74">
                  <c:v>42795</c:v>
                </c:pt>
                <c:pt idx="75">
                  <c:v>42826</c:v>
                </c:pt>
                <c:pt idx="76">
                  <c:v>42856</c:v>
                </c:pt>
                <c:pt idx="77">
                  <c:v>42887</c:v>
                </c:pt>
                <c:pt idx="78">
                  <c:v>42917</c:v>
                </c:pt>
                <c:pt idx="79">
                  <c:v>42948</c:v>
                </c:pt>
                <c:pt idx="80">
                  <c:v>42979</c:v>
                </c:pt>
                <c:pt idx="81">
                  <c:v>43009</c:v>
                </c:pt>
                <c:pt idx="82">
                  <c:v>43040</c:v>
                </c:pt>
                <c:pt idx="83">
                  <c:v>43070</c:v>
                </c:pt>
                <c:pt idx="84">
                  <c:v>43101</c:v>
                </c:pt>
                <c:pt idx="85">
                  <c:v>43132</c:v>
                </c:pt>
                <c:pt idx="86">
                  <c:v>43160</c:v>
                </c:pt>
                <c:pt idx="87">
                  <c:v>43191</c:v>
                </c:pt>
                <c:pt idx="88">
                  <c:v>43221</c:v>
                </c:pt>
                <c:pt idx="89">
                  <c:v>43252</c:v>
                </c:pt>
                <c:pt idx="90">
                  <c:v>43282</c:v>
                </c:pt>
                <c:pt idx="91">
                  <c:v>43313</c:v>
                </c:pt>
                <c:pt idx="92">
                  <c:v>43344</c:v>
                </c:pt>
                <c:pt idx="93">
                  <c:v>43374</c:v>
                </c:pt>
                <c:pt idx="94">
                  <c:v>43405</c:v>
                </c:pt>
                <c:pt idx="95">
                  <c:v>43435</c:v>
                </c:pt>
                <c:pt idx="96">
                  <c:v>43466</c:v>
                </c:pt>
                <c:pt idx="97">
                  <c:v>43497</c:v>
                </c:pt>
                <c:pt idx="98">
                  <c:v>43525</c:v>
                </c:pt>
                <c:pt idx="99">
                  <c:v>43556</c:v>
                </c:pt>
                <c:pt idx="100">
                  <c:v>43586</c:v>
                </c:pt>
                <c:pt idx="101">
                  <c:v>43617</c:v>
                </c:pt>
                <c:pt idx="102">
                  <c:v>43647</c:v>
                </c:pt>
                <c:pt idx="103">
                  <c:v>43678</c:v>
                </c:pt>
                <c:pt idx="104">
                  <c:v>43709</c:v>
                </c:pt>
                <c:pt idx="105">
                  <c:v>43739</c:v>
                </c:pt>
                <c:pt idx="106">
                  <c:v>43770</c:v>
                </c:pt>
                <c:pt idx="107">
                  <c:v>43800</c:v>
                </c:pt>
                <c:pt idx="108">
                  <c:v>43831</c:v>
                </c:pt>
                <c:pt idx="109">
                  <c:v>43862</c:v>
                </c:pt>
                <c:pt idx="110">
                  <c:v>43891</c:v>
                </c:pt>
                <c:pt idx="111">
                  <c:v>43922</c:v>
                </c:pt>
                <c:pt idx="112">
                  <c:v>43952</c:v>
                </c:pt>
                <c:pt idx="113">
                  <c:v>43983</c:v>
                </c:pt>
                <c:pt idx="114">
                  <c:v>44013</c:v>
                </c:pt>
                <c:pt idx="115">
                  <c:v>44044</c:v>
                </c:pt>
                <c:pt idx="116">
                  <c:v>44075</c:v>
                </c:pt>
                <c:pt idx="117">
                  <c:v>44105</c:v>
                </c:pt>
                <c:pt idx="118">
                  <c:v>44136</c:v>
                </c:pt>
                <c:pt idx="119">
                  <c:v>44166</c:v>
                </c:pt>
                <c:pt idx="120">
                  <c:v>44197</c:v>
                </c:pt>
                <c:pt idx="121">
                  <c:v>44228</c:v>
                </c:pt>
                <c:pt idx="122">
                  <c:v>44256</c:v>
                </c:pt>
                <c:pt idx="123">
                  <c:v>44287</c:v>
                </c:pt>
                <c:pt idx="124">
                  <c:v>44317</c:v>
                </c:pt>
                <c:pt idx="125">
                  <c:v>44348</c:v>
                </c:pt>
                <c:pt idx="126">
                  <c:v>44378</c:v>
                </c:pt>
                <c:pt idx="127">
                  <c:v>44409</c:v>
                </c:pt>
                <c:pt idx="128">
                  <c:v>44440</c:v>
                </c:pt>
                <c:pt idx="129">
                  <c:v>44470</c:v>
                </c:pt>
                <c:pt idx="130">
                  <c:v>44501</c:v>
                </c:pt>
                <c:pt idx="131">
                  <c:v>44531</c:v>
                </c:pt>
                <c:pt idx="132">
                  <c:v>44562</c:v>
                </c:pt>
                <c:pt idx="133">
                  <c:v>44593</c:v>
                </c:pt>
                <c:pt idx="134">
                  <c:v>44621</c:v>
                </c:pt>
                <c:pt idx="135">
                  <c:v>44652</c:v>
                </c:pt>
                <c:pt idx="136">
                  <c:v>44682</c:v>
                </c:pt>
                <c:pt idx="137">
                  <c:v>44713</c:v>
                </c:pt>
                <c:pt idx="138">
                  <c:v>44743</c:v>
                </c:pt>
                <c:pt idx="139">
                  <c:v>44774</c:v>
                </c:pt>
                <c:pt idx="140">
                  <c:v>44805</c:v>
                </c:pt>
                <c:pt idx="141">
                  <c:v>44835</c:v>
                </c:pt>
                <c:pt idx="142">
                  <c:v>44866</c:v>
                </c:pt>
                <c:pt idx="143">
                  <c:v>44896</c:v>
                </c:pt>
                <c:pt idx="144">
                  <c:v>44927</c:v>
                </c:pt>
                <c:pt idx="145">
                  <c:v>44958</c:v>
                </c:pt>
                <c:pt idx="146">
                  <c:v>44986</c:v>
                </c:pt>
                <c:pt idx="147">
                  <c:v>45017</c:v>
                </c:pt>
                <c:pt idx="148">
                  <c:v>45047</c:v>
                </c:pt>
                <c:pt idx="149">
                  <c:v>45078</c:v>
                </c:pt>
                <c:pt idx="150">
                  <c:v>45108</c:v>
                </c:pt>
                <c:pt idx="151">
                  <c:v>45139</c:v>
                </c:pt>
                <c:pt idx="152">
                  <c:v>45170</c:v>
                </c:pt>
                <c:pt idx="153">
                  <c:v>45200</c:v>
                </c:pt>
                <c:pt idx="154">
                  <c:v>45231</c:v>
                </c:pt>
                <c:pt idx="155">
                  <c:v>45261</c:v>
                </c:pt>
                <c:pt idx="156">
                  <c:v>45292</c:v>
                </c:pt>
                <c:pt idx="157">
                  <c:v>45323</c:v>
                </c:pt>
                <c:pt idx="158">
                  <c:v>45352</c:v>
                </c:pt>
                <c:pt idx="159">
                  <c:v>45383</c:v>
                </c:pt>
                <c:pt idx="160">
                  <c:v>45413</c:v>
                </c:pt>
                <c:pt idx="161">
                  <c:v>45444</c:v>
                </c:pt>
                <c:pt idx="162">
                  <c:v>45474</c:v>
                </c:pt>
                <c:pt idx="163">
                  <c:v>45505</c:v>
                </c:pt>
                <c:pt idx="164">
                  <c:v>45536</c:v>
                </c:pt>
                <c:pt idx="165">
                  <c:v>45566</c:v>
                </c:pt>
                <c:pt idx="166">
                  <c:v>45597</c:v>
                </c:pt>
                <c:pt idx="167">
                  <c:v>45627</c:v>
                </c:pt>
                <c:pt idx="168">
                  <c:v>45658</c:v>
                </c:pt>
                <c:pt idx="169">
                  <c:v>45689</c:v>
                </c:pt>
                <c:pt idx="170">
                  <c:v>45717</c:v>
                </c:pt>
                <c:pt idx="171">
                  <c:v>45748</c:v>
                </c:pt>
                <c:pt idx="172">
                  <c:v>45778</c:v>
                </c:pt>
                <c:pt idx="173">
                  <c:v>45809</c:v>
                </c:pt>
                <c:pt idx="174">
                  <c:v>45839</c:v>
                </c:pt>
                <c:pt idx="175">
                  <c:v>45870</c:v>
                </c:pt>
                <c:pt idx="176">
                  <c:v>45901</c:v>
                </c:pt>
                <c:pt idx="177">
                  <c:v>45931</c:v>
                </c:pt>
                <c:pt idx="178">
                  <c:v>45962</c:v>
                </c:pt>
                <c:pt idx="179">
                  <c:v>45992</c:v>
                </c:pt>
                <c:pt idx="180">
                  <c:v>46023</c:v>
                </c:pt>
                <c:pt idx="181">
                  <c:v>46054</c:v>
                </c:pt>
                <c:pt idx="182">
                  <c:v>46082</c:v>
                </c:pt>
                <c:pt idx="183">
                  <c:v>46113</c:v>
                </c:pt>
                <c:pt idx="184">
                  <c:v>46143</c:v>
                </c:pt>
                <c:pt idx="185">
                  <c:v>46174</c:v>
                </c:pt>
              </c:numCache>
            </c:numRef>
          </c:xVal>
          <c:yVal>
            <c:numRef>
              <c:f>'Chart Data'!$B$2:$B$187</c:f>
              <c:numCache>
                <c:formatCode>#,##0</c:formatCode>
                <c:ptCount val="186"/>
                <c:pt idx="0">
                  <c:v>745</c:v>
                </c:pt>
                <c:pt idx="1">
                  <c:v>771</c:v>
                </c:pt>
                <c:pt idx="2">
                  <c:v>1023</c:v>
                </c:pt>
                <c:pt idx="3">
                  <c:v>983</c:v>
                </c:pt>
                <c:pt idx="4">
                  <c:v>742</c:v>
                </c:pt>
                <c:pt idx="5">
                  <c:v>933</c:v>
                </c:pt>
                <c:pt idx="6">
                  <c:v>884</c:v>
                </c:pt>
                <c:pt idx="7">
                  <c:v>917</c:v>
                </c:pt>
                <c:pt idx="8">
                  <c:v>841</c:v>
                </c:pt>
                <c:pt idx="9">
                  <c:v>817</c:v>
                </c:pt>
                <c:pt idx="10">
                  <c:v>837</c:v>
                </c:pt>
                <c:pt idx="11">
                  <c:v>994</c:v>
                </c:pt>
                <c:pt idx="12">
                  <c:v>770</c:v>
                </c:pt>
                <c:pt idx="13">
                  <c:v>769</c:v>
                </c:pt>
                <c:pt idx="14">
                  <c:v>841</c:v>
                </c:pt>
                <c:pt idx="15">
                  <c:v>846</c:v>
                </c:pt>
                <c:pt idx="16">
                  <c:v>889</c:v>
                </c:pt>
                <c:pt idx="17">
                  <c:v>820</c:v>
                </c:pt>
                <c:pt idx="18">
                  <c:v>769</c:v>
                </c:pt>
                <c:pt idx="19">
                  <c:v>830</c:v>
                </c:pt>
                <c:pt idx="20">
                  <c:v>726</c:v>
                </c:pt>
                <c:pt idx="21">
                  <c:v>824</c:v>
                </c:pt>
                <c:pt idx="22">
                  <c:v>892</c:v>
                </c:pt>
                <c:pt idx="23">
                  <c:v>878</c:v>
                </c:pt>
                <c:pt idx="24">
                  <c:v>729</c:v>
                </c:pt>
                <c:pt idx="25">
                  <c:v>754</c:v>
                </c:pt>
                <c:pt idx="26">
                  <c:v>735</c:v>
                </c:pt>
                <c:pt idx="27">
                  <c:v>831</c:v>
                </c:pt>
                <c:pt idx="28">
                  <c:v>835</c:v>
                </c:pt>
                <c:pt idx="29">
                  <c:v>770</c:v>
                </c:pt>
                <c:pt idx="30">
                  <c:v>754</c:v>
                </c:pt>
                <c:pt idx="31">
                  <c:v>781</c:v>
                </c:pt>
                <c:pt idx="32">
                  <c:v>639</c:v>
                </c:pt>
                <c:pt idx="33">
                  <c:v>626</c:v>
                </c:pt>
                <c:pt idx="34">
                  <c:v>543</c:v>
                </c:pt>
                <c:pt idx="35">
                  <c:v>756</c:v>
                </c:pt>
                <c:pt idx="36">
                  <c:v>545</c:v>
                </c:pt>
                <c:pt idx="37">
                  <c:v>543</c:v>
                </c:pt>
                <c:pt idx="38">
                  <c:v>511</c:v>
                </c:pt>
                <c:pt idx="39">
                  <c:v>676</c:v>
                </c:pt>
                <c:pt idx="40">
                  <c:v>639</c:v>
                </c:pt>
                <c:pt idx="41">
                  <c:v>610</c:v>
                </c:pt>
                <c:pt idx="42">
                  <c:v>651</c:v>
                </c:pt>
                <c:pt idx="43">
                  <c:v>584</c:v>
                </c:pt>
                <c:pt idx="44">
                  <c:v>638</c:v>
                </c:pt>
                <c:pt idx="45">
                  <c:v>606</c:v>
                </c:pt>
                <c:pt idx="46">
                  <c:v>535</c:v>
                </c:pt>
                <c:pt idx="47">
                  <c:v>872</c:v>
                </c:pt>
                <c:pt idx="48">
                  <c:v>550</c:v>
                </c:pt>
                <c:pt idx="49">
                  <c:v>555</c:v>
                </c:pt>
                <c:pt idx="50">
                  <c:v>558</c:v>
                </c:pt>
                <c:pt idx="51">
                  <c:v>541</c:v>
                </c:pt>
                <c:pt idx="52">
                  <c:v>524</c:v>
                </c:pt>
                <c:pt idx="53">
                  <c:v>575</c:v>
                </c:pt>
                <c:pt idx="54">
                  <c:v>546</c:v>
                </c:pt>
                <c:pt idx="55">
                  <c:v>512</c:v>
                </c:pt>
                <c:pt idx="56">
                  <c:v>529</c:v>
                </c:pt>
                <c:pt idx="57">
                  <c:v>482</c:v>
                </c:pt>
                <c:pt idx="58">
                  <c:v>486</c:v>
                </c:pt>
                <c:pt idx="59">
                  <c:v>665</c:v>
                </c:pt>
                <c:pt idx="60">
                  <c:v>438</c:v>
                </c:pt>
                <c:pt idx="61">
                  <c:v>479</c:v>
                </c:pt>
                <c:pt idx="62">
                  <c:v>641</c:v>
                </c:pt>
                <c:pt idx="63">
                  <c:v>514</c:v>
                </c:pt>
                <c:pt idx="64">
                  <c:v>558</c:v>
                </c:pt>
                <c:pt idx="65">
                  <c:v>542</c:v>
                </c:pt>
                <c:pt idx="66">
                  <c:v>493</c:v>
                </c:pt>
                <c:pt idx="67">
                  <c:v>557</c:v>
                </c:pt>
                <c:pt idx="68">
                  <c:v>499</c:v>
                </c:pt>
                <c:pt idx="69">
                  <c:v>458</c:v>
                </c:pt>
                <c:pt idx="70">
                  <c:v>538</c:v>
                </c:pt>
                <c:pt idx="71">
                  <c:v>598</c:v>
                </c:pt>
                <c:pt idx="72">
                  <c:v>501</c:v>
                </c:pt>
                <c:pt idx="73">
                  <c:v>469</c:v>
                </c:pt>
                <c:pt idx="74">
                  <c:v>531</c:v>
                </c:pt>
                <c:pt idx="75">
                  <c:v>487</c:v>
                </c:pt>
                <c:pt idx="76">
                  <c:v>571</c:v>
                </c:pt>
                <c:pt idx="77">
                  <c:v>535</c:v>
                </c:pt>
                <c:pt idx="78">
                  <c:v>495</c:v>
                </c:pt>
                <c:pt idx="79">
                  <c:v>552</c:v>
                </c:pt>
                <c:pt idx="80">
                  <c:v>476</c:v>
                </c:pt>
                <c:pt idx="81">
                  <c:v>526</c:v>
                </c:pt>
                <c:pt idx="82">
                  <c:v>520</c:v>
                </c:pt>
                <c:pt idx="83">
                  <c:v>565</c:v>
                </c:pt>
                <c:pt idx="84">
                  <c:v>519</c:v>
                </c:pt>
                <c:pt idx="85">
                  <c:v>478</c:v>
                </c:pt>
                <c:pt idx="86">
                  <c:v>560</c:v>
                </c:pt>
                <c:pt idx="87">
                  <c:v>527</c:v>
                </c:pt>
                <c:pt idx="88">
                  <c:v>585</c:v>
                </c:pt>
                <c:pt idx="89">
                  <c:v>571</c:v>
                </c:pt>
                <c:pt idx="90">
                  <c:v>572</c:v>
                </c:pt>
                <c:pt idx="91">
                  <c:v>528</c:v>
                </c:pt>
                <c:pt idx="92">
                  <c:v>561</c:v>
                </c:pt>
                <c:pt idx="93">
                  <c:v>551</c:v>
                </c:pt>
                <c:pt idx="94">
                  <c:v>591</c:v>
                </c:pt>
                <c:pt idx="95">
                  <c:v>654</c:v>
                </c:pt>
                <c:pt idx="96">
                  <c:v>550</c:v>
                </c:pt>
                <c:pt idx="97">
                  <c:v>491</c:v>
                </c:pt>
                <c:pt idx="98">
                  <c:v>584</c:v>
                </c:pt>
                <c:pt idx="99">
                  <c:v>562</c:v>
                </c:pt>
                <c:pt idx="100">
                  <c:v>605</c:v>
                </c:pt>
                <c:pt idx="101">
                  <c:v>607</c:v>
                </c:pt>
                <c:pt idx="102">
                  <c:v>585</c:v>
                </c:pt>
                <c:pt idx="103">
                  <c:v>709</c:v>
                </c:pt>
                <c:pt idx="104">
                  <c:v>541</c:v>
                </c:pt>
                <c:pt idx="105">
                  <c:v>715</c:v>
                </c:pt>
                <c:pt idx="106">
                  <c:v>593</c:v>
                </c:pt>
                <c:pt idx="107">
                  <c:v>728</c:v>
                </c:pt>
                <c:pt idx="108">
                  <c:v>527</c:v>
                </c:pt>
                <c:pt idx="109">
                  <c:v>678</c:v>
                </c:pt>
                <c:pt idx="110">
                  <c:v>590</c:v>
                </c:pt>
                <c:pt idx="111">
                  <c:v>467</c:v>
                </c:pt>
                <c:pt idx="112">
                  <c:v>582</c:v>
                </c:pt>
                <c:pt idx="113">
                  <c:v>553</c:v>
                </c:pt>
                <c:pt idx="114">
                  <c:v>602</c:v>
                </c:pt>
                <c:pt idx="115">
                  <c:v>588</c:v>
                </c:pt>
                <c:pt idx="116">
                  <c:v>589</c:v>
                </c:pt>
                <c:pt idx="117">
                  <c:v>616</c:v>
                </c:pt>
                <c:pt idx="118">
                  <c:v>607</c:v>
                </c:pt>
                <c:pt idx="119">
                  <c:v>706</c:v>
                </c:pt>
                <c:pt idx="120">
                  <c:v>642</c:v>
                </c:pt>
                <c:pt idx="121">
                  <c:v>600</c:v>
                </c:pt>
                <c:pt idx="122">
                  <c:v>718</c:v>
                </c:pt>
                <c:pt idx="123">
                  <c:v>747</c:v>
                </c:pt>
                <c:pt idx="124">
                  <c:v>766</c:v>
                </c:pt>
                <c:pt idx="125">
                  <c:v>767</c:v>
                </c:pt>
                <c:pt idx="126">
                  <c:v>747</c:v>
                </c:pt>
                <c:pt idx="127">
                  <c:v>747</c:v>
                </c:pt>
                <c:pt idx="128">
                  <c:v>724</c:v>
                </c:pt>
                <c:pt idx="129">
                  <c:v>727</c:v>
                </c:pt>
                <c:pt idx="130">
                  <c:v>768</c:v>
                </c:pt>
                <c:pt idx="131">
                  <c:v>842</c:v>
                </c:pt>
                <c:pt idx="132">
                  <c:v>724</c:v>
                </c:pt>
                <c:pt idx="133">
                  <c:v>715</c:v>
                </c:pt>
                <c:pt idx="134">
                  <c:v>786</c:v>
                </c:pt>
                <c:pt idx="135">
                  <c:v>812</c:v>
                </c:pt>
                <c:pt idx="136">
                  <c:v>845</c:v>
                </c:pt>
                <c:pt idx="137">
                  <c:v>835</c:v>
                </c:pt>
                <c:pt idx="138">
                  <c:v>778</c:v>
                </c:pt>
                <c:pt idx="139">
                  <c:v>776</c:v>
                </c:pt>
                <c:pt idx="140">
                  <c:v>748</c:v>
                </c:pt>
                <c:pt idx="141">
                  <c:v>776</c:v>
                </c:pt>
                <c:pt idx="142">
                  <c:v>782</c:v>
                </c:pt>
                <c:pt idx="143">
                  <c:v>869</c:v>
                </c:pt>
                <c:pt idx="144">
                  <c:v>772</c:v>
                </c:pt>
                <c:pt idx="145">
                  <c:v>701</c:v>
                </c:pt>
                <c:pt idx="146">
                  <c:v>793</c:v>
                </c:pt>
                <c:pt idx="147">
                  <c:v>790</c:v>
                </c:pt>
                <c:pt idx="148">
                  <c:v>802</c:v>
                </c:pt>
                <c:pt idx="149">
                  <c:v>783</c:v>
                </c:pt>
                <c:pt idx="150">
                  <c:v>781</c:v>
                </c:pt>
                <c:pt idx="151">
                  <c:v>765</c:v>
                </c:pt>
                <c:pt idx="152">
                  <c:v>730</c:v>
                </c:pt>
                <c:pt idx="153">
                  <c:v>769</c:v>
                </c:pt>
                <c:pt idx="154">
                  <c:v>773</c:v>
                </c:pt>
                <c:pt idx="155">
                  <c:v>851</c:v>
                </c:pt>
                <c:pt idx="156">
                  <c:v>694</c:v>
                </c:pt>
                <c:pt idx="157">
                  <c:v>721</c:v>
                </c:pt>
                <c:pt idx="158">
                  <c:v>797</c:v>
                </c:pt>
                <c:pt idx="159">
                  <c:v>765</c:v>
                </c:pt>
                <c:pt idx="160">
                  <c:v>804</c:v>
                </c:pt>
                <c:pt idx="161">
                  <c:v>779</c:v>
                </c:pt>
                <c:pt idx="162">
                  <c:v>822</c:v>
                </c:pt>
                <c:pt idx="163">
                  <c:v>776</c:v>
                </c:pt>
                <c:pt idx="164">
                  <c:v>701</c:v>
                </c:pt>
                <c:pt idx="165">
                  <c:v>781</c:v>
                </c:pt>
                <c:pt idx="166">
                  <c:v>777</c:v>
                </c:pt>
                <c:pt idx="167">
                  <c:v>819</c:v>
                </c:pt>
                <c:pt idx="168">
                  <c:v>685</c:v>
                </c:pt>
                <c:pt idx="169">
                  <c:v>657</c:v>
                </c:pt>
                <c:pt idx="170">
                  <c:v>730</c:v>
                </c:pt>
                <c:pt idx="171">
                  <c:v>755</c:v>
                </c:pt>
                <c:pt idx="172">
                  <c:v>780</c:v>
                </c:pt>
                <c:pt idx="173">
                  <c:v>722</c:v>
                </c:pt>
                <c:pt idx="174">
                  <c:v>751</c:v>
                </c:pt>
                <c:pt idx="175">
                  <c:v>727</c:v>
                </c:pt>
                <c:pt idx="176">
                  <c:v>680</c:v>
                </c:pt>
                <c:pt idx="177">
                  <c:v>747</c:v>
                </c:pt>
                <c:pt idx="178">
                  <c:v>729</c:v>
                </c:pt>
                <c:pt idx="179">
                  <c:v>909</c:v>
                </c:pt>
                <c:pt idx="180">
                  <c:v>738</c:v>
                </c:pt>
                <c:pt idx="181">
                  <c:v>664</c:v>
                </c:pt>
                <c:pt idx="182">
                  <c:v>779</c:v>
                </c:pt>
                <c:pt idx="183">
                  <c:v>770</c:v>
                </c:pt>
                <c:pt idx="184">
                  <c:v>787</c:v>
                </c:pt>
                <c:pt idx="185">
                  <c:v>750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205-8B48-8C2C-4B65E09AFF2A}"/>
            </c:ext>
          </c:extLst>
        </c:ser>
        <c:ser>
          <c:idx val="1"/>
          <c:order val="1"/>
          <c:tx>
            <c:v>OOT start</c:v>
          </c:tx>
          <c:spPr>
            <a:ln w="12383">
              <a:solidFill>
                <a:srgbClr val="5D6B75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45200</c:v>
                </c:pt>
                <c:pt idx="1">
                  <c:v>45200</c:v>
                </c:pt>
              </c:numCache>
            </c:numRef>
          </c:xVal>
          <c:yVal>
            <c:numRef>
              <c:f>'Chart Data'!$D$2:$D$3</c:f>
              <c:numCache>
                <c:formatCode>#,##0</c:formatCode>
                <c:ptCount val="2"/>
                <c:pt idx="0">
                  <c:v>300</c:v>
                </c:pt>
                <c:pt idx="1">
                  <c:v>1100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205-8B48-8C2C-4B65E09AFF2A}"/>
            </c:ext>
          </c:extLst>
        </c:ser>
        <c:ser>
          <c:idx val="2"/>
          <c:order val="2"/>
          <c:tx>
            <c:v>Forecast origin</c:v>
          </c:tx>
          <c:spPr>
            <a:ln w="1238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46023</c:v>
                </c:pt>
                <c:pt idx="1">
                  <c:v>46023</c:v>
                </c:pt>
              </c:numCache>
            </c:numRef>
          </c:xVal>
          <c:yVal>
            <c:numRef>
              <c:f>'Chart Data'!$F$2:$F$3</c:f>
              <c:numCache>
                <c:formatCode>#,##0</c:formatCode>
                <c:ptCount val="2"/>
                <c:pt idx="0">
                  <c:v>300</c:v>
                </c:pt>
                <c:pt idx="1">
                  <c:v>1100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205-8B48-8C2C-4B65E09AFF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3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Source units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46204"/>
          <c:min val="40544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73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In-sample one-step fit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Actual</c:v>
          </c:tx>
          <c:spPr>
            <a:ln w="2095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Data'!$A$2:$A$151</c:f>
              <c:numCache>
                <c:formatCode>m/d/yy</c:formatCode>
                <c:ptCount val="150"/>
                <c:pt idx="0">
                  <c:v>40634</c:v>
                </c:pt>
                <c:pt idx="1">
                  <c:v>40664</c:v>
                </c:pt>
                <c:pt idx="2">
                  <c:v>40695</c:v>
                </c:pt>
                <c:pt idx="3">
                  <c:v>40725</c:v>
                </c:pt>
                <c:pt idx="4">
                  <c:v>40756</c:v>
                </c:pt>
                <c:pt idx="5">
                  <c:v>40787</c:v>
                </c:pt>
                <c:pt idx="6">
                  <c:v>40817</c:v>
                </c:pt>
                <c:pt idx="7">
                  <c:v>40848</c:v>
                </c:pt>
                <c:pt idx="8">
                  <c:v>40878</c:v>
                </c:pt>
                <c:pt idx="9">
                  <c:v>40909</c:v>
                </c:pt>
                <c:pt idx="10">
                  <c:v>40940</c:v>
                </c:pt>
                <c:pt idx="11">
                  <c:v>40969</c:v>
                </c:pt>
                <c:pt idx="12">
                  <c:v>41000</c:v>
                </c:pt>
                <c:pt idx="13">
                  <c:v>41030</c:v>
                </c:pt>
                <c:pt idx="14">
                  <c:v>41061</c:v>
                </c:pt>
                <c:pt idx="15">
                  <c:v>41091</c:v>
                </c:pt>
                <c:pt idx="16">
                  <c:v>41122</c:v>
                </c:pt>
                <c:pt idx="17">
                  <c:v>41153</c:v>
                </c:pt>
                <c:pt idx="18">
                  <c:v>41183</c:v>
                </c:pt>
                <c:pt idx="19">
                  <c:v>41214</c:v>
                </c:pt>
                <c:pt idx="20">
                  <c:v>41244</c:v>
                </c:pt>
                <c:pt idx="21">
                  <c:v>41275</c:v>
                </c:pt>
                <c:pt idx="22">
                  <c:v>41306</c:v>
                </c:pt>
                <c:pt idx="23">
                  <c:v>41334</c:v>
                </c:pt>
                <c:pt idx="24">
                  <c:v>41365</c:v>
                </c:pt>
                <c:pt idx="25">
                  <c:v>41395</c:v>
                </c:pt>
                <c:pt idx="26">
                  <c:v>41426</c:v>
                </c:pt>
                <c:pt idx="27">
                  <c:v>41456</c:v>
                </c:pt>
                <c:pt idx="28">
                  <c:v>41487</c:v>
                </c:pt>
                <c:pt idx="29">
                  <c:v>41518</c:v>
                </c:pt>
                <c:pt idx="30">
                  <c:v>41548</c:v>
                </c:pt>
                <c:pt idx="31">
                  <c:v>41579</c:v>
                </c:pt>
                <c:pt idx="32">
                  <c:v>41609</c:v>
                </c:pt>
                <c:pt idx="33">
                  <c:v>41640</c:v>
                </c:pt>
                <c:pt idx="34">
                  <c:v>41671</c:v>
                </c:pt>
                <c:pt idx="35">
                  <c:v>41699</c:v>
                </c:pt>
                <c:pt idx="36">
                  <c:v>41730</c:v>
                </c:pt>
                <c:pt idx="37">
                  <c:v>41760</c:v>
                </c:pt>
                <c:pt idx="38">
                  <c:v>41791</c:v>
                </c:pt>
                <c:pt idx="39">
                  <c:v>41821</c:v>
                </c:pt>
                <c:pt idx="40">
                  <c:v>41852</c:v>
                </c:pt>
                <c:pt idx="41">
                  <c:v>41883</c:v>
                </c:pt>
                <c:pt idx="42">
                  <c:v>41913</c:v>
                </c:pt>
                <c:pt idx="43">
                  <c:v>41944</c:v>
                </c:pt>
                <c:pt idx="44">
                  <c:v>41974</c:v>
                </c:pt>
                <c:pt idx="45">
                  <c:v>42005</c:v>
                </c:pt>
                <c:pt idx="46">
                  <c:v>42036</c:v>
                </c:pt>
                <c:pt idx="47">
                  <c:v>42064</c:v>
                </c:pt>
                <c:pt idx="48">
                  <c:v>42095</c:v>
                </c:pt>
                <c:pt idx="49">
                  <c:v>42125</c:v>
                </c:pt>
                <c:pt idx="50">
                  <c:v>42156</c:v>
                </c:pt>
                <c:pt idx="51">
                  <c:v>42186</c:v>
                </c:pt>
                <c:pt idx="52">
                  <c:v>42217</c:v>
                </c:pt>
                <c:pt idx="53">
                  <c:v>42248</c:v>
                </c:pt>
                <c:pt idx="54">
                  <c:v>42278</c:v>
                </c:pt>
                <c:pt idx="55">
                  <c:v>42309</c:v>
                </c:pt>
                <c:pt idx="56">
                  <c:v>42339</c:v>
                </c:pt>
                <c:pt idx="57">
                  <c:v>42370</c:v>
                </c:pt>
                <c:pt idx="58">
                  <c:v>42401</c:v>
                </c:pt>
                <c:pt idx="59">
                  <c:v>42430</c:v>
                </c:pt>
                <c:pt idx="60">
                  <c:v>42461</c:v>
                </c:pt>
                <c:pt idx="61">
                  <c:v>42491</c:v>
                </c:pt>
                <c:pt idx="62">
                  <c:v>42522</c:v>
                </c:pt>
                <c:pt idx="63">
                  <c:v>42552</c:v>
                </c:pt>
                <c:pt idx="64">
                  <c:v>42583</c:v>
                </c:pt>
                <c:pt idx="65">
                  <c:v>42614</c:v>
                </c:pt>
                <c:pt idx="66">
                  <c:v>42644</c:v>
                </c:pt>
                <c:pt idx="67">
                  <c:v>42675</c:v>
                </c:pt>
                <c:pt idx="68">
                  <c:v>42705</c:v>
                </c:pt>
                <c:pt idx="69">
                  <c:v>42736</c:v>
                </c:pt>
                <c:pt idx="70">
                  <c:v>42767</c:v>
                </c:pt>
                <c:pt idx="71">
                  <c:v>42795</c:v>
                </c:pt>
                <c:pt idx="72">
                  <c:v>42826</c:v>
                </c:pt>
                <c:pt idx="73">
                  <c:v>42856</c:v>
                </c:pt>
                <c:pt idx="74">
                  <c:v>42887</c:v>
                </c:pt>
                <c:pt idx="75">
                  <c:v>42917</c:v>
                </c:pt>
                <c:pt idx="76">
                  <c:v>42948</c:v>
                </c:pt>
                <c:pt idx="77">
                  <c:v>42979</c:v>
                </c:pt>
                <c:pt idx="78">
                  <c:v>43009</c:v>
                </c:pt>
                <c:pt idx="79">
                  <c:v>43040</c:v>
                </c:pt>
                <c:pt idx="80">
                  <c:v>43070</c:v>
                </c:pt>
                <c:pt idx="81">
                  <c:v>43101</c:v>
                </c:pt>
                <c:pt idx="82">
                  <c:v>43132</c:v>
                </c:pt>
                <c:pt idx="83">
                  <c:v>43160</c:v>
                </c:pt>
                <c:pt idx="84">
                  <c:v>43191</c:v>
                </c:pt>
                <c:pt idx="85">
                  <c:v>43221</c:v>
                </c:pt>
                <c:pt idx="86">
                  <c:v>43252</c:v>
                </c:pt>
                <c:pt idx="87">
                  <c:v>43282</c:v>
                </c:pt>
                <c:pt idx="88">
                  <c:v>43313</c:v>
                </c:pt>
                <c:pt idx="89">
                  <c:v>43344</c:v>
                </c:pt>
                <c:pt idx="90">
                  <c:v>43374</c:v>
                </c:pt>
                <c:pt idx="91">
                  <c:v>43405</c:v>
                </c:pt>
                <c:pt idx="92">
                  <c:v>43435</c:v>
                </c:pt>
                <c:pt idx="93">
                  <c:v>43466</c:v>
                </c:pt>
                <c:pt idx="94">
                  <c:v>43497</c:v>
                </c:pt>
                <c:pt idx="95">
                  <c:v>43525</c:v>
                </c:pt>
                <c:pt idx="96">
                  <c:v>43556</c:v>
                </c:pt>
                <c:pt idx="97">
                  <c:v>43586</c:v>
                </c:pt>
                <c:pt idx="98">
                  <c:v>43617</c:v>
                </c:pt>
                <c:pt idx="99">
                  <c:v>43647</c:v>
                </c:pt>
                <c:pt idx="100">
                  <c:v>43678</c:v>
                </c:pt>
                <c:pt idx="101">
                  <c:v>43709</c:v>
                </c:pt>
                <c:pt idx="102">
                  <c:v>43739</c:v>
                </c:pt>
                <c:pt idx="103">
                  <c:v>43770</c:v>
                </c:pt>
                <c:pt idx="104">
                  <c:v>43800</c:v>
                </c:pt>
                <c:pt idx="105">
                  <c:v>43831</c:v>
                </c:pt>
                <c:pt idx="106">
                  <c:v>43862</c:v>
                </c:pt>
                <c:pt idx="107">
                  <c:v>43891</c:v>
                </c:pt>
                <c:pt idx="108">
                  <c:v>43922</c:v>
                </c:pt>
                <c:pt idx="109">
                  <c:v>43952</c:v>
                </c:pt>
                <c:pt idx="110">
                  <c:v>43983</c:v>
                </c:pt>
                <c:pt idx="111">
                  <c:v>44013</c:v>
                </c:pt>
                <c:pt idx="112">
                  <c:v>44044</c:v>
                </c:pt>
                <c:pt idx="113">
                  <c:v>44075</c:v>
                </c:pt>
                <c:pt idx="114">
                  <c:v>44105</c:v>
                </c:pt>
                <c:pt idx="115">
                  <c:v>44136</c:v>
                </c:pt>
                <c:pt idx="116">
                  <c:v>44166</c:v>
                </c:pt>
                <c:pt idx="117">
                  <c:v>44197</c:v>
                </c:pt>
                <c:pt idx="118">
                  <c:v>44228</c:v>
                </c:pt>
                <c:pt idx="119">
                  <c:v>44256</c:v>
                </c:pt>
                <c:pt idx="120">
                  <c:v>44287</c:v>
                </c:pt>
                <c:pt idx="121">
                  <c:v>44317</c:v>
                </c:pt>
                <c:pt idx="122">
                  <c:v>44348</c:v>
                </c:pt>
                <c:pt idx="123">
                  <c:v>44378</c:v>
                </c:pt>
                <c:pt idx="124">
                  <c:v>44409</c:v>
                </c:pt>
                <c:pt idx="125">
                  <c:v>44440</c:v>
                </c:pt>
                <c:pt idx="126">
                  <c:v>44470</c:v>
                </c:pt>
                <c:pt idx="127">
                  <c:v>44501</c:v>
                </c:pt>
                <c:pt idx="128">
                  <c:v>44531</c:v>
                </c:pt>
                <c:pt idx="129">
                  <c:v>44562</c:v>
                </c:pt>
                <c:pt idx="130">
                  <c:v>44593</c:v>
                </c:pt>
                <c:pt idx="131">
                  <c:v>44621</c:v>
                </c:pt>
                <c:pt idx="132">
                  <c:v>44652</c:v>
                </c:pt>
                <c:pt idx="133">
                  <c:v>44682</c:v>
                </c:pt>
                <c:pt idx="134">
                  <c:v>44713</c:v>
                </c:pt>
                <c:pt idx="135">
                  <c:v>44743</c:v>
                </c:pt>
                <c:pt idx="136">
                  <c:v>44774</c:v>
                </c:pt>
                <c:pt idx="137">
                  <c:v>44805</c:v>
                </c:pt>
                <c:pt idx="138">
                  <c:v>44835</c:v>
                </c:pt>
                <c:pt idx="139">
                  <c:v>44866</c:v>
                </c:pt>
                <c:pt idx="140">
                  <c:v>44896</c:v>
                </c:pt>
                <c:pt idx="141">
                  <c:v>44927</c:v>
                </c:pt>
                <c:pt idx="142">
                  <c:v>44958</c:v>
                </c:pt>
                <c:pt idx="143">
                  <c:v>44986</c:v>
                </c:pt>
                <c:pt idx="144">
                  <c:v>45017</c:v>
                </c:pt>
                <c:pt idx="145">
                  <c:v>45047</c:v>
                </c:pt>
                <c:pt idx="146">
                  <c:v>45078</c:v>
                </c:pt>
                <c:pt idx="147">
                  <c:v>45108</c:v>
                </c:pt>
                <c:pt idx="148">
                  <c:v>45139</c:v>
                </c:pt>
                <c:pt idx="149">
                  <c:v>45170</c:v>
                </c:pt>
              </c:numCache>
            </c:numRef>
          </c:xVal>
          <c:yVal>
            <c:numRef>
              <c:f>'Chart Data'!$B$2:$B$151</c:f>
              <c:numCache>
                <c:formatCode>General</c:formatCode>
                <c:ptCount val="150"/>
                <c:pt idx="0">
                  <c:v>983</c:v>
                </c:pt>
                <c:pt idx="1">
                  <c:v>742</c:v>
                </c:pt>
                <c:pt idx="2">
                  <c:v>933</c:v>
                </c:pt>
                <c:pt idx="3">
                  <c:v>884</c:v>
                </c:pt>
                <c:pt idx="4">
                  <c:v>917</c:v>
                </c:pt>
                <c:pt idx="5">
                  <c:v>841</c:v>
                </c:pt>
                <c:pt idx="6">
                  <c:v>817</c:v>
                </c:pt>
                <c:pt idx="7">
                  <c:v>837</c:v>
                </c:pt>
                <c:pt idx="8">
                  <c:v>994</c:v>
                </c:pt>
                <c:pt idx="9">
                  <c:v>770</c:v>
                </c:pt>
                <c:pt idx="10">
                  <c:v>769</c:v>
                </c:pt>
                <c:pt idx="11">
                  <c:v>841</c:v>
                </c:pt>
                <c:pt idx="12">
                  <c:v>846</c:v>
                </c:pt>
                <c:pt idx="13">
                  <c:v>889</c:v>
                </c:pt>
                <c:pt idx="14">
                  <c:v>820</c:v>
                </c:pt>
                <c:pt idx="15">
                  <c:v>769</c:v>
                </c:pt>
                <c:pt idx="16">
                  <c:v>830</c:v>
                </c:pt>
                <c:pt idx="17">
                  <c:v>726</c:v>
                </c:pt>
                <c:pt idx="18">
                  <c:v>824</c:v>
                </c:pt>
                <c:pt idx="19">
                  <c:v>892</c:v>
                </c:pt>
                <c:pt idx="20">
                  <c:v>878</c:v>
                </c:pt>
                <c:pt idx="21">
                  <c:v>729</c:v>
                </c:pt>
                <c:pt idx="22">
                  <c:v>754</c:v>
                </c:pt>
                <c:pt idx="23">
                  <c:v>735</c:v>
                </c:pt>
                <c:pt idx="24">
                  <c:v>831</c:v>
                </c:pt>
                <c:pt idx="25">
                  <c:v>835</c:v>
                </c:pt>
                <c:pt idx="26">
                  <c:v>770</c:v>
                </c:pt>
                <c:pt idx="27">
                  <c:v>754</c:v>
                </c:pt>
                <c:pt idx="28">
                  <c:v>781</c:v>
                </c:pt>
                <c:pt idx="29">
                  <c:v>639</c:v>
                </c:pt>
                <c:pt idx="30">
                  <c:v>626</c:v>
                </c:pt>
                <c:pt idx="31">
                  <c:v>543</c:v>
                </c:pt>
                <c:pt idx="32">
                  <c:v>756</c:v>
                </c:pt>
                <c:pt idx="33">
                  <c:v>545</c:v>
                </c:pt>
                <c:pt idx="34">
                  <c:v>543</c:v>
                </c:pt>
                <c:pt idx="35">
                  <c:v>511</c:v>
                </c:pt>
                <c:pt idx="36">
                  <c:v>676</c:v>
                </c:pt>
                <c:pt idx="37">
                  <c:v>639</c:v>
                </c:pt>
                <c:pt idx="38">
                  <c:v>610</c:v>
                </c:pt>
                <c:pt idx="39">
                  <c:v>651</c:v>
                </c:pt>
                <c:pt idx="40">
                  <c:v>584</c:v>
                </c:pt>
                <c:pt idx="41">
                  <c:v>638</c:v>
                </c:pt>
                <c:pt idx="42">
                  <c:v>606</c:v>
                </c:pt>
                <c:pt idx="43">
                  <c:v>535</c:v>
                </c:pt>
                <c:pt idx="44">
                  <c:v>872</c:v>
                </c:pt>
                <c:pt idx="45">
                  <c:v>550</c:v>
                </c:pt>
                <c:pt idx="46">
                  <c:v>555</c:v>
                </c:pt>
                <c:pt idx="47">
                  <c:v>558</c:v>
                </c:pt>
                <c:pt idx="48">
                  <c:v>541</c:v>
                </c:pt>
                <c:pt idx="49">
                  <c:v>524</c:v>
                </c:pt>
                <c:pt idx="50">
                  <c:v>575</c:v>
                </c:pt>
                <c:pt idx="51">
                  <c:v>546</c:v>
                </c:pt>
                <c:pt idx="52">
                  <c:v>512</c:v>
                </c:pt>
                <c:pt idx="53">
                  <c:v>529</c:v>
                </c:pt>
                <c:pt idx="54">
                  <c:v>482</c:v>
                </c:pt>
                <c:pt idx="55">
                  <c:v>486</c:v>
                </c:pt>
                <c:pt idx="56">
                  <c:v>665</c:v>
                </c:pt>
                <c:pt idx="57">
                  <c:v>438</c:v>
                </c:pt>
                <c:pt idx="58">
                  <c:v>479</c:v>
                </c:pt>
                <c:pt idx="59">
                  <c:v>641</c:v>
                </c:pt>
                <c:pt idx="60">
                  <c:v>514</c:v>
                </c:pt>
                <c:pt idx="61">
                  <c:v>558</c:v>
                </c:pt>
                <c:pt idx="62">
                  <c:v>542</c:v>
                </c:pt>
                <c:pt idx="63">
                  <c:v>493</c:v>
                </c:pt>
                <c:pt idx="64">
                  <c:v>557</c:v>
                </c:pt>
                <c:pt idx="65">
                  <c:v>499</c:v>
                </c:pt>
                <c:pt idx="66">
                  <c:v>458</c:v>
                </c:pt>
                <c:pt idx="67">
                  <c:v>538</c:v>
                </c:pt>
                <c:pt idx="68">
                  <c:v>598</c:v>
                </c:pt>
                <c:pt idx="69">
                  <c:v>501</c:v>
                </c:pt>
                <c:pt idx="70">
                  <c:v>469</c:v>
                </c:pt>
                <c:pt idx="71">
                  <c:v>531</c:v>
                </c:pt>
                <c:pt idx="72">
                  <c:v>487</c:v>
                </c:pt>
                <c:pt idx="73">
                  <c:v>571</c:v>
                </c:pt>
                <c:pt idx="74">
                  <c:v>535</c:v>
                </c:pt>
                <c:pt idx="75">
                  <c:v>495</c:v>
                </c:pt>
                <c:pt idx="76">
                  <c:v>552</c:v>
                </c:pt>
                <c:pt idx="77">
                  <c:v>476</c:v>
                </c:pt>
                <c:pt idx="78">
                  <c:v>526</c:v>
                </c:pt>
                <c:pt idx="79">
                  <c:v>520</c:v>
                </c:pt>
                <c:pt idx="80">
                  <c:v>565</c:v>
                </c:pt>
                <c:pt idx="81">
                  <c:v>519</c:v>
                </c:pt>
                <c:pt idx="82">
                  <c:v>478</c:v>
                </c:pt>
                <c:pt idx="83">
                  <c:v>560</c:v>
                </c:pt>
                <c:pt idx="84">
                  <c:v>527</c:v>
                </c:pt>
                <c:pt idx="85">
                  <c:v>585</c:v>
                </c:pt>
                <c:pt idx="86">
                  <c:v>571</c:v>
                </c:pt>
                <c:pt idx="87">
                  <c:v>572</c:v>
                </c:pt>
                <c:pt idx="88">
                  <c:v>528</c:v>
                </c:pt>
                <c:pt idx="89">
                  <c:v>561</c:v>
                </c:pt>
                <c:pt idx="90">
                  <c:v>551</c:v>
                </c:pt>
                <c:pt idx="91">
                  <c:v>591</c:v>
                </c:pt>
                <c:pt idx="92">
                  <c:v>654</c:v>
                </c:pt>
                <c:pt idx="93">
                  <c:v>550</c:v>
                </c:pt>
                <c:pt idx="94">
                  <c:v>491</c:v>
                </c:pt>
                <c:pt idx="95">
                  <c:v>584</c:v>
                </c:pt>
                <c:pt idx="96">
                  <c:v>562</c:v>
                </c:pt>
                <c:pt idx="97">
                  <c:v>605</c:v>
                </c:pt>
                <c:pt idx="98">
                  <c:v>607</c:v>
                </c:pt>
                <c:pt idx="99">
                  <c:v>585</c:v>
                </c:pt>
                <c:pt idx="100">
                  <c:v>709</c:v>
                </c:pt>
                <c:pt idx="101">
                  <c:v>541</c:v>
                </c:pt>
                <c:pt idx="102">
                  <c:v>715</c:v>
                </c:pt>
                <c:pt idx="103">
                  <c:v>593</c:v>
                </c:pt>
                <c:pt idx="104">
                  <c:v>728</c:v>
                </c:pt>
                <c:pt idx="105">
                  <c:v>527</c:v>
                </c:pt>
                <c:pt idx="106">
                  <c:v>678</c:v>
                </c:pt>
                <c:pt idx="107">
                  <c:v>590</c:v>
                </c:pt>
                <c:pt idx="108">
                  <c:v>467</c:v>
                </c:pt>
                <c:pt idx="109">
                  <c:v>582</c:v>
                </c:pt>
                <c:pt idx="110">
                  <c:v>553</c:v>
                </c:pt>
                <c:pt idx="111">
                  <c:v>602</c:v>
                </c:pt>
                <c:pt idx="112">
                  <c:v>588</c:v>
                </c:pt>
                <c:pt idx="113">
                  <c:v>589</c:v>
                </c:pt>
                <c:pt idx="114">
                  <c:v>616</c:v>
                </c:pt>
                <c:pt idx="115">
                  <c:v>607</c:v>
                </c:pt>
                <c:pt idx="116">
                  <c:v>706</c:v>
                </c:pt>
                <c:pt idx="117">
                  <c:v>642</c:v>
                </c:pt>
                <c:pt idx="118">
                  <c:v>600</c:v>
                </c:pt>
                <c:pt idx="119">
                  <c:v>718</c:v>
                </c:pt>
                <c:pt idx="120">
                  <c:v>747</c:v>
                </c:pt>
                <c:pt idx="121">
                  <c:v>766</c:v>
                </c:pt>
                <c:pt idx="122">
                  <c:v>767</c:v>
                </c:pt>
                <c:pt idx="123">
                  <c:v>747</c:v>
                </c:pt>
                <c:pt idx="124">
                  <c:v>747</c:v>
                </c:pt>
                <c:pt idx="125">
                  <c:v>724</c:v>
                </c:pt>
                <c:pt idx="126">
                  <c:v>727</c:v>
                </c:pt>
                <c:pt idx="127">
                  <c:v>768</c:v>
                </c:pt>
                <c:pt idx="128">
                  <c:v>842</c:v>
                </c:pt>
                <c:pt idx="129">
                  <c:v>724</c:v>
                </c:pt>
                <c:pt idx="130">
                  <c:v>715</c:v>
                </c:pt>
                <c:pt idx="131">
                  <c:v>786</c:v>
                </c:pt>
                <c:pt idx="132">
                  <c:v>812</c:v>
                </c:pt>
                <c:pt idx="133">
                  <c:v>845</c:v>
                </c:pt>
                <c:pt idx="134">
                  <c:v>835</c:v>
                </c:pt>
                <c:pt idx="135">
                  <c:v>778</c:v>
                </c:pt>
                <c:pt idx="136">
                  <c:v>776</c:v>
                </c:pt>
                <c:pt idx="137">
                  <c:v>748</c:v>
                </c:pt>
                <c:pt idx="138">
                  <c:v>776</c:v>
                </c:pt>
                <c:pt idx="139">
                  <c:v>782</c:v>
                </c:pt>
                <c:pt idx="140">
                  <c:v>869</c:v>
                </c:pt>
                <c:pt idx="141">
                  <c:v>772</c:v>
                </c:pt>
                <c:pt idx="142">
                  <c:v>701</c:v>
                </c:pt>
                <c:pt idx="143">
                  <c:v>793</c:v>
                </c:pt>
                <c:pt idx="144">
                  <c:v>790</c:v>
                </c:pt>
                <c:pt idx="145">
                  <c:v>802</c:v>
                </c:pt>
                <c:pt idx="146">
                  <c:v>783</c:v>
                </c:pt>
                <c:pt idx="147">
                  <c:v>781</c:v>
                </c:pt>
                <c:pt idx="148">
                  <c:v>765</c:v>
                </c:pt>
                <c:pt idx="149">
                  <c:v>730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C44-6241-AD76-754ABAC7B42E}"/>
            </c:ext>
          </c:extLst>
        </c:ser>
        <c:ser>
          <c:idx val="1"/>
          <c:order val="1"/>
          <c:tx>
            <c:v>One-step prediction</c:v>
          </c:tx>
          <c:spPr>
            <a:ln w="20955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Data'!$C$2:$C$151</c:f>
              <c:numCache>
                <c:formatCode>General</c:formatCode>
                <c:ptCount val="150"/>
                <c:pt idx="0">
                  <c:v>40634</c:v>
                </c:pt>
                <c:pt idx="1">
                  <c:v>40664</c:v>
                </c:pt>
                <c:pt idx="2">
                  <c:v>40695</c:v>
                </c:pt>
                <c:pt idx="3">
                  <c:v>40725</c:v>
                </c:pt>
                <c:pt idx="4">
                  <c:v>40756</c:v>
                </c:pt>
                <c:pt idx="5">
                  <c:v>40787</c:v>
                </c:pt>
                <c:pt idx="6">
                  <c:v>40817</c:v>
                </c:pt>
                <c:pt idx="7">
                  <c:v>40848</c:v>
                </c:pt>
                <c:pt idx="8">
                  <c:v>40878</c:v>
                </c:pt>
                <c:pt idx="9">
                  <c:v>40909</c:v>
                </c:pt>
                <c:pt idx="10">
                  <c:v>40940</c:v>
                </c:pt>
                <c:pt idx="11">
                  <c:v>40969</c:v>
                </c:pt>
                <c:pt idx="12">
                  <c:v>41000</c:v>
                </c:pt>
                <c:pt idx="13">
                  <c:v>41030</c:v>
                </c:pt>
                <c:pt idx="14">
                  <c:v>41061</c:v>
                </c:pt>
                <c:pt idx="15">
                  <c:v>41091</c:v>
                </c:pt>
                <c:pt idx="16">
                  <c:v>41122</c:v>
                </c:pt>
                <c:pt idx="17">
                  <c:v>41153</c:v>
                </c:pt>
                <c:pt idx="18">
                  <c:v>41183</c:v>
                </c:pt>
                <c:pt idx="19">
                  <c:v>41214</c:v>
                </c:pt>
                <c:pt idx="20">
                  <c:v>41244</c:v>
                </c:pt>
                <c:pt idx="21">
                  <c:v>41275</c:v>
                </c:pt>
                <c:pt idx="22">
                  <c:v>41306</c:v>
                </c:pt>
                <c:pt idx="23">
                  <c:v>41334</c:v>
                </c:pt>
                <c:pt idx="24">
                  <c:v>41365</c:v>
                </c:pt>
                <c:pt idx="25">
                  <c:v>41395</c:v>
                </c:pt>
                <c:pt idx="26">
                  <c:v>41426</c:v>
                </c:pt>
                <c:pt idx="27">
                  <c:v>41456</c:v>
                </c:pt>
                <c:pt idx="28">
                  <c:v>41487</c:v>
                </c:pt>
                <c:pt idx="29">
                  <c:v>41518</c:v>
                </c:pt>
                <c:pt idx="30">
                  <c:v>41548</c:v>
                </c:pt>
                <c:pt idx="31">
                  <c:v>41579</c:v>
                </c:pt>
                <c:pt idx="32">
                  <c:v>41609</c:v>
                </c:pt>
                <c:pt idx="33">
                  <c:v>41640</c:v>
                </c:pt>
                <c:pt idx="34">
                  <c:v>41671</c:v>
                </c:pt>
                <c:pt idx="35">
                  <c:v>41699</c:v>
                </c:pt>
                <c:pt idx="36">
                  <c:v>41730</c:v>
                </c:pt>
                <c:pt idx="37">
                  <c:v>41760</c:v>
                </c:pt>
                <c:pt idx="38">
                  <c:v>41791</c:v>
                </c:pt>
                <c:pt idx="39">
                  <c:v>41821</c:v>
                </c:pt>
                <c:pt idx="40">
                  <c:v>41852</c:v>
                </c:pt>
                <c:pt idx="41">
                  <c:v>41883</c:v>
                </c:pt>
                <c:pt idx="42">
                  <c:v>41913</c:v>
                </c:pt>
                <c:pt idx="43">
                  <c:v>41944</c:v>
                </c:pt>
                <c:pt idx="44">
                  <c:v>41974</c:v>
                </c:pt>
                <c:pt idx="45">
                  <c:v>42005</c:v>
                </c:pt>
                <c:pt idx="46">
                  <c:v>42036</c:v>
                </c:pt>
                <c:pt idx="47">
                  <c:v>42064</c:v>
                </c:pt>
                <c:pt idx="48">
                  <c:v>42095</c:v>
                </c:pt>
                <c:pt idx="49">
                  <c:v>42125</c:v>
                </c:pt>
                <c:pt idx="50">
                  <c:v>42156</c:v>
                </c:pt>
                <c:pt idx="51">
                  <c:v>42186</c:v>
                </c:pt>
                <c:pt idx="52">
                  <c:v>42217</c:v>
                </c:pt>
                <c:pt idx="53">
                  <c:v>42248</c:v>
                </c:pt>
                <c:pt idx="54">
                  <c:v>42278</c:v>
                </c:pt>
                <c:pt idx="55">
                  <c:v>42309</c:v>
                </c:pt>
                <c:pt idx="56">
                  <c:v>42339</c:v>
                </c:pt>
                <c:pt idx="57">
                  <c:v>42370</c:v>
                </c:pt>
                <c:pt idx="58">
                  <c:v>42401</c:v>
                </c:pt>
                <c:pt idx="59">
                  <c:v>42430</c:v>
                </c:pt>
                <c:pt idx="60">
                  <c:v>42461</c:v>
                </c:pt>
                <c:pt idx="61">
                  <c:v>42491</c:v>
                </c:pt>
                <c:pt idx="62">
                  <c:v>42522</c:v>
                </c:pt>
                <c:pt idx="63">
                  <c:v>42552</c:v>
                </c:pt>
                <c:pt idx="64">
                  <c:v>42583</c:v>
                </c:pt>
                <c:pt idx="65">
                  <c:v>42614</c:v>
                </c:pt>
                <c:pt idx="66">
                  <c:v>42644</c:v>
                </c:pt>
                <c:pt idx="67">
                  <c:v>42675</c:v>
                </c:pt>
                <c:pt idx="68">
                  <c:v>42705</c:v>
                </c:pt>
                <c:pt idx="69">
                  <c:v>42736</c:v>
                </c:pt>
                <c:pt idx="70">
                  <c:v>42767</c:v>
                </c:pt>
                <c:pt idx="71">
                  <c:v>42795</c:v>
                </c:pt>
                <c:pt idx="72">
                  <c:v>42826</c:v>
                </c:pt>
                <c:pt idx="73">
                  <c:v>42856</c:v>
                </c:pt>
                <c:pt idx="74">
                  <c:v>42887</c:v>
                </c:pt>
                <c:pt idx="75">
                  <c:v>42917</c:v>
                </c:pt>
                <c:pt idx="76">
                  <c:v>42948</c:v>
                </c:pt>
                <c:pt idx="77">
                  <c:v>42979</c:v>
                </c:pt>
                <c:pt idx="78">
                  <c:v>43009</c:v>
                </c:pt>
                <c:pt idx="79">
                  <c:v>43040</c:v>
                </c:pt>
                <c:pt idx="80">
                  <c:v>43070</c:v>
                </c:pt>
                <c:pt idx="81">
                  <c:v>43101</c:v>
                </c:pt>
                <c:pt idx="82">
                  <c:v>43132</c:v>
                </c:pt>
                <c:pt idx="83">
                  <c:v>43160</c:v>
                </c:pt>
                <c:pt idx="84">
                  <c:v>43191</c:v>
                </c:pt>
                <c:pt idx="85">
                  <c:v>43221</c:v>
                </c:pt>
                <c:pt idx="86">
                  <c:v>43252</c:v>
                </c:pt>
                <c:pt idx="87">
                  <c:v>43282</c:v>
                </c:pt>
                <c:pt idx="88">
                  <c:v>43313</c:v>
                </c:pt>
                <c:pt idx="89">
                  <c:v>43344</c:v>
                </c:pt>
                <c:pt idx="90">
                  <c:v>43374</c:v>
                </c:pt>
                <c:pt idx="91">
                  <c:v>43405</c:v>
                </c:pt>
                <c:pt idx="92">
                  <c:v>43435</c:v>
                </c:pt>
                <c:pt idx="93">
                  <c:v>43466</c:v>
                </c:pt>
                <c:pt idx="94">
                  <c:v>43497</c:v>
                </c:pt>
                <c:pt idx="95">
                  <c:v>43525</c:v>
                </c:pt>
                <c:pt idx="96">
                  <c:v>43556</c:v>
                </c:pt>
                <c:pt idx="97">
                  <c:v>43586</c:v>
                </c:pt>
                <c:pt idx="98">
                  <c:v>43617</c:v>
                </c:pt>
                <c:pt idx="99">
                  <c:v>43647</c:v>
                </c:pt>
                <c:pt idx="100">
                  <c:v>43678</c:v>
                </c:pt>
                <c:pt idx="101">
                  <c:v>43709</c:v>
                </c:pt>
                <c:pt idx="102">
                  <c:v>43739</c:v>
                </c:pt>
                <c:pt idx="103">
                  <c:v>43770</c:v>
                </c:pt>
                <c:pt idx="104">
                  <c:v>43800</c:v>
                </c:pt>
                <c:pt idx="105">
                  <c:v>43831</c:v>
                </c:pt>
                <c:pt idx="106">
                  <c:v>43862</c:v>
                </c:pt>
                <c:pt idx="107">
                  <c:v>43891</c:v>
                </c:pt>
                <c:pt idx="108">
                  <c:v>43922</c:v>
                </c:pt>
                <c:pt idx="109">
                  <c:v>43952</c:v>
                </c:pt>
                <c:pt idx="110">
                  <c:v>43983</c:v>
                </c:pt>
                <c:pt idx="111">
                  <c:v>44013</c:v>
                </c:pt>
                <c:pt idx="112">
                  <c:v>44044</c:v>
                </c:pt>
                <c:pt idx="113">
                  <c:v>44075</c:v>
                </c:pt>
                <c:pt idx="114">
                  <c:v>44105</c:v>
                </c:pt>
                <c:pt idx="115">
                  <c:v>44136</c:v>
                </c:pt>
                <c:pt idx="116">
                  <c:v>44166</c:v>
                </c:pt>
                <c:pt idx="117">
                  <c:v>44197</c:v>
                </c:pt>
                <c:pt idx="118">
                  <c:v>44228</c:v>
                </c:pt>
                <c:pt idx="119">
                  <c:v>44256</c:v>
                </c:pt>
                <c:pt idx="120">
                  <c:v>44287</c:v>
                </c:pt>
                <c:pt idx="121">
                  <c:v>44317</c:v>
                </c:pt>
                <c:pt idx="122">
                  <c:v>44348</c:v>
                </c:pt>
                <c:pt idx="123">
                  <c:v>44378</c:v>
                </c:pt>
                <c:pt idx="124">
                  <c:v>44409</c:v>
                </c:pt>
                <c:pt idx="125">
                  <c:v>44440</c:v>
                </c:pt>
                <c:pt idx="126">
                  <c:v>44470</c:v>
                </c:pt>
                <c:pt idx="127">
                  <c:v>44501</c:v>
                </c:pt>
                <c:pt idx="128">
                  <c:v>44531</c:v>
                </c:pt>
                <c:pt idx="129">
                  <c:v>44562</c:v>
                </c:pt>
                <c:pt idx="130">
                  <c:v>44593</c:v>
                </c:pt>
                <c:pt idx="131">
                  <c:v>44621</c:v>
                </c:pt>
                <c:pt idx="132">
                  <c:v>44652</c:v>
                </c:pt>
                <c:pt idx="133">
                  <c:v>44682</c:v>
                </c:pt>
                <c:pt idx="134">
                  <c:v>44713</c:v>
                </c:pt>
                <c:pt idx="135">
                  <c:v>44743</c:v>
                </c:pt>
                <c:pt idx="136">
                  <c:v>44774</c:v>
                </c:pt>
                <c:pt idx="137">
                  <c:v>44805</c:v>
                </c:pt>
                <c:pt idx="138">
                  <c:v>44835</c:v>
                </c:pt>
                <c:pt idx="139">
                  <c:v>44866</c:v>
                </c:pt>
                <c:pt idx="140">
                  <c:v>44896</c:v>
                </c:pt>
                <c:pt idx="141">
                  <c:v>44927</c:v>
                </c:pt>
                <c:pt idx="142">
                  <c:v>44958</c:v>
                </c:pt>
                <c:pt idx="143">
                  <c:v>44986</c:v>
                </c:pt>
                <c:pt idx="144">
                  <c:v>45017</c:v>
                </c:pt>
                <c:pt idx="145">
                  <c:v>45047</c:v>
                </c:pt>
                <c:pt idx="146">
                  <c:v>45078</c:v>
                </c:pt>
                <c:pt idx="147">
                  <c:v>45108</c:v>
                </c:pt>
                <c:pt idx="148">
                  <c:v>45139</c:v>
                </c:pt>
                <c:pt idx="149">
                  <c:v>45170</c:v>
                </c:pt>
              </c:numCache>
            </c:numRef>
          </c:xVal>
          <c:yVal>
            <c:numRef>
              <c:f>'Chart Data'!$D$2:$D$151</c:f>
              <c:numCache>
                <c:formatCode>General</c:formatCode>
                <c:ptCount val="150"/>
                <c:pt idx="0">
                  <c:v>848.00978416099997</c:v>
                </c:pt>
                <c:pt idx="1">
                  <c:v>907.904692608</c:v>
                </c:pt>
                <c:pt idx="2">
                  <c:v>887.22474062900005</c:v>
                </c:pt>
                <c:pt idx="3">
                  <c:v>876.52296032200002</c:v>
                </c:pt>
                <c:pt idx="4">
                  <c:v>835.19298346999994</c:v>
                </c:pt>
                <c:pt idx="5">
                  <c:v>903.94388584199999</c:v>
                </c:pt>
                <c:pt idx="6">
                  <c:v>872.86724075699999</c:v>
                </c:pt>
                <c:pt idx="7">
                  <c:v>854.97224069399999</c:v>
                </c:pt>
                <c:pt idx="8">
                  <c:v>1003.902208956</c:v>
                </c:pt>
                <c:pt idx="9">
                  <c:v>785.90439354800003</c:v>
                </c:pt>
                <c:pt idx="10">
                  <c:v>851.76398514699997</c:v>
                </c:pt>
                <c:pt idx="11">
                  <c:v>840.57242765900003</c:v>
                </c:pt>
                <c:pt idx="12">
                  <c:v>788.15913463899994</c:v>
                </c:pt>
                <c:pt idx="13">
                  <c:v>799.15574632300002</c:v>
                </c:pt>
                <c:pt idx="14">
                  <c:v>830.24142259600001</c:v>
                </c:pt>
                <c:pt idx="15">
                  <c:v>825.58667210199997</c:v>
                </c:pt>
                <c:pt idx="16">
                  <c:v>811.87970538299999</c:v>
                </c:pt>
                <c:pt idx="17">
                  <c:v>811.32896063800001</c:v>
                </c:pt>
                <c:pt idx="18">
                  <c:v>768.39260328600005</c:v>
                </c:pt>
                <c:pt idx="19">
                  <c:v>789.685244797</c:v>
                </c:pt>
                <c:pt idx="20">
                  <c:v>977.62980052</c:v>
                </c:pt>
                <c:pt idx="21">
                  <c:v>767.02494781899998</c:v>
                </c:pt>
                <c:pt idx="22">
                  <c:v>824.27933141599999</c:v>
                </c:pt>
                <c:pt idx="23">
                  <c:v>779.61007824199999</c:v>
                </c:pt>
                <c:pt idx="24">
                  <c:v>724.28014621499995</c:v>
                </c:pt>
                <c:pt idx="25">
                  <c:v>757.15323654700001</c:v>
                </c:pt>
                <c:pt idx="26">
                  <c:v>786.70824788100003</c:v>
                </c:pt>
                <c:pt idx="27">
                  <c:v>803.453998791</c:v>
                </c:pt>
                <c:pt idx="28">
                  <c:v>774.69039025699999</c:v>
                </c:pt>
                <c:pt idx="29">
                  <c:v>757.10477177799999</c:v>
                </c:pt>
                <c:pt idx="30">
                  <c:v>701.60775209999997</c:v>
                </c:pt>
                <c:pt idx="31">
                  <c:v>667.40646536700001</c:v>
                </c:pt>
                <c:pt idx="32">
                  <c:v>719.25859763300002</c:v>
                </c:pt>
                <c:pt idx="33">
                  <c:v>566.65949021300003</c:v>
                </c:pt>
                <c:pt idx="34">
                  <c:v>591.56287720199998</c:v>
                </c:pt>
                <c:pt idx="35">
                  <c:v>604.21387451299995</c:v>
                </c:pt>
                <c:pt idx="36">
                  <c:v>536.48987077799995</c:v>
                </c:pt>
                <c:pt idx="37">
                  <c:v>579.64049080699999</c:v>
                </c:pt>
                <c:pt idx="38">
                  <c:v>597.30018781199999</c:v>
                </c:pt>
                <c:pt idx="39">
                  <c:v>629.68431561900002</c:v>
                </c:pt>
                <c:pt idx="40">
                  <c:v>628.61141740799997</c:v>
                </c:pt>
                <c:pt idx="41">
                  <c:v>601.43171464800002</c:v>
                </c:pt>
                <c:pt idx="42">
                  <c:v>617.38026637999997</c:v>
                </c:pt>
                <c:pt idx="43">
                  <c:v>595.90245406999998</c:v>
                </c:pt>
                <c:pt idx="44">
                  <c:v>699.50995128600005</c:v>
                </c:pt>
                <c:pt idx="45">
                  <c:v>582.41761107900004</c:v>
                </c:pt>
                <c:pt idx="46">
                  <c:v>599.23503607099997</c:v>
                </c:pt>
                <c:pt idx="47">
                  <c:v>636.84934341600001</c:v>
                </c:pt>
                <c:pt idx="48">
                  <c:v>550.22493639200002</c:v>
                </c:pt>
                <c:pt idx="49">
                  <c:v>551.47788447999994</c:v>
                </c:pt>
                <c:pt idx="50">
                  <c:v>533.71323691299995</c:v>
                </c:pt>
                <c:pt idx="51">
                  <c:v>546.38998947599998</c:v>
                </c:pt>
                <c:pt idx="52">
                  <c:v>539.72950592400002</c:v>
                </c:pt>
                <c:pt idx="53">
                  <c:v>533.27693879000003</c:v>
                </c:pt>
                <c:pt idx="54">
                  <c:v>514.95329045799997</c:v>
                </c:pt>
                <c:pt idx="55">
                  <c:v>492.95374937499997</c:v>
                </c:pt>
                <c:pt idx="56">
                  <c:v>596.79321063600003</c:v>
                </c:pt>
                <c:pt idx="57">
                  <c:v>478.96756873700002</c:v>
                </c:pt>
                <c:pt idx="58">
                  <c:v>502.23096140299998</c:v>
                </c:pt>
                <c:pt idx="59">
                  <c:v>511.08908956800002</c:v>
                </c:pt>
                <c:pt idx="60">
                  <c:v>512.75963485099999</c:v>
                </c:pt>
                <c:pt idx="61">
                  <c:v>526.33967179399997</c:v>
                </c:pt>
                <c:pt idx="62">
                  <c:v>570.257798224</c:v>
                </c:pt>
                <c:pt idx="63">
                  <c:v>532.51040188699994</c:v>
                </c:pt>
                <c:pt idx="64">
                  <c:v>522.27947078399995</c:v>
                </c:pt>
                <c:pt idx="65">
                  <c:v>524.58795812899996</c:v>
                </c:pt>
                <c:pt idx="66">
                  <c:v>505.96164980399999</c:v>
                </c:pt>
                <c:pt idx="67">
                  <c:v>494.11610623399997</c:v>
                </c:pt>
                <c:pt idx="68">
                  <c:v>606.18636917699996</c:v>
                </c:pt>
                <c:pt idx="69">
                  <c:v>473.63402258000002</c:v>
                </c:pt>
                <c:pt idx="70">
                  <c:v>539.83964091300004</c:v>
                </c:pt>
                <c:pt idx="71">
                  <c:v>511.37976213799999</c:v>
                </c:pt>
                <c:pt idx="72">
                  <c:v>493.702913303</c:v>
                </c:pt>
                <c:pt idx="73">
                  <c:v>481.49752970100002</c:v>
                </c:pt>
                <c:pt idx="74">
                  <c:v>523.74413261500001</c:v>
                </c:pt>
                <c:pt idx="75">
                  <c:v>517.49024114999997</c:v>
                </c:pt>
                <c:pt idx="76">
                  <c:v>523.96248890200002</c:v>
                </c:pt>
                <c:pt idx="77">
                  <c:v>530.14762200099995</c:v>
                </c:pt>
                <c:pt idx="78">
                  <c:v>503.43951250999999</c:v>
                </c:pt>
                <c:pt idx="79">
                  <c:v>524.21999874100004</c:v>
                </c:pt>
                <c:pt idx="80">
                  <c:v>612.27845381500003</c:v>
                </c:pt>
                <c:pt idx="81">
                  <c:v>476.46356741</c:v>
                </c:pt>
                <c:pt idx="82">
                  <c:v>523.95116558100005</c:v>
                </c:pt>
                <c:pt idx="83">
                  <c:v>507.15316702699999</c:v>
                </c:pt>
                <c:pt idx="84">
                  <c:v>514.41678155499994</c:v>
                </c:pt>
                <c:pt idx="85">
                  <c:v>515.56097067300004</c:v>
                </c:pt>
                <c:pt idx="86">
                  <c:v>554.15545299500002</c:v>
                </c:pt>
                <c:pt idx="87">
                  <c:v>555.40973373300005</c:v>
                </c:pt>
                <c:pt idx="88">
                  <c:v>564.44092287800004</c:v>
                </c:pt>
                <c:pt idx="89">
                  <c:v>545.27587689999996</c:v>
                </c:pt>
                <c:pt idx="90">
                  <c:v>548.36098637099997</c:v>
                </c:pt>
                <c:pt idx="91">
                  <c:v>542.17197662900003</c:v>
                </c:pt>
                <c:pt idx="92">
                  <c:v>676.11787316799996</c:v>
                </c:pt>
                <c:pt idx="93">
                  <c:v>520.12395837999998</c:v>
                </c:pt>
                <c:pt idx="94">
                  <c:v>571.92460771200001</c:v>
                </c:pt>
                <c:pt idx="95">
                  <c:v>557.96620736299997</c:v>
                </c:pt>
                <c:pt idx="96">
                  <c:v>542.18997466999997</c:v>
                </c:pt>
                <c:pt idx="97">
                  <c:v>544.12401606599997</c:v>
                </c:pt>
                <c:pt idx="98">
                  <c:v>578.40383963399995</c:v>
                </c:pt>
                <c:pt idx="99">
                  <c:v>587.84009742399996</c:v>
                </c:pt>
                <c:pt idx="100">
                  <c:v>593.01965967199999</c:v>
                </c:pt>
                <c:pt idx="101">
                  <c:v>627.55081088700001</c:v>
                </c:pt>
                <c:pt idx="102">
                  <c:v>588.30632772499996</c:v>
                </c:pt>
                <c:pt idx="103">
                  <c:v>646.63670455399995</c:v>
                </c:pt>
                <c:pt idx="104">
                  <c:v>730.37637645699999</c:v>
                </c:pt>
                <c:pt idx="105">
                  <c:v>601.23428098399995</c:v>
                </c:pt>
                <c:pt idx="106">
                  <c:v>587.98020798699997</c:v>
                </c:pt>
                <c:pt idx="107">
                  <c:v>600.16626344700001</c:v>
                </c:pt>
                <c:pt idx="108">
                  <c:v>496.036779164</c:v>
                </c:pt>
                <c:pt idx="109">
                  <c:v>555.97269137700005</c:v>
                </c:pt>
                <c:pt idx="110">
                  <c:v>600.11871988400003</c:v>
                </c:pt>
                <c:pt idx="111">
                  <c:v>648.93385048899995</c:v>
                </c:pt>
                <c:pt idx="112">
                  <c:v>610.36052015400003</c:v>
                </c:pt>
                <c:pt idx="113">
                  <c:v>586.15557736799997</c:v>
                </c:pt>
                <c:pt idx="114">
                  <c:v>590.93158461600001</c:v>
                </c:pt>
                <c:pt idx="115">
                  <c:v>591.73407706600005</c:v>
                </c:pt>
                <c:pt idx="116">
                  <c:v>724.24834669100005</c:v>
                </c:pt>
                <c:pt idx="117">
                  <c:v>587.75430214400001</c:v>
                </c:pt>
                <c:pt idx="118">
                  <c:v>647.11218496499998</c:v>
                </c:pt>
                <c:pt idx="119">
                  <c:v>696.67886491700006</c:v>
                </c:pt>
                <c:pt idx="120">
                  <c:v>691.86321616600003</c:v>
                </c:pt>
                <c:pt idx="121">
                  <c:v>731.60742225900003</c:v>
                </c:pt>
                <c:pt idx="122">
                  <c:v>730.15877609899997</c:v>
                </c:pt>
                <c:pt idx="123">
                  <c:v>729.08694104200003</c:v>
                </c:pt>
                <c:pt idx="124">
                  <c:v>739.41072131600004</c:v>
                </c:pt>
                <c:pt idx="125">
                  <c:v>734.98719799399998</c:v>
                </c:pt>
                <c:pt idx="126">
                  <c:v>743.49290523900004</c:v>
                </c:pt>
                <c:pt idx="127">
                  <c:v>740.10207071000002</c:v>
                </c:pt>
                <c:pt idx="128">
                  <c:v>899.68457295099995</c:v>
                </c:pt>
                <c:pt idx="129">
                  <c:v>700.69959106800002</c:v>
                </c:pt>
                <c:pt idx="130">
                  <c:v>770.83920581200005</c:v>
                </c:pt>
                <c:pt idx="131">
                  <c:v>775.45166067800005</c:v>
                </c:pt>
                <c:pt idx="132">
                  <c:v>752.84387117799997</c:v>
                </c:pt>
                <c:pt idx="133">
                  <c:v>774.09186053400003</c:v>
                </c:pt>
                <c:pt idx="134">
                  <c:v>812.56517194399999</c:v>
                </c:pt>
                <c:pt idx="135">
                  <c:v>811.68719886899999</c:v>
                </c:pt>
                <c:pt idx="136">
                  <c:v>801.89538654299997</c:v>
                </c:pt>
                <c:pt idx="137">
                  <c:v>773.505587633</c:v>
                </c:pt>
                <c:pt idx="138">
                  <c:v>757.33111807099999</c:v>
                </c:pt>
                <c:pt idx="139">
                  <c:v>747.61413309199997</c:v>
                </c:pt>
                <c:pt idx="140">
                  <c:v>903.36948513799996</c:v>
                </c:pt>
                <c:pt idx="141">
                  <c:v>719.66104413000005</c:v>
                </c:pt>
                <c:pt idx="142">
                  <c:v>798.11995923799998</c:v>
                </c:pt>
                <c:pt idx="143">
                  <c:v>771.26780361900001</c:v>
                </c:pt>
                <c:pt idx="144">
                  <c:v>735.35359886000003</c:v>
                </c:pt>
                <c:pt idx="145">
                  <c:v>744.75816124699998</c:v>
                </c:pt>
                <c:pt idx="146">
                  <c:v>791.34534472899998</c:v>
                </c:pt>
                <c:pt idx="147">
                  <c:v>781.32419431300002</c:v>
                </c:pt>
                <c:pt idx="148">
                  <c:v>783.24766008100005</c:v>
                </c:pt>
                <c:pt idx="149">
                  <c:v>771.78778517900002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C44-6241-AD76-754ABAC7B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3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Source units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45200"/>
          <c:min val="40634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73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Recursive OOT path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Actual</c:v>
          </c:tx>
          <c:spPr>
            <a:ln w="2095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m/d/yy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Data'!$B$2:$B$28</c:f>
              <c:numCache>
                <c:formatCode>General</c:formatCode>
                <c:ptCount val="27"/>
                <c:pt idx="0">
                  <c:v>769</c:v>
                </c:pt>
                <c:pt idx="1">
                  <c:v>773</c:v>
                </c:pt>
                <c:pt idx="2">
                  <c:v>851</c:v>
                </c:pt>
                <c:pt idx="3">
                  <c:v>694</c:v>
                </c:pt>
                <c:pt idx="4">
                  <c:v>721</c:v>
                </c:pt>
                <c:pt idx="5">
                  <c:v>797</c:v>
                </c:pt>
                <c:pt idx="6">
                  <c:v>765</c:v>
                </c:pt>
                <c:pt idx="7">
                  <c:v>804</c:v>
                </c:pt>
                <c:pt idx="8">
                  <c:v>779</c:v>
                </c:pt>
                <c:pt idx="9">
                  <c:v>822</c:v>
                </c:pt>
                <c:pt idx="10">
                  <c:v>776</c:v>
                </c:pt>
                <c:pt idx="11">
                  <c:v>701</c:v>
                </c:pt>
                <c:pt idx="12">
                  <c:v>781</c:v>
                </c:pt>
                <c:pt idx="13">
                  <c:v>777</c:v>
                </c:pt>
                <c:pt idx="14">
                  <c:v>819</c:v>
                </c:pt>
                <c:pt idx="15">
                  <c:v>685</c:v>
                </c:pt>
                <c:pt idx="16">
                  <c:v>657</c:v>
                </c:pt>
                <c:pt idx="17">
                  <c:v>730</c:v>
                </c:pt>
                <c:pt idx="18">
                  <c:v>755</c:v>
                </c:pt>
                <c:pt idx="19">
                  <c:v>780</c:v>
                </c:pt>
                <c:pt idx="20">
                  <c:v>722</c:v>
                </c:pt>
                <c:pt idx="21">
                  <c:v>751</c:v>
                </c:pt>
                <c:pt idx="22">
                  <c:v>727</c:v>
                </c:pt>
                <c:pt idx="23">
                  <c:v>680</c:v>
                </c:pt>
                <c:pt idx="24">
                  <c:v>747</c:v>
                </c:pt>
                <c:pt idx="25">
                  <c:v>729</c:v>
                </c:pt>
                <c:pt idx="26">
                  <c:v>909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A3E-F347-AC54-E3D0DC6E3351}"/>
            </c:ext>
          </c:extLst>
        </c:ser>
        <c:ser>
          <c:idx val="1"/>
          <c:order val="1"/>
          <c:tx>
            <c:v>Recursive forecast</c:v>
          </c:tx>
          <c:spPr>
            <a:ln w="20955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Data'!$D$2:$D$28</c:f>
              <c:numCache>
                <c:formatCode>General</c:formatCode>
                <c:ptCount val="27"/>
                <c:pt idx="0">
                  <c:v>748.81048591399997</c:v>
                </c:pt>
                <c:pt idx="1">
                  <c:v>732.45150477499999</c:v>
                </c:pt>
                <c:pt idx="2">
                  <c:v>872.634185226</c:v>
                </c:pt>
                <c:pt idx="3">
                  <c:v>684.90984679500002</c:v>
                </c:pt>
                <c:pt idx="4">
                  <c:v>735.27048372700006</c:v>
                </c:pt>
                <c:pt idx="5">
                  <c:v>750.63007257100003</c:v>
                </c:pt>
                <c:pt idx="6">
                  <c:v>716.21227575099999</c:v>
                </c:pt>
                <c:pt idx="7">
                  <c:v>725.35552220399995</c:v>
                </c:pt>
                <c:pt idx="8">
                  <c:v>720.99474052400001</c:v>
                </c:pt>
                <c:pt idx="9">
                  <c:v>716.80619738200005</c:v>
                </c:pt>
                <c:pt idx="10">
                  <c:v>710.01811892499995</c:v>
                </c:pt>
                <c:pt idx="11">
                  <c:v>710.46391570699996</c:v>
                </c:pt>
                <c:pt idx="12">
                  <c:v>705.40968646199997</c:v>
                </c:pt>
                <c:pt idx="13">
                  <c:v>707.09998176199997</c:v>
                </c:pt>
                <c:pt idx="14">
                  <c:v>860.036007402</c:v>
                </c:pt>
                <c:pt idx="15">
                  <c:v>669.47425808599996</c:v>
                </c:pt>
                <c:pt idx="16">
                  <c:v>718.03608426100004</c:v>
                </c:pt>
                <c:pt idx="17">
                  <c:v>737.50084316000004</c:v>
                </c:pt>
                <c:pt idx="18">
                  <c:v>703.32115017599995</c:v>
                </c:pt>
                <c:pt idx="19">
                  <c:v>703.76183332300002</c:v>
                </c:pt>
                <c:pt idx="20">
                  <c:v>697.02489772700005</c:v>
                </c:pt>
                <c:pt idx="21">
                  <c:v>691.62330181000004</c:v>
                </c:pt>
                <c:pt idx="22">
                  <c:v>698.45240635899995</c:v>
                </c:pt>
                <c:pt idx="23">
                  <c:v>692.79079900900001</c:v>
                </c:pt>
                <c:pt idx="24">
                  <c:v>682.78658315799998</c:v>
                </c:pt>
                <c:pt idx="25">
                  <c:v>679.47328178199996</c:v>
                </c:pt>
                <c:pt idx="26">
                  <c:v>820.02321644100005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A3E-F347-AC54-E3D0DC6E3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0"/>
          <c:min val="5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Source units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yyyy\-mm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8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350">
                <a:solidFill>
                  <a:srgbClr val="252F38"/>
                </a:solidFill>
                <a:latin typeface="Arial"/>
                <a:ea typeface="Arial"/>
                <a:cs typeface="Arial"/>
              </a:rPr>
              <a:t>Autoregressive coefficients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y(t-1)</c:v>
          </c:tx>
          <c:spPr>
            <a:ln w="2095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Data'!$A$2:$A$119</c:f>
              <c:numCache>
                <c:formatCode>General</c:formatCode>
                <c:ptCount val="118"/>
                <c:pt idx="0">
                  <c:v>42430</c:v>
                </c:pt>
                <c:pt idx="1">
                  <c:v>42461</c:v>
                </c:pt>
                <c:pt idx="2">
                  <c:v>42491</c:v>
                </c:pt>
                <c:pt idx="3">
                  <c:v>42522</c:v>
                </c:pt>
                <c:pt idx="4">
                  <c:v>42552</c:v>
                </c:pt>
                <c:pt idx="5">
                  <c:v>42583</c:v>
                </c:pt>
                <c:pt idx="6">
                  <c:v>42614</c:v>
                </c:pt>
                <c:pt idx="7">
                  <c:v>42644</c:v>
                </c:pt>
                <c:pt idx="8">
                  <c:v>42675</c:v>
                </c:pt>
                <c:pt idx="9">
                  <c:v>42705</c:v>
                </c:pt>
                <c:pt idx="10">
                  <c:v>42736</c:v>
                </c:pt>
                <c:pt idx="11">
                  <c:v>42767</c:v>
                </c:pt>
                <c:pt idx="12">
                  <c:v>42795</c:v>
                </c:pt>
                <c:pt idx="13">
                  <c:v>42826</c:v>
                </c:pt>
                <c:pt idx="14">
                  <c:v>42856</c:v>
                </c:pt>
                <c:pt idx="15">
                  <c:v>42887</c:v>
                </c:pt>
                <c:pt idx="16">
                  <c:v>42917</c:v>
                </c:pt>
                <c:pt idx="17">
                  <c:v>42948</c:v>
                </c:pt>
                <c:pt idx="18">
                  <c:v>42979</c:v>
                </c:pt>
                <c:pt idx="19">
                  <c:v>43009</c:v>
                </c:pt>
                <c:pt idx="20">
                  <c:v>43040</c:v>
                </c:pt>
                <c:pt idx="21">
                  <c:v>43070</c:v>
                </c:pt>
                <c:pt idx="22">
                  <c:v>43101</c:v>
                </c:pt>
                <c:pt idx="23">
                  <c:v>43132</c:v>
                </c:pt>
                <c:pt idx="24">
                  <c:v>43160</c:v>
                </c:pt>
                <c:pt idx="25">
                  <c:v>43191</c:v>
                </c:pt>
                <c:pt idx="26">
                  <c:v>43221</c:v>
                </c:pt>
                <c:pt idx="27">
                  <c:v>43252</c:v>
                </c:pt>
                <c:pt idx="28">
                  <c:v>43282</c:v>
                </c:pt>
                <c:pt idx="29">
                  <c:v>43313</c:v>
                </c:pt>
                <c:pt idx="30">
                  <c:v>43344</c:v>
                </c:pt>
                <c:pt idx="31">
                  <c:v>43374</c:v>
                </c:pt>
                <c:pt idx="32">
                  <c:v>43405</c:v>
                </c:pt>
                <c:pt idx="33">
                  <c:v>43435</c:v>
                </c:pt>
                <c:pt idx="34">
                  <c:v>43466</c:v>
                </c:pt>
                <c:pt idx="35">
                  <c:v>43497</c:v>
                </c:pt>
                <c:pt idx="36">
                  <c:v>43525</c:v>
                </c:pt>
                <c:pt idx="37">
                  <c:v>43556</c:v>
                </c:pt>
                <c:pt idx="38">
                  <c:v>43586</c:v>
                </c:pt>
                <c:pt idx="39">
                  <c:v>43617</c:v>
                </c:pt>
                <c:pt idx="40">
                  <c:v>43647</c:v>
                </c:pt>
                <c:pt idx="41">
                  <c:v>43678</c:v>
                </c:pt>
                <c:pt idx="42">
                  <c:v>43709</c:v>
                </c:pt>
                <c:pt idx="43">
                  <c:v>43739</c:v>
                </c:pt>
                <c:pt idx="44">
                  <c:v>43770</c:v>
                </c:pt>
                <c:pt idx="45">
                  <c:v>43800</c:v>
                </c:pt>
                <c:pt idx="46">
                  <c:v>43831</c:v>
                </c:pt>
                <c:pt idx="47">
                  <c:v>43862</c:v>
                </c:pt>
                <c:pt idx="48">
                  <c:v>43891</c:v>
                </c:pt>
                <c:pt idx="49">
                  <c:v>43922</c:v>
                </c:pt>
                <c:pt idx="50">
                  <c:v>43952</c:v>
                </c:pt>
                <c:pt idx="51">
                  <c:v>43983</c:v>
                </c:pt>
                <c:pt idx="52">
                  <c:v>44013</c:v>
                </c:pt>
                <c:pt idx="53">
                  <c:v>44044</c:v>
                </c:pt>
                <c:pt idx="54">
                  <c:v>44075</c:v>
                </c:pt>
                <c:pt idx="55">
                  <c:v>44105</c:v>
                </c:pt>
                <c:pt idx="56">
                  <c:v>44136</c:v>
                </c:pt>
                <c:pt idx="57">
                  <c:v>44166</c:v>
                </c:pt>
                <c:pt idx="58">
                  <c:v>44197</c:v>
                </c:pt>
                <c:pt idx="59">
                  <c:v>44228</c:v>
                </c:pt>
                <c:pt idx="60">
                  <c:v>44256</c:v>
                </c:pt>
                <c:pt idx="61">
                  <c:v>44287</c:v>
                </c:pt>
                <c:pt idx="62">
                  <c:v>44317</c:v>
                </c:pt>
                <c:pt idx="63">
                  <c:v>44348</c:v>
                </c:pt>
                <c:pt idx="64">
                  <c:v>44378</c:v>
                </c:pt>
                <c:pt idx="65">
                  <c:v>44409</c:v>
                </c:pt>
                <c:pt idx="66">
                  <c:v>44440</c:v>
                </c:pt>
                <c:pt idx="67">
                  <c:v>44470</c:v>
                </c:pt>
                <c:pt idx="68">
                  <c:v>44501</c:v>
                </c:pt>
                <c:pt idx="69">
                  <c:v>44531</c:v>
                </c:pt>
                <c:pt idx="70">
                  <c:v>44562</c:v>
                </c:pt>
                <c:pt idx="71">
                  <c:v>44593</c:v>
                </c:pt>
                <c:pt idx="72">
                  <c:v>44621</c:v>
                </c:pt>
                <c:pt idx="73">
                  <c:v>44652</c:v>
                </c:pt>
                <c:pt idx="74">
                  <c:v>44682</c:v>
                </c:pt>
                <c:pt idx="75">
                  <c:v>44713</c:v>
                </c:pt>
                <c:pt idx="76">
                  <c:v>44743</c:v>
                </c:pt>
                <c:pt idx="77">
                  <c:v>44774</c:v>
                </c:pt>
                <c:pt idx="78">
                  <c:v>44805</c:v>
                </c:pt>
                <c:pt idx="79">
                  <c:v>44835</c:v>
                </c:pt>
                <c:pt idx="80">
                  <c:v>44866</c:v>
                </c:pt>
                <c:pt idx="81">
                  <c:v>44896</c:v>
                </c:pt>
                <c:pt idx="82">
                  <c:v>44927</c:v>
                </c:pt>
                <c:pt idx="83">
                  <c:v>44958</c:v>
                </c:pt>
                <c:pt idx="84">
                  <c:v>44986</c:v>
                </c:pt>
                <c:pt idx="85">
                  <c:v>45017</c:v>
                </c:pt>
                <c:pt idx="86">
                  <c:v>45047</c:v>
                </c:pt>
                <c:pt idx="87">
                  <c:v>45078</c:v>
                </c:pt>
                <c:pt idx="88">
                  <c:v>45108</c:v>
                </c:pt>
                <c:pt idx="89">
                  <c:v>45139</c:v>
                </c:pt>
                <c:pt idx="90">
                  <c:v>45170</c:v>
                </c:pt>
                <c:pt idx="91">
                  <c:v>45200</c:v>
                </c:pt>
                <c:pt idx="92">
                  <c:v>45231</c:v>
                </c:pt>
                <c:pt idx="93">
                  <c:v>45261</c:v>
                </c:pt>
                <c:pt idx="94">
                  <c:v>45292</c:v>
                </c:pt>
                <c:pt idx="95">
                  <c:v>45323</c:v>
                </c:pt>
                <c:pt idx="96">
                  <c:v>45352</c:v>
                </c:pt>
                <c:pt idx="97">
                  <c:v>45383</c:v>
                </c:pt>
                <c:pt idx="98">
                  <c:v>45413</c:v>
                </c:pt>
                <c:pt idx="99">
                  <c:v>45444</c:v>
                </c:pt>
                <c:pt idx="100">
                  <c:v>45474</c:v>
                </c:pt>
                <c:pt idx="101">
                  <c:v>45505</c:v>
                </c:pt>
                <c:pt idx="102">
                  <c:v>45536</c:v>
                </c:pt>
                <c:pt idx="103">
                  <c:v>45566</c:v>
                </c:pt>
                <c:pt idx="104">
                  <c:v>45597</c:v>
                </c:pt>
                <c:pt idx="105">
                  <c:v>45627</c:v>
                </c:pt>
                <c:pt idx="106">
                  <c:v>45658</c:v>
                </c:pt>
                <c:pt idx="107">
                  <c:v>45689</c:v>
                </c:pt>
                <c:pt idx="108">
                  <c:v>45717</c:v>
                </c:pt>
                <c:pt idx="109">
                  <c:v>45748</c:v>
                </c:pt>
                <c:pt idx="110">
                  <c:v>45778</c:v>
                </c:pt>
                <c:pt idx="111">
                  <c:v>45809</c:v>
                </c:pt>
                <c:pt idx="112">
                  <c:v>45839</c:v>
                </c:pt>
                <c:pt idx="113">
                  <c:v>45870</c:v>
                </c:pt>
                <c:pt idx="114">
                  <c:v>45901</c:v>
                </c:pt>
                <c:pt idx="115">
                  <c:v>45931</c:v>
                </c:pt>
                <c:pt idx="116">
                  <c:v>45962</c:v>
                </c:pt>
                <c:pt idx="117">
                  <c:v>45992</c:v>
                </c:pt>
              </c:numCache>
            </c:numRef>
          </c:xVal>
          <c:yVal>
            <c:numRef>
              <c:f>'Chart Data'!$B$2:$B$119</c:f>
              <c:numCache>
                <c:formatCode>0.0</c:formatCode>
                <c:ptCount val="118"/>
                <c:pt idx="0">
                  <c:v>-0.48129966200000002</c:v>
                </c:pt>
                <c:pt idx="1">
                  <c:v>-0.53924811699999997</c:v>
                </c:pt>
                <c:pt idx="2">
                  <c:v>-0.51311385600000003</c:v>
                </c:pt>
                <c:pt idx="3">
                  <c:v>-0.48348570899999999</c:v>
                </c:pt>
                <c:pt idx="4">
                  <c:v>-0.487970707</c:v>
                </c:pt>
                <c:pt idx="5">
                  <c:v>-0.50873527900000004</c:v>
                </c:pt>
                <c:pt idx="6">
                  <c:v>-0.51194462799999996</c:v>
                </c:pt>
                <c:pt idx="7">
                  <c:v>-0.51225806299999999</c:v>
                </c:pt>
                <c:pt idx="8">
                  <c:v>-0.52685267700000005</c:v>
                </c:pt>
                <c:pt idx="9">
                  <c:v>-0.53865147400000002</c:v>
                </c:pt>
                <c:pt idx="10">
                  <c:v>-0.54331016899999995</c:v>
                </c:pt>
                <c:pt idx="11">
                  <c:v>-0.54307952599999998</c:v>
                </c:pt>
                <c:pt idx="12">
                  <c:v>-0.549747761</c:v>
                </c:pt>
                <c:pt idx="13">
                  <c:v>-0.56336298799999995</c:v>
                </c:pt>
                <c:pt idx="14">
                  <c:v>-0.57315697799999998</c:v>
                </c:pt>
                <c:pt idx="15">
                  <c:v>-0.56773113399999997</c:v>
                </c:pt>
                <c:pt idx="16">
                  <c:v>-0.57116804499999996</c:v>
                </c:pt>
                <c:pt idx="17">
                  <c:v>-0.57422811399999996</c:v>
                </c:pt>
                <c:pt idx="18">
                  <c:v>-0.577256463</c:v>
                </c:pt>
                <c:pt idx="19">
                  <c:v>-0.57521883900000004</c:v>
                </c:pt>
                <c:pt idx="20">
                  <c:v>-0.58937970299999998</c:v>
                </c:pt>
                <c:pt idx="21">
                  <c:v>-0.56428726500000004</c:v>
                </c:pt>
                <c:pt idx="22">
                  <c:v>-0.59440905099999997</c:v>
                </c:pt>
                <c:pt idx="23">
                  <c:v>-0.60949644800000002</c:v>
                </c:pt>
                <c:pt idx="24">
                  <c:v>-0.62360884999999999</c:v>
                </c:pt>
                <c:pt idx="25">
                  <c:v>-0.62347125199999998</c:v>
                </c:pt>
                <c:pt idx="26">
                  <c:v>-0.64036367999999999</c:v>
                </c:pt>
                <c:pt idx="27">
                  <c:v>-0.63387412399999998</c:v>
                </c:pt>
                <c:pt idx="28">
                  <c:v>-0.63554707399999999</c:v>
                </c:pt>
                <c:pt idx="29">
                  <c:v>-0.63739496500000004</c:v>
                </c:pt>
                <c:pt idx="30">
                  <c:v>-0.62569747099999995</c:v>
                </c:pt>
                <c:pt idx="31">
                  <c:v>-0.64505476699999997</c:v>
                </c:pt>
                <c:pt idx="32">
                  <c:v>-0.66756720300000005</c:v>
                </c:pt>
                <c:pt idx="33">
                  <c:v>-0.67899689900000004</c:v>
                </c:pt>
                <c:pt idx="34">
                  <c:v>-0.68406451400000001</c:v>
                </c:pt>
                <c:pt idx="35">
                  <c:v>-0.69172519899999996</c:v>
                </c:pt>
                <c:pt idx="36">
                  <c:v>-0.73996884900000004</c:v>
                </c:pt>
                <c:pt idx="37">
                  <c:v>-0.70719613800000003</c:v>
                </c:pt>
                <c:pt idx="38">
                  <c:v>-0.74222725899999997</c:v>
                </c:pt>
                <c:pt idx="39">
                  <c:v>-0.74349731600000002</c:v>
                </c:pt>
                <c:pt idx="40">
                  <c:v>-0.74144509599999997</c:v>
                </c:pt>
                <c:pt idx="41">
                  <c:v>-0.73973004499999995</c:v>
                </c:pt>
                <c:pt idx="42">
                  <c:v>-0.77392253700000002</c:v>
                </c:pt>
                <c:pt idx="43">
                  <c:v>-0.80724775299999996</c:v>
                </c:pt>
                <c:pt idx="44">
                  <c:v>-0.81744197100000004</c:v>
                </c:pt>
                <c:pt idx="45">
                  <c:v>-0.77632953800000004</c:v>
                </c:pt>
                <c:pt idx="46">
                  <c:v>-0.74691470599999998</c:v>
                </c:pt>
                <c:pt idx="47">
                  <c:v>-0.79474415099999995</c:v>
                </c:pt>
                <c:pt idx="48">
                  <c:v>-0.86019120900000001</c:v>
                </c:pt>
                <c:pt idx="49">
                  <c:v>-0.86048059099999996</c:v>
                </c:pt>
                <c:pt idx="50">
                  <c:v>-0.845646008</c:v>
                </c:pt>
                <c:pt idx="51">
                  <c:v>-0.85492639699999995</c:v>
                </c:pt>
                <c:pt idx="52">
                  <c:v>-0.85994663299999996</c:v>
                </c:pt>
                <c:pt idx="53">
                  <c:v>-0.85974194599999998</c:v>
                </c:pt>
                <c:pt idx="54">
                  <c:v>-0.86314436900000002</c:v>
                </c:pt>
                <c:pt idx="55">
                  <c:v>-0.86132770400000003</c:v>
                </c:pt>
                <c:pt idx="56">
                  <c:v>-0.86195928099999997</c:v>
                </c:pt>
                <c:pt idx="57">
                  <c:v>-0.84912103500000002</c:v>
                </c:pt>
                <c:pt idx="58">
                  <c:v>-0.83485459799999995</c:v>
                </c:pt>
                <c:pt idx="59">
                  <c:v>-0.87368596899999995</c:v>
                </c:pt>
                <c:pt idx="60">
                  <c:v>-0.82970779299999997</c:v>
                </c:pt>
                <c:pt idx="61">
                  <c:v>-0.84290651500000002</c:v>
                </c:pt>
                <c:pt idx="62">
                  <c:v>-0.82816925299999999</c:v>
                </c:pt>
                <c:pt idx="63">
                  <c:v>-0.82687118699999995</c:v>
                </c:pt>
                <c:pt idx="64">
                  <c:v>-0.82092284100000001</c:v>
                </c:pt>
                <c:pt idx="65">
                  <c:v>-0.81420577800000005</c:v>
                </c:pt>
                <c:pt idx="66">
                  <c:v>-0.80852431199999997</c:v>
                </c:pt>
                <c:pt idx="67">
                  <c:v>-0.81268600400000002</c:v>
                </c:pt>
                <c:pt idx="68">
                  <c:v>-0.79766126299999995</c:v>
                </c:pt>
                <c:pt idx="69">
                  <c:v>-0.80553486699999999</c:v>
                </c:pt>
                <c:pt idx="70">
                  <c:v>-0.80909783400000002</c:v>
                </c:pt>
                <c:pt idx="71">
                  <c:v>-0.82880904700000002</c:v>
                </c:pt>
                <c:pt idx="72">
                  <c:v>-0.82433403900000002</c:v>
                </c:pt>
                <c:pt idx="73">
                  <c:v>-0.80971599999999999</c:v>
                </c:pt>
                <c:pt idx="74">
                  <c:v>-0.79489443400000004</c:v>
                </c:pt>
                <c:pt idx="75">
                  <c:v>-0.80099068299999998</c:v>
                </c:pt>
                <c:pt idx="76">
                  <c:v>-0.79745224999999997</c:v>
                </c:pt>
                <c:pt idx="77">
                  <c:v>-0.78188669</c:v>
                </c:pt>
                <c:pt idx="78">
                  <c:v>-0.76549167900000004</c:v>
                </c:pt>
                <c:pt idx="79">
                  <c:v>-0.76517733099999996</c:v>
                </c:pt>
                <c:pt idx="80">
                  <c:v>-0.76304871600000002</c:v>
                </c:pt>
                <c:pt idx="81">
                  <c:v>-0.76144717100000003</c:v>
                </c:pt>
                <c:pt idx="82">
                  <c:v>-0.75724330100000004</c:v>
                </c:pt>
                <c:pt idx="83">
                  <c:v>-0.74613479199999999</c:v>
                </c:pt>
                <c:pt idx="84">
                  <c:v>-0.72781801000000002</c:v>
                </c:pt>
                <c:pt idx="85">
                  <c:v>-0.72301933299999999</c:v>
                </c:pt>
                <c:pt idx="86">
                  <c:v>-0.72186173600000003</c:v>
                </c:pt>
                <c:pt idx="87">
                  <c:v>-0.72776385700000001</c:v>
                </c:pt>
                <c:pt idx="88">
                  <c:v>-0.72856350700000005</c:v>
                </c:pt>
                <c:pt idx="89">
                  <c:v>-0.72813949200000005</c:v>
                </c:pt>
                <c:pt idx="90">
                  <c:v>-0.72411407100000003</c:v>
                </c:pt>
                <c:pt idx="91">
                  <c:v>-0.72586653800000001</c:v>
                </c:pt>
                <c:pt idx="92">
                  <c:v>-0.72641695799999995</c:v>
                </c:pt>
                <c:pt idx="93">
                  <c:v>-0.72810204700000003</c:v>
                </c:pt>
                <c:pt idx="94">
                  <c:v>-0.72971354499999996</c:v>
                </c:pt>
                <c:pt idx="95">
                  <c:v>-0.74747733400000005</c:v>
                </c:pt>
                <c:pt idx="96">
                  <c:v>-0.74744624199999998</c:v>
                </c:pt>
                <c:pt idx="97">
                  <c:v>-0.74683737400000005</c:v>
                </c:pt>
                <c:pt idx="98">
                  <c:v>-0.75749515000000001</c:v>
                </c:pt>
                <c:pt idx="99">
                  <c:v>-0.76422657100000002</c:v>
                </c:pt>
                <c:pt idx="100">
                  <c:v>-0.76168355099999996</c:v>
                </c:pt>
                <c:pt idx="101">
                  <c:v>-0.752660475</c:v>
                </c:pt>
                <c:pt idx="102">
                  <c:v>-0.68729359899999998</c:v>
                </c:pt>
                <c:pt idx="103">
                  <c:v>-0.634032233</c:v>
                </c:pt>
                <c:pt idx="104">
                  <c:v>-0.59675414999999998</c:v>
                </c:pt>
                <c:pt idx="105">
                  <c:v>-0.59085047700000004</c:v>
                </c:pt>
                <c:pt idx="106">
                  <c:v>-0.58223582200000001</c:v>
                </c:pt>
                <c:pt idx="107">
                  <c:v>-0.435533907</c:v>
                </c:pt>
                <c:pt idx="108">
                  <c:v>-0.38919626099999999</c:v>
                </c:pt>
                <c:pt idx="109">
                  <c:v>-0.36535021600000001</c:v>
                </c:pt>
                <c:pt idx="110">
                  <c:v>-0.249214665</c:v>
                </c:pt>
                <c:pt idx="111">
                  <c:v>-0.195165699</c:v>
                </c:pt>
                <c:pt idx="112">
                  <c:v>-0.211181495</c:v>
                </c:pt>
                <c:pt idx="113">
                  <c:v>-0.19857149700000001</c:v>
                </c:pt>
                <c:pt idx="114">
                  <c:v>-0.19453469600000001</c:v>
                </c:pt>
                <c:pt idx="115">
                  <c:v>-0.21259075299999999</c:v>
                </c:pt>
                <c:pt idx="116">
                  <c:v>-0.219948324</c:v>
                </c:pt>
                <c:pt idx="117">
                  <c:v>-0.22635981499999999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262-FD4C-B9CD-DB38F51179A8}"/>
            </c:ext>
          </c:extLst>
        </c:ser>
        <c:ser>
          <c:idx val="1"/>
          <c:order val="1"/>
          <c:tx>
            <c:v>y(t-2)</c:v>
          </c:tx>
          <c:spPr>
            <a:ln w="20955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Data'!$C$2:$C$119</c:f>
              <c:numCache>
                <c:formatCode>General</c:formatCode>
                <c:ptCount val="118"/>
                <c:pt idx="0">
                  <c:v>42430</c:v>
                </c:pt>
                <c:pt idx="1">
                  <c:v>42461</c:v>
                </c:pt>
                <c:pt idx="2">
                  <c:v>42491</c:v>
                </c:pt>
                <c:pt idx="3">
                  <c:v>42522</c:v>
                </c:pt>
                <c:pt idx="4">
                  <c:v>42552</c:v>
                </c:pt>
                <c:pt idx="5">
                  <c:v>42583</c:v>
                </c:pt>
                <c:pt idx="6">
                  <c:v>42614</c:v>
                </c:pt>
                <c:pt idx="7">
                  <c:v>42644</c:v>
                </c:pt>
                <c:pt idx="8">
                  <c:v>42675</c:v>
                </c:pt>
                <c:pt idx="9">
                  <c:v>42705</c:v>
                </c:pt>
                <c:pt idx="10">
                  <c:v>42736</c:v>
                </c:pt>
                <c:pt idx="11">
                  <c:v>42767</c:v>
                </c:pt>
                <c:pt idx="12">
                  <c:v>42795</c:v>
                </c:pt>
                <c:pt idx="13">
                  <c:v>42826</c:v>
                </c:pt>
                <c:pt idx="14">
                  <c:v>42856</c:v>
                </c:pt>
                <c:pt idx="15">
                  <c:v>42887</c:v>
                </c:pt>
                <c:pt idx="16">
                  <c:v>42917</c:v>
                </c:pt>
                <c:pt idx="17">
                  <c:v>42948</c:v>
                </c:pt>
                <c:pt idx="18">
                  <c:v>42979</c:v>
                </c:pt>
                <c:pt idx="19">
                  <c:v>43009</c:v>
                </c:pt>
                <c:pt idx="20">
                  <c:v>43040</c:v>
                </c:pt>
                <c:pt idx="21">
                  <c:v>43070</c:v>
                </c:pt>
                <c:pt idx="22">
                  <c:v>43101</c:v>
                </c:pt>
                <c:pt idx="23">
                  <c:v>43132</c:v>
                </c:pt>
                <c:pt idx="24">
                  <c:v>43160</c:v>
                </c:pt>
                <c:pt idx="25">
                  <c:v>43191</c:v>
                </c:pt>
                <c:pt idx="26">
                  <c:v>43221</c:v>
                </c:pt>
                <c:pt idx="27">
                  <c:v>43252</c:v>
                </c:pt>
                <c:pt idx="28">
                  <c:v>43282</c:v>
                </c:pt>
                <c:pt idx="29">
                  <c:v>43313</c:v>
                </c:pt>
                <c:pt idx="30">
                  <c:v>43344</c:v>
                </c:pt>
                <c:pt idx="31">
                  <c:v>43374</c:v>
                </c:pt>
                <c:pt idx="32">
                  <c:v>43405</c:v>
                </c:pt>
                <c:pt idx="33">
                  <c:v>43435</c:v>
                </c:pt>
                <c:pt idx="34">
                  <c:v>43466</c:v>
                </c:pt>
                <c:pt idx="35">
                  <c:v>43497</c:v>
                </c:pt>
                <c:pt idx="36">
                  <c:v>43525</c:v>
                </c:pt>
                <c:pt idx="37">
                  <c:v>43556</c:v>
                </c:pt>
                <c:pt idx="38">
                  <c:v>43586</c:v>
                </c:pt>
                <c:pt idx="39">
                  <c:v>43617</c:v>
                </c:pt>
                <c:pt idx="40">
                  <c:v>43647</c:v>
                </c:pt>
                <c:pt idx="41">
                  <c:v>43678</c:v>
                </c:pt>
                <c:pt idx="42">
                  <c:v>43709</c:v>
                </c:pt>
                <c:pt idx="43">
                  <c:v>43739</c:v>
                </c:pt>
                <c:pt idx="44">
                  <c:v>43770</c:v>
                </c:pt>
                <c:pt idx="45">
                  <c:v>43800</c:v>
                </c:pt>
                <c:pt idx="46">
                  <c:v>43831</c:v>
                </c:pt>
                <c:pt idx="47">
                  <c:v>43862</c:v>
                </c:pt>
                <c:pt idx="48">
                  <c:v>43891</c:v>
                </c:pt>
                <c:pt idx="49">
                  <c:v>43922</c:v>
                </c:pt>
                <c:pt idx="50">
                  <c:v>43952</c:v>
                </c:pt>
                <c:pt idx="51">
                  <c:v>43983</c:v>
                </c:pt>
                <c:pt idx="52">
                  <c:v>44013</c:v>
                </c:pt>
                <c:pt idx="53">
                  <c:v>44044</c:v>
                </c:pt>
                <c:pt idx="54">
                  <c:v>44075</c:v>
                </c:pt>
                <c:pt idx="55">
                  <c:v>44105</c:v>
                </c:pt>
                <c:pt idx="56">
                  <c:v>44136</c:v>
                </c:pt>
                <c:pt idx="57">
                  <c:v>44166</c:v>
                </c:pt>
                <c:pt idx="58">
                  <c:v>44197</c:v>
                </c:pt>
                <c:pt idx="59">
                  <c:v>44228</c:v>
                </c:pt>
                <c:pt idx="60">
                  <c:v>44256</c:v>
                </c:pt>
                <c:pt idx="61">
                  <c:v>44287</c:v>
                </c:pt>
                <c:pt idx="62">
                  <c:v>44317</c:v>
                </c:pt>
                <c:pt idx="63">
                  <c:v>44348</c:v>
                </c:pt>
                <c:pt idx="64">
                  <c:v>44378</c:v>
                </c:pt>
                <c:pt idx="65">
                  <c:v>44409</c:v>
                </c:pt>
                <c:pt idx="66">
                  <c:v>44440</c:v>
                </c:pt>
                <c:pt idx="67">
                  <c:v>44470</c:v>
                </c:pt>
                <c:pt idx="68">
                  <c:v>44501</c:v>
                </c:pt>
                <c:pt idx="69">
                  <c:v>44531</c:v>
                </c:pt>
                <c:pt idx="70">
                  <c:v>44562</c:v>
                </c:pt>
                <c:pt idx="71">
                  <c:v>44593</c:v>
                </c:pt>
                <c:pt idx="72">
                  <c:v>44621</c:v>
                </c:pt>
                <c:pt idx="73">
                  <c:v>44652</c:v>
                </c:pt>
                <c:pt idx="74">
                  <c:v>44682</c:v>
                </c:pt>
                <c:pt idx="75">
                  <c:v>44713</c:v>
                </c:pt>
                <c:pt idx="76">
                  <c:v>44743</c:v>
                </c:pt>
                <c:pt idx="77">
                  <c:v>44774</c:v>
                </c:pt>
                <c:pt idx="78">
                  <c:v>44805</c:v>
                </c:pt>
                <c:pt idx="79">
                  <c:v>44835</c:v>
                </c:pt>
                <c:pt idx="80">
                  <c:v>44866</c:v>
                </c:pt>
                <c:pt idx="81">
                  <c:v>44896</c:v>
                </c:pt>
                <c:pt idx="82">
                  <c:v>44927</c:v>
                </c:pt>
                <c:pt idx="83">
                  <c:v>44958</c:v>
                </c:pt>
                <c:pt idx="84">
                  <c:v>44986</c:v>
                </c:pt>
                <c:pt idx="85">
                  <c:v>45017</c:v>
                </c:pt>
                <c:pt idx="86">
                  <c:v>45047</c:v>
                </c:pt>
                <c:pt idx="87">
                  <c:v>45078</c:v>
                </c:pt>
                <c:pt idx="88">
                  <c:v>45108</c:v>
                </c:pt>
                <c:pt idx="89">
                  <c:v>45139</c:v>
                </c:pt>
                <c:pt idx="90">
                  <c:v>45170</c:v>
                </c:pt>
                <c:pt idx="91">
                  <c:v>45200</c:v>
                </c:pt>
                <c:pt idx="92">
                  <c:v>45231</c:v>
                </c:pt>
                <c:pt idx="93">
                  <c:v>45261</c:v>
                </c:pt>
                <c:pt idx="94">
                  <c:v>45292</c:v>
                </c:pt>
                <c:pt idx="95">
                  <c:v>45323</c:v>
                </c:pt>
                <c:pt idx="96">
                  <c:v>45352</c:v>
                </c:pt>
                <c:pt idx="97">
                  <c:v>45383</c:v>
                </c:pt>
                <c:pt idx="98">
                  <c:v>45413</c:v>
                </c:pt>
                <c:pt idx="99">
                  <c:v>45444</c:v>
                </c:pt>
                <c:pt idx="100">
                  <c:v>45474</c:v>
                </c:pt>
                <c:pt idx="101">
                  <c:v>45505</c:v>
                </c:pt>
                <c:pt idx="102">
                  <c:v>45536</c:v>
                </c:pt>
                <c:pt idx="103">
                  <c:v>45566</c:v>
                </c:pt>
                <c:pt idx="104">
                  <c:v>45597</c:v>
                </c:pt>
                <c:pt idx="105">
                  <c:v>45627</c:v>
                </c:pt>
                <c:pt idx="106">
                  <c:v>45658</c:v>
                </c:pt>
                <c:pt idx="107">
                  <c:v>45689</c:v>
                </c:pt>
                <c:pt idx="108">
                  <c:v>45717</c:v>
                </c:pt>
                <c:pt idx="109">
                  <c:v>45748</c:v>
                </c:pt>
                <c:pt idx="110">
                  <c:v>45778</c:v>
                </c:pt>
                <c:pt idx="111">
                  <c:v>45809</c:v>
                </c:pt>
                <c:pt idx="112">
                  <c:v>45839</c:v>
                </c:pt>
                <c:pt idx="113">
                  <c:v>45870</c:v>
                </c:pt>
                <c:pt idx="114">
                  <c:v>45901</c:v>
                </c:pt>
                <c:pt idx="115">
                  <c:v>45931</c:v>
                </c:pt>
                <c:pt idx="116">
                  <c:v>45962</c:v>
                </c:pt>
                <c:pt idx="117">
                  <c:v>45992</c:v>
                </c:pt>
              </c:numCache>
            </c:numRef>
          </c:xVal>
          <c:yVal>
            <c:numRef>
              <c:f>'Chart Data'!$D$2:$D$119</c:f>
              <c:numCache>
                <c:formatCode>0.0</c:formatCode>
                <c:ptCount val="118"/>
                <c:pt idx="0">
                  <c:v>-0.33229770199999997</c:v>
                </c:pt>
                <c:pt idx="1">
                  <c:v>-0.36583896500000002</c:v>
                </c:pt>
                <c:pt idx="2">
                  <c:v>-0.30197747699999999</c:v>
                </c:pt>
                <c:pt idx="3">
                  <c:v>-0.27997749599999999</c:v>
                </c:pt>
                <c:pt idx="4">
                  <c:v>-0.28617092399999999</c:v>
                </c:pt>
                <c:pt idx="5">
                  <c:v>-0.31302632499999999</c:v>
                </c:pt>
                <c:pt idx="6">
                  <c:v>-0.31313397599999998</c:v>
                </c:pt>
                <c:pt idx="7">
                  <c:v>-0.31801446900000002</c:v>
                </c:pt>
                <c:pt idx="8">
                  <c:v>-0.33321564199999998</c:v>
                </c:pt>
                <c:pt idx="9">
                  <c:v>-0.33661954599999999</c:v>
                </c:pt>
                <c:pt idx="10">
                  <c:v>-0.32538552999999998</c:v>
                </c:pt>
                <c:pt idx="11">
                  <c:v>-0.325879266</c:v>
                </c:pt>
                <c:pt idx="12">
                  <c:v>-0.33352513</c:v>
                </c:pt>
                <c:pt idx="13">
                  <c:v>-0.34041811</c:v>
                </c:pt>
                <c:pt idx="14">
                  <c:v>-0.33751424899999999</c:v>
                </c:pt>
                <c:pt idx="15">
                  <c:v>-0.33607052799999998</c:v>
                </c:pt>
                <c:pt idx="16">
                  <c:v>-0.33968882900000003</c:v>
                </c:pt>
                <c:pt idx="17">
                  <c:v>-0.34211510000000001</c:v>
                </c:pt>
                <c:pt idx="18">
                  <c:v>-0.34268903699999997</c:v>
                </c:pt>
                <c:pt idx="19">
                  <c:v>-0.34173187100000002</c:v>
                </c:pt>
                <c:pt idx="20">
                  <c:v>-0.33944128000000001</c:v>
                </c:pt>
                <c:pt idx="21">
                  <c:v>-0.32159740999999997</c:v>
                </c:pt>
                <c:pt idx="22">
                  <c:v>-0.335648799</c:v>
                </c:pt>
                <c:pt idx="23">
                  <c:v>-0.34679574099999999</c:v>
                </c:pt>
                <c:pt idx="24">
                  <c:v>-0.36622993300000001</c:v>
                </c:pt>
                <c:pt idx="25">
                  <c:v>-0.37054747799999999</c:v>
                </c:pt>
                <c:pt idx="26">
                  <c:v>-0.360807135</c:v>
                </c:pt>
                <c:pt idx="27">
                  <c:v>-0.35860276400000002</c:v>
                </c:pt>
                <c:pt idx="28">
                  <c:v>-0.356074944</c:v>
                </c:pt>
                <c:pt idx="29">
                  <c:v>-0.355044054</c:v>
                </c:pt>
                <c:pt idx="30">
                  <c:v>-0.35157745499999998</c:v>
                </c:pt>
                <c:pt idx="31">
                  <c:v>-0.36021317200000003</c:v>
                </c:pt>
                <c:pt idx="32">
                  <c:v>-0.395913823</c:v>
                </c:pt>
                <c:pt idx="33">
                  <c:v>-0.40182943599999998</c:v>
                </c:pt>
                <c:pt idx="34">
                  <c:v>-0.40660781099999999</c:v>
                </c:pt>
                <c:pt idx="35">
                  <c:v>-0.39679555700000002</c:v>
                </c:pt>
                <c:pt idx="36">
                  <c:v>-0.46872530099999998</c:v>
                </c:pt>
                <c:pt idx="37">
                  <c:v>-0.460831671</c:v>
                </c:pt>
                <c:pt idx="38">
                  <c:v>-0.45793182500000001</c:v>
                </c:pt>
                <c:pt idx="39">
                  <c:v>-0.47080195000000002</c:v>
                </c:pt>
                <c:pt idx="40">
                  <c:v>-0.46822125399999998</c:v>
                </c:pt>
                <c:pt idx="41">
                  <c:v>-0.46836802999999999</c:v>
                </c:pt>
                <c:pt idx="42">
                  <c:v>-0.48505610500000002</c:v>
                </c:pt>
                <c:pt idx="43">
                  <c:v>-0.47952929999999999</c:v>
                </c:pt>
                <c:pt idx="44">
                  <c:v>-0.465850865</c:v>
                </c:pt>
                <c:pt idx="45">
                  <c:v>-0.43888883899999998</c:v>
                </c:pt>
                <c:pt idx="46">
                  <c:v>-0.40366000299999999</c:v>
                </c:pt>
                <c:pt idx="47">
                  <c:v>-0.37628710300000001</c:v>
                </c:pt>
                <c:pt idx="48">
                  <c:v>-0.48321710600000001</c:v>
                </c:pt>
                <c:pt idx="49">
                  <c:v>-0.48661406899999998</c:v>
                </c:pt>
                <c:pt idx="50">
                  <c:v>-0.47244279</c:v>
                </c:pt>
                <c:pt idx="51">
                  <c:v>-0.466363056</c:v>
                </c:pt>
                <c:pt idx="52">
                  <c:v>-0.48414889</c:v>
                </c:pt>
                <c:pt idx="53">
                  <c:v>-0.479243639</c:v>
                </c:pt>
                <c:pt idx="54">
                  <c:v>-0.482040723</c:v>
                </c:pt>
                <c:pt idx="55">
                  <c:v>-0.48483911299999999</c:v>
                </c:pt>
                <c:pt idx="56">
                  <c:v>-0.48408731700000002</c:v>
                </c:pt>
                <c:pt idx="57">
                  <c:v>-0.46501384200000001</c:v>
                </c:pt>
                <c:pt idx="58">
                  <c:v>-0.45730612500000001</c:v>
                </c:pt>
                <c:pt idx="59">
                  <c:v>-0.46239883300000001</c:v>
                </c:pt>
                <c:pt idx="60">
                  <c:v>-0.365669044</c:v>
                </c:pt>
                <c:pt idx="61">
                  <c:v>-0.384871505</c:v>
                </c:pt>
                <c:pt idx="62">
                  <c:v>-0.37066539900000001</c:v>
                </c:pt>
                <c:pt idx="63">
                  <c:v>-0.37855217099999999</c:v>
                </c:pt>
                <c:pt idx="64">
                  <c:v>-0.367127327</c:v>
                </c:pt>
                <c:pt idx="65">
                  <c:v>-0.362022077</c:v>
                </c:pt>
                <c:pt idx="66">
                  <c:v>-0.36161876100000001</c:v>
                </c:pt>
                <c:pt idx="67">
                  <c:v>-0.34805277000000001</c:v>
                </c:pt>
                <c:pt idx="68">
                  <c:v>-0.333268646</c:v>
                </c:pt>
                <c:pt idx="69">
                  <c:v>-0.327837296</c:v>
                </c:pt>
                <c:pt idx="70">
                  <c:v>-0.33423697800000002</c:v>
                </c:pt>
                <c:pt idx="71">
                  <c:v>-0.33679746100000002</c:v>
                </c:pt>
                <c:pt idx="72">
                  <c:v>-0.33145924700000001</c:v>
                </c:pt>
                <c:pt idx="73">
                  <c:v>-0.32353560599999998</c:v>
                </c:pt>
                <c:pt idx="74">
                  <c:v>-0.32489389899999999</c:v>
                </c:pt>
                <c:pt idx="75">
                  <c:v>-0.324267904</c:v>
                </c:pt>
                <c:pt idx="76">
                  <c:v>-0.31176694100000002</c:v>
                </c:pt>
                <c:pt idx="77">
                  <c:v>-0.29895235199999998</c:v>
                </c:pt>
                <c:pt idx="78">
                  <c:v>-0.29447769400000001</c:v>
                </c:pt>
                <c:pt idx="79">
                  <c:v>-0.29486850100000001</c:v>
                </c:pt>
                <c:pt idx="80">
                  <c:v>-0.29558899</c:v>
                </c:pt>
                <c:pt idx="81">
                  <c:v>-0.29357334699999998</c:v>
                </c:pt>
                <c:pt idx="82">
                  <c:v>-0.29014562100000002</c:v>
                </c:pt>
                <c:pt idx="83">
                  <c:v>-0.29190117799999998</c:v>
                </c:pt>
                <c:pt idx="84">
                  <c:v>-0.27387306</c:v>
                </c:pt>
                <c:pt idx="85">
                  <c:v>-0.27674314100000003</c:v>
                </c:pt>
                <c:pt idx="86">
                  <c:v>-0.28651836899999999</c:v>
                </c:pt>
                <c:pt idx="87">
                  <c:v>-0.28743006599999998</c:v>
                </c:pt>
                <c:pt idx="88">
                  <c:v>-0.28951495599999999</c:v>
                </c:pt>
                <c:pt idx="89">
                  <c:v>-0.29052915400000001</c:v>
                </c:pt>
                <c:pt idx="90">
                  <c:v>-0.28789162099999999</c:v>
                </c:pt>
                <c:pt idx="91">
                  <c:v>-0.28873339799999997</c:v>
                </c:pt>
                <c:pt idx="92">
                  <c:v>-0.29675430000000003</c:v>
                </c:pt>
                <c:pt idx="93">
                  <c:v>-0.29552730700000002</c:v>
                </c:pt>
                <c:pt idx="94">
                  <c:v>-0.30083945699999998</c:v>
                </c:pt>
                <c:pt idx="95">
                  <c:v>-0.29632229700000001</c:v>
                </c:pt>
                <c:pt idx="96">
                  <c:v>-0.30885419800000002</c:v>
                </c:pt>
                <c:pt idx="97">
                  <c:v>-0.29946540599999999</c:v>
                </c:pt>
                <c:pt idx="98">
                  <c:v>-0.31830243899999999</c:v>
                </c:pt>
                <c:pt idx="99">
                  <c:v>-0.319860125</c:v>
                </c:pt>
                <c:pt idx="100">
                  <c:v>-0.31418427799999998</c:v>
                </c:pt>
                <c:pt idx="101">
                  <c:v>-0.30857774300000002</c:v>
                </c:pt>
                <c:pt idx="102">
                  <c:v>-0.28348004999999998</c:v>
                </c:pt>
                <c:pt idx="103">
                  <c:v>-0.29660746500000001</c:v>
                </c:pt>
                <c:pt idx="104">
                  <c:v>-0.31226860200000001</c:v>
                </c:pt>
                <c:pt idx="105">
                  <c:v>-0.32778210899999999</c:v>
                </c:pt>
                <c:pt idx="106">
                  <c:v>-0.36935506000000001</c:v>
                </c:pt>
                <c:pt idx="107">
                  <c:v>-0.37315536799999999</c:v>
                </c:pt>
                <c:pt idx="108">
                  <c:v>-0.42774537200000001</c:v>
                </c:pt>
                <c:pt idx="109">
                  <c:v>-0.38955135800000001</c:v>
                </c:pt>
                <c:pt idx="110">
                  <c:v>-0.29411261799999999</c:v>
                </c:pt>
                <c:pt idx="111">
                  <c:v>-0.39357676200000002</c:v>
                </c:pt>
                <c:pt idx="112">
                  <c:v>-0.37998873</c:v>
                </c:pt>
                <c:pt idx="113">
                  <c:v>-0.37490892599999998</c:v>
                </c:pt>
                <c:pt idx="114">
                  <c:v>-0.382603468</c:v>
                </c:pt>
                <c:pt idx="115">
                  <c:v>-0.39264389</c:v>
                </c:pt>
                <c:pt idx="116">
                  <c:v>-0.38972865699999998</c:v>
                </c:pt>
                <c:pt idx="117">
                  <c:v>-0.37588891400000002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262-FD4C-B9CD-DB38F51179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Coefficient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0.2"/>
      </c:valAx>
      <c:valAx>
        <c:axId val="48650112"/>
        <c:scaling>
          <c:orientation val="minMax"/>
          <c:max val="46023"/>
          <c:min val="42430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73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350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MA3 coefficient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Retail sales MA3</c:v>
          </c:tx>
          <c:spPr>
            <a:ln w="20955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Data'!$A$2:$A$119</c:f>
              <c:numCache>
                <c:formatCode>m/d/yy</c:formatCode>
                <c:ptCount val="118"/>
                <c:pt idx="0">
                  <c:v>42430</c:v>
                </c:pt>
                <c:pt idx="1">
                  <c:v>42461</c:v>
                </c:pt>
                <c:pt idx="2">
                  <c:v>42491</c:v>
                </c:pt>
                <c:pt idx="3">
                  <c:v>42522</c:v>
                </c:pt>
                <c:pt idx="4">
                  <c:v>42552</c:v>
                </c:pt>
                <c:pt idx="5">
                  <c:v>42583</c:v>
                </c:pt>
                <c:pt idx="6">
                  <c:v>42614</c:v>
                </c:pt>
                <c:pt idx="7">
                  <c:v>42644</c:v>
                </c:pt>
                <c:pt idx="8">
                  <c:v>42675</c:v>
                </c:pt>
                <c:pt idx="9">
                  <c:v>42705</c:v>
                </c:pt>
                <c:pt idx="10">
                  <c:v>42736</c:v>
                </c:pt>
                <c:pt idx="11">
                  <c:v>42767</c:v>
                </c:pt>
                <c:pt idx="12">
                  <c:v>42795</c:v>
                </c:pt>
                <c:pt idx="13">
                  <c:v>42826</c:v>
                </c:pt>
                <c:pt idx="14">
                  <c:v>42856</c:v>
                </c:pt>
                <c:pt idx="15">
                  <c:v>42887</c:v>
                </c:pt>
                <c:pt idx="16">
                  <c:v>42917</c:v>
                </c:pt>
                <c:pt idx="17">
                  <c:v>42948</c:v>
                </c:pt>
                <c:pt idx="18">
                  <c:v>42979</c:v>
                </c:pt>
                <c:pt idx="19">
                  <c:v>43009</c:v>
                </c:pt>
                <c:pt idx="20">
                  <c:v>43040</c:v>
                </c:pt>
                <c:pt idx="21">
                  <c:v>43070</c:v>
                </c:pt>
                <c:pt idx="22">
                  <c:v>43101</c:v>
                </c:pt>
                <c:pt idx="23">
                  <c:v>43132</c:v>
                </c:pt>
                <c:pt idx="24">
                  <c:v>43160</c:v>
                </c:pt>
                <c:pt idx="25">
                  <c:v>43191</c:v>
                </c:pt>
                <c:pt idx="26">
                  <c:v>43221</c:v>
                </c:pt>
                <c:pt idx="27">
                  <c:v>43252</c:v>
                </c:pt>
                <c:pt idx="28">
                  <c:v>43282</c:v>
                </c:pt>
                <c:pt idx="29">
                  <c:v>43313</c:v>
                </c:pt>
                <c:pt idx="30">
                  <c:v>43344</c:v>
                </c:pt>
                <c:pt idx="31">
                  <c:v>43374</c:v>
                </c:pt>
                <c:pt idx="32">
                  <c:v>43405</c:v>
                </c:pt>
                <c:pt idx="33">
                  <c:v>43435</c:v>
                </c:pt>
                <c:pt idx="34">
                  <c:v>43466</c:v>
                </c:pt>
                <c:pt idx="35">
                  <c:v>43497</c:v>
                </c:pt>
                <c:pt idx="36">
                  <c:v>43525</c:v>
                </c:pt>
                <c:pt idx="37">
                  <c:v>43556</c:v>
                </c:pt>
                <c:pt idx="38">
                  <c:v>43586</c:v>
                </c:pt>
                <c:pt idx="39">
                  <c:v>43617</c:v>
                </c:pt>
                <c:pt idx="40">
                  <c:v>43647</c:v>
                </c:pt>
                <c:pt idx="41">
                  <c:v>43678</c:v>
                </c:pt>
                <c:pt idx="42">
                  <c:v>43709</c:v>
                </c:pt>
                <c:pt idx="43">
                  <c:v>43739</c:v>
                </c:pt>
                <c:pt idx="44">
                  <c:v>43770</c:v>
                </c:pt>
                <c:pt idx="45">
                  <c:v>43800</c:v>
                </c:pt>
                <c:pt idx="46">
                  <c:v>43831</c:v>
                </c:pt>
                <c:pt idx="47">
                  <c:v>43862</c:v>
                </c:pt>
                <c:pt idx="48">
                  <c:v>43891</c:v>
                </c:pt>
                <c:pt idx="49">
                  <c:v>43922</c:v>
                </c:pt>
                <c:pt idx="50">
                  <c:v>43952</c:v>
                </c:pt>
                <c:pt idx="51">
                  <c:v>43983</c:v>
                </c:pt>
                <c:pt idx="52">
                  <c:v>44013</c:v>
                </c:pt>
                <c:pt idx="53">
                  <c:v>44044</c:v>
                </c:pt>
                <c:pt idx="54">
                  <c:v>44075</c:v>
                </c:pt>
                <c:pt idx="55">
                  <c:v>44105</c:v>
                </c:pt>
                <c:pt idx="56">
                  <c:v>44136</c:v>
                </c:pt>
                <c:pt idx="57">
                  <c:v>44166</c:v>
                </c:pt>
                <c:pt idx="58">
                  <c:v>44197</c:v>
                </c:pt>
                <c:pt idx="59">
                  <c:v>44228</c:v>
                </c:pt>
                <c:pt idx="60">
                  <c:v>44256</c:v>
                </c:pt>
                <c:pt idx="61">
                  <c:v>44287</c:v>
                </c:pt>
                <c:pt idx="62">
                  <c:v>44317</c:v>
                </c:pt>
                <c:pt idx="63">
                  <c:v>44348</c:v>
                </c:pt>
                <c:pt idx="64">
                  <c:v>44378</c:v>
                </c:pt>
                <c:pt idx="65">
                  <c:v>44409</c:v>
                </c:pt>
                <c:pt idx="66">
                  <c:v>44440</c:v>
                </c:pt>
                <c:pt idx="67">
                  <c:v>44470</c:v>
                </c:pt>
                <c:pt idx="68">
                  <c:v>44501</c:v>
                </c:pt>
                <c:pt idx="69">
                  <c:v>44531</c:v>
                </c:pt>
                <c:pt idx="70">
                  <c:v>44562</c:v>
                </c:pt>
                <c:pt idx="71">
                  <c:v>44593</c:v>
                </c:pt>
                <c:pt idx="72">
                  <c:v>44621</c:v>
                </c:pt>
                <c:pt idx="73">
                  <c:v>44652</c:v>
                </c:pt>
                <c:pt idx="74">
                  <c:v>44682</c:v>
                </c:pt>
                <c:pt idx="75">
                  <c:v>44713</c:v>
                </c:pt>
                <c:pt idx="76">
                  <c:v>44743</c:v>
                </c:pt>
                <c:pt idx="77">
                  <c:v>44774</c:v>
                </c:pt>
                <c:pt idx="78">
                  <c:v>44805</c:v>
                </c:pt>
                <c:pt idx="79">
                  <c:v>44835</c:v>
                </c:pt>
                <c:pt idx="80">
                  <c:v>44866</c:v>
                </c:pt>
                <c:pt idx="81">
                  <c:v>44896</c:v>
                </c:pt>
                <c:pt idx="82">
                  <c:v>44927</c:v>
                </c:pt>
                <c:pt idx="83">
                  <c:v>44958</c:v>
                </c:pt>
                <c:pt idx="84">
                  <c:v>44986</c:v>
                </c:pt>
                <c:pt idx="85">
                  <c:v>45017</c:v>
                </c:pt>
                <c:pt idx="86">
                  <c:v>45047</c:v>
                </c:pt>
                <c:pt idx="87">
                  <c:v>45078</c:v>
                </c:pt>
                <c:pt idx="88">
                  <c:v>45108</c:v>
                </c:pt>
                <c:pt idx="89">
                  <c:v>45139</c:v>
                </c:pt>
                <c:pt idx="90">
                  <c:v>45170</c:v>
                </c:pt>
                <c:pt idx="91">
                  <c:v>45200</c:v>
                </c:pt>
                <c:pt idx="92">
                  <c:v>45231</c:v>
                </c:pt>
                <c:pt idx="93">
                  <c:v>45261</c:v>
                </c:pt>
                <c:pt idx="94">
                  <c:v>45292</c:v>
                </c:pt>
                <c:pt idx="95">
                  <c:v>45323</c:v>
                </c:pt>
                <c:pt idx="96">
                  <c:v>45352</c:v>
                </c:pt>
                <c:pt idx="97">
                  <c:v>45383</c:v>
                </c:pt>
                <c:pt idx="98">
                  <c:v>45413</c:v>
                </c:pt>
                <c:pt idx="99">
                  <c:v>45444</c:v>
                </c:pt>
                <c:pt idx="100">
                  <c:v>45474</c:v>
                </c:pt>
                <c:pt idx="101">
                  <c:v>45505</c:v>
                </c:pt>
                <c:pt idx="102">
                  <c:v>45536</c:v>
                </c:pt>
                <c:pt idx="103">
                  <c:v>45566</c:v>
                </c:pt>
                <c:pt idx="104">
                  <c:v>45597</c:v>
                </c:pt>
                <c:pt idx="105">
                  <c:v>45627</c:v>
                </c:pt>
                <c:pt idx="106">
                  <c:v>45658</c:v>
                </c:pt>
                <c:pt idx="107">
                  <c:v>45689</c:v>
                </c:pt>
                <c:pt idx="108">
                  <c:v>45717</c:v>
                </c:pt>
                <c:pt idx="109">
                  <c:v>45748</c:v>
                </c:pt>
                <c:pt idx="110">
                  <c:v>45778</c:v>
                </c:pt>
                <c:pt idx="111">
                  <c:v>45809</c:v>
                </c:pt>
                <c:pt idx="112">
                  <c:v>45839</c:v>
                </c:pt>
                <c:pt idx="113">
                  <c:v>45870</c:v>
                </c:pt>
                <c:pt idx="114">
                  <c:v>45901</c:v>
                </c:pt>
                <c:pt idx="115">
                  <c:v>45931</c:v>
                </c:pt>
                <c:pt idx="116">
                  <c:v>45962</c:v>
                </c:pt>
                <c:pt idx="117">
                  <c:v>45992</c:v>
                </c:pt>
              </c:numCache>
            </c:numRef>
          </c:xVal>
          <c:yVal>
            <c:numRef>
              <c:f>'Chart Data'!$B$2:$B$119</c:f>
              <c:numCache>
                <c:formatCode>General</c:formatCode>
                <c:ptCount val="118"/>
                <c:pt idx="0">
                  <c:v>3.0260334019999999</c:v>
                </c:pt>
                <c:pt idx="1">
                  <c:v>2.1868368490000001</c:v>
                </c:pt>
                <c:pt idx="2">
                  <c:v>2.7128177729999998</c:v>
                </c:pt>
                <c:pt idx="3">
                  <c:v>2.4647582479999999</c:v>
                </c:pt>
                <c:pt idx="4">
                  <c:v>2.2934622550000001</c:v>
                </c:pt>
                <c:pt idx="5">
                  <c:v>2.2391621750000001</c:v>
                </c:pt>
                <c:pt idx="6">
                  <c:v>2.4214781040000002</c:v>
                </c:pt>
                <c:pt idx="7">
                  <c:v>2.6234642880000001</c:v>
                </c:pt>
                <c:pt idx="8">
                  <c:v>2.463678609</c:v>
                </c:pt>
                <c:pt idx="9">
                  <c:v>2.287250164</c:v>
                </c:pt>
                <c:pt idx="10">
                  <c:v>3.0610597859999999</c:v>
                </c:pt>
                <c:pt idx="11">
                  <c:v>2.7733575949999998</c:v>
                </c:pt>
                <c:pt idx="12">
                  <c:v>2.6075720059999998</c:v>
                </c:pt>
                <c:pt idx="13">
                  <c:v>2.5070424280000001</c:v>
                </c:pt>
                <c:pt idx="14">
                  <c:v>2.1586168200000002</c:v>
                </c:pt>
                <c:pt idx="15">
                  <c:v>1.9951673969999999</c:v>
                </c:pt>
                <c:pt idx="16">
                  <c:v>1.6276766789999999</c:v>
                </c:pt>
                <c:pt idx="17">
                  <c:v>1.595732935</c:v>
                </c:pt>
                <c:pt idx="18">
                  <c:v>1.724966665</c:v>
                </c:pt>
                <c:pt idx="19">
                  <c:v>1.605999774</c:v>
                </c:pt>
                <c:pt idx="20">
                  <c:v>1.5147270580000001</c:v>
                </c:pt>
                <c:pt idx="21">
                  <c:v>1.079155203</c:v>
                </c:pt>
                <c:pt idx="22">
                  <c:v>1.4894785189999999</c:v>
                </c:pt>
                <c:pt idx="23">
                  <c:v>2.1737827269999999</c:v>
                </c:pt>
                <c:pt idx="24">
                  <c:v>1.770719726</c:v>
                </c:pt>
                <c:pt idx="25">
                  <c:v>2.273074598</c:v>
                </c:pt>
                <c:pt idx="26">
                  <c:v>3.7950055919999999</c:v>
                </c:pt>
                <c:pt idx="27">
                  <c:v>3.8068650609999999</c:v>
                </c:pt>
                <c:pt idx="28">
                  <c:v>4.1326818889999997</c:v>
                </c:pt>
                <c:pt idx="29">
                  <c:v>4.4065891840000004</c:v>
                </c:pt>
                <c:pt idx="30">
                  <c:v>3.8518963789999998</c:v>
                </c:pt>
                <c:pt idx="31">
                  <c:v>3.5151295220000001</c:v>
                </c:pt>
                <c:pt idx="32">
                  <c:v>3.2488022430000001</c:v>
                </c:pt>
                <c:pt idx="33">
                  <c:v>3.757293835</c:v>
                </c:pt>
                <c:pt idx="34">
                  <c:v>3.3060627810000001</c:v>
                </c:pt>
                <c:pt idx="35">
                  <c:v>5.1859317369999998</c:v>
                </c:pt>
                <c:pt idx="36">
                  <c:v>5.8778160740000001</c:v>
                </c:pt>
                <c:pt idx="37">
                  <c:v>3.3989782079999999</c:v>
                </c:pt>
                <c:pt idx="38">
                  <c:v>3.9283339920000002</c:v>
                </c:pt>
                <c:pt idx="39">
                  <c:v>3.7663049590000002</c:v>
                </c:pt>
                <c:pt idx="40">
                  <c:v>3.8291796429999998</c:v>
                </c:pt>
                <c:pt idx="41">
                  <c:v>4.275014498</c:v>
                </c:pt>
                <c:pt idx="42">
                  <c:v>4.7436025730000004</c:v>
                </c:pt>
                <c:pt idx="43">
                  <c:v>4.35794295</c:v>
                </c:pt>
                <c:pt idx="44">
                  <c:v>4.3730873849999998</c:v>
                </c:pt>
                <c:pt idx="45">
                  <c:v>4.9879831320000001</c:v>
                </c:pt>
                <c:pt idx="46">
                  <c:v>4.6762686609999999</c:v>
                </c:pt>
                <c:pt idx="47">
                  <c:v>2.9900828330000002</c:v>
                </c:pt>
                <c:pt idx="48">
                  <c:v>3.1684961509999998</c:v>
                </c:pt>
                <c:pt idx="49">
                  <c:v>3.5214730699999999</c:v>
                </c:pt>
                <c:pt idx="50">
                  <c:v>3.6386284149999999</c:v>
                </c:pt>
                <c:pt idx="51">
                  <c:v>2.9662088440000001</c:v>
                </c:pt>
                <c:pt idx="52">
                  <c:v>2.3775111280000001</c:v>
                </c:pt>
                <c:pt idx="53">
                  <c:v>2.3348992769999999</c:v>
                </c:pt>
                <c:pt idx="54">
                  <c:v>2.3356749689999998</c:v>
                </c:pt>
                <c:pt idx="55">
                  <c:v>2.2987247480000002</c:v>
                </c:pt>
                <c:pt idx="56">
                  <c:v>2.2789436799999998</c:v>
                </c:pt>
                <c:pt idx="57">
                  <c:v>2.281140363</c:v>
                </c:pt>
                <c:pt idx="58">
                  <c:v>2.316501878</c:v>
                </c:pt>
                <c:pt idx="59">
                  <c:v>2.3055092840000002</c:v>
                </c:pt>
                <c:pt idx="60">
                  <c:v>2.3675635110000002</c:v>
                </c:pt>
                <c:pt idx="61">
                  <c:v>2.5400898559999998</c:v>
                </c:pt>
                <c:pt idx="62">
                  <c:v>2.6212558979999998</c:v>
                </c:pt>
                <c:pt idx="63">
                  <c:v>2.605265647</c:v>
                </c:pt>
                <c:pt idx="64">
                  <c:v>2.577180544</c:v>
                </c:pt>
                <c:pt idx="65">
                  <c:v>2.5788097639999998</c:v>
                </c:pt>
                <c:pt idx="66">
                  <c:v>2.5754696940000001</c:v>
                </c:pt>
                <c:pt idx="67">
                  <c:v>2.5418549590000001</c:v>
                </c:pt>
                <c:pt idx="68">
                  <c:v>2.5491157919999998</c:v>
                </c:pt>
                <c:pt idx="69">
                  <c:v>2.5449709789999999</c:v>
                </c:pt>
                <c:pt idx="70">
                  <c:v>2.5443428219999999</c:v>
                </c:pt>
                <c:pt idx="71">
                  <c:v>2.5704131010000002</c:v>
                </c:pt>
                <c:pt idx="72">
                  <c:v>2.568537831</c:v>
                </c:pt>
                <c:pt idx="73">
                  <c:v>2.5818486200000001</c:v>
                </c:pt>
                <c:pt idx="74">
                  <c:v>2.646461902</c:v>
                </c:pt>
                <c:pt idx="75">
                  <c:v>2.6643346409999999</c:v>
                </c:pt>
                <c:pt idx="76">
                  <c:v>2.6590260159999999</c:v>
                </c:pt>
                <c:pt idx="77">
                  <c:v>2.6732062640000001</c:v>
                </c:pt>
                <c:pt idx="78">
                  <c:v>2.6913151979999999</c:v>
                </c:pt>
                <c:pt idx="79">
                  <c:v>2.689388069</c:v>
                </c:pt>
                <c:pt idx="80">
                  <c:v>2.6665887060000002</c:v>
                </c:pt>
                <c:pt idx="81">
                  <c:v>2.6707406859999998</c:v>
                </c:pt>
                <c:pt idx="82">
                  <c:v>2.6702239739999998</c:v>
                </c:pt>
                <c:pt idx="83">
                  <c:v>2.6329221309999999</c:v>
                </c:pt>
                <c:pt idx="84">
                  <c:v>2.6487599300000002</c:v>
                </c:pt>
                <c:pt idx="85">
                  <c:v>2.6027978520000001</c:v>
                </c:pt>
                <c:pt idx="86">
                  <c:v>2.5886775630000001</c:v>
                </c:pt>
                <c:pt idx="87">
                  <c:v>2.598861769</c:v>
                </c:pt>
                <c:pt idx="88">
                  <c:v>2.6032777130000002</c:v>
                </c:pt>
                <c:pt idx="89">
                  <c:v>2.5763671119999998</c:v>
                </c:pt>
                <c:pt idx="90">
                  <c:v>2.5787154769999998</c:v>
                </c:pt>
                <c:pt idx="91">
                  <c:v>2.5790033270000001</c:v>
                </c:pt>
                <c:pt idx="92">
                  <c:v>2.5677178000000001</c:v>
                </c:pt>
                <c:pt idx="93">
                  <c:v>2.5743307249999998</c:v>
                </c:pt>
                <c:pt idx="94">
                  <c:v>2.6053375160000001</c:v>
                </c:pt>
                <c:pt idx="95">
                  <c:v>2.5150110470000002</c:v>
                </c:pt>
                <c:pt idx="96">
                  <c:v>2.4928070440000001</c:v>
                </c:pt>
                <c:pt idx="97">
                  <c:v>2.4856724699999999</c:v>
                </c:pt>
                <c:pt idx="98">
                  <c:v>2.478540696</c:v>
                </c:pt>
                <c:pt idx="99">
                  <c:v>2.493885744</c:v>
                </c:pt>
                <c:pt idx="100">
                  <c:v>2.4892488419999999</c:v>
                </c:pt>
                <c:pt idx="101">
                  <c:v>2.5035801690000001</c:v>
                </c:pt>
                <c:pt idx="102">
                  <c:v>2.4257936349999998</c:v>
                </c:pt>
                <c:pt idx="103">
                  <c:v>2.443978896</c:v>
                </c:pt>
                <c:pt idx="104">
                  <c:v>2.3891167449999999</c:v>
                </c:pt>
                <c:pt idx="105">
                  <c:v>2.358056409</c:v>
                </c:pt>
                <c:pt idx="106">
                  <c:v>2.3309326229999998</c:v>
                </c:pt>
                <c:pt idx="107">
                  <c:v>2.3223009339999998</c:v>
                </c:pt>
                <c:pt idx="108">
                  <c:v>2.0847801179999998</c:v>
                </c:pt>
                <c:pt idx="109">
                  <c:v>1.7441529120000001</c:v>
                </c:pt>
                <c:pt idx="110">
                  <c:v>1.55737853</c:v>
                </c:pt>
                <c:pt idx="111">
                  <c:v>2.1739868910000002</c:v>
                </c:pt>
                <c:pt idx="112">
                  <c:v>2.5707803829999998</c:v>
                </c:pt>
                <c:pt idx="113">
                  <c:v>2.996071546</c:v>
                </c:pt>
                <c:pt idx="114">
                  <c:v>2.9770234000000002</c:v>
                </c:pt>
                <c:pt idx="115">
                  <c:v>2.91790752</c:v>
                </c:pt>
                <c:pt idx="116">
                  <c:v>2.948677961</c:v>
                </c:pt>
                <c:pt idx="117">
                  <c:v>2.942510671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464-134B-88F4-343F2D44C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Coefficient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46023"/>
          <c:min val="42430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73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Actual versus forecast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Actual</c:v>
          </c:tx>
          <c:spPr>
            <a:ln w="2476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Data'!$A$2:$A$7</c:f>
              <c:numCache>
                <c:formatCode>m/d/yy</c:formatCode>
                <c:ptCount val="6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</c:numCache>
            </c:numRef>
          </c:xVal>
          <c:yVal>
            <c:numRef>
              <c:f>'Chart Data'!$B$2:$B$7</c:f>
              <c:numCache>
                <c:formatCode>General</c:formatCode>
                <c:ptCount val="6"/>
                <c:pt idx="0">
                  <c:v>738</c:v>
                </c:pt>
                <c:pt idx="1">
                  <c:v>664</c:v>
                </c:pt>
                <c:pt idx="2">
                  <c:v>779</c:v>
                </c:pt>
                <c:pt idx="3">
                  <c:v>770</c:v>
                </c:pt>
                <c:pt idx="4">
                  <c:v>787</c:v>
                </c:pt>
                <c:pt idx="5">
                  <c:v>750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168-AC47-A9DE-5B81DA2A6138}"/>
            </c:ext>
          </c:extLst>
        </c:ser>
        <c:ser>
          <c:idx val="1"/>
          <c:order val="1"/>
          <c:tx>
            <c:v>Forecast</c:v>
          </c:tx>
          <c:spPr>
            <a:ln w="24765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703.89621703800003</c:v>
                </c:pt>
                <c:pt idx="1">
                  <c:v>755.30392519099996</c:v>
                </c:pt>
                <c:pt idx="2">
                  <c:v>795.61393682799996</c:v>
                </c:pt>
                <c:pt idx="3">
                  <c:v>762.36964667300003</c:v>
                </c:pt>
                <c:pt idx="4">
                  <c:v>778.56360153399999</c:v>
                </c:pt>
                <c:pt idx="5">
                  <c:v>778.75925262099997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168-AC47-A9DE-5B81DA2A61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900"/>
          <c:min val="65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Source units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46204"/>
          <c:min val="46023"/>
        </c:scaling>
        <c:delete val="0"/>
        <c:axPos val="b"/>
        <c:numFmt formatCode="yyyy\-mm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1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MA3 growth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Retail sales MA3</c:v>
          </c:tx>
          <c:spPr>
            <a:ln w="20955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Data'!$A$2:$A$52</c:f>
              <c:numCache>
                <c:formatCode>m/d/yy</c:formatCode>
                <c:ptCount val="51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  <c:pt idx="24">
                  <c:v>46023</c:v>
                </c:pt>
                <c:pt idx="25">
                  <c:v>46054</c:v>
                </c:pt>
                <c:pt idx="26">
                  <c:v>46082</c:v>
                </c:pt>
                <c:pt idx="27">
                  <c:v>46113</c:v>
                </c:pt>
                <c:pt idx="28">
                  <c:v>46143</c:v>
                </c:pt>
                <c:pt idx="29">
                  <c:v>46174</c:v>
                </c:pt>
                <c:pt idx="30">
                  <c:v>46204</c:v>
                </c:pt>
                <c:pt idx="31">
                  <c:v>46235</c:v>
                </c:pt>
                <c:pt idx="32">
                  <c:v>46266</c:v>
                </c:pt>
                <c:pt idx="33">
                  <c:v>46296</c:v>
                </c:pt>
                <c:pt idx="34">
                  <c:v>46327</c:v>
                </c:pt>
                <c:pt idx="35">
                  <c:v>46357</c:v>
                </c:pt>
                <c:pt idx="36">
                  <c:v>46388</c:v>
                </c:pt>
                <c:pt idx="37">
                  <c:v>46419</c:v>
                </c:pt>
                <c:pt idx="38">
                  <c:v>46447</c:v>
                </c:pt>
                <c:pt idx="39">
                  <c:v>46478</c:v>
                </c:pt>
                <c:pt idx="40">
                  <c:v>46508</c:v>
                </c:pt>
                <c:pt idx="41">
                  <c:v>46539</c:v>
                </c:pt>
                <c:pt idx="42">
                  <c:v>46569</c:v>
                </c:pt>
                <c:pt idx="43">
                  <c:v>46600</c:v>
                </c:pt>
                <c:pt idx="44">
                  <c:v>46631</c:v>
                </c:pt>
                <c:pt idx="45">
                  <c:v>46661</c:v>
                </c:pt>
                <c:pt idx="46">
                  <c:v>46692</c:v>
                </c:pt>
                <c:pt idx="47">
                  <c:v>46722</c:v>
                </c:pt>
                <c:pt idx="48">
                  <c:v>46753</c:v>
                </c:pt>
                <c:pt idx="49">
                  <c:v>46784</c:v>
                </c:pt>
                <c:pt idx="50">
                  <c:v>46813</c:v>
                </c:pt>
              </c:numCache>
            </c:numRef>
          </c:xVal>
          <c:yVal>
            <c:numRef>
              <c:f>'Chart Data'!$B$2:$B$52</c:f>
              <c:numCache>
                <c:formatCode>General</c:formatCode>
                <c:ptCount val="51"/>
                <c:pt idx="0">
                  <c:v>-0.36839191199999999</c:v>
                </c:pt>
                <c:pt idx="1">
                  <c:v>-1.8039220000000002E-2</c:v>
                </c:pt>
                <c:pt idx="2">
                  <c:v>9.8535583999999996E-2</c:v>
                </c:pt>
                <c:pt idx="3">
                  <c:v>0.38007406999999999</c:v>
                </c:pt>
                <c:pt idx="4">
                  <c:v>0.40164371999999998</c:v>
                </c:pt>
                <c:pt idx="5">
                  <c:v>0.22457484999999999</c:v>
                </c:pt>
                <c:pt idx="6">
                  <c:v>0.56515928900000001</c:v>
                </c:pt>
                <c:pt idx="7">
                  <c:v>0.18060301300000001</c:v>
                </c:pt>
                <c:pt idx="8">
                  <c:v>0.48808792299999998</c:v>
                </c:pt>
                <c:pt idx="9">
                  <c:v>0.38279248100000002</c:v>
                </c:pt>
                <c:pt idx="10">
                  <c:v>0.698910908</c:v>
                </c:pt>
                <c:pt idx="11">
                  <c:v>0.70359513900000004</c:v>
                </c:pt>
                <c:pt idx="12">
                  <c:v>0.132549639</c:v>
                </c:pt>
                <c:pt idx="13">
                  <c:v>1.8998992999999999E-2</c:v>
                </c:pt>
                <c:pt idx="14">
                  <c:v>0.20346547100000001</c:v>
                </c:pt>
                <c:pt idx="15">
                  <c:v>0.49442517400000002</c:v>
                </c:pt>
                <c:pt idx="16">
                  <c:v>8.0359799999999999E-4</c:v>
                </c:pt>
                <c:pt idx="17">
                  <c:v>-0.21267997299999999</c:v>
                </c:pt>
                <c:pt idx="18">
                  <c:v>0.24401773800000001</c:v>
                </c:pt>
                <c:pt idx="19">
                  <c:v>0.83723970299999995</c:v>
                </c:pt>
                <c:pt idx="20">
                  <c:v>0.58884254499999999</c:v>
                </c:pt>
                <c:pt idx="21">
                  <c:v>0.13804691899999999</c:v>
                </c:pt>
                <c:pt idx="22">
                  <c:v>0.12296103999999999</c:v>
                </c:pt>
                <c:pt idx="23">
                  <c:v>0.12856118599999999</c:v>
                </c:pt>
                <c:pt idx="24">
                  <c:v>0.19011956099999999</c:v>
                </c:pt>
                <c:pt idx="25">
                  <c:v>0.34448700799999998</c:v>
                </c:pt>
                <c:pt idx="26">
                  <c:v>0.98804425100000004</c:v>
                </c:pt>
                <c:pt idx="27">
                  <c:v>1.1887061059999999</c:v>
                </c:pt>
                <c:pt idx="28">
                  <c:v>1.203936619</c:v>
                </c:pt>
                <c:pt idx="29">
                  <c:v>0.62292071900000001</c:v>
                </c:pt>
                <c:pt idx="30">
                  <c:v>0.35190132299999999</c:v>
                </c:pt>
                <c:pt idx="31">
                  <c:v>-5.0395654999999998E-2</c:v>
                </c:pt>
                <c:pt idx="32">
                  <c:v>-0.119483319</c:v>
                </c:pt>
                <c:pt idx="33">
                  <c:v>2.1546209E-2</c:v>
                </c:pt>
                <c:pt idx="34">
                  <c:v>0.183236326</c:v>
                </c:pt>
                <c:pt idx="35">
                  <c:v>0.24779680600000001</c:v>
                </c:pt>
                <c:pt idx="36">
                  <c:v>0.231939118</c:v>
                </c:pt>
                <c:pt idx="37">
                  <c:v>0.192305015</c:v>
                </c:pt>
                <c:pt idx="38">
                  <c:v>0.17613242500000001</c:v>
                </c:pt>
                <c:pt idx="39">
                  <c:v>0.18271237600000001</c:v>
                </c:pt>
                <c:pt idx="40">
                  <c:v>0.197178779</c:v>
                </c:pt>
                <c:pt idx="41">
                  <c:v>0.20488972</c:v>
                </c:pt>
                <c:pt idx="42">
                  <c:v>0.20652925899999999</c:v>
                </c:pt>
                <c:pt idx="43">
                  <c:v>0.21290679600000001</c:v>
                </c:pt>
                <c:pt idx="44">
                  <c:v>0.22637809</c:v>
                </c:pt>
                <c:pt idx="45">
                  <c:v>0.24451251199999999</c:v>
                </c:pt>
                <c:pt idx="46">
                  <c:v>0.25954529799999998</c:v>
                </c:pt>
                <c:pt idx="47">
                  <c:v>0.26934208300000001</c:v>
                </c:pt>
                <c:pt idx="48">
                  <c:v>0.27470963799999998</c:v>
                </c:pt>
                <c:pt idx="49">
                  <c:v>0.27340263100000001</c:v>
                </c:pt>
                <c:pt idx="50">
                  <c:v>0.27052404099999999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C0A-5C4A-AA1C-E00B69785CD4}"/>
            </c:ext>
          </c:extLst>
        </c:ser>
        <c:ser>
          <c:idx val="1"/>
          <c:order val="1"/>
          <c:tx>
            <c:v>Forecast start</c:v>
          </c:tx>
          <c:spPr>
            <a:ln w="1238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46023</c:v>
                </c:pt>
                <c:pt idx="1">
                  <c:v>46023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-0.5</c:v>
                </c:pt>
                <c:pt idx="1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C0A-5C4A-AA1C-E00B69785C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0.5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0.5"/>
      </c:valAx>
      <c:valAx>
        <c:axId val="48650112"/>
        <c:scaling>
          <c:orientation val="minMax"/>
          <c:max val="46844"/>
          <c:min val="45292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66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Consumer Card forecast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Actual</c:v>
          </c:tx>
          <c:spPr>
            <a:ln w="2476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Data'!$A$2:$A$31</c:f>
              <c:numCache>
                <c:formatCode>m/d/yy</c:formatCode>
                <c:ptCount val="30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  <c:pt idx="24">
                  <c:v>46023</c:v>
                </c:pt>
                <c:pt idx="25">
                  <c:v>46054</c:v>
                </c:pt>
                <c:pt idx="26">
                  <c:v>46082</c:v>
                </c:pt>
                <c:pt idx="27">
                  <c:v>46113</c:v>
                </c:pt>
                <c:pt idx="28">
                  <c:v>46143</c:v>
                </c:pt>
                <c:pt idx="29">
                  <c:v>46174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694</c:v>
                </c:pt>
                <c:pt idx="1">
                  <c:v>721</c:v>
                </c:pt>
                <c:pt idx="2">
                  <c:v>797</c:v>
                </c:pt>
                <c:pt idx="3">
                  <c:v>765</c:v>
                </c:pt>
                <c:pt idx="4">
                  <c:v>804</c:v>
                </c:pt>
                <c:pt idx="5">
                  <c:v>779</c:v>
                </c:pt>
                <c:pt idx="6">
                  <c:v>822</c:v>
                </c:pt>
                <c:pt idx="7">
                  <c:v>776</c:v>
                </c:pt>
                <c:pt idx="8">
                  <c:v>701</c:v>
                </c:pt>
                <c:pt idx="9">
                  <c:v>781</c:v>
                </c:pt>
                <c:pt idx="10">
                  <c:v>777</c:v>
                </c:pt>
                <c:pt idx="11">
                  <c:v>819</c:v>
                </c:pt>
                <c:pt idx="12">
                  <c:v>685</c:v>
                </c:pt>
                <c:pt idx="13">
                  <c:v>657</c:v>
                </c:pt>
                <c:pt idx="14">
                  <c:v>730</c:v>
                </c:pt>
                <c:pt idx="15">
                  <c:v>755</c:v>
                </c:pt>
                <c:pt idx="16">
                  <c:v>780</c:v>
                </c:pt>
                <c:pt idx="17">
                  <c:v>722</c:v>
                </c:pt>
                <c:pt idx="18">
                  <c:v>751</c:v>
                </c:pt>
                <c:pt idx="19">
                  <c:v>727</c:v>
                </c:pt>
                <c:pt idx="20">
                  <c:v>680</c:v>
                </c:pt>
                <c:pt idx="21">
                  <c:v>747</c:v>
                </c:pt>
                <c:pt idx="22">
                  <c:v>729</c:v>
                </c:pt>
                <c:pt idx="23">
                  <c:v>909</c:v>
                </c:pt>
                <c:pt idx="24">
                  <c:v>738</c:v>
                </c:pt>
                <c:pt idx="25">
                  <c:v>664</c:v>
                </c:pt>
                <c:pt idx="26">
                  <c:v>779</c:v>
                </c:pt>
                <c:pt idx="27">
                  <c:v>770</c:v>
                </c:pt>
                <c:pt idx="28">
                  <c:v>787</c:v>
                </c:pt>
                <c:pt idx="29">
                  <c:v>750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9A7-E440-9CE5-B023F4DC573A}"/>
            </c:ext>
          </c:extLst>
        </c:ser>
        <c:ser>
          <c:idx val="1"/>
          <c:order val="1"/>
          <c:tx>
            <c:v>Point forecast</c:v>
          </c:tx>
          <c:spPr>
            <a:ln w="24765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  <c:pt idx="8">
                  <c:v>46266</c:v>
                </c:pt>
                <c:pt idx="9">
                  <c:v>46296</c:v>
                </c:pt>
                <c:pt idx="10">
                  <c:v>46327</c:v>
                </c:pt>
                <c:pt idx="11">
                  <c:v>46357</c:v>
                </c:pt>
                <c:pt idx="12">
                  <c:v>46388</c:v>
                </c:pt>
                <c:pt idx="13">
                  <c:v>46419</c:v>
                </c:pt>
                <c:pt idx="14">
                  <c:v>46447</c:v>
                </c:pt>
                <c:pt idx="15">
                  <c:v>46478</c:v>
                </c:pt>
                <c:pt idx="16">
                  <c:v>46508</c:v>
                </c:pt>
                <c:pt idx="17">
                  <c:v>46539</c:v>
                </c:pt>
                <c:pt idx="18">
                  <c:v>46569</c:v>
                </c:pt>
                <c:pt idx="19">
                  <c:v>46600</c:v>
                </c:pt>
                <c:pt idx="20">
                  <c:v>46631</c:v>
                </c:pt>
                <c:pt idx="21">
                  <c:v>46661</c:v>
                </c:pt>
                <c:pt idx="22">
                  <c:v>46692</c:v>
                </c:pt>
                <c:pt idx="23">
                  <c:v>46722</c:v>
                </c:pt>
                <c:pt idx="24">
                  <c:v>46753</c:v>
                </c:pt>
                <c:pt idx="25">
                  <c:v>46784</c:v>
                </c:pt>
                <c:pt idx="26">
                  <c:v>46813</c:v>
                </c:pt>
              </c:numCache>
            </c:numRef>
          </c:xVal>
          <c:yVal>
            <c:numRef>
              <c:f>'Chart Data'!$D$2:$D$28</c:f>
              <c:numCache>
                <c:formatCode>General</c:formatCode>
                <c:ptCount val="27"/>
                <c:pt idx="0">
                  <c:v>703.89621703800003</c:v>
                </c:pt>
                <c:pt idx="1">
                  <c:v>755.30392519099996</c:v>
                </c:pt>
                <c:pt idx="2">
                  <c:v>795.61393682799996</c:v>
                </c:pt>
                <c:pt idx="3">
                  <c:v>762.36964667300003</c:v>
                </c:pt>
                <c:pt idx="4">
                  <c:v>778.56360153399999</c:v>
                </c:pt>
                <c:pt idx="5">
                  <c:v>778.75925262099997</c:v>
                </c:pt>
                <c:pt idx="6">
                  <c:v>766.64464269699999</c:v>
                </c:pt>
                <c:pt idx="7">
                  <c:v>759.69231743299997</c:v>
                </c:pt>
                <c:pt idx="8">
                  <c:v>752.59541782600002</c:v>
                </c:pt>
                <c:pt idx="9">
                  <c:v>746.66117719700003</c:v>
                </c:pt>
                <c:pt idx="10">
                  <c:v>743.19396322800003</c:v>
                </c:pt>
                <c:pt idx="11">
                  <c:v>891.36070623199998</c:v>
                </c:pt>
                <c:pt idx="12">
                  <c:v>702.60723563600004</c:v>
                </c:pt>
                <c:pt idx="13">
                  <c:v>752.93831509999995</c:v>
                </c:pt>
                <c:pt idx="14">
                  <c:v>773.07277346599994</c:v>
                </c:pt>
                <c:pt idx="15">
                  <c:v>733.87547855399998</c:v>
                </c:pt>
                <c:pt idx="16">
                  <c:v>741.33648506700001</c:v>
                </c:pt>
                <c:pt idx="17">
                  <c:v>740.979456454</c:v>
                </c:pt>
                <c:pt idx="18">
                  <c:v>729.81928082800005</c:v>
                </c:pt>
                <c:pt idx="19">
                  <c:v>727.95115698699999</c:v>
                </c:pt>
                <c:pt idx="20">
                  <c:v>724.44344191300002</c:v>
                </c:pt>
                <c:pt idx="21">
                  <c:v>719.17722348400002</c:v>
                </c:pt>
                <c:pt idx="22">
                  <c:v>715.831332664</c:v>
                </c:pt>
                <c:pt idx="23">
                  <c:v>858.83023575100003</c:v>
                </c:pt>
                <c:pt idx="24">
                  <c:v>677.557048259</c:v>
                </c:pt>
                <c:pt idx="25">
                  <c:v>727.10582497799999</c:v>
                </c:pt>
                <c:pt idx="26">
                  <c:v>747.46846962200004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9A7-E440-9CE5-B023F4DC573A}"/>
            </c:ext>
          </c:extLst>
        </c:ser>
        <c:ser>
          <c:idx val="2"/>
          <c:order val="2"/>
          <c:tx>
            <c:v>Forecast start</c:v>
          </c:tx>
          <c:spPr>
            <a:ln w="1238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46023</c:v>
                </c:pt>
                <c:pt idx="1">
                  <c:v>46023</c:v>
                </c:pt>
              </c:numCache>
            </c:numRef>
          </c:xVal>
          <c:yVal>
            <c:numRef>
              <c:f>'Chart Data'!$F$2:$F$3</c:f>
              <c:numCache>
                <c:formatCode>General</c:formatCode>
                <c:ptCount val="2"/>
                <c:pt idx="0">
                  <c:v>600</c:v>
                </c:pt>
                <c:pt idx="1">
                  <c:v>1000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9A7-E440-9CE5-B023F4DC57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0"/>
          <c:min val="6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Source units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46844"/>
          <c:min val="45292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66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50B9-8548-A068-02DA-E5E9F8A0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7709A-3426-A8DD-41FA-1121E2CD1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73CDA-292C-6296-D53D-F68CAF623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79F0D-D2F1-3D64-8D96-6063847E5A5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7271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n-Interest Income">
            <a:extLst>
              <a:ext uri="{FF2B5EF4-FFF2-40B4-BE49-F238E27FC236}">
                <a16:creationId xmlns:a16="http://schemas.microsoft.com/office/drawing/2014/main" id="{EB96CD7F-DDE9-4EE8-AB10-F92DC897A09E}"/>
              </a:ext>
            </a:extLst>
          </p:cNvPr>
          <p:cNvSpPr>
            <a:spLocks noGrp="1"/>
          </p:cNvSpPr>
          <p:nvPr/>
        </p:nvSpPr>
        <p:spPr>
          <a:xfrm>
            <a:off x="742950" y="21431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4" name="Commercial Card&#10;Fee Revenue Modeling">
            <a:extLst>
              <a:ext uri="{FF2B5EF4-FFF2-40B4-BE49-F238E27FC236}">
                <a16:creationId xmlns:a16="http://schemas.microsoft.com/office/drawing/2014/main" id="{2B2941FA-FEA4-4756-8BE5-AEB8DE759756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1066800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Consumer Card</a:t>
            </a:r>
          </a:p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Fee Revenue Modeling</a:t>
            </a:r>
          </a:p>
        </p:txBody>
      </p:sp>
      <p:sp>
        <p:nvSpPr>
          <p:cNvPr id="5" name="Small Business + Commercial Card">
            <a:extLst>
              <a:ext uri="{FF2B5EF4-FFF2-40B4-BE49-F238E27FC236}">
                <a16:creationId xmlns:a16="http://schemas.microsoft.com/office/drawing/2014/main" id="{D07C77B4-83A1-471B-B1E5-C9B0BCD47105}"/>
              </a:ext>
            </a:extLst>
          </p:cNvPr>
          <p:cNvSpPr>
            <a:spLocks noGrp="1"/>
          </p:cNvSpPr>
          <p:nvPr/>
        </p:nvSpPr>
        <p:spPr>
          <a:xfrm>
            <a:off x="762000" y="4638675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Model Development and Conditional Forecast</a:t>
            </a:r>
          </a:p>
        </p:txBody>
      </p:sp>
      <p:sp>
        <p:nvSpPr>
          <p:cNvPr id="6" name="PPNR / CCAR Model Development Review&#10;September 24, 2026">
            <a:extLst>
              <a:ext uri="{FF2B5EF4-FFF2-40B4-BE49-F238E27FC236}">
                <a16:creationId xmlns:a16="http://schemas.microsoft.com/office/drawing/2014/main" id="{015241B9-DB50-4CF5-9750-4C00960542B9}"/>
              </a:ext>
            </a:extLst>
          </p:cNvPr>
          <p:cNvSpPr>
            <a:spLocks noGrp="1"/>
          </p:cNvSpPr>
          <p:nvPr/>
        </p:nvSpPr>
        <p:spPr>
          <a:xfrm>
            <a:off x="762000" y="5562600"/>
            <a:ext cx="10191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In-sample: Jan 2011 - Sep 2023</a:t>
            </a:r>
          </a:p>
          <a:p>
            <a:pPr algn="l">
              <a:buNone/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OOT: Oct 2023 - Dec 2025</a:t>
            </a:r>
          </a:p>
          <a:p>
            <a:pPr algn="l">
              <a:buNone/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Forecast: Jan 2026 - Mar 2028</a:t>
            </a:r>
          </a:p>
        </p:txBody>
      </p:sp>
    </p:spTree>
    <p:extLst>
      <p:ext uri="{BB962C8B-B14F-4D97-AF65-F5344CB8AC3E}">
        <p14:creationId xmlns:p14="http://schemas.microsoft.com/office/powerpoint/2010/main" val="160939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5" name="2">
            <a:extLst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11" name="表格 10"/>
          <p:cNvGraphicFramePr/>
          <p:nvPr>
            <p:extLst>
              <p:ext uri="{D42A27DB-BD31-4B8C-83A1-F6EECF244321}">
                <p14:modId xmlns:p14="http://schemas.microsoft.com/office/powerpoint/2010/main" val="1409217785"/>
              </p:ext>
            </p:extLst>
          </p:nvPr>
        </p:nvGraphicFramePr>
        <p:xfrm>
          <a:off x="609600" y="1409700"/>
          <a:ext cx="10972800" cy="29718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model</a:t>
                      </a:r>
                    </a:p>
                  </a:txBody>
                  <a:tcPr marL="114300" marR="95250" marT="57150" marB="5715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fee log change uses two target lags, January and December indicators, and trailing three-month retail sales growth.</a:t>
                      </a:r>
                    </a:p>
                  </a:txBody>
                  <a:tcPr marL="114300" marR="95250" marT="57150" marB="571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14300" marR="95250" marT="57150" marB="5715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27-month Recursive OOT MAPE is 5.96%.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</a:t>
                      </a:r>
                    </a:p>
                  </a:txBody>
                  <a:tcPr marL="114300" marR="95250" marT="57150" marB="5715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production refit creates a conditional path from January 2026 through March 2028. </a:t>
                      </a:r>
                      <a:endParaRPr lang="en-US" sz="1650" b="0" dirty="0">
                        <a:solidFill>
                          <a:srgbClr val="252F38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r>
                        <a:rPr sz="165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January to June 2026 forward-check MAPE is 4.40%.</a:t>
                      </a:r>
                    </a:p>
                  </a:txBody>
                  <a:tcPr marL="114300" marR="95250" marT="57150" marB="571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609600" y="4762500"/>
          <a:ext cx="10972800" cy="86677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Static OOT MAPE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Recursive OOT MAPE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2026Jan-Jun MAPE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2027 monthly average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5.05%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5.96%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4.40%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743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tatic OOT uses observed lagged fees. Recursive OOT updates ">
            <a:extLst>
              <a:ext uri="{FF2B5EF4-FFF2-40B4-BE49-F238E27FC236}">
                <a16:creationId xmlns:a16="http://schemas.microsoft.com/office/drawing/2014/main" id="{6EF723F2-7B7B-4D73-9685-91E2F96B6AA3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Static OOT uses observed lagged fees. Recursive OOT updates the fee path without future actuals.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836B9294-8BBE-4B0D-B520-648277F9B2E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Model Development Overview</a:t>
            </a:r>
          </a:p>
        </p:txBody>
      </p:sp>
      <p:sp>
        <p:nvSpPr>
          <p:cNvPr id="5" name="3">
            <a:extLst>
              <a:ext uri="{FF2B5EF4-FFF2-40B4-BE49-F238E27FC236}">
                <a16:creationId xmlns:a16="http://schemas.microsoft.com/office/drawing/2014/main" id="{B72CF65C-219A-492B-884C-18DFC28245C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4239988726"/>
              </p:ext>
            </p:extLst>
          </p:nvPr>
        </p:nvGraphicFramePr>
        <p:xfrm>
          <a:off x="609600" y="1323975"/>
          <a:ext cx="10972800" cy="43338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5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and data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Consumer Card fee revenue from January 2011 through June 2026. The in-sample period ends in September 2023, followed by a 27-month OOT window.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Dependent variable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log change in fee revenue, scaled by 100. </a:t>
                      </a:r>
                      <a:endParaRPr lang="en-US" sz="1425" b="0" dirty="0">
                        <a:solidFill>
                          <a:srgbClr val="252F38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Recursive forecasts convert predicted changes back to the fee level.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 set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Two target lags and January and December indicators form the base. Ten macro candidates come from five monthly variables and their MA3 transformations.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Methodology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Ordinary least squares with forward selection. Candidate significance, VIF, Durbin-Watson and Jarque-Bera results determine eligibility.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Assumptions and limits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forecast follows the updated consumer macro path. </a:t>
                      </a:r>
                      <a:r>
                        <a:rPr lang="en"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</a:t>
                      </a:r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release vintages remain unidentified. Future pricing actions are outside the equation.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he development sequence separates feature selection, valida">
            <a:extLst>
              <a:ext uri="{FF2B5EF4-FFF2-40B4-BE49-F238E27FC236}">
                <a16:creationId xmlns:a16="http://schemas.microsoft.com/office/drawing/2014/main" id="{ED2990AA-8647-412A-AD50-ABC6C9FB520C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development sequence separates feature selection, validation and the production forecast.</a:t>
            </a:r>
          </a:p>
        </p:txBody>
      </p:sp>
    </p:spTree>
    <p:extLst>
      <p:ext uri="{BB962C8B-B14F-4D97-AF65-F5344CB8AC3E}">
        <p14:creationId xmlns:p14="http://schemas.microsoft.com/office/powerpoint/2010/main" val="82205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BDF0BA8-81E5-414F-963F-5D4A5004DD9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 Card Forecasting Problem</a:t>
            </a:r>
          </a:p>
        </p:txBody>
      </p:sp>
      <p:sp>
        <p:nvSpPr>
          <p:cNvPr id="5" name="4">
            <a:extLst>
              <a:ext uri="{FF2B5EF4-FFF2-40B4-BE49-F238E27FC236}">
                <a16:creationId xmlns:a16="http://schemas.microsoft.com/office/drawing/2014/main" id="{2CE2D929-FC26-4CFA-A6BB-A17F71A91A5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1" name="表格 10"/>
          <p:cNvGraphicFramePr/>
          <p:nvPr>
            <p:extLst>
              <p:ext uri="{D42A27DB-BD31-4B8C-83A1-F6EECF244321}">
                <p14:modId xmlns:p14="http://schemas.microsoft.com/office/powerpoint/2010/main" val="3349729578"/>
              </p:ext>
            </p:extLst>
          </p:nvPr>
        </p:nvGraphicFramePr>
        <p:xfrm>
          <a:off x="590550" y="1638300"/>
          <a:ext cx="4095750" cy="3286125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8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objective</a:t>
                      </a:r>
                    </a:p>
                  </a:txBody>
                  <a:tcPr marL="114300" marR="95250" marT="57150" marB="5715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Estimate monthly Consumer Card fee revenue under the consumer macro path. Preserve the observed December increase and January decline.</a:t>
                      </a:r>
                    </a:p>
                  </a:txBody>
                  <a:tcPr marL="114300" marR="95250" marT="57150" marB="571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8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Modeling challenge</a:t>
                      </a:r>
                    </a:p>
                  </a:txBody>
                  <a:tcPr marL="114300" marR="95250" marT="57150" marB="5715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volatility and strong seasonality complicate a level forecast. Recursive prediction compounds uncertainty, while product and pricing actions remain outside the available data.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="5000625" y="1581150"/>
          <a:ext cx="657225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he target history supports a change model with explicit sea">
            <a:extLst>
              <a:ext uri="{FF2B5EF4-FFF2-40B4-BE49-F238E27FC236}">
                <a16:creationId xmlns:a16="http://schemas.microsoft.com/office/drawing/2014/main" id="{D73F67F4-375C-42F9-A0D4-8BFC6D40C4CA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target history supports a change model with explicit seasonality and a separate recursive forecast step.</a:t>
            </a:r>
          </a:p>
        </p:txBody>
      </p:sp>
    </p:spTree>
    <p:extLst>
      <p:ext uri="{BB962C8B-B14F-4D97-AF65-F5344CB8AC3E}">
        <p14:creationId xmlns:p14="http://schemas.microsoft.com/office/powerpoint/2010/main" val="123975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6D996EEB-E170-415E-B005-9742539AAD6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Feature Engineering Framework</a:t>
            </a:r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3E3D7F31-3CF7-41A2-BE6F-A01EAB7D4592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400175"/>
          <a:ext cx="10972800" cy="4143375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Transformations</a:t>
                      </a:r>
                    </a:p>
                  </a:txBody>
                  <a:tcPr marL="114300" marR="95250" marT="47625" marB="47625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Target: 100 x monthly log difference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Unemployment: monthly percentage-point difference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Other macro series: monthly percentage change and trailing three-month average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 design</a:t>
                      </a:r>
                    </a:p>
                  </a:txBody>
                  <a:tcPr marL="114300" marR="95250" marT="47625" marB="47625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Fixed terms: target lags 1 and 2, January, December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candidates: current change and MA3 for unemployment, CPI, disposable income, retail sales and consumer confidence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87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Selection process</a:t>
                      </a:r>
                    </a:p>
                  </a:txBody>
                  <a:tcPr marL="114300" marR="95250" marT="47625" marB="47625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In-sample period only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 p-value below 0.05 and VIF below 10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Durbin-Watson from 1.5 to 2.5 and Jarque-Bera p-value above 0.05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One feature per macro family, with economic interpretation reviewed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tail sales MA3 passes the first selection round. No second">
            <a:extLst>
              <a:ext uri="{FF2B5EF4-FFF2-40B4-BE49-F238E27FC236}">
                <a16:creationId xmlns:a16="http://schemas.microsoft.com/office/drawing/2014/main" id="{30725992-DC1A-40F8-ADB9-C4F969A8E995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Retail sales MA3 passes the first selection round. No second macro candidate clears the configured gates.</a:t>
            </a:r>
          </a:p>
        </p:txBody>
      </p:sp>
    </p:spTree>
    <p:extLst>
      <p:ext uri="{BB962C8B-B14F-4D97-AF65-F5344CB8AC3E}">
        <p14:creationId xmlns:p14="http://schemas.microsoft.com/office/powerpoint/2010/main" val="144390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Selected Consumer Card Model</a:t>
            </a:r>
          </a:p>
        </p:txBody>
      </p:sp>
      <p:sp>
        <p:nvSpPr>
          <p:cNvPr id="5" name="6">
            <a:extLst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3239262499"/>
              </p:ext>
            </p:extLst>
          </p:nvPr>
        </p:nvGraphicFramePr>
        <p:xfrm>
          <a:off x="609600" y="1362075"/>
          <a:ext cx="10972800" cy="4333875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287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specification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y(t) = -1.9831 - 0.6217 y(t-1) - 0.3388 y(t-2)</a:t>
                      </a:r>
                    </a:p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          - 11.1531 January + 19.6583 December</a:t>
                      </a:r>
                    </a:p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          + 2.5753 Retail sales MA3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 meaning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lag terms capture short-term reversal. Month indicators capture seasonality. Retail sales MA3 represents the average monthly retail sales growth across the current and prior two months.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Goodness of fit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R-squared = 0.624     Adjusted R-squared = 0.611     Durbin-Watson = 2.356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performance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Static OOT MAPE = 5.05%     Recursive OOT MAPE = 5.96%</a:t>
                      </a:r>
                    </a:p>
                    <a:p>
                      <a:r>
                        <a:rPr sz="142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2026Jan-Jun forward check = 4.40%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he model adds an interpretable consumer activity measure, w">
            <a:extLst>
              <a:ext uri="{FF2B5EF4-FFF2-40B4-BE49-F238E27FC236}">
                <a16:creationId xmlns:a16="http://schemas.microsoft.com/office/drawing/2014/main" id="{2779EFB7-EC9D-45E4-A4D4-B574829B546C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model adds an interpretable consumer activity measure, while annual seasonality remains a strong forecasting signal.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CE11BCAC-5587-4C0E-A24E-AAFC1ABD991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Model Development Journey</a:t>
            </a:r>
          </a:p>
        </p:txBody>
      </p:sp>
      <p:sp>
        <p:nvSpPr>
          <p:cNvPr id="5" name="7">
            <a:extLst>
              <a:ext uri="{FF2B5EF4-FFF2-40B4-BE49-F238E27FC236}">
                <a16:creationId xmlns:a16="http://schemas.microsoft.com/office/drawing/2014/main" id="{49FD2A59-1653-44BB-98CD-5AA95890A72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381125"/>
          <a:ext cx="10972800" cy="42672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 equation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Target lags 1 and 2 plus January and December indicators provide the autoregressive and seasonal structure.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 screen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Ten candidates enter the first round. Retail sales MA3 has the smallest eligible p-value at &lt;0.001.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 equation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 MA3 enters as the only macro term. Its coefficient is +2.5753 in the in-sample estimate and +2.5068 in the production refit.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finding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second macro variable passes the significance gate after retail sales MA3 enters the equation.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7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Diagnostics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Adjusted R-squared = 0.611     Durbin-Watson = 2.356</a:t>
                      </a:r>
                    </a:p>
                    <a:p>
                      <a:r>
                        <a:rPr sz="150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Jarque-Bera p-value = 0.532     Maximum VIF = 1.70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he selected equation remains parsimonious and passes every ">
            <a:extLst>
              <a:ext uri="{FF2B5EF4-FFF2-40B4-BE49-F238E27FC236}">
                <a16:creationId xmlns:a16="http://schemas.microsoft.com/office/drawing/2014/main" id="{49C8CC44-B6E7-4046-8BFA-BC062DA9BA6C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selected equation remains parsimonious and passes every configured diagnostic gate.</a:t>
            </a:r>
          </a:p>
        </p:txBody>
      </p:sp>
    </p:spTree>
    <p:extLst>
      <p:ext uri="{BB962C8B-B14F-4D97-AF65-F5344CB8AC3E}">
        <p14:creationId xmlns:p14="http://schemas.microsoft.com/office/powerpoint/2010/main" val="199643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BD9C853C-A826-48E5-B13B-7302381FCF3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In-Sample and OOT Validation</a:t>
            </a:r>
          </a:p>
        </p:txBody>
      </p:sp>
      <p:sp>
        <p:nvSpPr>
          <p:cNvPr id="5" name="8">
            <a:extLst>
              <a:ext uri="{FF2B5EF4-FFF2-40B4-BE49-F238E27FC236}">
                <a16:creationId xmlns:a16="http://schemas.microsoft.com/office/drawing/2014/main" id="{CBDAFAA8-658A-46A6-AC82-A6C99E79C06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12" name="Chart"/>
          <p:cNvGraphicFramePr/>
          <p:nvPr>
            <p:extLst>
              <p:ext uri="{D42A27DB-BD31-4B8C-83A1-F6EECF244321}">
                <p14:modId xmlns:p14="http://schemas.microsoft.com/office/powerpoint/2010/main" val="430820596"/>
              </p:ext>
            </p:extLst>
          </p:nvPr>
        </p:nvGraphicFramePr>
        <p:xfrm>
          <a:off x="523875" y="1428750"/>
          <a:ext cx="5410200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"/>
          <p:cNvGraphicFramePr/>
          <p:nvPr>
            <p:extLst>
              <p:ext uri="{D42A27DB-BD31-4B8C-83A1-F6EECF244321}">
                <p14:modId xmlns:p14="http://schemas.microsoft.com/office/powerpoint/2010/main" val="3010668874"/>
              </p:ext>
            </p:extLst>
          </p:nvPr>
        </p:nvGraphicFramePr>
        <p:xfrm>
          <a:off x="6257925" y="1428750"/>
          <a:ext cx="5410200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609600" y="4905375"/>
          <a:ext cx="10972800" cy="752476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In-sample one-step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Static OOT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Recursive OOT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Year-ago benchmark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6.66%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5.05%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5.96%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4.15%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he recursive model beats the prior-month benchmark. The yea">
            <a:extLst>
              <a:ext uri="{FF2B5EF4-FFF2-40B4-BE49-F238E27FC236}">
                <a16:creationId xmlns:a16="http://schemas.microsoft.com/office/drawing/2014/main" id="{BA239B51-3FF0-4C79-8342-AC2744BAD7E3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recursive model beats the prior-month benchmark. The year-ago benchmark remains stronger across this OOT window.</a:t>
            </a:r>
          </a:p>
        </p:txBody>
      </p:sp>
    </p:spTree>
    <p:extLst>
      <p:ext uri="{BB962C8B-B14F-4D97-AF65-F5344CB8AC3E}">
        <p14:creationId xmlns:p14="http://schemas.microsoft.com/office/powerpoint/2010/main" val="185253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CA6C28DE-6F6A-489B-BE84-B5010111143D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60</a:t>
            </a:r>
            <a:r>
              <a:rPr lang="zh-CN" altLang="en-US"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Month</a:t>
            </a:r>
            <a:r>
              <a:rPr lang="zh-CN" altLang="en-US"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Rolling Coefficient Stability</a:t>
            </a:r>
          </a:p>
        </p:txBody>
      </p:sp>
      <p:sp>
        <p:nvSpPr>
          <p:cNvPr id="5" name="11">
            <a:extLst>
              <a:ext uri="{FF2B5EF4-FFF2-40B4-BE49-F238E27FC236}">
                <a16:creationId xmlns:a16="http://schemas.microsoft.com/office/drawing/2014/main" id="{5BD6D01F-AFE8-4F33-A913-C03A3940090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="523875" y="1476375"/>
          <a:ext cx="5143500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"/>
          <p:cNvGraphicFramePr/>
          <p:nvPr>
            <p:extLst>
              <p:ext uri="{D42A27DB-BD31-4B8C-83A1-F6EECF244321}">
                <p14:modId xmlns:p14="http://schemas.microsoft.com/office/powerpoint/2010/main" val="1360593610"/>
              </p:ext>
            </p:extLst>
          </p:nvPr>
        </p:nvGraphicFramePr>
        <p:xfrm>
          <a:off x="6524625" y="1476375"/>
          <a:ext cx="5143500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Both lag coefficients stay negative. Retail sales MA3 stays ">
            <a:extLst>
              <a:ext uri="{FF2B5EF4-FFF2-40B4-BE49-F238E27FC236}">
                <a16:creationId xmlns:a16="http://schemas.microsoft.com/office/drawing/2014/main" id="{4FC874FE-4B68-4480-A05C-C8AE4853392C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Both lag coefficients stay negative. </a:t>
            </a:r>
            <a:r>
              <a:rPr sz="1575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Retail sales MA3 stays positive in all 118 rolling windows.</a:t>
            </a:r>
          </a:p>
        </p:txBody>
      </p:sp>
    </p:spTree>
    <p:extLst>
      <p:ext uri="{BB962C8B-B14F-4D97-AF65-F5344CB8AC3E}">
        <p14:creationId xmlns:p14="http://schemas.microsoft.com/office/powerpoint/2010/main" val="15663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Production Refit and Forward Check</a:t>
            </a:r>
          </a:p>
        </p:txBody>
      </p:sp>
      <p:sp>
        <p:nvSpPr>
          <p:cNvPr id="5" name="14">
            <a:extLst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Production refit">
            <a:extLst>
              <a:ext uri="{FF2B5EF4-FFF2-40B4-BE49-F238E27FC236}">
                <a16:creationId xmlns:a16="http://schemas.microsoft.com/office/drawing/2014/main" id="{1C1C4443-FDA5-4BAD-A77D-0C8FC41B0469}"/>
              </a:ext>
            </a:extLst>
          </p:cNvPr>
          <p:cNvSpPr>
            <a:spLocks noGrp="1"/>
          </p:cNvSpPr>
          <p:nvPr/>
        </p:nvSpPr>
        <p:spPr>
          <a:xfrm>
            <a:off x="523875" y="1238250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Production refit</a:t>
            </a:r>
          </a:p>
        </p:txBody>
      </p:sp>
      <p:sp>
        <p:nvSpPr>
          <p:cNvPr id="7" name="After OOT, the model structure remains fixed and the same co">
            <a:extLst>
              <a:ext uri="{FF2B5EF4-FFF2-40B4-BE49-F238E27FC236}">
                <a16:creationId xmlns:a16="http://schemas.microsoft.com/office/drawing/2014/main" id="{E5164940-4C5C-4A7C-8CD6-47CE17E1758F}"/>
              </a:ext>
            </a:extLst>
          </p:cNvPr>
          <p:cNvSpPr>
            <a:spLocks noGrp="1"/>
          </p:cNvSpPr>
          <p:nvPr/>
        </p:nvSpPr>
        <p:spPr>
          <a:xfrm>
            <a:off x="523875" y="1504950"/>
            <a:ext cx="5334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After OOT, the model structure remains fixed and the same coefficients are re-estimated using all data through December 2025.</a:t>
            </a:r>
            <a:r>
              <a:rPr lang="zh-CN" altLang="en-US" sz="1275" b="0" dirty="0">
                <a:solidFill>
                  <a:srgbClr val="5D6B75"/>
                </a:solidFill>
                <a:latin typeface="Arial"/>
                <a:ea typeface="Arial"/>
                <a:cs typeface="Arial"/>
              </a:rPr>
              <a:t> </a:t>
            </a:r>
            <a:endParaRPr lang="en-US" altLang="zh-CN" sz="1275" b="0" dirty="0">
              <a:solidFill>
                <a:srgbClr val="5D6B75"/>
              </a:solidFill>
              <a:latin typeface="Arial"/>
              <a:ea typeface="Arial"/>
              <a:cs typeface="Arial"/>
            </a:endParaRPr>
          </a:p>
          <a:p>
            <a:pPr>
              <a:defRPr sz="12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75" dirty="0">
                <a:solidFill>
                  <a:srgbClr val="5D6B75"/>
                </a:solidFill>
                <a:latin typeface="Arial"/>
              </a:rPr>
              <a:t>The </a:t>
            </a:r>
            <a:r>
              <a:rPr lang="en-US" altLang="zh-CN" sz="1275" dirty="0">
                <a:solidFill>
                  <a:srgbClr val="5D6B75"/>
                </a:solidFill>
                <a:latin typeface="Arial"/>
              </a:rPr>
              <a:t>following</a:t>
            </a:r>
            <a:r>
              <a:rPr lang="zh-CN" altLang="en-US" sz="1275" dirty="0">
                <a:solidFill>
                  <a:srgbClr val="5D6B75"/>
                </a:solidFill>
                <a:latin typeface="Arial"/>
              </a:rPr>
              <a:t> </a:t>
            </a:r>
            <a:r>
              <a:rPr lang="en-US" altLang="zh-CN" sz="1275" dirty="0">
                <a:solidFill>
                  <a:srgbClr val="5D6B75"/>
                </a:solidFill>
                <a:latin typeface="Arial"/>
              </a:rPr>
              <a:t>Jan</a:t>
            </a:r>
            <a:r>
              <a:rPr lang="zh-CN" altLang="zh-CN" sz="1275" dirty="0">
                <a:solidFill>
                  <a:srgbClr val="5D6B75"/>
                </a:solidFill>
                <a:latin typeface="Arial"/>
              </a:rPr>
              <a:t> 2026–Mar 2028 forecast is generated as a 27-month recursive path from a December 2025 origin. Each subsequent month uses prior model predictions rather than newly observed actual fee values.</a:t>
            </a:r>
            <a:endParaRPr sz="1275" b="0" dirty="0">
              <a:solidFill>
                <a:srgbClr val="5D6B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2026Jan-Jun forward check">
            <a:extLst>
              <a:ext uri="{FF2B5EF4-FFF2-40B4-BE49-F238E27FC236}">
                <a16:creationId xmlns:a16="http://schemas.microsoft.com/office/drawing/2014/main" id="{E39D14CC-561F-4C52-A590-2CCA24BBA7E8}"/>
              </a:ext>
            </a:extLst>
          </p:cNvPr>
          <p:cNvSpPr>
            <a:spLocks noGrp="1"/>
          </p:cNvSpPr>
          <p:nvPr/>
        </p:nvSpPr>
        <p:spPr>
          <a:xfrm>
            <a:off x="6238875" y="1238250"/>
            <a:ext cx="542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2026Jan-Jun forward check</a:t>
            </a:r>
          </a:p>
        </p:txBody>
      </p:sp>
      <p:sp>
        <p:nvSpPr>
          <p:cNvPr id="9" name="January to June 2026 actuals remain outside the production r">
            <a:extLst>
              <a:ext uri="{FF2B5EF4-FFF2-40B4-BE49-F238E27FC236}">
                <a16:creationId xmlns:a16="http://schemas.microsoft.com/office/drawing/2014/main" id="{87C87BFF-62E8-4B46-8173-028DC91430D1}"/>
              </a:ext>
            </a:extLst>
          </p:cNvPr>
          <p:cNvSpPr>
            <a:spLocks noGrp="1"/>
          </p:cNvSpPr>
          <p:nvPr/>
        </p:nvSpPr>
        <p:spPr>
          <a:xfrm>
            <a:off x="6238875" y="1504950"/>
            <a:ext cx="5429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D6B75"/>
                </a:solidFill>
                <a:latin typeface="Arial"/>
                <a:ea typeface="Arial"/>
                <a:cs typeface="Arial"/>
              </a:rPr>
              <a:t>January to June 2026 actuals remain outside the production refit and support the post-forecast performance check.</a:t>
            </a:r>
          </a:p>
        </p:txBody>
      </p:sp>
      <p:graphicFrame>
        <p:nvGraphicFramePr>
          <p:cNvPr id="20" name="表格 19"/>
          <p:cNvGraphicFramePr/>
          <p:nvPr>
            <p:extLst>
              <p:ext uri="{D42A27DB-BD31-4B8C-83A1-F6EECF244321}">
                <p14:modId xmlns:p14="http://schemas.microsoft.com/office/powerpoint/2010/main" val="1269593412"/>
              </p:ext>
            </p:extLst>
          </p:nvPr>
        </p:nvGraphicFramePr>
        <p:xfrm>
          <a:off x="523875" y="2552700"/>
          <a:ext cx="5334000" cy="2857498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214">
                <a:tc>
                  <a:txBody>
                    <a:bodyPr/>
                    <a:lstStyle/>
                    <a:p>
                      <a:r>
                        <a:rPr sz="127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In-sample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Production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Constant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-1.983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-1.721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change lag 1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-0.622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-0.602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change lag 2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-0.339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-0.340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January indicator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-11.153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-11.863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 indicator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19.658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18.729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 MA3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2.575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2.507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" name="Chart"/>
          <p:cNvGraphicFramePr/>
          <p:nvPr>
            <p:extLst>
              <p:ext uri="{D42A27DB-BD31-4B8C-83A1-F6EECF244321}">
                <p14:modId xmlns:p14="http://schemas.microsoft.com/office/powerpoint/2010/main" val="3566381927"/>
              </p:ext>
            </p:extLst>
          </p:nvPr>
        </p:nvGraphicFramePr>
        <p:xfrm>
          <a:off x="6238875" y="2095500"/>
          <a:ext cx="54292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表格 21"/>
          <p:cNvGraphicFramePr/>
          <p:nvPr>
            <p:extLst>
              <p:ext uri="{D42A27DB-BD31-4B8C-83A1-F6EECF244321}">
                <p14:modId xmlns:p14="http://schemas.microsoft.com/office/powerpoint/2010/main" val="2723904531"/>
              </p:ext>
            </p:extLst>
          </p:nvPr>
        </p:nvGraphicFramePr>
        <p:xfrm>
          <a:off x="590550" y="5505450"/>
          <a:ext cx="10972800" cy="7239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Production n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Adjusted R-squared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2026Jan-Jun MAPE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endParaRPr sz="135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0.609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4.40%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 sz="1350" b="0" dirty="0">
                        <a:solidFill>
                          <a:srgbClr val="252F3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he production refit preserves every coefficient sign and su">
            <a:extLst>
              <a:ext uri="{FF2B5EF4-FFF2-40B4-BE49-F238E27FC236}">
                <a16:creationId xmlns:a16="http://schemas.microsoft.com/office/drawing/2014/main" id="{7DAD101C-D9D6-4A31-B1E0-FA5DE20EF7DD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production refit preserves every coefficient sign and supports a 4.40% six-month forward-check MAPE.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ABE5A248-4371-435F-9075-1F7A68954AB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Baseline</a:t>
            </a:r>
            <a:r>
              <a:rPr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 Macro Path and Forecast</a:t>
            </a:r>
          </a:p>
        </p:txBody>
      </p:sp>
      <p:sp>
        <p:nvSpPr>
          <p:cNvPr id="5" name="17">
            <a:extLst>
              <a:ext uri="{FF2B5EF4-FFF2-40B4-BE49-F238E27FC236}">
                <a16:creationId xmlns:a16="http://schemas.microsoft.com/office/drawing/2014/main" id="{D0C6B3AC-E260-41D2-9C19-4F7FD50C638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1" name="Chart"/>
          <p:cNvGraphicFramePr/>
          <p:nvPr>
            <p:extLst>
              <p:ext uri="{D42A27DB-BD31-4B8C-83A1-F6EECF244321}">
                <p14:modId xmlns:p14="http://schemas.microsoft.com/office/powerpoint/2010/main" val="1661347931"/>
              </p:ext>
            </p:extLst>
          </p:nvPr>
        </p:nvGraphicFramePr>
        <p:xfrm>
          <a:off x="523875" y="1476375"/>
          <a:ext cx="54102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"/>
          <p:cNvGraphicFramePr/>
          <p:nvPr>
            <p:extLst>
              <p:ext uri="{D42A27DB-BD31-4B8C-83A1-F6EECF244321}">
                <p14:modId xmlns:p14="http://schemas.microsoft.com/office/powerpoint/2010/main" val="2489608929"/>
              </p:ext>
            </p:extLst>
          </p:nvPr>
        </p:nvGraphicFramePr>
        <p:xfrm>
          <a:off x="6257925" y="1476375"/>
          <a:ext cx="54102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he 27-month point forecast follows the updated retail sales">
            <a:extLst>
              <a:ext uri="{FF2B5EF4-FFF2-40B4-BE49-F238E27FC236}">
                <a16:creationId xmlns:a16="http://schemas.microsoft.com/office/drawing/2014/main" id="{8A8E49A6-8243-4D96-B51A-F66C435AA73A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27-month point forecast follows the updated retail sales path and preserves the monthly seasonal pattern.</a:t>
            </a:r>
          </a:p>
        </p:txBody>
      </p:sp>
    </p:spTree>
    <p:extLst>
      <p:ext uri="{BB962C8B-B14F-4D97-AF65-F5344CB8AC3E}">
        <p14:creationId xmlns:p14="http://schemas.microsoft.com/office/powerpoint/2010/main" val="1951097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1A2CC-5F93-A978-3CC2-439A754C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4F852133-1C15-268A-D306-CD80954446E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Stress</a:t>
            </a:r>
            <a:r>
              <a:rPr lang="zh-CN" altLang="en-US"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Floor</a:t>
            </a:r>
            <a:r>
              <a:rPr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 Macro Path and Forecast</a:t>
            </a:r>
          </a:p>
        </p:txBody>
      </p:sp>
      <p:sp>
        <p:nvSpPr>
          <p:cNvPr id="5" name="17">
            <a:extLst>
              <a:ext uri="{FF2B5EF4-FFF2-40B4-BE49-F238E27FC236}">
                <a16:creationId xmlns:a16="http://schemas.microsoft.com/office/drawing/2014/main" id="{8B3DA6E5-150C-C012-1F0C-B884BFF3F191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1F17CD-3656-5696-B132-5D4FEE8A1436}"/>
              </a:ext>
            </a:extLst>
          </p:cNvPr>
          <p:cNvSpPr txBox="1"/>
          <p:nvPr/>
        </p:nvSpPr>
        <p:spPr>
          <a:xfrm>
            <a:off x="5191125" y="3244334"/>
            <a:ext cx="133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be added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3256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Forecast Summary and Model Limits</a:t>
            </a:r>
          </a:p>
        </p:txBody>
      </p:sp>
      <p:sp>
        <p:nvSpPr>
          <p:cNvPr id="5" name="18">
            <a:extLst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381125"/>
          <a:ext cx="10972800" cy="1952624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Monthly average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Minimum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Maximum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Ending month</a:t>
                      </a:r>
                    </a:p>
                  </a:txBody>
                  <a:tcPr marL="95250" marR="76200" marT="47625" marB="4762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2026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770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704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891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891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743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703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859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859</a:t>
                      </a: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2028 Q1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717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678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747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747</a:t>
                      </a:r>
                    </a:p>
                  </a:txBody>
                  <a:tcPr marL="95250" marR="7620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extLst>
              <p:ext uri="{D42A27DB-BD31-4B8C-83A1-F6EECF244321}">
                <p14:modId xmlns:p14="http://schemas.microsoft.com/office/powerpoint/2010/main" val="2904289579"/>
              </p:ext>
            </p:extLst>
          </p:nvPr>
        </p:nvGraphicFramePr>
        <p:xfrm>
          <a:off x="609600" y="3600450"/>
          <a:ext cx="10972800" cy="20288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basis</a:t>
                      </a:r>
                    </a:p>
                  </a:txBody>
                  <a:tcPr marL="114300" marR="95250" marT="28575" marB="28575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Production coefficients use data through December 2025. </a:t>
                      </a:r>
                    </a:p>
                  </a:txBody>
                  <a:tcPr marL="114300" marR="9525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scope</a:t>
                      </a:r>
                    </a:p>
                  </a:txBody>
                  <a:tcPr marL="114300" marR="95250" marT="28575" marB="28575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deck presents one point forecast under the updated macro path. Alternative macro scenarios and future pricing actions remain outside the forecast.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Monitoring</a:t>
                      </a:r>
                    </a:p>
                  </a:txBody>
                  <a:tcPr marL="114300" marR="95250" marT="28575" marB="28575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Compare each new month with the point forecast and the year-ago benchmark. Refit when coefficient signs, residual behavior or the macro path changes materially.</a:t>
                      </a:r>
                    </a:p>
                  </a:txBody>
                  <a:tcPr marL="114300" marR="9525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121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1081</Words>
  <Application>Microsoft Macintosh PowerPoint</Application>
  <DocSecurity>0</DocSecurity>
  <PresentationFormat>宽屏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宇轩 黄</cp:lastModifiedBy>
  <cp:revision>10</cp:revision>
  <dcterms:created xsi:type="dcterms:W3CDTF">2026-09-29T00:28:25Z</dcterms:created>
  <dcterms:modified xsi:type="dcterms:W3CDTF">2026-09-29T02:40:16Z</dcterms:modified>
</cp:coreProperties>
</file>