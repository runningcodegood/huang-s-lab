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61e295f46d4b5d" /><Relationship Type="http://schemas.openxmlformats.org/officeDocument/2006/relationships/extended-properties" Target="/docProps/app.xml" Id="R3255da599ceb4612" /><Relationship Type="http://schemas.openxmlformats.org/officeDocument/2006/relationships/officeDocument" Target="/ppt/presentation.xml" Id="R63f7e76f696242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3c9d3cd4db4477"/>
  </p:sldMasterIdLst>
  <p:notesMasterIdLst>
    <p:notesMasterId xmlns:r="http://schemas.openxmlformats.org/officeDocument/2006/relationships" r:id="R697afd14d17f433b"/>
  </p:notesMasterIdLst>
  <p:sldIdLst>
    <p:sldId xmlns:r="http://schemas.openxmlformats.org/officeDocument/2006/relationships" id="256" r:id="Rac6f39896e1d480e"/>
    <p:sldId xmlns:r="http://schemas.openxmlformats.org/officeDocument/2006/relationships" id="257" r:id="R30674699c5344b21"/>
    <p:sldId xmlns:r="http://schemas.openxmlformats.org/officeDocument/2006/relationships" id="258" r:id="Ra904f2f445de4156"/>
    <p:sldId xmlns:r="http://schemas.openxmlformats.org/officeDocument/2006/relationships" id="259" r:id="R7c2696ce907c4a23"/>
    <p:sldId xmlns:r="http://schemas.openxmlformats.org/officeDocument/2006/relationships" id="260" r:id="R317505297b7642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e023b7270426a" /><Relationship Type="http://schemas.openxmlformats.org/officeDocument/2006/relationships/slideMaster" Target="/ppt/slideMasters/slideMaster1.xml" Id="R713c9d3cd4db4477" /><Relationship Type="http://schemas.openxmlformats.org/officeDocument/2006/relationships/notesMaster" Target="/ppt/notesMasters/notesMaster1.xml" Id="R697afd14d17f433b" /><Relationship Type="http://schemas.openxmlformats.org/officeDocument/2006/relationships/presProps" Target="/ppt/presProps.xml" Id="R392acfc693364509" /><Relationship Type="http://schemas.openxmlformats.org/officeDocument/2006/relationships/tableStyles" Target="/ppt/tableStyles.xml" Id="R08e451e68c4842ff" /><Relationship Type="http://schemas.openxmlformats.org/officeDocument/2006/relationships/slide" Target="/ppt/slides/slide1.xml" Id="Rac6f39896e1d480e" /><Relationship Type="http://schemas.openxmlformats.org/officeDocument/2006/relationships/slide" Target="/ppt/slides/slide2.xml" Id="R30674699c5344b21" /><Relationship Type="http://schemas.openxmlformats.org/officeDocument/2006/relationships/slide" Target="/ppt/slides/slide3.xml" Id="Ra904f2f445de4156" /><Relationship Type="http://schemas.openxmlformats.org/officeDocument/2006/relationships/slide" Target="/ppt/slides/slide4.xml" Id="R7c2696ce907c4a23" /><Relationship Type="http://schemas.openxmlformats.org/officeDocument/2006/relationships/slide" Target="/ppt/slides/slide5.xml" Id="R317505297b76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658787fd5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329941d86d4f47" /><Relationship Type="http://schemas.openxmlformats.org/officeDocument/2006/relationships/notesMaster" Target="/ppt/notesMasters/notesMaster1.xml" Id="R149537b18e2448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37050f88664f60" /><Relationship Type="http://schemas.openxmlformats.org/officeDocument/2006/relationships/notesMaster" Target="/ppt/notesMasters/notesMaster1.xml" Id="R8906ca34bcda49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885eac035847ed" /><Relationship Type="http://schemas.openxmlformats.org/officeDocument/2006/relationships/notesMaster" Target="/ppt/notesMasters/notesMaster1.xml" Id="R9dbdb75c0d3347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89909663eb4566" /><Relationship Type="http://schemas.openxmlformats.org/officeDocument/2006/relationships/notesMaster" Target="/ppt/notesMasters/notesMaster1.xml" Id="R41f9183630174f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2d3413bab84a0b" /><Relationship Type="http://schemas.openxmlformats.org/officeDocument/2006/relationships/notesMaster" Target="/ppt/notesMasters/notesMaster1.xml" Id="Ra3723c68ffcb48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Noncomp EF model development materials dated October 19, 2026.</a:t>
            </a:r>
          </a:p>
          <a:p xmlns:a="http://schemas.openxmlformats.org/drawingml/2006/main">
            <a:r>
              <a:t>Purpose: Working group summary of development, validation, scenario forecasts, and champion model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Noncomp_EF_Model_Development_Documentation_EN_20261019_v2.docx, Sections 1, 4, 5, 7, and 9.</a:t>
            </a:r>
          </a:p>
          <a:p xmlns:a="http://schemas.openxmlformats.org/drawingml/2006/main">
            <a:r>
              <a:t>Noncomp_EF_Code_and_Data_20261019.zip, README.md and reference_outputs/run_summary.csv.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reference_outputs/fitted_values_development.csv</a:t>
            </a:r>
          </a:p>
          <a:p xmlns:a="http://schemas.openxmlformats.org/drawingml/2006/main">
            <a:r>
              <a:t>reference_outputs/oot_forecasts.csv and oot_metrics.csv</a:t>
            </a:r>
          </a:p>
          <a:p xmlns:a="http://schemas.openxmlformats.org/drawingml/2006/main">
            <a:r>
              <a:t>Chart values convert EF ratios to percentage points for display.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reference_outputs/historical_data_and_features.csv</a:t>
            </a:r>
          </a:p>
          <a:p xmlns:a="http://schemas.openxmlformats.org/drawingml/2006/main">
            <a:r>
              <a:t>reference_outputs/fitted_values_development.csv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reference_outputs/scenario_macro_paths.csv</a:t>
            </a:r>
          </a:p>
          <a:p xmlns:a="http://schemas.openxmlformats.org/drawingml/2006/main">
            <a:r>
              <a:t>reference_outputs/scenario_ef_forecasts.csv</a:t>
            </a:r>
          </a:p>
          <a:p xmlns:a="http://schemas.openxmlformats.org/drawingml/2006/main">
            <a:r>
              <a:t>Rolling stability uses ten overlapping 40-quarter windows ending from 2021Q2 through 2023Q3.</a:t>
            </a:r>
          </a:p>
          <a:p xmlns:a="http://schemas.openxmlformats.org/drawingml/2006/main">
            <a:r>
              <a:t>The rolling chart displays the unemployment coefficient in actual coefficient units. The dashed line is the development-model estimate of 0.0064167.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reference_outputs/historical_data_and_features.csv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reference_outputs/oot_metrics.csv</a:t>
            </a:r>
          </a:p>
          <a:p xmlns:a="http://schemas.openxmlformats.org/drawingml/2006/main">
            <a:r>
              <a:t>Noncomp Efficiency Ratio Model Development Document, sections 4 through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aaef444b24f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86165c6974d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70889fd2d4e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fefe86e734d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438d2142a4e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3162724b349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E70DD-494E-4F6A-9872-798F8B604A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577153-D261-4D59-A147-D672E8E176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FF1F82-E070-44E9-88B3-850CE01C8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131BCD-CB7C-43AE-B585-4EC32B8FD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44AB21-FE63-4021-8648-9F1C99C73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3F1F05-09C0-4E4F-ACDE-00785CB06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3CA5D7-74C8-4910-AA92-E5F812BEA0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6A6CE5-3935-4D96-A6F5-A9A08748E1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BEC708-7AD9-44FF-9428-798CB3A34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60522D-1579-453E-9837-A7CDD2DB21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5c8f1eecb4dd2" /><Relationship Type="http://schemas.openxmlformats.org/officeDocument/2006/relationships/slideLayout" Target="/ppt/slideLayouts/slideLayout1.xml" Id="Rc0bb462ea37a4c55" /><Relationship Type="http://schemas.openxmlformats.org/officeDocument/2006/relationships/slideLayout" Target="/ppt/slideLayouts/slideLayout2.xml" Id="R4ad7373233d947d5" /><Relationship Type="http://schemas.openxmlformats.org/officeDocument/2006/relationships/slideLayout" Target="/ppt/slideLayouts/slideLayout3.xml" Id="Re06e0b97fdeb4209" /><Relationship Type="http://schemas.openxmlformats.org/officeDocument/2006/relationships/slideLayout" Target="/ppt/slideLayouts/slideLayout4.xml" Id="Ra96b565cf34046d8" /><Relationship Type="http://schemas.openxmlformats.org/officeDocument/2006/relationships/slideLayout" Target="/ppt/slideLayouts/slideLayout5.xml" Id="Re42ecab8ceab457f" /><Relationship Type="http://schemas.openxmlformats.org/officeDocument/2006/relationships/slideLayout" Target="/ppt/slideLayouts/slideLayout6.xml" Id="R90b8778b9cc3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bb462ea37a4c55"/>
    <p:sldLayoutId xmlns:r="http://schemas.openxmlformats.org/officeDocument/2006/relationships" id="2147483650" r:id="R4ad7373233d947d5"/>
    <p:sldLayoutId xmlns:r="http://schemas.openxmlformats.org/officeDocument/2006/relationships" id="2147483651" r:id="Re06e0b97fdeb4209"/>
    <p:sldLayoutId xmlns:r="http://schemas.openxmlformats.org/officeDocument/2006/relationships" id="2147483652" r:id="Ra96b565cf34046d8"/>
    <p:sldLayoutId xmlns:r="http://schemas.openxmlformats.org/officeDocument/2006/relationships" id="2147483653" r:id="Re42ecab8ceab457f"/>
    <p:sldLayoutId xmlns:r="http://schemas.openxmlformats.org/officeDocument/2006/relationships" id="2147483654" r:id="R90b8778b9cc3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a7f3ffa7648e2" /><Relationship Type="http://schemas.openxmlformats.org/officeDocument/2006/relationships/notesSlide" Target="/ppt/notesSlides/notesSlide1.xml" Id="Rf333cda4d7b441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b6ba6753148d5" /><Relationship Type="http://schemas.openxmlformats.org/officeDocument/2006/relationships/notesSlide" Target="/ppt/notesSlides/notesSlide2.xml" Id="R478771875f5940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04de20e8f48a7" /><Relationship Type="http://schemas.openxmlformats.org/officeDocument/2006/relationships/chart" Target="/ppt/slides/charts/chart1.xml" Id="R084f3383e5804227" /><Relationship Type="http://schemas.openxmlformats.org/officeDocument/2006/relationships/chart" Target="/ppt/slides/charts/chart2.xml" Id="R56fe7fd1a2394701" /><Relationship Type="http://schemas.openxmlformats.org/officeDocument/2006/relationships/notesSlide" Target="/ppt/notesSlides/notesSlide3.xml" Id="R5dcbf9c9541b47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4ea060a944b5f" /><Relationship Type="http://schemas.openxmlformats.org/officeDocument/2006/relationships/chart" Target="/ppt/slides/charts/chart3.xml" Id="R8b6fc83557e04d3d" /><Relationship Type="http://schemas.openxmlformats.org/officeDocument/2006/relationships/chart" Target="/ppt/slides/charts/chart4.xml" Id="Rcf74d647edcc4699" /><Relationship Type="http://schemas.openxmlformats.org/officeDocument/2006/relationships/chart" Target="/ppt/slides/charts/chart5.xml" Id="Ra9d5e02277264434" /><Relationship Type="http://schemas.openxmlformats.org/officeDocument/2006/relationships/chart" Target="/ppt/slides/charts/chart6.xml" Id="R8e2c12261de3498c" /><Relationship Type="http://schemas.openxmlformats.org/officeDocument/2006/relationships/notesSlide" Target="/ppt/notesSlides/notesSlide4.xml" Id="Re09efa93cdb04a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ed550df2f4429" /><Relationship Type="http://schemas.openxmlformats.org/officeDocument/2006/relationships/chart" Target="/ppt/slides/charts/chart7.xml" Id="Rc8df20493d5b4509" /><Relationship Type="http://schemas.openxmlformats.org/officeDocument/2006/relationships/notesSlide" Target="/ppt/notesSlides/notesSlide5.xml" Id="R4caec858df8a4b6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Development Sample: Actual vs Fitted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Data'!$B$2:$B$50</c:f>
              <c:numCache>
                <c:formatCode>0.0</c:formatCode>
                <c:ptCount val="49"/>
                <c:pt idx="0">
                  <c:v>63.1</c:v>
                </c:pt>
                <c:pt idx="1">
                  <c:v>66.8</c:v>
                </c:pt>
                <c:pt idx="2">
                  <c:v>66.5</c:v>
                </c:pt>
                <c:pt idx="3">
                  <c:v>67.9</c:v>
                </c:pt>
                <c:pt idx="4">
                  <c:v>65.2</c:v>
                </c:pt>
                <c:pt idx="5">
                  <c:v>67.6</c:v>
                </c:pt>
                <c:pt idx="6">
                  <c:v>78.2</c:v>
                </c:pt>
                <c:pt idx="7">
                  <c:v>77.8</c:v>
                </c:pt>
                <c:pt idx="8">
                  <c:v>77.6</c:v>
                </c:pt>
                <c:pt idx="9">
                  <c:v>75.2</c:v>
                </c:pt>
                <c:pt idx="10">
                  <c:v>67.6</c:v>
                </c:pt>
                <c:pt idx="11">
                  <c:v>65.9</c:v>
                </c:pt>
                <c:pt idx="12">
                  <c:v>66.7</c:v>
                </c:pt>
                <c:pt idx="13">
                  <c:v>64.6</c:v>
                </c:pt>
                <c:pt idx="14">
                  <c:v>62.1</c:v>
                </c:pt>
                <c:pt idx="15">
                  <c:v>62.1</c:v>
                </c:pt>
                <c:pt idx="16">
                  <c:v>60.7</c:v>
                </c:pt>
                <c:pt idx="17">
                  <c:v>62.1</c:v>
                </c:pt>
                <c:pt idx="18">
                  <c:v>65.1</c:v>
                </c:pt>
                <c:pt idx="19">
                  <c:v>63.6</c:v>
                </c:pt>
                <c:pt idx="20">
                  <c:v>61.2</c:v>
                </c:pt>
                <c:pt idx="21">
                  <c:v>62.4</c:v>
                </c:pt>
                <c:pt idx="22">
                  <c:v>63.5</c:v>
                </c:pt>
                <c:pt idx="23">
                  <c:v>58.8</c:v>
                </c:pt>
                <c:pt idx="24">
                  <c:v>58.6</c:v>
                </c:pt>
                <c:pt idx="25">
                  <c:v>57.966667</c:v>
                </c:pt>
                <c:pt idx="26">
                  <c:v>56.9</c:v>
                </c:pt>
                <c:pt idx="27">
                  <c:v>56.2</c:v>
                </c:pt>
                <c:pt idx="28">
                  <c:v>59.7</c:v>
                </c:pt>
                <c:pt idx="29">
                  <c:v>56.5</c:v>
                </c:pt>
                <c:pt idx="30">
                  <c:v>60.7</c:v>
                </c:pt>
                <c:pt idx="31">
                  <c:v>53</c:v>
                </c:pt>
                <c:pt idx="32">
                  <c:v>54.8</c:v>
                </c:pt>
                <c:pt idx="33">
                  <c:v>52.3</c:v>
                </c:pt>
                <c:pt idx="34">
                  <c:v>57.7</c:v>
                </c:pt>
                <c:pt idx="35">
                  <c:v>58</c:v>
                </c:pt>
                <c:pt idx="36">
                  <c:v>63.4</c:v>
                </c:pt>
                <c:pt idx="37">
                  <c:v>60</c:v>
                </c:pt>
                <c:pt idx="38">
                  <c:v>54.1</c:v>
                </c:pt>
                <c:pt idx="39">
                  <c:v>54.6</c:v>
                </c:pt>
                <c:pt idx="40">
                  <c:v>52.6</c:v>
                </c:pt>
                <c:pt idx="41">
                  <c:v>57</c:v>
                </c:pt>
                <c:pt idx="42">
                  <c:v>53.6</c:v>
                </c:pt>
                <c:pt idx="43">
                  <c:v>52.8</c:v>
                </c:pt>
                <c:pt idx="44">
                  <c:v>49.5</c:v>
                </c:pt>
                <c:pt idx="45">
                  <c:v>50.5</c:v>
                </c:pt>
                <c:pt idx="46">
                  <c:v>49.2</c:v>
                </c:pt>
                <c:pt idx="47">
                  <c:v>53.1</c:v>
                </c:pt>
                <c:pt idx="48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v>Fitted EF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none"/>
          </c:marker>
          <c:cat>
            <c:strRef>
              <c:f>'Chart Data'!$C$2:$C$50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Data'!$D$2:$D$50</c:f>
              <c:numCache>
                <c:formatCode>0.0</c:formatCode>
                <c:ptCount val="49"/>
                <c:pt idx="0">
                  <c:v>67.020665</c:v>
                </c:pt>
                <c:pt idx="1">
                  <c:v>65.922891</c:v>
                </c:pt>
                <c:pt idx="2">
                  <c:v>68.462069</c:v>
                </c:pt>
                <c:pt idx="3">
                  <c:v>68.240582</c:v>
                </c:pt>
                <c:pt idx="4">
                  <c:v>69.46669</c:v>
                </c:pt>
                <c:pt idx="5">
                  <c:v>67.409136</c:v>
                </c:pt>
                <c:pt idx="6">
                  <c:v>69.138258</c:v>
                </c:pt>
                <c:pt idx="7">
                  <c:v>77.071092</c:v>
                </c:pt>
                <c:pt idx="8">
                  <c:v>76.69022</c:v>
                </c:pt>
                <c:pt idx="9">
                  <c:v>76.478395</c:v>
                </c:pt>
                <c:pt idx="10">
                  <c:v>70.34316</c:v>
                </c:pt>
                <c:pt idx="11">
                  <c:v>64.753534</c:v>
                </c:pt>
                <c:pt idx="12">
                  <c:v>63.370105</c:v>
                </c:pt>
                <c:pt idx="13">
                  <c:v>64.174627</c:v>
                </c:pt>
                <c:pt idx="14">
                  <c:v>62.474492</c:v>
                </c:pt>
                <c:pt idx="15">
                  <c:v>60.757097</c:v>
                </c:pt>
                <c:pt idx="16">
                  <c:v>60.799875</c:v>
                </c:pt>
                <c:pt idx="17">
                  <c:v>59.616544</c:v>
                </c:pt>
                <c:pt idx="18">
                  <c:v>60.821264</c:v>
                </c:pt>
                <c:pt idx="19">
                  <c:v>62.99336</c:v>
                </c:pt>
                <c:pt idx="20">
                  <c:v>61.992867</c:v>
                </c:pt>
                <c:pt idx="21">
                  <c:v>60.17819</c:v>
                </c:pt>
                <c:pt idx="22">
                  <c:v>60.999973</c:v>
                </c:pt>
                <c:pt idx="23">
                  <c:v>61.769316</c:v>
                </c:pt>
                <c:pt idx="24">
                  <c:v>58.299346</c:v>
                </c:pt>
                <c:pt idx="25">
                  <c:v>58.258632</c:v>
                </c:pt>
                <c:pt idx="26">
                  <c:v>57.705492</c:v>
                </c:pt>
                <c:pt idx="27">
                  <c:v>56.93937</c:v>
                </c:pt>
                <c:pt idx="28">
                  <c:v>56.443955</c:v>
                </c:pt>
                <c:pt idx="29">
                  <c:v>58.985197</c:v>
                </c:pt>
                <c:pt idx="30">
                  <c:v>56.772387</c:v>
                </c:pt>
                <c:pt idx="31">
                  <c:v>59.851822</c:v>
                </c:pt>
                <c:pt idx="32">
                  <c:v>53.995866</c:v>
                </c:pt>
                <c:pt idx="33">
                  <c:v>55.453124</c:v>
                </c:pt>
                <c:pt idx="34">
                  <c:v>53.628784</c:v>
                </c:pt>
                <c:pt idx="35">
                  <c:v>57.765281</c:v>
                </c:pt>
                <c:pt idx="36">
                  <c:v>63.718986</c:v>
                </c:pt>
                <c:pt idx="37">
                  <c:v>59.128822</c:v>
                </c:pt>
                <c:pt idx="38">
                  <c:v>58.008908</c:v>
                </c:pt>
                <c:pt idx="39">
                  <c:v>54.615487</c:v>
                </c:pt>
                <c:pt idx="40">
                  <c:v>55.134355</c:v>
                </c:pt>
                <c:pt idx="41">
                  <c:v>53.294161</c:v>
                </c:pt>
                <c:pt idx="42">
                  <c:v>56.521255</c:v>
                </c:pt>
                <c:pt idx="43">
                  <c:v>54.396064</c:v>
                </c:pt>
                <c:pt idx="44">
                  <c:v>53.848208</c:v>
                </c:pt>
                <c:pt idx="45">
                  <c:v>51.497402</c:v>
                </c:pt>
                <c:pt idx="46">
                  <c:v>52.321249</c:v>
                </c:pt>
                <c:pt idx="47">
                  <c:v>51.318692</c:v>
                </c:pt>
                <c:pt idx="48">
                  <c:v>54.219418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2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2023Q4-2025Q4 Validation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61.7</c:v>
                </c:pt>
                <c:pt idx="1">
                  <c:v>59.3</c:v>
                </c:pt>
                <c:pt idx="2">
                  <c:v>53.1</c:v>
                </c:pt>
                <c:pt idx="3">
                  <c:v>54.9</c:v>
                </c:pt>
                <c:pt idx="4">
                  <c:v>52.7</c:v>
                </c:pt>
                <c:pt idx="5">
                  <c:v>53.4</c:v>
                </c:pt>
                <c:pt idx="6">
                  <c:v>52.6</c:v>
                </c:pt>
                <c:pt idx="7">
                  <c:v>56.1</c:v>
                </c:pt>
                <c:pt idx="8">
                  <c:v>54.8</c:v>
                </c:pt>
              </c:numCache>
            </c:numRef>
          </c:val>
          <c:smooth val="0"/>
        </c:ser>
        <c:ser>
          <c:idx val="1"/>
          <c:order val="1"/>
          <c:tx>
            <c:v>One-step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55A11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57.901213</c:v>
                </c:pt>
                <c:pt idx="1">
                  <c:v>60.675669</c:v>
                </c:pt>
                <c:pt idx="2">
                  <c:v>58.818214</c:v>
                </c:pt>
                <c:pt idx="3">
                  <c:v>54.304973</c:v>
                </c:pt>
                <c:pt idx="4">
                  <c:v>55.676676</c:v>
                </c:pt>
                <c:pt idx="5">
                  <c:v>53.902712</c:v>
                </c:pt>
                <c:pt idx="6">
                  <c:v>54.440905</c:v>
                </c:pt>
                <c:pt idx="7">
                  <c:v>53.89305</c:v>
                </c:pt>
                <c:pt idx="8">
                  <c:v>56.519848</c:v>
                </c:pt>
              </c:numCache>
            </c:numRef>
          </c:val>
          <c:smooth val="0"/>
        </c:ser>
        <c:ser>
          <c:idx val="2"/>
          <c:order val="2"/>
          <c:tx>
            <c:v>Recursive</c:v>
          </c:tx>
          <c:spPr>
            <a:ln xmlns:a="http://schemas.openxmlformats.org/drawingml/2006/main" w="20955">
              <a:solidFill>
                <a:srgbClr val="54823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548235"/>
              </a:solidFill>
            </c:spPr>
          </c:marker>
          <c:cat>
            <c:strRef>
              <c:f>'Chart Data'!$E$2:$E$10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Data'!$F$2:$F$10</c:f>
              <c:numCache>
                <c:formatCode>0.0</c:formatCode>
                <c:ptCount val="9"/>
                <c:pt idx="0">
                  <c:v>57.901213</c:v>
                </c:pt>
                <c:pt idx="1">
                  <c:v>57.871057</c:v>
                </c:pt>
                <c:pt idx="2">
                  <c:v>57.763237</c:v>
                </c:pt>
                <c:pt idx="3">
                  <c:v>57.747802</c:v>
                </c:pt>
                <c:pt idx="4">
                  <c:v>57.779183</c:v>
                </c:pt>
                <c:pt idx="5">
                  <c:v>57.65263</c:v>
                </c:pt>
                <c:pt idx="6">
                  <c:v>57.580586</c:v>
                </c:pt>
                <c:pt idx="7">
                  <c:v>57.570174</c:v>
                </c:pt>
                <c:pt idx="8">
                  <c:v>57.605265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4"/>
          <c:min val="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40-Quarter Rolling Unemployment Coefficient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Unemployment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548235"/>
              </a:solidFill>
            </c:spPr>
          </c:marker>
          <c:cat>
            <c:strRef>
              <c:f>'Chart Data'!$A$2:$A$11</c:f>
              <c:strCache>
                <c:ptCount val="10"/>
                <c:pt idx="0">
                  <c:v>2021Q2</c:v>
                </c:pt>
                <c:pt idx="1">
                  <c:v>​​</c:v>
                </c:pt>
                <c:pt idx="2">
                  <c:v>​​​</c:v>
                </c:pt>
                <c:pt idx="3">
                  <c:v>2022Q1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2023Q1</c:v>
                </c:pt>
                <c:pt idx="8">
                  <c:v>​​​​​​​​​</c:v>
                </c:pt>
                <c:pt idx="9">
                  <c:v>2023Q3</c:v>
                </c:pt>
              </c:strCache>
            </c:strRef>
          </c:cat>
          <c:val>
            <c:numRef>
              <c:f>'Chart Data'!$B$2:$B$11</c:f>
              <c:numCache>
                <c:formatCode>0.0000</c:formatCode>
                <c:ptCount val="10"/>
                <c:pt idx="0">
                  <c:v>0.006142</c:v>
                </c:pt>
                <c:pt idx="1">
                  <c:v>0.006288</c:v>
                </c:pt>
                <c:pt idx="2">
                  <c:v>0.005974</c:v>
                </c:pt>
                <c:pt idx="3">
                  <c:v>0.006184</c:v>
                </c:pt>
                <c:pt idx="4">
                  <c:v>0.006215</c:v>
                </c:pt>
                <c:pt idx="5">
                  <c:v>0.006349</c:v>
                </c:pt>
                <c:pt idx="6">
                  <c:v>0.006339</c:v>
                </c:pt>
                <c:pt idx="7">
                  <c:v>0.006563</c:v>
                </c:pt>
                <c:pt idx="8">
                  <c:v>0.006514</c:v>
                </c:pt>
                <c:pt idx="9">
                  <c:v>0.006485</c:v>
                </c:pt>
              </c:numCache>
            </c:numRef>
          </c:val>
          <c:smooth val="0"/>
        </c:ser>
        <c:ser>
          <c:idx val="1"/>
          <c:order val="1"/>
          <c:tx>
            <c:v>Full model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circle"/>
            <c:size val="4"/>
            <c:spPr>
              <a:solidFill xmlns:a="http://schemas.openxmlformats.org/drawingml/2006/main">
                <a:srgbClr val="A6A6A6"/>
              </a:solidFill>
            </c:spPr>
          </c:marker>
          <c:cat>
            <c:strRef>
              <c:f>'Chart Data'!$C$2:$C$11</c:f>
              <c:strCache>
                <c:ptCount val="10"/>
                <c:pt idx="0">
                  <c:v>2021Q2</c:v>
                </c:pt>
                <c:pt idx="1">
                  <c:v>​​</c:v>
                </c:pt>
                <c:pt idx="2">
                  <c:v>​​​</c:v>
                </c:pt>
                <c:pt idx="3">
                  <c:v>2022Q1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2023Q1</c:v>
                </c:pt>
                <c:pt idx="8">
                  <c:v>​​​​​​​​​</c:v>
                </c:pt>
                <c:pt idx="9">
                  <c:v>2023Q3</c:v>
                </c:pt>
              </c:strCache>
            </c:strRef>
          </c:cat>
          <c:val>
            <c:numRef>
              <c:f>'Chart Data'!$D$2:$D$11</c:f>
              <c:numCache>
                <c:formatCode>0.0000</c:formatCode>
                <c:ptCount val="10"/>
                <c:pt idx="0">
                  <c:v>0.006417</c:v>
                </c:pt>
                <c:pt idx="1">
                  <c:v>0.006417</c:v>
                </c:pt>
                <c:pt idx="2">
                  <c:v>0.006417</c:v>
                </c:pt>
                <c:pt idx="3">
                  <c:v>0.006417</c:v>
                </c:pt>
                <c:pt idx="4">
                  <c:v>0.006417</c:v>
                </c:pt>
                <c:pt idx="5">
                  <c:v>0.006417</c:v>
                </c:pt>
                <c:pt idx="6">
                  <c:v>0.006417</c:v>
                </c:pt>
                <c:pt idx="7">
                  <c:v>0.006417</c:v>
                </c:pt>
                <c:pt idx="8">
                  <c:v>0.006417</c:v>
                </c:pt>
                <c:pt idx="9">
                  <c:v>0.006417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068"/>
          <c:min val="0.00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0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Development Residuals Over Time (Actual - Fitted)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Residual</c:v>
          </c:tx>
          <c:spPr>
            <a:ln xmlns:a="http://schemas.openxmlformats.org/drawingml/2006/main" w="20003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Data'!$B$2:$B$50</c:f>
              <c:numCache>
                <c:formatCode>0.0</c:formatCode>
                <c:ptCount val="49"/>
                <c:pt idx="0">
                  <c:v>-3.920665</c:v>
                </c:pt>
                <c:pt idx="1">
                  <c:v>0.877109</c:v>
                </c:pt>
                <c:pt idx="2">
                  <c:v>-1.962069</c:v>
                </c:pt>
                <c:pt idx="3">
                  <c:v>-0.340582</c:v>
                </c:pt>
                <c:pt idx="4">
                  <c:v>-4.26669</c:v>
                </c:pt>
                <c:pt idx="5">
                  <c:v>0.190864</c:v>
                </c:pt>
                <c:pt idx="6">
                  <c:v>9.061742</c:v>
                </c:pt>
                <c:pt idx="7">
                  <c:v>0.728908</c:v>
                </c:pt>
                <c:pt idx="8">
                  <c:v>0.90978</c:v>
                </c:pt>
                <c:pt idx="9">
                  <c:v>-1.278395</c:v>
                </c:pt>
                <c:pt idx="10">
                  <c:v>-2.74316</c:v>
                </c:pt>
                <c:pt idx="11">
                  <c:v>1.146466</c:v>
                </c:pt>
                <c:pt idx="12">
                  <c:v>3.329895</c:v>
                </c:pt>
                <c:pt idx="13">
                  <c:v>0.425373</c:v>
                </c:pt>
                <c:pt idx="14">
                  <c:v>-0.374492</c:v>
                </c:pt>
                <c:pt idx="15">
                  <c:v>1.342903</c:v>
                </c:pt>
                <c:pt idx="16">
                  <c:v>-0.099875</c:v>
                </c:pt>
                <c:pt idx="17">
                  <c:v>2.483456</c:v>
                </c:pt>
                <c:pt idx="18">
                  <c:v>4.278736</c:v>
                </c:pt>
                <c:pt idx="19">
                  <c:v>0.60664</c:v>
                </c:pt>
                <c:pt idx="20">
                  <c:v>-0.792867</c:v>
                </c:pt>
                <c:pt idx="21">
                  <c:v>2.22181</c:v>
                </c:pt>
                <c:pt idx="22">
                  <c:v>2.500027</c:v>
                </c:pt>
                <c:pt idx="23">
                  <c:v>-2.969316</c:v>
                </c:pt>
                <c:pt idx="24">
                  <c:v>0.300654</c:v>
                </c:pt>
                <c:pt idx="25">
                  <c:v>-0.291965</c:v>
                </c:pt>
                <c:pt idx="26">
                  <c:v>-0.805492</c:v>
                </c:pt>
                <c:pt idx="27">
                  <c:v>-0.73937</c:v>
                </c:pt>
                <c:pt idx="28">
                  <c:v>3.256045</c:v>
                </c:pt>
                <c:pt idx="29">
                  <c:v>-2.485197</c:v>
                </c:pt>
                <c:pt idx="30">
                  <c:v>3.927613</c:v>
                </c:pt>
                <c:pt idx="31">
                  <c:v>-6.851822</c:v>
                </c:pt>
                <c:pt idx="32">
                  <c:v>0.804134</c:v>
                </c:pt>
                <c:pt idx="33">
                  <c:v>-3.153124</c:v>
                </c:pt>
                <c:pt idx="34">
                  <c:v>4.071216</c:v>
                </c:pt>
                <c:pt idx="35">
                  <c:v>0.234719</c:v>
                </c:pt>
                <c:pt idx="36">
                  <c:v>-0.318986</c:v>
                </c:pt>
                <c:pt idx="37">
                  <c:v>0.871178</c:v>
                </c:pt>
                <c:pt idx="38">
                  <c:v>-3.908908</c:v>
                </c:pt>
                <c:pt idx="39">
                  <c:v>-0.015487</c:v>
                </c:pt>
                <c:pt idx="40">
                  <c:v>-2.534355</c:v>
                </c:pt>
                <c:pt idx="41">
                  <c:v>3.705839</c:v>
                </c:pt>
                <c:pt idx="42">
                  <c:v>-2.921255</c:v>
                </c:pt>
                <c:pt idx="43">
                  <c:v>-1.596064</c:v>
                </c:pt>
                <c:pt idx="44">
                  <c:v>-4.348208</c:v>
                </c:pt>
                <c:pt idx="45">
                  <c:v>-0.997402</c:v>
                </c:pt>
                <c:pt idx="46">
                  <c:v>-3.121249</c:v>
                </c:pt>
                <c:pt idx="47">
                  <c:v>1.781308</c:v>
                </c:pt>
                <c:pt idx="48">
                  <c:v>3.780582</c:v>
                </c:pt>
              </c:numCache>
            </c:numRef>
          </c:val>
          <c:smooth val="0"/>
        </c:ser>
        <c:ser>
          <c:idx val="1"/>
          <c:order val="1"/>
          <c:tx>
            <c:v>Zero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Ref>
              <c:f>'Chart Data'!$C$2:$C$50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Data'!$D$2:$D$50</c:f>
              <c:numCache>
                <c:formatCode>0.0</c:formatCode>
                <c:ptCount val="4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Unemployment Scenario Paths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4.333333</c:v>
                </c:pt>
                <c:pt idx="1">
                  <c:v>4.266667</c:v>
                </c:pt>
                <c:pt idx="2">
                  <c:v>4.17</c:v>
                </c:pt>
                <c:pt idx="3">
                  <c:v>4.303333</c:v>
                </c:pt>
                <c:pt idx="4">
                  <c:v>4.513333</c:v>
                </c:pt>
                <c:pt idx="5">
                  <c:v>4.623333</c:v>
                </c:pt>
                <c:pt idx="6">
                  <c:v>4.703333</c:v>
                </c:pt>
                <c:pt idx="7">
                  <c:v>4.71</c:v>
                </c:pt>
                <c:pt idx="8">
                  <c:v>4.68</c:v>
                </c:pt>
              </c:numCache>
            </c:numRef>
          </c:val>
          <c:smooth val="0"/>
        </c:ser>
        <c:ser>
          <c:idx val="1"/>
          <c:order val="1"/>
          <c:tx>
            <c:v>S4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6.565449</c:v>
                </c:pt>
                <c:pt idx="1">
                  <c:v>7.899902</c:v>
                </c:pt>
                <c:pt idx="2">
                  <c:v>8.566341</c:v>
                </c:pt>
                <c:pt idx="3">
                  <c:v>8.936377</c:v>
                </c:pt>
                <c:pt idx="4">
                  <c:v>9.191204</c:v>
                </c:pt>
                <c:pt idx="5">
                  <c:v>9.358607</c:v>
                </c:pt>
                <c:pt idx="6">
                  <c:v>9.428866</c:v>
                </c:pt>
                <c:pt idx="7">
                  <c:v>9.455956</c:v>
                </c:pt>
                <c:pt idx="8">
                  <c:v>9.427875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Conditional EF Forecasts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55.395293</c:v>
                </c:pt>
                <c:pt idx="1">
                  <c:v>55.686349</c:v>
                </c:pt>
                <c:pt idx="2">
                  <c:v>55.932595</c:v>
                </c:pt>
                <c:pt idx="3">
                  <c:v>56.095133</c:v>
                </c:pt>
                <c:pt idx="4">
                  <c:v>56.360137</c:v>
                </c:pt>
                <c:pt idx="5">
                  <c:v>56.603847</c:v>
                </c:pt>
                <c:pt idx="6">
                  <c:v>56.720319</c:v>
                </c:pt>
                <c:pt idx="7">
                  <c:v>56.787217</c:v>
                </c:pt>
                <c:pt idx="8">
                  <c:v>56.790219</c:v>
                </c:pt>
              </c:numCache>
            </c:numRef>
          </c:val>
          <c:smooth val="0"/>
        </c:ser>
        <c:ser>
          <c:idx val="1"/>
          <c:order val="1"/>
          <c:tx>
            <c:v>S4 EF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55.395293</c:v>
                </c:pt>
                <c:pt idx="1">
                  <c:v>57.09565</c:v>
                </c:pt>
                <c:pt idx="2">
                  <c:v>57.85586</c:v>
                </c:pt>
                <c:pt idx="3">
                  <c:v>57.994356</c:v>
                </c:pt>
                <c:pt idx="4">
                  <c:v>57.909284</c:v>
                </c:pt>
                <c:pt idx="5">
                  <c:v>57.773848</c:v>
                </c:pt>
                <c:pt idx="6">
                  <c:v>57.618836</c:v>
                </c:pt>
                <c:pt idx="7">
                  <c:v>57.44326</c:v>
                </c:pt>
                <c:pt idx="8">
                  <c:v>57.286607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9"/>
          <c:min val="5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Historical EF</c:v>
          </c:tx>
          <c:spPr>
            <a:ln xmlns:a="http://schemas.openxmlformats.org/drawingml/2006/main"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Data'!$A$2:$A$61</c:f>
              <c:strCache>
                <c:ptCount val="60"/>
                <c:pt idx="0">
                  <c:v>2011</c:v>
                </c:pt>
                <c:pt idx="1">
                  <c:v>​​</c:v>
                </c:pt>
                <c:pt idx="2">
                  <c:v>​​​</c:v>
                </c:pt>
                <c:pt idx="3">
                  <c:v>​​​​</c:v>
                </c:pt>
                <c:pt idx="4">
                  <c:v>2012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​​​​​​​​</c:v>
                </c:pt>
                <c:pt idx="8">
                  <c:v>2013</c:v>
                </c:pt>
                <c:pt idx="9">
                  <c:v>​​​​​​​​​​</c:v>
                </c:pt>
                <c:pt idx="10">
                  <c:v>​​​​​​​​​​​</c:v>
                </c:pt>
                <c:pt idx="11">
                  <c:v>​​​​​​​​​​​​</c:v>
                </c:pt>
                <c:pt idx="12">
                  <c:v>2014</c:v>
                </c:pt>
                <c:pt idx="13">
                  <c:v>​​​​​​​​​​​​​​</c:v>
                </c:pt>
                <c:pt idx="14">
                  <c:v>​​​​​​​​​​​​​​​</c:v>
                </c:pt>
                <c:pt idx="15">
                  <c:v>​​​​​​​​​​​​​​​​</c:v>
                </c:pt>
                <c:pt idx="16">
                  <c:v>2015</c:v>
                </c:pt>
                <c:pt idx="17">
                  <c:v>​​​​​​​​​​​​​​​​​​</c:v>
                </c:pt>
                <c:pt idx="18">
                  <c:v>​​​​​​​​​​​​​​​​​​​</c:v>
                </c:pt>
                <c:pt idx="19">
                  <c:v>​​​​​​​​​​​​​​​​​​​​</c:v>
                </c:pt>
                <c:pt idx="20">
                  <c:v>2016</c:v>
                </c:pt>
                <c:pt idx="21">
                  <c:v>​​​​​​​​​​​​​​​​​​​​​​</c:v>
                </c:pt>
                <c:pt idx="22">
                  <c:v>​​​​​​​​​​​​​​​​​​​​​​​</c:v>
                </c:pt>
                <c:pt idx="23">
                  <c:v>​​​​​​​​​​​​​​​​​​​​​​​​</c:v>
                </c:pt>
                <c:pt idx="24">
                  <c:v>2017</c:v>
                </c:pt>
                <c:pt idx="25">
                  <c:v>​​​​​​​​​​​​​​​​​​​​​​​​​​</c:v>
                </c:pt>
                <c:pt idx="26">
                  <c:v>​​​​​​​​​​​​​​​​​​​​​​​​​​​</c:v>
                </c:pt>
                <c:pt idx="27">
                  <c:v>​​​​​​​​​​​​​​​​​​​​​​​​​​​​</c:v>
                </c:pt>
                <c:pt idx="28">
                  <c:v>2018</c:v>
                </c:pt>
                <c:pt idx="29">
                  <c:v>​​​​​​​​​​​​​​​​​​​​​​​​​​​​​​</c:v>
                </c:pt>
                <c:pt idx="30">
                  <c:v>​​​​​​​​​​​​​​​​​​​​​​​​​​​​​​​</c:v>
                </c:pt>
                <c:pt idx="31">
                  <c:v>​​​​​​​​​​​​​​​​​​​​​​​​​​​​​​​​</c:v>
                </c:pt>
                <c:pt idx="32">
                  <c:v>2019</c:v>
                </c:pt>
                <c:pt idx="33">
                  <c:v>​​​​​​​​​​​​​​​​​​​​​​​​​​​​​​​​​​</c:v>
                </c:pt>
                <c:pt idx="34">
                  <c:v>​​​​​​​​​​​​​​​​​​​​​​​​​​​​​​​​​​​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2020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​​​​​​​​​​​​​​​​​​​​​​​​​​​​​​​​​​​​​​​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2021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​​​​​​​​​​​​​​​​​​​​​​​​​​​​​​​​​​​​​​​​​​​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2022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​​​​​​​​​​​​​​​​​​​​​​​​​​​​​​​​​​​​​​​​​​​​​​​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</c:v>
                </c:pt>
                <c:pt idx="49">
                  <c:v>​​​​​​​​​​​​​​​​​​​​​​​​​​​​​​​​​​​​​​​​​​​​​​​​​​</c:v>
                </c:pt>
                <c:pt idx="50">
                  <c:v>​​​​​​​​​​​​​​​​​​​​​​​​​​​​​​​​​​​​​​​​​​​​​​​​​​​</c:v>
                </c:pt>
                <c:pt idx="51">
                  <c:v>​​​​​​​​​​​​​​​​​​​​​​​​​​​​​​​​​​​​​​​​​​​​​​​​​​​​</c:v>
                </c:pt>
                <c:pt idx="52">
                  <c:v>2024</c:v>
                </c:pt>
                <c:pt idx="53">
                  <c:v>​​​​​​​​​​​​​​​​​​​​​​​​​​​​​​​​​​​​​​​​​​​​​​​​​​​​​​</c:v>
                </c:pt>
                <c:pt idx="54">
                  <c:v>​​​​​​​​​​​​​​​​​​​​​​​​​​​​​​​​​​​​​​​​​​​​​​​​​​​​​​​</c:v>
                </c:pt>
                <c:pt idx="55">
                  <c:v>​​​​​​​​​​​​​​​​​​​​​​​​​​​​​​​​​​​​​​​​​​​​​​​​​​​​​​​​</c:v>
                </c:pt>
                <c:pt idx="56">
                  <c:v>2025</c:v>
                </c:pt>
                <c:pt idx="57">
                  <c:v>​​​​​​​​​​​​​​​​​​​​​​​​​​​​​​​​​​​​​​​​​​​​​​​​​​​​​​​​​​</c:v>
                </c:pt>
                <c:pt idx="58">
                  <c:v>​​​​​​​​​​​​​​​​​​​​​​​​​​​​​​​​​​​​​​​​​​​​​​​​​​​​​​​​​​​</c:v>
                </c:pt>
                <c:pt idx="59">
                  <c:v>2025Q4</c:v>
                </c:pt>
              </c:strCache>
            </c:strRef>
          </c:cat>
          <c:val>
            <c:numRef>
              <c:f>'Chart Data'!$B$2:$B$61</c:f>
              <c:numCache>
                <c:formatCode>0.0</c:formatCode>
                <c:ptCount val="60"/>
                <c:pt idx="0">
                  <c:v>63.9</c:v>
                </c:pt>
                <c:pt idx="1">
                  <c:v>64.5</c:v>
                </c:pt>
                <c:pt idx="2">
                  <c:v>63.1</c:v>
                </c:pt>
                <c:pt idx="3">
                  <c:v>66.8</c:v>
                </c:pt>
                <c:pt idx="4">
                  <c:v>66.5</c:v>
                </c:pt>
                <c:pt idx="5">
                  <c:v>67.9</c:v>
                </c:pt>
                <c:pt idx="6">
                  <c:v>65.2</c:v>
                </c:pt>
                <c:pt idx="7">
                  <c:v>67.6</c:v>
                </c:pt>
                <c:pt idx="8">
                  <c:v>78.2</c:v>
                </c:pt>
                <c:pt idx="9">
                  <c:v>77.8</c:v>
                </c:pt>
                <c:pt idx="10">
                  <c:v>77.6</c:v>
                </c:pt>
                <c:pt idx="11">
                  <c:v>75.2</c:v>
                </c:pt>
                <c:pt idx="12">
                  <c:v>67.6</c:v>
                </c:pt>
                <c:pt idx="13">
                  <c:v>65.9</c:v>
                </c:pt>
                <c:pt idx="14">
                  <c:v>66.7</c:v>
                </c:pt>
                <c:pt idx="15">
                  <c:v>64.6</c:v>
                </c:pt>
                <c:pt idx="16">
                  <c:v>62.1</c:v>
                </c:pt>
                <c:pt idx="17">
                  <c:v>62.1</c:v>
                </c:pt>
                <c:pt idx="18">
                  <c:v>60.7</c:v>
                </c:pt>
                <c:pt idx="19">
                  <c:v>62.1</c:v>
                </c:pt>
                <c:pt idx="20">
                  <c:v>65.1</c:v>
                </c:pt>
                <c:pt idx="21">
                  <c:v>63.6</c:v>
                </c:pt>
                <c:pt idx="22">
                  <c:v>61.2</c:v>
                </c:pt>
                <c:pt idx="23">
                  <c:v>62.4</c:v>
                </c:pt>
                <c:pt idx="24">
                  <c:v>63.5</c:v>
                </c:pt>
                <c:pt idx="25">
                  <c:v>58.8</c:v>
                </c:pt>
                <c:pt idx="26">
                  <c:v>58.6</c:v>
                </c:pt>
                <c:pt idx="27">
                  <c:v>57.966667</c:v>
                </c:pt>
                <c:pt idx="28">
                  <c:v>56.9</c:v>
                </c:pt>
                <c:pt idx="29">
                  <c:v>56.2</c:v>
                </c:pt>
                <c:pt idx="30">
                  <c:v>59.7</c:v>
                </c:pt>
                <c:pt idx="31">
                  <c:v>56.5</c:v>
                </c:pt>
                <c:pt idx="32">
                  <c:v>60.7</c:v>
                </c:pt>
                <c:pt idx="33">
                  <c:v>53</c:v>
                </c:pt>
                <c:pt idx="34">
                  <c:v>54.8</c:v>
                </c:pt>
                <c:pt idx="35">
                  <c:v>52.3</c:v>
                </c:pt>
                <c:pt idx="36">
                  <c:v>57.7</c:v>
                </c:pt>
                <c:pt idx="37">
                  <c:v>58</c:v>
                </c:pt>
                <c:pt idx="38">
                  <c:v>63.4</c:v>
                </c:pt>
                <c:pt idx="39">
                  <c:v>60</c:v>
                </c:pt>
                <c:pt idx="40">
                  <c:v>54.1</c:v>
                </c:pt>
                <c:pt idx="41">
                  <c:v>54.6</c:v>
                </c:pt>
                <c:pt idx="42">
                  <c:v>52.6</c:v>
                </c:pt>
                <c:pt idx="43">
                  <c:v>57</c:v>
                </c:pt>
                <c:pt idx="44">
                  <c:v>53.6</c:v>
                </c:pt>
                <c:pt idx="45">
                  <c:v>52.8</c:v>
                </c:pt>
                <c:pt idx="46">
                  <c:v>49.5</c:v>
                </c:pt>
                <c:pt idx="47">
                  <c:v>50.5</c:v>
                </c:pt>
                <c:pt idx="48">
                  <c:v>49.2</c:v>
                </c:pt>
                <c:pt idx="49">
                  <c:v>53.1</c:v>
                </c:pt>
                <c:pt idx="50">
                  <c:v>58</c:v>
                </c:pt>
                <c:pt idx="51">
                  <c:v>61.7</c:v>
                </c:pt>
                <c:pt idx="52">
                  <c:v>59.3</c:v>
                </c:pt>
                <c:pt idx="53">
                  <c:v>53.1</c:v>
                </c:pt>
                <c:pt idx="54">
                  <c:v>54.9</c:v>
                </c:pt>
                <c:pt idx="55">
                  <c:v>52.7</c:v>
                </c:pt>
                <c:pt idx="56">
                  <c:v>53.4</c:v>
                </c:pt>
                <c:pt idx="57">
                  <c:v>52.6</c:v>
                </c:pt>
                <c:pt idx="58">
                  <c:v>56.1</c:v>
                </c:pt>
                <c:pt idx="59">
                  <c:v>54.8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B83C3-E517-48A1-9D1E-338B4483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6D158-64E8-415B-AFB7-C1C8467B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6B14B-8E3E-4B6E-83F3-1EF94C95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F5427-9A2C-45A5-9BCC-AA2DBAA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89EEF-1E7A-4CC1-B962-527D9E9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4D67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40952-5BD8-4C66-BD6D-E435E02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</a:t>
            </a:r>
          </a:p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15672-FEAC-4E98-9012-49A181D4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 Development and Conditional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E2A66-CB76-4A3B-9FC7-0FD7B99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Working Group Review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October 21, 2026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Historical data through 4Q25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FECC7-3803-4653-9F20-6360792C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3253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9C25D4-7ECD-4A3B-AA68-9761221D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42DAD-837B-4D00-94A1-B3C8C67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BD0F5-26B9-4836-A98F-A7E3741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Development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DD046-E6C7-4903-A8E5-B96DF5B1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4275-D3C0-4F83-9524-229F4EE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C20B7-6374-45AD-B263-91C643F8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2A806-3BCF-4F36-9631-AA5C2D7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1019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6B082-126D-4F49-8BB9-39BB00B9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409700"/>
            <a:ext cx="1003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A156D-14FF-42BB-878C-87551B66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47825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B28E6-88D3-427D-9CA8-17F4CFD4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47825"/>
            <a:ext cx="842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0C8CA-CED8-430B-95B4-71C397E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56141-9C67-4158-A2D7-C9B5A17F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859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Noncomp efficiency ratio, modeled as the supplied aggregate cost-to-income ratio. Higher EF indicates more expense per unit of income.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B93CA-4009-4CBF-87B2-5441C6FA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85975"/>
            <a:ext cx="1762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487AE-B707-4E0D-9689-0C0304A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85975"/>
            <a:ext cx="842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FAE8D-34BC-46EF-A462-20356645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590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55695-588C-4B7C-AC62-DB74897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23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1. L-SNV quarterly EF and 22 Moody's macro series from 2011Q1 through 2025Q4.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2. Development sample: 2011Q3-2023Q3 (49 observations). OOT: 2023Q4-2025Q4 (9 quarters).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3. S1 and S4 unemployment paths extend through 2028Q1.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02DE3-9D01-4CCE-82E3-FAF52BC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942F8-6E98-4B20-98EE-A0468353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24175"/>
            <a:ext cx="842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74C9B-80A2-4ED5-9C91-5CB05FAF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D6CF2-41F9-4C6F-81E7-4F16DF56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823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All Noncomp activity is modeled as one aggregate EF series without business-line segmentation.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DE083-942A-491A-B709-C124FF27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63936-9A66-4737-A8ED-33615D8A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842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9EA9D-86F4-4D74-B719-26CBA5CF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Dependent Variable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A4D9B-034B-41A8-BD69-77D1B667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EF in ratio levels. A value of 0.55 denotes 55%.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FAB78-4449-4594-AA86-F5978DD1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29025"/>
            <a:ext cx="1762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21F4E-1DFB-446B-B1C9-7A1B9C2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842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AF290-640A-496B-AB2D-69BA395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59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45B71E-F0E7-438C-BC6F-A6DCECA4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823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ARDL regression with one lag of EF, a fixed post-2014 period indicator, and the one-quarter-lagged quarterly change in unemployment.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6BF04-67FA-4F75-A747-8613D25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000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735F5-3B8F-4FED-929C-24B3E14F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91025"/>
            <a:ext cx="984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Assumptions, Limitations, and 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DE26B-393F-4E87-86EA-086A1895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2E67F0-E3BE-4589-8D38-1524BA65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8334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735B8-2164-4481-8FEC-D7A8AE4F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1495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D818B-C486-4823-852E-ADB5E681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8143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The EF accounting definition and source data remain comparable over time.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The operating regime from 2014Q1 remains relevant over the forecast horizon.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Historical EF persistence and the unemployment response remain stable.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S1 and S4 are conditional inputs, and future residuals equal zero.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CEF6CE-A535-45B7-B9F2-135A26DA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43525"/>
            <a:ext cx="1666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A52B4-8DFE-4C82-AF3C-ECDD24C0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8334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9F71D3-0E9B-4790-924F-6410B276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14954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7C1A3F-6B73-49E2-B1A5-79E804F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8143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Development includes 49 observations, and OOT validation covers nine quarters.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Smoothing of 2017Q3 and 2017Q4 introduces judgment and affects current and lagged EF.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Unemployment is the only selected macro driver, while GDP and output-gap alternatives show similar fit.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The aggregate model does not separate expense and income effects, and forecasts provide no probability range.</a:t>
            </a:r>
          </a:p>
        </p:txBody>
      </p:sp>
    </p:spTree>
    <p:extLst>
      <p:ext uri="{BB962C8B-B14F-4D97-AF65-F5344CB8AC3E}">
        <p14:creationId xmlns:p14="http://schemas.microsoft.com/office/powerpoint/2010/main" val="1063676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008DD-DE64-48D1-8020-DB7B817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8522E-78D2-401D-BA94-AA61CC7E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9FCA9-D9BD-44F6-98E5-FD479E1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Fitting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9AAC1-784C-484A-B689-5116F1FC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A3D06-FB53-4707-BD33-3D223F0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88384-7769-468C-BC0B-CE71C46F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03757-8C50-40D6-95CD-1147428D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6445E-AFC4-4298-9116-484BF44E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33500"/>
            <a:ext cx="785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83C5A-487C-4C87-86A7-8C24403B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81125"/>
            <a:ext cx="1400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Specification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5EC34-F69A-4916-AC05-25C26ECE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71600"/>
            <a:ext cx="766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Post14_t + 0.7383 EF_(t-1) + 0.00642 ΔU_(t-1)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9D107-C8DD-4693-95AC-08B96C7B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1571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F0D86-C286-4E66-9E59-A38BF8FD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7858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04E07-E623-401A-85DD-1CEB542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1400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C9A6C-732E-4CBE-812B-1E4BA07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7667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quarterly persistence in the efficiency ratio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Post14_t: fixed indicator from 2014Q1 onward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quarterly unemployment-rate change with a one-quarter 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88220-23DC-4BC0-97C9-7BA9C77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E45E4-6327-4897-ACAD-3BEF69F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7858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C7A51-128D-45EC-A40D-1CC32940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F9473-A09D-4356-872D-F6708255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R² = 0.8373, adjusted R² = 0.8265, and fit RMSE = 0.0283. One-step OOT RMSE = 0.0278, and recursive OOT RMSE = 0.0373.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9ED1F-FE66-4EB7-956B-0FAECE90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1571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1170F-D309-425F-BB25-F41F7C82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785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91C8D-6A55-4F44-9828-95DF0E23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140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Conceptual Soundness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4ADA9-54E7-4FC0-810E-4A7CB763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43225"/>
            <a:ext cx="766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EF lag coefficient is below one, so temporary effects decay over time.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unemployment-change coefficient is positive and significant at 5% (p = 0.0289).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DW, JB, CUSUM, and Ljung-Box diagnostics do not reject at 5% in development.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4F1AB-EBF3-4A4D-B630-9CF8EBCC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In-Sample Backtesting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600E6-AD73-400B-A9B2-72868497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Out-of-Time Backtesting</a:t>
            </a:r>
          </a:p>
        </p:txBody>
      </p:sp>
      <p:graphicFrame>
        <p:nvGraphicFramePr>
          <p:cNvPr id="25" name="Chart">
            <a:extLst xmlns:a="http://schemas.openxmlformats.org/drawingml/2006/main">
              <a:ext uri="{FF2B5EF4-FFF2-40B4-BE49-F238E27FC236}">
                <a16:creationId xmlns:a16="http://schemas.microsoft.com/office/drawing/2014/main" id="{5C59F1B8-8468-4B8F-AD5A-45F066A276C3}"/>
              </a:ext>
            </a:extLst>
          </p:cNvPr>
          <p:cNvGraphicFramePr/>
          <p:nvPr/>
        </p:nvGraphicFramePr>
        <p:xfrm>
          <a:off xmlns:a="http://schemas.openxmlformats.org/drawingml/2006/main" x="12858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4f3383e5804227"/>
          </a:graphicData>
        </a:graphic>
      </p:graphicFrame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94BB1AD0-B4A5-445F-855A-B4B6E645F17B}"/>
              </a:ext>
            </a:extLst>
          </p:cNvPr>
          <p:cNvGraphicFramePr/>
          <p:nvPr/>
        </p:nvGraphicFramePr>
        <p:xfrm>
          <a:off xmlns:a="http://schemas.openxmlformats.org/drawingml/2006/main" x="64293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fe7fd1a2394701"/>
          </a:graphicData>
        </a:graphic>
      </p:graphicFrame>
    </p:spTree>
    <p:extLst>
      <p:ext uri="{BB962C8B-B14F-4D97-AF65-F5344CB8AC3E}">
        <p14:creationId xmlns:p14="http://schemas.microsoft.com/office/powerpoint/2010/main" val="814892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41B91-881C-4796-92E3-748A0CA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2C4C3-5160-4227-8952-25FC765F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1D5F6-26D6-496F-8EA4-2112B2D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Outcome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BE204-A40A-46CE-9627-BE2CF522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CB858-236C-4D82-AC6F-DCF2979B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45320-3E0F-42A3-8005-3F368D73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617A3-B121-4C67-B2D1-6022FF2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1049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Stability Analysis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15070FC5-760F-4FAB-9A6B-9592F1E54072}"/>
              </a:ext>
            </a:extLst>
          </p:cNvPr>
          <p:cNvGraphicFramePr/>
          <p:nvPr/>
        </p:nvGraphicFramePr>
        <p:xfrm>
          <a:off xmlns:a="http://schemas.openxmlformats.org/drawingml/2006/main" x="1047750" y="1428750"/>
          <a:ext xmlns:a="http://schemas.openxmlformats.org/drawingml/2006/main" cx="3714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6fc83557e04d3d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6CD9816E-7E48-4AC9-B86C-1B4B4325FD1C}"/>
              </a:ext>
            </a:extLst>
          </p:cNvPr>
          <p:cNvGraphicFramePr/>
          <p:nvPr/>
        </p:nvGraphicFramePr>
        <p:xfrm>
          <a:off xmlns:a="http://schemas.openxmlformats.org/drawingml/2006/main" x="4953000" y="1428750"/>
          <a:ext xmlns:a="http://schemas.openxmlformats.org/drawingml/2006/main" cx="3476625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74d647edcc469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A449C-374B-483D-A488-D3CCA168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FFF3A-7B9A-4B15-904F-193F9CCC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573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AF94B-1ABD-4B1E-9BEA-C3ABC748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05985-051D-4708-886F-8365A887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71650"/>
            <a:ext cx="228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Ten 40-quarter windows end from 2Q21 through 3Q23 and retain the fixed post-2014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unemployment coefficient remains positive and ranges from 0.00597 to 0.00656.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Development residuals fluctuate around zero without a persistent pattern. DW = 2.195, and Ljung-Box p-values equal 0.151 at lag 4 and 0.249 at lag 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E603C-AD33-4FCC-9AFF-55A59FB3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957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Scenario Analysis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E79BCBBA-1E66-48CB-B910-540D3D669D0D}"/>
              </a:ext>
            </a:extLst>
          </p:cNvPr>
          <p:cNvGraphicFramePr/>
          <p:nvPr/>
        </p:nvGraphicFramePr>
        <p:xfrm>
          <a:off xmlns:a="http://schemas.openxmlformats.org/drawingml/2006/main" x="1047750" y="4019550"/>
          <a:ext xmlns:a="http://schemas.openxmlformats.org/drawingml/2006/main" cx="37147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d5e02277264434"/>
          </a:graphicData>
        </a:graphic>
      </p:graphicFrame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A77D4FCB-B4E2-4FE3-89F8-F74CC8FAD1D9}"/>
              </a:ext>
            </a:extLst>
          </p:cNvPr>
          <p:cNvGraphicFramePr/>
          <p:nvPr/>
        </p:nvGraphicFramePr>
        <p:xfrm>
          <a:off xmlns:a="http://schemas.openxmlformats.org/drawingml/2006/main" x="4953000" y="4019550"/>
          <a:ext xmlns:a="http://schemas.openxmlformats.org/drawingml/2006/main" cx="3476625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2c12261de3498c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25D7B-D78E-4144-AD30-36E4758F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0C80D-0957-4EBB-9E5E-A9238EB2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64FD3-AB49-4B20-A795-CAF9AC31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6250"/>
            <a:ext cx="2476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3594F-7D2F-4DFB-BA8F-6AF1979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2286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Both forecasts equal 55.4% in 1Q26 because the lag structure uses the same historical unemployment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S4 peaks at 58.0% in 4Q26 versus 56.1% under S1.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By 1Q28, S4 equals 57.3% and S1 equals 56.8%.</a:t>
            </a:r>
          </a:p>
        </p:txBody>
      </p:sp>
    </p:spTree>
    <p:extLst>
      <p:ext uri="{BB962C8B-B14F-4D97-AF65-F5344CB8AC3E}">
        <p14:creationId xmlns:p14="http://schemas.microsoft.com/office/powerpoint/2010/main" val="3075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AC0F19-E431-43CE-B124-B97FF54F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D2E20-9821-4873-B2FB-67EA595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C98B-40C3-47F1-A5CA-E6590237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Champion: Noncomp Efficiency Ratio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D0397-DC03-4087-83D3-19347016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39427-C739-4C89-804E-B16692E8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74F2B-F1C3-4F4D-A9F4-D8DB67A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9F897-162F-4517-A347-605144DD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239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13CBC-5B11-493C-A543-D00BDB51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525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92461-6A06-41D3-B452-77B6C252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1504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9A0E5-4AC5-426B-989B-3F4BED8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71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2EEBA-7123-49F4-8A67-AA576584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19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3C6C9-5D85-4308-925C-1B0E4904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097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Expense growth and revenue performance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Operating leverage and business mix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Labor-market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D0865-C4C6-4C18-9F7B-61FC2838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19325"/>
            <a:ext cx="15049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B0238-5C4A-4260-9C74-1A0B7CAC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19325"/>
            <a:ext cx="3714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EBCB3-63C5-4CE6-8E2A-680EA802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66950"/>
            <a:ext cx="133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AFFE1-5638-45DE-992D-0EAD3BD9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57425"/>
            <a:ext cx="3524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shifts after 2014 and remains persistent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Quarterly history is limited to 60 level observations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combines expense and income channels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Close macro alternatives complicate variable selection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715907C7-4A5E-40C2-882C-73C8CD347259}"/>
              </a:ext>
            </a:extLst>
          </p:cNvPr>
          <p:cNvGraphicFramePr/>
          <p:nvPr/>
        </p:nvGraphicFramePr>
        <p:xfrm>
          <a:off xmlns:a="http://schemas.openxmlformats.org/drawingml/2006/main" x="6981825" y="1238250"/>
          <a:ext xmlns:a="http://schemas.openxmlformats.org/drawingml/2006/main" cx="4048125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df20493d5b4509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5F89F-ACE3-434E-BD88-6ADFBE7B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173A3-CC9A-4462-925A-A25D2E0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242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Engineering Framework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9315B-A4A9-46B5-A257-0EBF2D2B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433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96F3B-FBAE-4752-AA9F-B456AA68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4332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683B4-847D-4A5F-A12E-2722665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909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22942-727D-49F8-A9B2-9743B86E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modeled in ratio levels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2017Q3 and 2017Q4 replaced by documented local averages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Macro series use quarterly differences or log changes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Every macro candidate is lagged one quarter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F4DB5-9C5F-43E3-B024-3BCF181D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71975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21EA6-44EF-4F3B-8561-22998470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71975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E8D9C-8C00-4911-99DB-539060D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960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13D7C-2922-4209-8145-12DFDF66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00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Base terms include the post-2014 indicator and EF lag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Forward selection uses a common 49-quarter sample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Trend removed after p = 0.1719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Final model uses lagged unemployment change with no pulse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00F97-D5EF-44EA-BC54-33EFD0E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14925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0952B-C150-48E9-A74A-9836E681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14925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B5C810-B281-4DC6-B15C-BD111B7F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162550"/>
            <a:ext cx="133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40A119-0D59-4D38-A3E0-7E5704C8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53025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Development sample has 49 observations and nine OOT quarters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Smoothing introduces judgment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GDP and output-gap alternatives show similar fit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cannot separate expense and income effects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Forecasts are conditional point estimates without probability ranges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884BDC-0702-426C-AA50-E63FC1E9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39A9D8-E0FC-4EDE-96FC-4912147D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Champion: Noncomp EF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F8E30F-9D14-452D-B68F-F0914C00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88E86A-1004-4BC9-AE39-89646D6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2924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5A355F-6DDD-4E05-A298-FA37580C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9095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EA88F1-236D-4829-ABF8-4B36982E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81425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D_t + 0.7383 EF_(t-1)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+ 0.00642 ΔU_(t-1) + ε_t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8A186-0335-4F65-AD0F-DE81B9CB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8147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6C4EE5-F75D-406D-878E-EC63C14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81475"/>
            <a:ext cx="2924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C1C1F4-AA93-4F54-B3D6-5A1858B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229100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4EF097-E50C-42A8-8E2C-0B05A11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19575"/>
            <a:ext cx="2733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D_t: post-2014 period indicator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one-quarter EF lag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lagged quarterly unemployment-rate change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65D645-89FA-45D5-85CA-4359F08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3392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674A24-5140-4DAE-9164-DD216F67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33925"/>
            <a:ext cx="2924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6A13DD-EB5A-4D6E-AADD-3D8B0240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815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BEDB41-6988-492B-BBC1-50FD5A32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72025"/>
            <a:ext cx="2733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R² = 0.8373    Adjusted R² = 0.8265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Fit RMSE = 0.0283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One-step OOT RMSE = 0.0278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Recursive OOT RMSE = 0.0373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A54AAD-F9DC-45CE-A82F-54227F5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00675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F99CFE-A5FC-4DB3-B8E6-F3BE112C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00675"/>
            <a:ext cx="29241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96F135-8BEB-4A3A-B5A4-FA5E347D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48300"/>
            <a:ext cx="1114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3C593B-46FF-42AB-A7D6-D1D4194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387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 = 2.195    JB p = 0.274    CUSUM p = 0.709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Ljung-Box p = 0.151 at lag 4 and 0.249 at lag 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Max VIF = 1.611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All coefficients are significant at 5%</a:t>
            </a:r>
          </a:p>
        </p:txBody>
      </p:sp>
    </p:spTree>
    <p:extLst>
      <p:ext uri="{BB962C8B-B14F-4D97-AF65-F5344CB8AC3E}">
        <p14:creationId xmlns:p14="http://schemas.microsoft.com/office/powerpoint/2010/main" val="1386808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2026-10-21T21:09:16.0120000Z</dcterms:created>
  <dcterms:modified xsi:type="dcterms:W3CDTF">2026-10-21T21:09:16.0120000Z</dcterms:modified>
</coreProperties>
</file>