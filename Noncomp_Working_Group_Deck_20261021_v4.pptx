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abce44d3be49ba" /><Relationship Type="http://schemas.openxmlformats.org/officeDocument/2006/relationships/extended-properties" Target="/docProps/app.xml" Id="R3c342742941b4000" /><Relationship Type="http://schemas.openxmlformats.org/officeDocument/2006/relationships/officeDocument" Target="/ppt/presentation.xml" Id="R368da356f3f84d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3d98824060414c"/>
  </p:sldMasterIdLst>
  <p:notesMasterIdLst>
    <p:notesMasterId xmlns:r="http://schemas.openxmlformats.org/officeDocument/2006/relationships" r:id="Rba7ddd5c661a4cbc"/>
  </p:notesMasterIdLst>
  <p:sldIdLst>
    <p:sldId xmlns:r="http://schemas.openxmlformats.org/officeDocument/2006/relationships" id="256" r:id="Re08771f3b89c4cd3"/>
    <p:sldId xmlns:r="http://schemas.openxmlformats.org/officeDocument/2006/relationships" id="257" r:id="Rf1a63e819a1b4e9c"/>
    <p:sldId xmlns:r="http://schemas.openxmlformats.org/officeDocument/2006/relationships" id="258" r:id="Ra70fa877dfce4a0c"/>
    <p:sldId xmlns:r="http://schemas.openxmlformats.org/officeDocument/2006/relationships" id="259" r:id="Raa10e76e75be4d97"/>
    <p:sldId xmlns:r="http://schemas.openxmlformats.org/officeDocument/2006/relationships" id="260" r:id="R247eb5cf365941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27b1d082b14c11" /><Relationship Type="http://schemas.openxmlformats.org/officeDocument/2006/relationships/slideMaster" Target="/ppt/slideMasters/slideMaster1.xml" Id="R813d98824060414c" /><Relationship Type="http://schemas.openxmlformats.org/officeDocument/2006/relationships/notesMaster" Target="/ppt/notesMasters/notesMaster1.xml" Id="Rba7ddd5c661a4cbc" /><Relationship Type="http://schemas.openxmlformats.org/officeDocument/2006/relationships/presProps" Target="/ppt/presProps.xml" Id="R8fedf66455a04b54" /><Relationship Type="http://schemas.openxmlformats.org/officeDocument/2006/relationships/tableStyles" Target="/ppt/tableStyles.xml" Id="R9b8460afc2b64640" /><Relationship Type="http://schemas.openxmlformats.org/officeDocument/2006/relationships/slide" Target="/ppt/slides/slide1.xml" Id="Re08771f3b89c4cd3" /><Relationship Type="http://schemas.openxmlformats.org/officeDocument/2006/relationships/slide" Target="/ppt/slides/slide2.xml" Id="Rf1a63e819a1b4e9c" /><Relationship Type="http://schemas.openxmlformats.org/officeDocument/2006/relationships/slide" Target="/ppt/slides/slide3.xml" Id="Ra70fa877dfce4a0c" /><Relationship Type="http://schemas.openxmlformats.org/officeDocument/2006/relationships/slide" Target="/ppt/slides/slide4.xml" Id="Raa10e76e75be4d97" /><Relationship Type="http://schemas.openxmlformats.org/officeDocument/2006/relationships/slide" Target="/ppt/slides/slide5.xml" Id="R247eb5cf365941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cc0da7725342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f4fb90aa6a42d0" /><Relationship Type="http://schemas.openxmlformats.org/officeDocument/2006/relationships/notesMaster" Target="/ppt/notesMasters/notesMaster1.xml" Id="R79e48dafe42c4d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924c0dc3a43c6" /><Relationship Type="http://schemas.openxmlformats.org/officeDocument/2006/relationships/notesMaster" Target="/ppt/notesMasters/notesMaster1.xml" Id="R201bd8810fa549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76775ab5f457f" /><Relationship Type="http://schemas.openxmlformats.org/officeDocument/2006/relationships/notesMaster" Target="/ppt/notesMasters/notesMaster1.xml" Id="Rf77a9517052d45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41dab85c04868" /><Relationship Type="http://schemas.openxmlformats.org/officeDocument/2006/relationships/notesMaster" Target="/ppt/notesMasters/notesMaster1.xml" Id="Ra76c5c4188de42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0b427933a145f2" /><Relationship Type="http://schemas.openxmlformats.org/officeDocument/2006/relationships/notesMaster" Target="/ppt/notesMasters/notesMaster1.xml" Id="R8508dea5bc8a4f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Noncomp EF model development materials dated October 19, 2026.</a:t>
            </a:r>
          </a:p>
          <a:p xmlns:a="http://schemas.openxmlformats.org/drawingml/2006/main">
            <a:r>
              <a:t>Purpose: Working group summary of development, validation, scenario forecasts, and champion model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Noncomp_EF_Model_Development_Documentation_EN_20261019_v2.docx, Sections 1, 4, 5, 7, and 9.</a:t>
            </a:r>
          </a:p>
          <a:p xmlns:a="http://schemas.openxmlformats.org/drawingml/2006/main">
            <a:r>
              <a:t>Noncomp_EF_Code_and_Data_20261019.zip, README.md and reference_outputs/run_summary.csv.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reference_outputs/coefficients_final_development.csv</a:t>
            </a:r>
          </a:p>
          <a:p xmlns:a="http://schemas.openxmlformats.org/drawingml/2006/main">
            <a:r>
              <a:t>reference_outputs/fit_statistics.csv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reference_outputs/fitted_values_development.csv</a:t>
            </a:r>
          </a:p>
          <a:p xmlns:a="http://schemas.openxmlformats.org/drawingml/2006/main">
            <a:r>
              <a:t>reference_outputs/oot_forecasts.csv and oot_metrics.csv</a:t>
            </a:r>
          </a:p>
          <a:p xmlns:a="http://schemas.openxmlformats.org/drawingml/2006/main">
            <a:r>
              <a:t>Chart values convert EF ratios to percentage points for display.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reference_outputs/historical_data_and_features.csv</a:t>
            </a:r>
          </a:p>
          <a:p xmlns:a="http://schemas.openxmlformats.org/drawingml/2006/main">
            <a:r>
              <a:t>reference_outputs/oot_forecasts.csv and oot_metrics.csv</a:t>
            </a:r>
          </a:p>
          <a:p xmlns:a="http://schemas.openxmlformats.org/drawingml/2006/main">
            <a:r>
              <a:t>reference_outputs/scenario_macro_paths.csv</a:t>
            </a:r>
          </a:p>
          <a:p xmlns:a="http://schemas.openxmlformats.org/drawingml/2006/main">
            <a:r>
              <a:t>reference_outputs/scenario_ef_forecasts.csv</a:t>
            </a:r>
          </a:p>
          <a:p xmlns:a="http://schemas.openxmlformats.org/drawingml/2006/main">
            <a:r>
              <a:t>Rolling stability uses ten overlapping 40-quarter windows ending from 2021Q2 through 2023Q3.</a:t>
            </a:r>
          </a:p>
          <a:p xmlns:a="http://schemas.openxmlformats.org/drawingml/2006/main">
            <a:r>
              <a:t>The rolling chart displays the unemployment coefficient in actual coefficient units. The dashed line is the development-model estimate of 0.0064167.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reference_outputs/historical_data_and_features.csv</a:t>
            </a:r>
          </a:p>
          <a:p xmlns:a="http://schemas.openxmlformats.org/drawingml/2006/main">
            <a:r>
              <a:t>reference_outputs/coefficients_final_development.csv</a:t>
            </a:r>
          </a:p>
          <a:p xmlns:a="http://schemas.openxmlformats.org/drawingml/2006/main">
            <a:r>
              <a:t>reference_outputs/fit_statistics.csv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reference_outputs/oot_metrics.csv</a:t>
            </a:r>
          </a:p>
          <a:p xmlns:a="http://schemas.openxmlformats.org/drawingml/2006/main">
            <a:r>
              <a:t>Noncomp Efficiency Ratio Model Development Document, sections 4 through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c41b1cb094c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f97498c2a4d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c6c791c2545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a37fe442b49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ef1ae8f2e4c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a4793624c4e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97D96A-EBDA-46E3-93F5-96BA82E0B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E0AFDF-DE6F-43C2-B3F8-E64E1F0CBA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34BECB-A972-4B50-A788-756C1ADFAD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4E2DFE-FF04-48BD-85FC-69342C5B0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BB3A4B-6086-4660-9C02-BFBD6930A4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C52F78-909C-4D72-87EC-B68D90B9E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006D50-4195-4A18-91A7-C2A6AA82F1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EC3A53-B89A-46E9-ABD0-A9AFC16293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AA7B53-5F24-445C-B7C6-0C5177AFB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D7D1B0-F6AC-4A19-B210-AB28D8714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5259e2b97b4396" /><Relationship Type="http://schemas.openxmlformats.org/officeDocument/2006/relationships/slideLayout" Target="/ppt/slideLayouts/slideLayout1.xml" Id="R3bcde863796a449d" /><Relationship Type="http://schemas.openxmlformats.org/officeDocument/2006/relationships/slideLayout" Target="/ppt/slideLayouts/slideLayout2.xml" Id="Rd4c8e6932b984f08" /><Relationship Type="http://schemas.openxmlformats.org/officeDocument/2006/relationships/slideLayout" Target="/ppt/slideLayouts/slideLayout3.xml" Id="R13f8be99398c4062" /><Relationship Type="http://schemas.openxmlformats.org/officeDocument/2006/relationships/slideLayout" Target="/ppt/slideLayouts/slideLayout4.xml" Id="Ra692763ebf504913" /><Relationship Type="http://schemas.openxmlformats.org/officeDocument/2006/relationships/slideLayout" Target="/ppt/slideLayouts/slideLayout5.xml" Id="Rdf29800dd2f641d9" /><Relationship Type="http://schemas.openxmlformats.org/officeDocument/2006/relationships/slideLayout" Target="/ppt/slideLayouts/slideLayout6.xml" Id="R15b24c73496e42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cde863796a449d"/>
    <p:sldLayoutId xmlns:r="http://schemas.openxmlformats.org/officeDocument/2006/relationships" id="2147483650" r:id="Rd4c8e6932b984f08"/>
    <p:sldLayoutId xmlns:r="http://schemas.openxmlformats.org/officeDocument/2006/relationships" id="2147483651" r:id="R13f8be99398c4062"/>
    <p:sldLayoutId xmlns:r="http://schemas.openxmlformats.org/officeDocument/2006/relationships" id="2147483652" r:id="Ra692763ebf504913"/>
    <p:sldLayoutId xmlns:r="http://schemas.openxmlformats.org/officeDocument/2006/relationships" id="2147483653" r:id="Rdf29800dd2f641d9"/>
    <p:sldLayoutId xmlns:r="http://schemas.openxmlformats.org/officeDocument/2006/relationships" id="2147483654" r:id="R15b24c73496e42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4ea0abd354e82" /><Relationship Type="http://schemas.openxmlformats.org/officeDocument/2006/relationships/notesSlide" Target="/ppt/notesSlides/notesSlide1.xml" Id="R592e778ced974b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ac8f479f04a73" /><Relationship Type="http://schemas.openxmlformats.org/officeDocument/2006/relationships/notesSlide" Target="/ppt/notesSlides/notesSlide2.xml" Id="R49bd7c907ad94b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08350d62540b4" /><Relationship Type="http://schemas.openxmlformats.org/officeDocument/2006/relationships/chart" Target="/ppt/slides/charts/chart1.xml" Id="Rbad180c9845440c5" /><Relationship Type="http://schemas.openxmlformats.org/officeDocument/2006/relationships/chart" Target="/ppt/slides/charts/chart2.xml" Id="Re87d67b906784253" /><Relationship Type="http://schemas.openxmlformats.org/officeDocument/2006/relationships/notesSlide" Target="/ppt/notesSlides/notesSlide3.xml" Id="R4a8145744a834e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f58933a594b4c" /><Relationship Type="http://schemas.openxmlformats.org/officeDocument/2006/relationships/chart" Target="/ppt/slides/charts/chart3.xml" Id="R51af3611ade74e94" /><Relationship Type="http://schemas.openxmlformats.org/officeDocument/2006/relationships/chart" Target="/ppt/slides/charts/chart4.xml" Id="R524db3578ef94929" /><Relationship Type="http://schemas.openxmlformats.org/officeDocument/2006/relationships/chart" Target="/ppt/slides/charts/chart5.xml" Id="R7bb8f664dd004b9c" /><Relationship Type="http://schemas.openxmlformats.org/officeDocument/2006/relationships/chart" Target="/ppt/slides/charts/chart6.xml" Id="R86012738c9d84dba" /><Relationship Type="http://schemas.openxmlformats.org/officeDocument/2006/relationships/notesSlide" Target="/ppt/notesSlides/notesSlide4.xml" Id="R9a7e669d01544d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be39c893345cc" /><Relationship Type="http://schemas.openxmlformats.org/officeDocument/2006/relationships/chart" Target="/ppt/slides/charts/chart7.xml" Id="Rac9408f322844145" /><Relationship Type="http://schemas.openxmlformats.org/officeDocument/2006/relationships/notesSlide" Target="/ppt/notesSlides/notesSlide5.xml" Id="R9c1945530c55451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Development Sample: Actual vs Fitted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Actual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Data'!$B$2:$B$50</c:f>
              <c:numCache>
                <c:formatCode>0.0</c:formatCode>
                <c:ptCount val="49"/>
                <c:pt idx="0">
                  <c:v>63.1</c:v>
                </c:pt>
                <c:pt idx="1">
                  <c:v>66.8</c:v>
                </c:pt>
                <c:pt idx="2">
                  <c:v>66.5</c:v>
                </c:pt>
                <c:pt idx="3">
                  <c:v>67.9</c:v>
                </c:pt>
                <c:pt idx="4">
                  <c:v>65.2</c:v>
                </c:pt>
                <c:pt idx="5">
                  <c:v>67.6</c:v>
                </c:pt>
                <c:pt idx="6">
                  <c:v>78.2</c:v>
                </c:pt>
                <c:pt idx="7">
                  <c:v>77.8</c:v>
                </c:pt>
                <c:pt idx="8">
                  <c:v>77.6</c:v>
                </c:pt>
                <c:pt idx="9">
                  <c:v>75.2</c:v>
                </c:pt>
                <c:pt idx="10">
                  <c:v>67.6</c:v>
                </c:pt>
                <c:pt idx="11">
                  <c:v>65.9</c:v>
                </c:pt>
                <c:pt idx="12">
                  <c:v>66.7</c:v>
                </c:pt>
                <c:pt idx="13">
                  <c:v>64.6</c:v>
                </c:pt>
                <c:pt idx="14">
                  <c:v>62.1</c:v>
                </c:pt>
                <c:pt idx="15">
                  <c:v>62.1</c:v>
                </c:pt>
                <c:pt idx="16">
                  <c:v>60.7</c:v>
                </c:pt>
                <c:pt idx="17">
                  <c:v>62.1</c:v>
                </c:pt>
                <c:pt idx="18">
                  <c:v>65.1</c:v>
                </c:pt>
                <c:pt idx="19">
                  <c:v>63.6</c:v>
                </c:pt>
                <c:pt idx="20">
                  <c:v>61.2</c:v>
                </c:pt>
                <c:pt idx="21">
                  <c:v>62.4</c:v>
                </c:pt>
                <c:pt idx="22">
                  <c:v>63.5</c:v>
                </c:pt>
                <c:pt idx="23">
                  <c:v>58.8</c:v>
                </c:pt>
                <c:pt idx="24">
                  <c:v>58.6</c:v>
                </c:pt>
                <c:pt idx="25">
                  <c:v>57.966667</c:v>
                </c:pt>
                <c:pt idx="26">
                  <c:v>56.9</c:v>
                </c:pt>
                <c:pt idx="27">
                  <c:v>56.2</c:v>
                </c:pt>
                <c:pt idx="28">
                  <c:v>59.7</c:v>
                </c:pt>
                <c:pt idx="29">
                  <c:v>56.5</c:v>
                </c:pt>
                <c:pt idx="30">
                  <c:v>60.7</c:v>
                </c:pt>
                <c:pt idx="31">
                  <c:v>53</c:v>
                </c:pt>
                <c:pt idx="32">
                  <c:v>54.8</c:v>
                </c:pt>
                <c:pt idx="33">
                  <c:v>52.3</c:v>
                </c:pt>
                <c:pt idx="34">
                  <c:v>57.7</c:v>
                </c:pt>
                <c:pt idx="35">
                  <c:v>58</c:v>
                </c:pt>
                <c:pt idx="36">
                  <c:v>63.4</c:v>
                </c:pt>
                <c:pt idx="37">
                  <c:v>60</c:v>
                </c:pt>
                <c:pt idx="38">
                  <c:v>54.1</c:v>
                </c:pt>
                <c:pt idx="39">
                  <c:v>54.6</c:v>
                </c:pt>
                <c:pt idx="40">
                  <c:v>52.6</c:v>
                </c:pt>
                <c:pt idx="41">
                  <c:v>57</c:v>
                </c:pt>
                <c:pt idx="42">
                  <c:v>53.6</c:v>
                </c:pt>
                <c:pt idx="43">
                  <c:v>52.8</c:v>
                </c:pt>
                <c:pt idx="44">
                  <c:v>49.5</c:v>
                </c:pt>
                <c:pt idx="45">
                  <c:v>50.5</c:v>
                </c:pt>
                <c:pt idx="46">
                  <c:v>49.2</c:v>
                </c:pt>
                <c:pt idx="47">
                  <c:v>53.1</c:v>
                </c:pt>
                <c:pt idx="48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v>Fitted EF</c:v>
          </c:tx>
          <c:spPr>
            <a:ln xmlns:a="http://schemas.openxmlformats.org/drawingml/2006/main" w="20955">
              <a:solidFill>
                <a:srgbClr val="C55A11"/>
              </a:solidFill>
              <a:prstDash val="solid"/>
            </a:ln>
          </c:spPr>
          <c:marker>
            <c:symbol val="none"/>
          </c:marker>
          <c:cat>
            <c:strRef>
              <c:f>'Chart Data'!$C$2:$C$50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Data'!$D$2:$D$50</c:f>
              <c:numCache>
                <c:formatCode>0.0</c:formatCode>
                <c:ptCount val="49"/>
                <c:pt idx="0">
                  <c:v>67.020665</c:v>
                </c:pt>
                <c:pt idx="1">
                  <c:v>65.922891</c:v>
                </c:pt>
                <c:pt idx="2">
                  <c:v>68.462069</c:v>
                </c:pt>
                <c:pt idx="3">
                  <c:v>68.240582</c:v>
                </c:pt>
                <c:pt idx="4">
                  <c:v>69.46669</c:v>
                </c:pt>
                <c:pt idx="5">
                  <c:v>67.409136</c:v>
                </c:pt>
                <c:pt idx="6">
                  <c:v>69.138258</c:v>
                </c:pt>
                <c:pt idx="7">
                  <c:v>77.071092</c:v>
                </c:pt>
                <c:pt idx="8">
                  <c:v>76.69022</c:v>
                </c:pt>
                <c:pt idx="9">
                  <c:v>76.478395</c:v>
                </c:pt>
                <c:pt idx="10">
                  <c:v>70.34316</c:v>
                </c:pt>
                <c:pt idx="11">
                  <c:v>64.753534</c:v>
                </c:pt>
                <c:pt idx="12">
                  <c:v>63.370105</c:v>
                </c:pt>
                <c:pt idx="13">
                  <c:v>64.174627</c:v>
                </c:pt>
                <c:pt idx="14">
                  <c:v>62.474492</c:v>
                </c:pt>
                <c:pt idx="15">
                  <c:v>60.757097</c:v>
                </c:pt>
                <c:pt idx="16">
                  <c:v>60.799875</c:v>
                </c:pt>
                <c:pt idx="17">
                  <c:v>59.616544</c:v>
                </c:pt>
                <c:pt idx="18">
                  <c:v>60.821264</c:v>
                </c:pt>
                <c:pt idx="19">
                  <c:v>62.99336</c:v>
                </c:pt>
                <c:pt idx="20">
                  <c:v>61.992867</c:v>
                </c:pt>
                <c:pt idx="21">
                  <c:v>60.17819</c:v>
                </c:pt>
                <c:pt idx="22">
                  <c:v>60.999973</c:v>
                </c:pt>
                <c:pt idx="23">
                  <c:v>61.769316</c:v>
                </c:pt>
                <c:pt idx="24">
                  <c:v>58.299346</c:v>
                </c:pt>
                <c:pt idx="25">
                  <c:v>58.258632</c:v>
                </c:pt>
                <c:pt idx="26">
                  <c:v>57.705492</c:v>
                </c:pt>
                <c:pt idx="27">
                  <c:v>56.93937</c:v>
                </c:pt>
                <c:pt idx="28">
                  <c:v>56.443955</c:v>
                </c:pt>
                <c:pt idx="29">
                  <c:v>58.985197</c:v>
                </c:pt>
                <c:pt idx="30">
                  <c:v>56.772387</c:v>
                </c:pt>
                <c:pt idx="31">
                  <c:v>59.851822</c:v>
                </c:pt>
                <c:pt idx="32">
                  <c:v>53.995866</c:v>
                </c:pt>
                <c:pt idx="33">
                  <c:v>55.453124</c:v>
                </c:pt>
                <c:pt idx="34">
                  <c:v>53.628784</c:v>
                </c:pt>
                <c:pt idx="35">
                  <c:v>57.765281</c:v>
                </c:pt>
                <c:pt idx="36">
                  <c:v>63.718986</c:v>
                </c:pt>
                <c:pt idx="37">
                  <c:v>59.128822</c:v>
                </c:pt>
                <c:pt idx="38">
                  <c:v>58.008908</c:v>
                </c:pt>
                <c:pt idx="39">
                  <c:v>54.615487</c:v>
                </c:pt>
                <c:pt idx="40">
                  <c:v>55.134355</c:v>
                </c:pt>
                <c:pt idx="41">
                  <c:v>53.294161</c:v>
                </c:pt>
                <c:pt idx="42">
                  <c:v>56.521255</c:v>
                </c:pt>
                <c:pt idx="43">
                  <c:v>54.396064</c:v>
                </c:pt>
                <c:pt idx="44">
                  <c:v>53.848208</c:v>
                </c:pt>
                <c:pt idx="45">
                  <c:v>51.497402</c:v>
                </c:pt>
                <c:pt idx="46">
                  <c:v>52.321249</c:v>
                </c:pt>
                <c:pt idx="47">
                  <c:v>51.318692</c:v>
                </c:pt>
                <c:pt idx="48">
                  <c:v>54.219418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2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2023Q4-2025Q4 Validation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Actual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61.7</c:v>
                </c:pt>
                <c:pt idx="1">
                  <c:v>59.3</c:v>
                </c:pt>
                <c:pt idx="2">
                  <c:v>53.1</c:v>
                </c:pt>
                <c:pt idx="3">
                  <c:v>54.9</c:v>
                </c:pt>
                <c:pt idx="4">
                  <c:v>52.7</c:v>
                </c:pt>
                <c:pt idx="5">
                  <c:v>53.4</c:v>
                </c:pt>
                <c:pt idx="6">
                  <c:v>52.6</c:v>
                </c:pt>
                <c:pt idx="7">
                  <c:v>56.1</c:v>
                </c:pt>
                <c:pt idx="8">
                  <c:v>54.8</c:v>
                </c:pt>
              </c:numCache>
            </c:numRef>
          </c:val>
          <c:smooth val="0"/>
        </c:ser>
        <c:ser>
          <c:idx val="1"/>
          <c:order val="1"/>
          <c:tx>
            <c:v>One-step</c:v>
          </c:tx>
          <c:spPr>
            <a:ln xmlns:a="http://schemas.openxmlformats.org/drawingml/2006/main" w="20955">
              <a:solidFill>
                <a:srgbClr val="C55A11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55A11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57.901213</c:v>
                </c:pt>
                <c:pt idx="1">
                  <c:v>60.675669</c:v>
                </c:pt>
                <c:pt idx="2">
                  <c:v>58.818214</c:v>
                </c:pt>
                <c:pt idx="3">
                  <c:v>54.304973</c:v>
                </c:pt>
                <c:pt idx="4">
                  <c:v>55.676676</c:v>
                </c:pt>
                <c:pt idx="5">
                  <c:v>53.902712</c:v>
                </c:pt>
                <c:pt idx="6">
                  <c:v>54.440905</c:v>
                </c:pt>
                <c:pt idx="7">
                  <c:v>53.89305</c:v>
                </c:pt>
                <c:pt idx="8">
                  <c:v>56.519848</c:v>
                </c:pt>
              </c:numCache>
            </c:numRef>
          </c:val>
          <c:smooth val="0"/>
        </c:ser>
        <c:ser>
          <c:idx val="2"/>
          <c:order val="2"/>
          <c:tx>
            <c:v>Recursive</c:v>
          </c:tx>
          <c:spPr>
            <a:ln xmlns:a="http://schemas.openxmlformats.org/drawingml/2006/main" w="20955">
              <a:solidFill>
                <a:srgbClr val="548235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548235"/>
              </a:solidFill>
            </c:spPr>
          </c:marker>
          <c:cat>
            <c:strRef>
              <c:f>'Chart Data'!$E$2:$E$10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Data'!$F$2:$F$10</c:f>
              <c:numCache>
                <c:formatCode>0.0</c:formatCode>
                <c:ptCount val="9"/>
                <c:pt idx="0">
                  <c:v>57.901213</c:v>
                </c:pt>
                <c:pt idx="1">
                  <c:v>57.871057</c:v>
                </c:pt>
                <c:pt idx="2">
                  <c:v>57.763237</c:v>
                </c:pt>
                <c:pt idx="3">
                  <c:v>57.747802</c:v>
                </c:pt>
                <c:pt idx="4">
                  <c:v>57.779183</c:v>
                </c:pt>
                <c:pt idx="5">
                  <c:v>57.65263</c:v>
                </c:pt>
                <c:pt idx="6">
                  <c:v>57.580586</c:v>
                </c:pt>
                <c:pt idx="7">
                  <c:v>57.570174</c:v>
                </c:pt>
                <c:pt idx="8">
                  <c:v>57.605265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4"/>
          <c:min val="4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40-Quarter Rolling Unemployment Coefficient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Unemployment</c:v>
          </c:tx>
          <c:spPr>
            <a:ln xmlns:a="http://schemas.openxmlformats.org/drawingml/2006/main" w="23813">
              <a:solidFill>
                <a:srgbClr val="548235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548235"/>
              </a:solidFill>
            </c:spPr>
          </c:marker>
          <c:cat>
            <c:strRef>
              <c:f>'Chart Data'!$A$2:$A$11</c:f>
              <c:strCache>
                <c:ptCount val="10"/>
                <c:pt idx="0">
                  <c:v>2021Q2</c:v>
                </c:pt>
                <c:pt idx="1">
                  <c:v>​​</c:v>
                </c:pt>
                <c:pt idx="2">
                  <c:v>​​​</c:v>
                </c:pt>
                <c:pt idx="3">
                  <c:v>2022Q1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2023Q1</c:v>
                </c:pt>
                <c:pt idx="8">
                  <c:v>​​​​​​​​​</c:v>
                </c:pt>
                <c:pt idx="9">
                  <c:v>2023Q3</c:v>
                </c:pt>
              </c:strCache>
            </c:strRef>
          </c:cat>
          <c:val>
            <c:numRef>
              <c:f>'Chart Data'!$B$2:$B$11</c:f>
              <c:numCache>
                <c:formatCode>0.0000</c:formatCode>
                <c:ptCount val="10"/>
                <c:pt idx="0">
                  <c:v>0.006142</c:v>
                </c:pt>
                <c:pt idx="1">
                  <c:v>0.006288</c:v>
                </c:pt>
                <c:pt idx="2">
                  <c:v>0.005974</c:v>
                </c:pt>
                <c:pt idx="3">
                  <c:v>0.006184</c:v>
                </c:pt>
                <c:pt idx="4">
                  <c:v>0.006215</c:v>
                </c:pt>
                <c:pt idx="5">
                  <c:v>0.006349</c:v>
                </c:pt>
                <c:pt idx="6">
                  <c:v>0.006339</c:v>
                </c:pt>
                <c:pt idx="7">
                  <c:v>0.006563</c:v>
                </c:pt>
                <c:pt idx="8">
                  <c:v>0.006514</c:v>
                </c:pt>
                <c:pt idx="9">
                  <c:v>0.006485</c:v>
                </c:pt>
              </c:numCache>
            </c:numRef>
          </c:val>
          <c:smooth val="0"/>
        </c:ser>
        <c:ser>
          <c:idx val="1"/>
          <c:order val="1"/>
          <c:tx>
            <c:v>Full model</c:v>
          </c:tx>
          <c:spPr>
            <a:ln xmlns:a="http://schemas.openxmlformats.org/drawingml/2006/main" w="11430">
              <a:solidFill>
                <a:srgbClr val="A6A6A6"/>
              </a:solidFill>
              <a:prstDash val="dash"/>
            </a:ln>
          </c:spPr>
          <c:marker>
            <c:symbol val="circle"/>
            <c:size val="4"/>
            <c:spPr>
              <a:solidFill xmlns:a="http://schemas.openxmlformats.org/drawingml/2006/main">
                <a:srgbClr val="A6A6A6"/>
              </a:solidFill>
            </c:spPr>
          </c:marker>
          <c:cat>
            <c:strRef>
              <c:f>'Chart Data'!$C$2:$C$11</c:f>
              <c:strCache>
                <c:ptCount val="10"/>
                <c:pt idx="0">
                  <c:v>2021Q2</c:v>
                </c:pt>
                <c:pt idx="1">
                  <c:v>​​</c:v>
                </c:pt>
                <c:pt idx="2">
                  <c:v>​​​</c:v>
                </c:pt>
                <c:pt idx="3">
                  <c:v>2022Q1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2023Q1</c:v>
                </c:pt>
                <c:pt idx="8">
                  <c:v>​​​​​​​​​</c:v>
                </c:pt>
                <c:pt idx="9">
                  <c:v>2023Q3</c:v>
                </c:pt>
              </c:strCache>
            </c:strRef>
          </c:cat>
          <c:val>
            <c:numRef>
              <c:f>'Chart Data'!$D$2:$D$11</c:f>
              <c:numCache>
                <c:formatCode>0.0000</c:formatCode>
                <c:ptCount val="10"/>
                <c:pt idx="0">
                  <c:v>0.006417</c:v>
                </c:pt>
                <c:pt idx="1">
                  <c:v>0.006417</c:v>
                </c:pt>
                <c:pt idx="2">
                  <c:v>0.006417</c:v>
                </c:pt>
                <c:pt idx="3">
                  <c:v>0.006417</c:v>
                </c:pt>
                <c:pt idx="4">
                  <c:v>0.006417</c:v>
                </c:pt>
                <c:pt idx="5">
                  <c:v>0.006417</c:v>
                </c:pt>
                <c:pt idx="6">
                  <c:v>0.006417</c:v>
                </c:pt>
                <c:pt idx="7">
                  <c:v>0.006417</c:v>
                </c:pt>
                <c:pt idx="8">
                  <c:v>0.006417</c:v>
                </c:pt>
                <c:pt idx="9">
                  <c:v>0.006417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068"/>
          <c:min val="0.00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0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One-Step OOT Error (Actual - Forecast)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Error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3.798787</c:v>
                </c:pt>
                <c:pt idx="1">
                  <c:v>-1.375669</c:v>
                </c:pt>
                <c:pt idx="2">
                  <c:v>-5.718214</c:v>
                </c:pt>
                <c:pt idx="3">
                  <c:v>0.595027</c:v>
                </c:pt>
                <c:pt idx="4">
                  <c:v>-2.976676</c:v>
                </c:pt>
                <c:pt idx="5">
                  <c:v>-0.502712</c:v>
                </c:pt>
                <c:pt idx="6">
                  <c:v>-1.840905</c:v>
                </c:pt>
                <c:pt idx="7">
                  <c:v>2.20695</c:v>
                </c:pt>
                <c:pt idx="8">
                  <c:v>-1.719848</c:v>
                </c:pt>
              </c:numCache>
            </c:numRef>
          </c:val>
          <c:smooth val="0"/>
        </c:ser>
        <c:ser>
          <c:idx val="1"/>
          <c:order val="1"/>
          <c:tx>
            <c:v>Zero</c:v>
          </c:tx>
          <c:spPr>
            <a:ln xmlns:a="http://schemas.openxmlformats.org/drawingml/2006/main" w="11430">
              <a:solidFill>
                <a:srgbClr val="A6A6A6"/>
              </a:solidFill>
              <a:prstDash val="dash"/>
            </a:ln>
          </c:spPr>
          <c:marker>
            <c:symbol val="circle"/>
            <c:size val="4"/>
            <c:spPr>
              <a:solidFill xmlns:a="http://schemas.openxmlformats.org/drawingml/2006/main">
                <a:srgbClr val="A6A6A6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-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Unemployment Scenario Paths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S1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4.333333</c:v>
                </c:pt>
                <c:pt idx="1">
                  <c:v>4.266667</c:v>
                </c:pt>
                <c:pt idx="2">
                  <c:v>4.17</c:v>
                </c:pt>
                <c:pt idx="3">
                  <c:v>4.303333</c:v>
                </c:pt>
                <c:pt idx="4">
                  <c:v>4.513333</c:v>
                </c:pt>
                <c:pt idx="5">
                  <c:v>4.623333</c:v>
                </c:pt>
                <c:pt idx="6">
                  <c:v>4.703333</c:v>
                </c:pt>
                <c:pt idx="7">
                  <c:v>4.71</c:v>
                </c:pt>
                <c:pt idx="8">
                  <c:v>4.68</c:v>
                </c:pt>
              </c:numCache>
            </c:numRef>
          </c:val>
          <c:smooth val="0"/>
        </c:ser>
        <c:ser>
          <c:idx val="1"/>
          <c:order val="1"/>
          <c:tx>
            <c:v>S4</c:v>
          </c:tx>
          <c:spPr>
            <a:ln xmlns:a="http://schemas.openxmlformats.org/drawingml/2006/main" w="20955">
              <a:solidFill>
                <a:srgbClr val="C0504D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0504D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6.565449</c:v>
                </c:pt>
                <c:pt idx="1">
                  <c:v>7.899902</c:v>
                </c:pt>
                <c:pt idx="2">
                  <c:v>8.566341</c:v>
                </c:pt>
                <c:pt idx="3">
                  <c:v>8.936377</c:v>
                </c:pt>
                <c:pt idx="4">
                  <c:v>9.191204</c:v>
                </c:pt>
                <c:pt idx="5">
                  <c:v>9.358607</c:v>
                </c:pt>
                <c:pt idx="6">
                  <c:v>9.428866</c:v>
                </c:pt>
                <c:pt idx="7">
                  <c:v>9.455956</c:v>
                </c:pt>
                <c:pt idx="8">
                  <c:v>9.427875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Conditional EF Forecasts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S1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55.395293</c:v>
                </c:pt>
                <c:pt idx="1">
                  <c:v>55.686349</c:v>
                </c:pt>
                <c:pt idx="2">
                  <c:v>55.932595</c:v>
                </c:pt>
                <c:pt idx="3">
                  <c:v>56.095133</c:v>
                </c:pt>
                <c:pt idx="4">
                  <c:v>56.360137</c:v>
                </c:pt>
                <c:pt idx="5">
                  <c:v>56.603847</c:v>
                </c:pt>
                <c:pt idx="6">
                  <c:v>56.720319</c:v>
                </c:pt>
                <c:pt idx="7">
                  <c:v>56.787217</c:v>
                </c:pt>
                <c:pt idx="8">
                  <c:v>56.790219</c:v>
                </c:pt>
              </c:numCache>
            </c:numRef>
          </c:val>
          <c:smooth val="0"/>
        </c:ser>
        <c:ser>
          <c:idx val="1"/>
          <c:order val="1"/>
          <c:tx>
            <c:v>S4 EF</c:v>
          </c:tx>
          <c:spPr>
            <a:ln xmlns:a="http://schemas.openxmlformats.org/drawingml/2006/main" w="20955">
              <a:solidFill>
                <a:srgbClr val="C0504D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0504D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55.395293</c:v>
                </c:pt>
                <c:pt idx="1">
                  <c:v>57.09565</c:v>
                </c:pt>
                <c:pt idx="2">
                  <c:v>57.85586</c:v>
                </c:pt>
                <c:pt idx="3">
                  <c:v>57.994356</c:v>
                </c:pt>
                <c:pt idx="4">
                  <c:v>57.909284</c:v>
                </c:pt>
                <c:pt idx="5">
                  <c:v>57.773848</c:v>
                </c:pt>
                <c:pt idx="6">
                  <c:v>57.618836</c:v>
                </c:pt>
                <c:pt idx="7">
                  <c:v>57.44326</c:v>
                </c:pt>
                <c:pt idx="8">
                  <c:v>57.286607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9"/>
          <c:min val="5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Noncomp Efficiency Ratio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Historical EF</c:v>
          </c:tx>
          <c:spPr>
            <a:ln xmlns:a="http://schemas.openxmlformats.org/drawingml/2006/main"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Data'!$A$2:$A$61</c:f>
              <c:strCache>
                <c:ptCount val="60"/>
                <c:pt idx="0">
                  <c:v>2011</c:v>
                </c:pt>
                <c:pt idx="1">
                  <c:v>​​</c:v>
                </c:pt>
                <c:pt idx="2">
                  <c:v>​​​</c:v>
                </c:pt>
                <c:pt idx="3">
                  <c:v>​​​​</c:v>
                </c:pt>
                <c:pt idx="4">
                  <c:v>2012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​​​​​​​​</c:v>
                </c:pt>
                <c:pt idx="8">
                  <c:v>2013</c:v>
                </c:pt>
                <c:pt idx="9">
                  <c:v>​​​​​​​​​​</c:v>
                </c:pt>
                <c:pt idx="10">
                  <c:v>​​​​​​​​​​​</c:v>
                </c:pt>
                <c:pt idx="11">
                  <c:v>​​​​​​​​​​​​</c:v>
                </c:pt>
                <c:pt idx="12">
                  <c:v>2014</c:v>
                </c:pt>
                <c:pt idx="13">
                  <c:v>​​​​​​​​​​​​​​</c:v>
                </c:pt>
                <c:pt idx="14">
                  <c:v>​​​​​​​​​​​​​​​</c:v>
                </c:pt>
                <c:pt idx="15">
                  <c:v>​​​​​​​​​​​​​​​​</c:v>
                </c:pt>
                <c:pt idx="16">
                  <c:v>2015</c:v>
                </c:pt>
                <c:pt idx="17">
                  <c:v>​​​​​​​​​​​​​​​​​​</c:v>
                </c:pt>
                <c:pt idx="18">
                  <c:v>​​​​​​​​​​​​​​​​​​​</c:v>
                </c:pt>
                <c:pt idx="19">
                  <c:v>​​​​​​​​​​​​​​​​​​​​</c:v>
                </c:pt>
                <c:pt idx="20">
                  <c:v>2016</c:v>
                </c:pt>
                <c:pt idx="21">
                  <c:v>​​​​​​​​​​​​​​​​​​​​​​</c:v>
                </c:pt>
                <c:pt idx="22">
                  <c:v>​​​​​​​​​​​​​​​​​​​​​​​</c:v>
                </c:pt>
                <c:pt idx="23">
                  <c:v>​​​​​​​​​​​​​​​​​​​​​​​​</c:v>
                </c:pt>
                <c:pt idx="24">
                  <c:v>2017</c:v>
                </c:pt>
                <c:pt idx="25">
                  <c:v>​​​​​​​​​​​​​​​​​​​​​​​​​​</c:v>
                </c:pt>
                <c:pt idx="26">
                  <c:v>​​​​​​​​​​​​​​​​​​​​​​​​​​​</c:v>
                </c:pt>
                <c:pt idx="27">
                  <c:v>​​​​​​​​​​​​​​​​​​​​​​​​​​​​</c:v>
                </c:pt>
                <c:pt idx="28">
                  <c:v>2018</c:v>
                </c:pt>
                <c:pt idx="29">
                  <c:v>​​​​​​​​​​​​​​​​​​​​​​​​​​​​​​</c:v>
                </c:pt>
                <c:pt idx="30">
                  <c:v>​​​​​​​​​​​​​​​​​​​​​​​​​​​​​​​</c:v>
                </c:pt>
                <c:pt idx="31">
                  <c:v>​​​​​​​​​​​​​​​​​​​​​​​​​​​​​​​​</c:v>
                </c:pt>
                <c:pt idx="32">
                  <c:v>2019</c:v>
                </c:pt>
                <c:pt idx="33">
                  <c:v>​​​​​​​​​​​​​​​​​​​​​​​​​​​​​​​​​​</c:v>
                </c:pt>
                <c:pt idx="34">
                  <c:v>​​​​​​​​​​​​​​​​​​​​​​​​​​​​​​​​​​​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2020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​​​​​​​​​​​​​​​​​​​​​​​​​​​​​​​​​​​​​​​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2021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​​​​​​​​​​​​​​​​​​​​​​​​​​​​​​​​​​​​​​​​​​​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2022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​​​​​​​​​​​​​​​​​​​​​​​​​​​​​​​​​​​​​​​​​​​​​​​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</c:v>
                </c:pt>
                <c:pt idx="49">
                  <c:v>​​​​​​​​​​​​​​​​​​​​​​​​​​​​​​​​​​​​​​​​​​​​​​​​​​</c:v>
                </c:pt>
                <c:pt idx="50">
                  <c:v>​​​​​​​​​​​​​​​​​​​​​​​​​​​​​​​​​​​​​​​​​​​​​​​​​​​</c:v>
                </c:pt>
                <c:pt idx="51">
                  <c:v>​​​​​​​​​​​​​​​​​​​​​​​​​​​​​​​​​​​​​​​​​​​​​​​​​​​​</c:v>
                </c:pt>
                <c:pt idx="52">
                  <c:v>2024</c:v>
                </c:pt>
                <c:pt idx="53">
                  <c:v>​​​​​​​​​​​​​​​​​​​​​​​​​​​​​​​​​​​​​​​​​​​​​​​​​​​​​​</c:v>
                </c:pt>
                <c:pt idx="54">
                  <c:v>​​​​​​​​​​​​​​​​​​​​​​​​​​​​​​​​​​​​​​​​​​​​​​​​​​​​​​​</c:v>
                </c:pt>
                <c:pt idx="55">
                  <c:v>​​​​​​​​​​​​​​​​​​​​​​​​​​​​​​​​​​​​​​​​​​​​​​​​​​​​​​​​</c:v>
                </c:pt>
                <c:pt idx="56">
                  <c:v>2025</c:v>
                </c:pt>
                <c:pt idx="57">
                  <c:v>​​​​​​​​​​​​​​​​​​​​​​​​​​​​​​​​​​​​​​​​​​​​​​​​​​​​​​​​​​</c:v>
                </c:pt>
                <c:pt idx="58">
                  <c:v>​​​​​​​​​​​​​​​​​​​​​​​​​​​​​​​​​​​​​​​​​​​​​​​​​​​​​​​​​​​</c:v>
                </c:pt>
                <c:pt idx="59">
                  <c:v>2025Q4</c:v>
                </c:pt>
              </c:strCache>
            </c:strRef>
          </c:cat>
          <c:val>
            <c:numRef>
              <c:f>'Chart Data'!$B$2:$B$61</c:f>
              <c:numCache>
                <c:formatCode>0.0</c:formatCode>
                <c:ptCount val="60"/>
                <c:pt idx="0">
                  <c:v>63.9</c:v>
                </c:pt>
                <c:pt idx="1">
                  <c:v>64.5</c:v>
                </c:pt>
                <c:pt idx="2">
                  <c:v>63.1</c:v>
                </c:pt>
                <c:pt idx="3">
                  <c:v>66.8</c:v>
                </c:pt>
                <c:pt idx="4">
                  <c:v>66.5</c:v>
                </c:pt>
                <c:pt idx="5">
                  <c:v>67.9</c:v>
                </c:pt>
                <c:pt idx="6">
                  <c:v>65.2</c:v>
                </c:pt>
                <c:pt idx="7">
                  <c:v>67.6</c:v>
                </c:pt>
                <c:pt idx="8">
                  <c:v>78.2</c:v>
                </c:pt>
                <c:pt idx="9">
                  <c:v>77.8</c:v>
                </c:pt>
                <c:pt idx="10">
                  <c:v>77.6</c:v>
                </c:pt>
                <c:pt idx="11">
                  <c:v>75.2</c:v>
                </c:pt>
                <c:pt idx="12">
                  <c:v>67.6</c:v>
                </c:pt>
                <c:pt idx="13">
                  <c:v>65.9</c:v>
                </c:pt>
                <c:pt idx="14">
                  <c:v>66.7</c:v>
                </c:pt>
                <c:pt idx="15">
                  <c:v>64.6</c:v>
                </c:pt>
                <c:pt idx="16">
                  <c:v>62.1</c:v>
                </c:pt>
                <c:pt idx="17">
                  <c:v>62.1</c:v>
                </c:pt>
                <c:pt idx="18">
                  <c:v>60.7</c:v>
                </c:pt>
                <c:pt idx="19">
                  <c:v>62.1</c:v>
                </c:pt>
                <c:pt idx="20">
                  <c:v>65.1</c:v>
                </c:pt>
                <c:pt idx="21">
                  <c:v>63.6</c:v>
                </c:pt>
                <c:pt idx="22">
                  <c:v>61.2</c:v>
                </c:pt>
                <c:pt idx="23">
                  <c:v>62.4</c:v>
                </c:pt>
                <c:pt idx="24">
                  <c:v>63.5</c:v>
                </c:pt>
                <c:pt idx="25">
                  <c:v>58.8</c:v>
                </c:pt>
                <c:pt idx="26">
                  <c:v>58.6</c:v>
                </c:pt>
                <c:pt idx="27">
                  <c:v>57.966667</c:v>
                </c:pt>
                <c:pt idx="28">
                  <c:v>56.9</c:v>
                </c:pt>
                <c:pt idx="29">
                  <c:v>56.2</c:v>
                </c:pt>
                <c:pt idx="30">
                  <c:v>59.7</c:v>
                </c:pt>
                <c:pt idx="31">
                  <c:v>56.5</c:v>
                </c:pt>
                <c:pt idx="32">
                  <c:v>60.7</c:v>
                </c:pt>
                <c:pt idx="33">
                  <c:v>53</c:v>
                </c:pt>
                <c:pt idx="34">
                  <c:v>54.8</c:v>
                </c:pt>
                <c:pt idx="35">
                  <c:v>52.3</c:v>
                </c:pt>
                <c:pt idx="36">
                  <c:v>57.7</c:v>
                </c:pt>
                <c:pt idx="37">
                  <c:v>58</c:v>
                </c:pt>
                <c:pt idx="38">
                  <c:v>63.4</c:v>
                </c:pt>
                <c:pt idx="39">
                  <c:v>60</c:v>
                </c:pt>
                <c:pt idx="40">
                  <c:v>54.1</c:v>
                </c:pt>
                <c:pt idx="41">
                  <c:v>54.6</c:v>
                </c:pt>
                <c:pt idx="42">
                  <c:v>52.6</c:v>
                </c:pt>
                <c:pt idx="43">
                  <c:v>57</c:v>
                </c:pt>
                <c:pt idx="44">
                  <c:v>53.6</c:v>
                </c:pt>
                <c:pt idx="45">
                  <c:v>52.8</c:v>
                </c:pt>
                <c:pt idx="46">
                  <c:v>49.5</c:v>
                </c:pt>
                <c:pt idx="47">
                  <c:v>50.5</c:v>
                </c:pt>
                <c:pt idx="48">
                  <c:v>49.2</c:v>
                </c:pt>
                <c:pt idx="49">
                  <c:v>53.1</c:v>
                </c:pt>
                <c:pt idx="50">
                  <c:v>58</c:v>
                </c:pt>
                <c:pt idx="51">
                  <c:v>61.7</c:v>
                </c:pt>
                <c:pt idx="52">
                  <c:v>59.3</c:v>
                </c:pt>
                <c:pt idx="53">
                  <c:v>53.1</c:v>
                </c:pt>
                <c:pt idx="54">
                  <c:v>54.9</c:v>
                </c:pt>
                <c:pt idx="55">
                  <c:v>52.7</c:v>
                </c:pt>
                <c:pt idx="56">
                  <c:v>53.4</c:v>
                </c:pt>
                <c:pt idx="57">
                  <c:v>52.6</c:v>
                </c:pt>
                <c:pt idx="58">
                  <c:v>56.1</c:v>
                </c:pt>
                <c:pt idx="59">
                  <c:v>54.8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0D1FA-3294-4715-95C9-6D01EDFB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B170A-1471-43CA-A805-A413C60E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7A789-D7F9-403A-A526-E27D128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BF947-40DF-468C-AFA1-F3665547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F6EA0-EF7E-4C27-BE57-88968C0D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A4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A4D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4D67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09D48-6B89-488C-BB99-3AA56303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Noncomp Efficiency Ratio</a:t>
            </a:r>
          </a:p>
          <a:p xmlns:a="http://schemas.openxmlformats.org/drawingml/2006/main">
            <a: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06AB3-8BE3-49E5-AA0B-454FEC8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 Development and Conditional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DD6AA-D507-440A-9443-5EA8FE03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Working Group Review</a:t>
            </a:r>
          </a:p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October 21, 2026</a:t>
            </a:r>
          </a:p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Historical data through 4Q25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116FD-9A9A-4BD5-9FFC-20F4668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3676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9FA35B-ACA0-4A81-BC38-881964C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C5576-B700-4FBE-85C6-8FDB980B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F713C-D22E-4AB3-8274-6B9F830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Model Development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19C75-C0B8-4F24-AE63-9DD195F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2C4B6-7CF2-410E-9BD6-A9F98A6D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FA733-F11B-40EE-8935-156C2F4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425A8-95F1-4646-94F4-D93DDE6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1019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032E2-3E09-4FC1-B77C-F2E72C3E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409700"/>
            <a:ext cx="1003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7CB2E-B316-46A0-8151-1CB49816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47825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7FB38-97EC-4E1B-9D91-F15E003F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47825"/>
            <a:ext cx="842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8C0B4-2A77-4235-9DDF-5A3D62B1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Efficiency Ratio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58DA6-B558-48A9-A481-79E87DA5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85925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Quarterly Noncomp efficiency ratio, modeled as the supplied aggregate cost-to-income ratio. Higher EF indicates more expense per unit of income.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6F0A7-78B1-41D4-AA46-2228BA82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85975"/>
            <a:ext cx="1762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6DC53-3A69-4FF5-9C5D-BCDED7B3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85975"/>
            <a:ext cx="842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2F9EE-7F09-49CF-B436-EA1E9FF3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590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Development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8D5DA-DF96-4DDF-A854-6CB152BD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823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1. L-SNV quarterly EF and 22 Moody's macro series from 2011Q1 through 2025Q4.</a:t>
            </a:r>
          </a:p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2. Development sample: 2011Q3-2023Q3 (49 observations). OOT: 2023Q4-2025Q4 (9 quarters).</a:t>
            </a:r>
          </a:p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3. S1 and S4 unemployment paths extend through 2028Q1.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4E05B-9369-4B34-BD00-0E1A54E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7891A-5E87-4948-B679-BEB40197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24175"/>
            <a:ext cx="842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A773C-A72C-40D4-B755-B510758E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944012-74E1-45CB-8141-B3EF3446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823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All Noncomp activity is modeled as one aggregate EF series without business-line segmentation.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69CEB-9600-4506-BA12-70FC99F7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0BADE-0EE9-40DA-BBE3-589A589B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86125"/>
            <a:ext cx="842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214C0-2745-4F3E-A1DF-92940F0B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Dependent Variable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704AE-9290-4BB0-9A12-586B95B8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Quarterly EF in ratio levels. A value of 0.55 denotes 55%.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DA073-7E29-4645-B83E-EE0A0532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29025"/>
            <a:ext cx="1762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C1849-6224-47B7-B9FA-46F6A4F9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842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8870B-731C-49FD-B3AB-F0336C4C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59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4F9718-8FD5-4625-BC39-3F8DFA1C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823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ARDL regression with one lag of EF, a fixed post-2014 period indicator, and the one-quarter-lagged quarterly change in unemployment.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E3CA4-A461-4C42-B9F2-C01034F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000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2E710-171C-4B3A-B15C-23C84F6F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91025"/>
            <a:ext cx="984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Assumptions, Limitations, and Weaknesses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82AB85-ED57-4665-84E5-B595AD4C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728C12-00E3-44B1-AA0D-34A6B48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9625"/>
            <a:ext cx="8334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AF1C31-37E0-439B-9CEE-76975AD4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1495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19660-2C58-45CC-A209-F5C9D3A7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8143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1. The EF accounting definition and source data remain comparable over time.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2. The operating regime from 2014Q1 remains relevant over the forecast horizon.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3. Historical EF persistence and the unemployment response remain stable.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4. S1 and S4 are conditional inputs, and future residuals equal zero.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12A57E-880D-4C4B-A8C8-381E83F1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43525"/>
            <a:ext cx="1666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77BDA7-1CF6-4225-9DD6-4137F174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43525"/>
            <a:ext cx="8334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1FDCF-45C4-48B3-B19E-5BDF24AB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14954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C18D1A-A1AB-4700-BF2A-1EBEE0B7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8143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1. Development includes 49 observations, and OOT validation covers nine quarters.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2. Smoothing of 2017Q3 and 2017Q4 introduces judgment and affects current and lagged EF.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3. Unemployment is the only selected macro driver, while GDP and output-gap alternatives show similar fit.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4. The aggregate model does not separate expense and income effects, and forecasts provide no probability range.</a:t>
            </a:r>
          </a:p>
        </p:txBody>
      </p:sp>
    </p:spTree>
    <p:extLst>
      <p:ext uri="{BB962C8B-B14F-4D97-AF65-F5344CB8AC3E}">
        <p14:creationId xmlns:p14="http://schemas.microsoft.com/office/powerpoint/2010/main" val="1596857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E53C2-9F7B-4137-8454-EADA014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42AF6-63E4-4BD9-9955-3C5AC2EE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49C3A-20C5-40F1-BDEF-4C660E32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Model Fitting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6436D-95F6-4291-AD7B-562037AB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66F74-0067-4465-96B9-959931CF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48A49-3FEE-4215-BC90-38F78E06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4912A-4E70-4A91-AB65-176F803C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02244-F1F6-4580-A734-B17C83AD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33500"/>
            <a:ext cx="785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753D2-E89A-45C8-AB47-ECA2751B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81125"/>
            <a:ext cx="1400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Specification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8ECD3-86C0-4CA9-860B-ABA20334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71600"/>
            <a:ext cx="766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EF_t = 0.1938 - 0.0436 Post14_t + 0.7383 EF_(t-1) + 0.00642 ΔU_(t-1)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CE49C-2DF1-40DC-9232-1C67C87F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1571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94EE7-15FB-4924-9273-03FC9C59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7858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06041-7A54-4D68-928F-07D03CF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1400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4A274-EF9F-4538-8145-5D710B17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7667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EF_(t-1): quarterly persistence in the efficiency ratio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Post14_t: fixed indicator from 2014Q1 onward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ΔU_(t-1): quarterly unemployment-rate change with a one-quarter 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53B1F-D600-4973-A0E6-018E4C0E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90639-1C3A-40FD-9BBB-678BFC5F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7858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B5C79-D7C2-4CB5-82AE-3E45EF60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Goodness of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F33E3-E8A6-4600-9761-C016503E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R² = 0.8373, adjusted R² = 0.8265, and fit RMSE = 0.0283. One-step OOT RMSE = 0.0278, and recursive OOT RMSE = 0.0373.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3CAC4-BB7D-4031-BEC6-1ACBF07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1571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D8D37-3006-445F-84FE-B35A1E7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785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31D0F-D1A2-49A1-AAB7-B980E109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140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Conceptual Soundness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A4C14-06B0-48FE-8C4E-01D28D58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43225"/>
            <a:ext cx="766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EF lag coefficient is below one, so temporary effects decay over time.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unemployment-change coefficient is positive and significant at 5% (p = 0.0289).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DW, JB, CUSUM, and Ljung-Box diagnostics do not reject at 5% in development.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25111-999C-4080-9904-E14F298A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In-Sample Backtesting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B50C0-2C76-407C-844D-2FD66767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Out-of-Time Backtesting</a:t>
            </a:r>
          </a:p>
        </p:txBody>
      </p:sp>
      <p:graphicFrame>
        <p:nvGraphicFramePr>
          <p:cNvPr id="25" name="Chart">
            <a:extLst xmlns:a="http://schemas.openxmlformats.org/drawingml/2006/main">
              <a:ext uri="{FF2B5EF4-FFF2-40B4-BE49-F238E27FC236}">
                <a16:creationId xmlns:a16="http://schemas.microsoft.com/office/drawing/2014/main" id="{FAD810D4-3FDC-4D73-A6EA-2A432FFD922D}"/>
              </a:ext>
            </a:extLst>
          </p:cNvPr>
          <p:cNvGraphicFramePr/>
          <p:nvPr/>
        </p:nvGraphicFramePr>
        <p:xfrm>
          <a:off xmlns:a="http://schemas.openxmlformats.org/drawingml/2006/main" x="1285875" y="4143375"/>
          <a:ext xmlns:a="http://schemas.openxmlformats.org/drawingml/2006/main" cx="447675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d180c9845440c5"/>
          </a:graphicData>
        </a:graphic>
      </p:graphicFrame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2F4F54C6-52B1-4BD4-AA7B-C62339629F50}"/>
              </a:ext>
            </a:extLst>
          </p:cNvPr>
          <p:cNvGraphicFramePr/>
          <p:nvPr/>
        </p:nvGraphicFramePr>
        <p:xfrm>
          <a:off xmlns:a="http://schemas.openxmlformats.org/drawingml/2006/main" x="6429375" y="4143375"/>
          <a:ext xmlns:a="http://schemas.openxmlformats.org/drawingml/2006/main" cx="447675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7d67b906784253"/>
          </a:graphicData>
        </a:graphic>
      </p:graphicFrame>
    </p:spTree>
    <p:extLst>
      <p:ext uri="{BB962C8B-B14F-4D97-AF65-F5344CB8AC3E}">
        <p14:creationId xmlns:p14="http://schemas.microsoft.com/office/powerpoint/2010/main" val="1482697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DB80E-A04C-455E-85A6-10B1C01B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0A4AC-23EA-4343-A80B-E53829C6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7010F-66DC-485C-A2B4-72723E34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Outcome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D3CCA-8563-432B-B3D7-AE36C812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98899-2134-481D-8A08-A984BACB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3C195-9140-48D5-9549-F7A6217F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F8D5C-570D-484E-8911-6B0B93DD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1049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Stability Analysis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7FE3412-630B-47E8-90E5-23044EDD8489}"/>
              </a:ext>
            </a:extLst>
          </p:cNvPr>
          <p:cNvGraphicFramePr/>
          <p:nvPr/>
        </p:nvGraphicFramePr>
        <p:xfrm>
          <a:off xmlns:a="http://schemas.openxmlformats.org/drawingml/2006/main" x="1047750" y="1428750"/>
          <a:ext xmlns:a="http://schemas.openxmlformats.org/drawingml/2006/main" cx="3714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af3611ade74e94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E15BAE3D-130C-4FE2-8A6E-4094D5AE133E}"/>
              </a:ext>
            </a:extLst>
          </p:cNvPr>
          <p:cNvGraphicFramePr/>
          <p:nvPr/>
        </p:nvGraphicFramePr>
        <p:xfrm>
          <a:off xmlns:a="http://schemas.openxmlformats.org/drawingml/2006/main" x="4953000" y="1428750"/>
          <a:ext xmlns:a="http://schemas.openxmlformats.org/drawingml/2006/main" cx="3476625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4db3578ef9492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9FDF4-51F7-4EF0-9D2E-F5386B1C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BFD9B-6D26-4058-9543-197F0A3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573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Comments /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2809A-DFCE-40AD-A4B6-16B14FBF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B36D9-0663-412F-A39F-0CEDB65E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71650"/>
            <a:ext cx="228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Ten 40-quarter windows end from 2Q21 through 3Q23 and retain the fixed post-2014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unemployment coefficient remains positive and ranges from 0.00597 to 0.00656.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Every estimate stays within 6.9% of the full-model coefficient of 0.00642. One-step OOT RMSE equals 2.78 EF percentage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51D90-F2CC-4FD7-B294-AC1EA1B0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957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Scenario Analysis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39C99BC1-373F-45FA-92B7-48223AF0EA5A}"/>
              </a:ext>
            </a:extLst>
          </p:cNvPr>
          <p:cNvGraphicFramePr/>
          <p:nvPr/>
        </p:nvGraphicFramePr>
        <p:xfrm>
          <a:off xmlns:a="http://schemas.openxmlformats.org/drawingml/2006/main" x="1047750" y="4019550"/>
          <a:ext xmlns:a="http://schemas.openxmlformats.org/drawingml/2006/main" cx="37147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b8f664dd004b9c"/>
          </a:graphicData>
        </a:graphic>
      </p:graphicFrame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FAFD2B9C-F2F0-4CA9-AD22-5BE391C90397}"/>
              </a:ext>
            </a:extLst>
          </p:cNvPr>
          <p:cNvGraphicFramePr/>
          <p:nvPr/>
        </p:nvGraphicFramePr>
        <p:xfrm>
          <a:off xmlns:a="http://schemas.openxmlformats.org/drawingml/2006/main" x="4953000" y="4019550"/>
          <a:ext xmlns:a="http://schemas.openxmlformats.org/drawingml/2006/main" cx="3476625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012738c9d84dba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CD22C-AC8B-4495-A6EB-E3C2476A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19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C177E-A38E-4A8E-81A7-5AA99BDC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481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Comments /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B5D33-4B3A-406E-A0D0-126346BA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86250"/>
            <a:ext cx="2476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A589C-7504-42BB-B6AC-AE371E9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2286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Both forecasts equal 55.4% in 1Q26 because the lag structure uses the same historical unemployment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S4 peaks at 58.0% in 4Q26 versus 56.1% under S1.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By 1Q28, S4 equals 57.3% and S1 equals 56.8%.</a:t>
            </a:r>
          </a:p>
        </p:txBody>
      </p:sp>
    </p:spTree>
    <p:extLst>
      <p:ext uri="{BB962C8B-B14F-4D97-AF65-F5344CB8AC3E}">
        <p14:creationId xmlns:p14="http://schemas.microsoft.com/office/powerpoint/2010/main" val="1160324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4B2377-992D-4099-9A74-80170B18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AE914-2AD7-4248-A13E-5D2559DC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BC6DC-6AF8-45E8-A354-5FD8673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Champion: Noncomp Efficiency Ratio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4758A-6C02-4EBC-ACB2-C5BB9C0F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A5DCA-3261-45F4-8F12-C49EF827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2FC21-3B9E-40E4-9248-A3CA3001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92D77-879D-46DD-9274-ED21BD65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239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45ECE-3265-4972-B8C8-0D198CE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52550"/>
            <a:ext cx="506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643D1-D87B-48D8-A99F-D6267032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1504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8322A-F530-4033-AA59-715E1FD8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71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05825-959F-492F-92E4-6B5A444B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19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Efficiency Ratio</a:t>
            </a:r>
          </a:p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28D3B-9748-47D9-98C5-D3C7C574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097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Expense growth and revenue performance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Operating leverage and business mix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Labor-market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AC427-1DC4-4DBF-AEB3-DAA003C4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19325"/>
            <a:ext cx="15049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7A004-667E-40FE-AEFC-AB550FDA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19325"/>
            <a:ext cx="3714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36081-2428-4A83-AB19-7EC43602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66950"/>
            <a:ext cx="1333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</a:t>
            </a:r>
          </a:p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9BCDB-CA13-42DF-B097-51C41CFE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57425"/>
            <a:ext cx="3524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shifts after 2014 and remains persistent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Quarterly history is limited to 60 level observations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Aggregate EF combines expense and income channels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Close macro alternatives complicate variable selection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3B537164-76A8-43A3-BBC0-92345C656CCB}"/>
              </a:ext>
            </a:extLst>
          </p:cNvPr>
          <p:cNvGraphicFramePr/>
          <p:nvPr/>
        </p:nvGraphicFramePr>
        <p:xfrm>
          <a:off xmlns:a="http://schemas.openxmlformats.org/drawingml/2006/main" x="6981825" y="1238250"/>
          <a:ext xmlns:a="http://schemas.openxmlformats.org/drawingml/2006/main" cx="4048125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9408f322844145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CF720-EC33-4A4B-8C7C-DF56456C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5D09C-F73E-46A6-B1EC-72BB3AC7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24250"/>
            <a:ext cx="506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Engineering Framework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8E7C2-4829-4E95-AF9D-33EB1A2D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433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10A98-5970-4306-8B0F-85BE0930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4332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60AA4-2B7C-4BBF-97A4-777BB2E3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909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26786-B046-4B9E-8228-B65EB6A6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814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modeled in ratio levels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2017Q3 and 2017Q4 replaced by documented local averages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Macro series use quarterly differences or log changes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Every macro candidate is lagged one quarter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3DBFB-C245-4919-A9F7-31B4D895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71975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1E139-D63D-42D1-93DC-C46562C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71975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1B9E1-2AD3-4BA6-9025-EDEFDC6A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960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4A899-263E-4B28-8BDF-E6EC5B8C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00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Base terms include the post-2014 indicator and EF lag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Forward selection uses a common 49-quarter sample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Trend removed after p = 0.1719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Final model uses lagged unemployment change with no pulse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A953A4-747A-49A3-B168-5DD29642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14925"/>
            <a:ext cx="1504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593E37-ADE4-43E1-89F6-72A98D24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14925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4C279-D32A-4614-891E-96130EE9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162550"/>
            <a:ext cx="133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</a:t>
            </a:r>
          </a:p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72F41-DE69-4072-8D38-FCD93E03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53025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Development sample has 49 observations and nine OOT quarters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Smoothing introduces judgment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GDP and output-gap alternatives show similar fit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Aggregate EF cannot separate expense and income effects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Forecasts are conditional point estimates without probability ranges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F4364E-FBC9-484D-A947-F90913F1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421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6490B-7289-402B-985E-C547A3D6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Champion: Noncomp EF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A4187E-ED3C-4E4E-93B9-09EFF91B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4332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7D4B2C-ACC9-43E6-A5E9-531A633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2924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B6091E-3FEE-430F-8934-DBE2CAE0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9095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FE29B-9B64-4605-A1CA-F0F4F70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81425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EF_t = 0.1938 - 0.0436 D_t + 0.7383 EF_(t-1)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+ 0.00642 ΔU_(t-1) + ε_t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E13A2B-3EC5-470F-B578-C6DFB235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8147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314AAD-062C-44A6-ADA1-0C9C850C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81475"/>
            <a:ext cx="2924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2656E4-66A1-4935-B5F7-332998FD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229100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</a:t>
            </a:r>
          </a:p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D007EA-3B78-4D34-8579-F22A0AF3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19575"/>
            <a:ext cx="2733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D_t: post-2014 period indicator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EF_(t-1): one-quarter EF lag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ΔU_(t-1): lagged quarterly unemployment-rate change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E4169A-9236-4271-824A-3216D853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3392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8355A5-9F7B-4670-8690-7A4D7CCE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33925"/>
            <a:ext cx="2924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3CC26C-4A27-4073-B6B5-E045B0A9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815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Goodness of Fit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E9BDFD-8E26-4477-A885-9F995E0E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72025"/>
            <a:ext cx="2733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R² = 0.8373    Adjusted R² = 0.8265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Fit RMSE = 0.0283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One-step OOT RMSE = 0.0278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Recursive OOT RMSE = 0.0373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8EA6B3-2681-4B2C-9FC9-24E6B651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00675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44773A-E083-4123-8FA4-2BF8DC09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00675"/>
            <a:ext cx="29241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FF6240-D3EB-4271-9832-FE2D5C30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48300"/>
            <a:ext cx="1114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2E14EA-BA63-4F2C-91B8-BFCDE009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3877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DW = 2.195    JB p = 0.274    CUSUM p = 0.709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Ljung-Box p = 0.151 at lag 4 and 0.249 at lag 8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Max VIF = 1.611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All coefficients are significant at 5%</a:t>
            </a:r>
          </a:p>
        </p:txBody>
      </p:sp>
    </p:spTree>
    <p:extLst>
      <p:ext uri="{BB962C8B-B14F-4D97-AF65-F5344CB8AC3E}">
        <p14:creationId xmlns:p14="http://schemas.microsoft.com/office/powerpoint/2010/main" val="1478981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2026-10-21T20:52:56.0460000Z</dcterms:created>
  <dcterms:modified xsi:type="dcterms:W3CDTF">2026-10-21T20:52:56.0460000Z</dcterms:modified>
</coreProperties>
</file>