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e99d375c34a33" /><Relationship Type="http://schemas.openxmlformats.org/officeDocument/2006/relationships/extended-properties" Target="/docProps/app.xml" Id="R08a33da7bf3a4763" /><Relationship Type="http://schemas.openxmlformats.org/officeDocument/2006/relationships/officeDocument" Target="/ppt/presentation.xml" Id="Rc38f7acdb27c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271c4d31442eb"/>
  </p:sldMasterIdLst>
  <p:notesMasterIdLst>
    <p:notesMasterId xmlns:r="http://schemas.openxmlformats.org/officeDocument/2006/relationships" r:id="R94bff7526090475a"/>
  </p:notesMasterIdLst>
  <p:sldIdLst>
    <p:sldId xmlns:r="http://schemas.openxmlformats.org/officeDocument/2006/relationships" id="256" r:id="Rf5c15a30365943b7"/>
    <p:sldId xmlns:r="http://schemas.openxmlformats.org/officeDocument/2006/relationships" id="257" r:id="Rd6477b7a446f4e62"/>
    <p:sldId xmlns:r="http://schemas.openxmlformats.org/officeDocument/2006/relationships" id="258" r:id="Rcbcdb77c8a5d49ea"/>
    <p:sldId xmlns:r="http://schemas.openxmlformats.org/officeDocument/2006/relationships" id="259" r:id="Rfe1bd44d9f144d14"/>
    <p:sldId xmlns:r="http://schemas.openxmlformats.org/officeDocument/2006/relationships" id="260" r:id="R83848a61a2e74f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4780c3efd049d1" /><Relationship Type="http://schemas.openxmlformats.org/officeDocument/2006/relationships/slideMaster" Target="/ppt/slideMasters/slideMaster1.xml" Id="Re4e271c4d31442eb" /><Relationship Type="http://schemas.openxmlformats.org/officeDocument/2006/relationships/notesMaster" Target="/ppt/notesMasters/notesMaster1.xml" Id="R94bff7526090475a" /><Relationship Type="http://schemas.openxmlformats.org/officeDocument/2006/relationships/presProps" Target="/ppt/presProps.xml" Id="R414c1f212f0e42d6" /><Relationship Type="http://schemas.openxmlformats.org/officeDocument/2006/relationships/tableStyles" Target="/ppt/tableStyles.xml" Id="Re8434393aa4e4cbd" /><Relationship Type="http://schemas.openxmlformats.org/officeDocument/2006/relationships/slide" Target="/ppt/slides/slide1.xml" Id="Rf5c15a30365943b7" /><Relationship Type="http://schemas.openxmlformats.org/officeDocument/2006/relationships/slide" Target="/ppt/slides/slide2.xml" Id="Rd6477b7a446f4e62" /><Relationship Type="http://schemas.openxmlformats.org/officeDocument/2006/relationships/slide" Target="/ppt/slides/slide3.xml" Id="Rcbcdb77c8a5d49ea" /><Relationship Type="http://schemas.openxmlformats.org/officeDocument/2006/relationships/slide" Target="/ppt/slides/slide4.xml" Id="Rfe1bd44d9f144d14" /><Relationship Type="http://schemas.openxmlformats.org/officeDocument/2006/relationships/slide" Target="/ppt/slides/slide5.xml" Id="R83848a61a2e7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61c855fcf2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66a7aeeee4985" /><Relationship Type="http://schemas.openxmlformats.org/officeDocument/2006/relationships/notesMaster" Target="/ppt/notesMasters/notesMaster1.xml" Id="Rf7e8be51ff2c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92c08c423496d" /><Relationship Type="http://schemas.openxmlformats.org/officeDocument/2006/relationships/notesMaster" Target="/ppt/notesMasters/notesMaster1.xml" Id="R6e72de6a300a47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dd7c9590ad449a" /><Relationship Type="http://schemas.openxmlformats.org/officeDocument/2006/relationships/notesMaster" Target="/ppt/notesMasters/notesMaster1.xml" Id="Ra1a9f0b4d743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2524a1a6942c4" /><Relationship Type="http://schemas.openxmlformats.org/officeDocument/2006/relationships/notesMaster" Target="/ppt/notesMasters/notesMaster1.xml" Id="R5e8d4aaaace743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6c25a2f0a497e" /><Relationship Type="http://schemas.openxmlformats.org/officeDocument/2006/relationships/notesMaster" Target="/ppt/notesMasters/notesMaster1.xml" Id="Ra7d2c096f019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Noncomp EF model development materials dated October 19, 2026.</a:t>
            </a:r>
          </a:p>
          <a:p xmlns:a="http://schemas.openxmlformats.org/drawingml/2006/main">
            <a:r>
              <a:t>Purpose: Working group summary of development, validation, scenario forecasts, and champion model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Noncomp_EF_Model_Development_Documentation_EN_20261019_v2.docx, Sections 1, 4, 5, 7, and 9.</a:t>
            </a:r>
          </a:p>
          <a:p xmlns:a="http://schemas.openxmlformats.org/drawingml/2006/main">
            <a:r>
              <a:t>Noncomp_EF_Code_and_Data_20261019.zip, README.md and reference_outputs/run_summary.csv.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reference_outputs/fitted_values_development.csv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Chart values convert EF ratios to percentage points for 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reference_outputs/oot_forecasts.csv and oot_metrics.csv</a:t>
            </a:r>
          </a:p>
          <a:p xmlns:a="http://schemas.openxmlformats.org/drawingml/2006/main">
            <a:r>
              <a:t>reference_outputs/scenario_macro_paths.csv</a:t>
            </a:r>
          </a:p>
          <a:p xmlns:a="http://schemas.openxmlformats.org/drawingml/2006/main">
            <a:r>
              <a:t>reference_outputs/scenario_ef_forecasts.csv</a:t>
            </a:r>
          </a:p>
          <a:p xmlns:a="http://schemas.openxmlformats.org/drawingml/2006/main">
            <a:r>
              <a:t>Rolling stability uses ten overlapping 40-quarter windows ending from 2021Q2 through 2023Q3.</a:t>
            </a:r>
          </a:p>
          <a:p xmlns:a="http://schemas.openxmlformats.org/drawingml/2006/main">
            <a:r>
              <a:t>Each rolling coefficient is normalized to the development-model estimate, where 100 equals the full development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reference_outputs/historical_data_and_features.csv</a:t>
            </a:r>
          </a:p>
          <a:p xmlns:a="http://schemas.openxmlformats.org/drawingml/2006/main">
            <a:r>
              <a:t>reference_outputs/coefficients_final_development.csv</a:t>
            </a:r>
          </a:p>
          <a:p xmlns:a="http://schemas.openxmlformats.org/drawingml/2006/main">
            <a:r>
              <a:t>reference_outputs/fit_statistics.csv</a:t>
            </a:r>
          </a:p>
          <a:p xmlns:a="http://schemas.openxmlformats.org/drawingml/2006/main">
            <a:r>
              <a:t>reference_outputs/diagnostics_development.csv</a:t>
            </a:r>
          </a:p>
          <a:p xmlns:a="http://schemas.openxmlformats.org/drawingml/2006/main">
            <a:r>
              <a:t>reference_outputs/oot_metrics.csv</a:t>
            </a:r>
          </a:p>
          <a:p xmlns:a="http://schemas.openxmlformats.org/drawingml/2006/main">
            <a:r>
              <a:t>Noncomp Efficiency Ratio Model Development Document, sections 4 through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afe66d17443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447d3608942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d25e196be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41bb882ad43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7555520b64e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07b46d9ec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4C8FEC-F7FB-420E-B2BE-C2C4EE0EC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746138-1808-411F-A825-EA3E6A2FF3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43DBD3-26BB-48EA-BA9A-4D27F7C1F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59268-C28F-453E-B56F-A9515938C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80A55B-B6CB-46C5-BD9A-1A0EBDADEB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02A130-F0F7-46BB-85DF-F1C63FBC0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8F7289-1F9B-4C60-952E-CF160E719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E70765-A7A6-4E15-82FA-ADDFFF1AC9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D510F-ED9D-4FFD-87C2-D783F746A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807210-B219-417B-B616-F920399A8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9ff88d7354518" /><Relationship Type="http://schemas.openxmlformats.org/officeDocument/2006/relationships/slideLayout" Target="/ppt/slideLayouts/slideLayout1.xml" Id="R3d972d02e14c4ac0" /><Relationship Type="http://schemas.openxmlformats.org/officeDocument/2006/relationships/slideLayout" Target="/ppt/slideLayouts/slideLayout2.xml" Id="R3769de5854304fe6" /><Relationship Type="http://schemas.openxmlformats.org/officeDocument/2006/relationships/slideLayout" Target="/ppt/slideLayouts/slideLayout3.xml" Id="R905c151367dc46b9" /><Relationship Type="http://schemas.openxmlformats.org/officeDocument/2006/relationships/slideLayout" Target="/ppt/slideLayouts/slideLayout4.xml" Id="R43237bd0318e4e1f" /><Relationship Type="http://schemas.openxmlformats.org/officeDocument/2006/relationships/slideLayout" Target="/ppt/slideLayouts/slideLayout5.xml" Id="R146b0703ad9544d9" /><Relationship Type="http://schemas.openxmlformats.org/officeDocument/2006/relationships/slideLayout" Target="/ppt/slideLayouts/slideLayout6.xml" Id="R1ae77f7bd869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72d02e14c4ac0"/>
    <p:sldLayoutId xmlns:r="http://schemas.openxmlformats.org/officeDocument/2006/relationships" id="2147483650" r:id="R3769de5854304fe6"/>
    <p:sldLayoutId xmlns:r="http://schemas.openxmlformats.org/officeDocument/2006/relationships" id="2147483651" r:id="R905c151367dc46b9"/>
    <p:sldLayoutId xmlns:r="http://schemas.openxmlformats.org/officeDocument/2006/relationships" id="2147483652" r:id="R43237bd0318e4e1f"/>
    <p:sldLayoutId xmlns:r="http://schemas.openxmlformats.org/officeDocument/2006/relationships" id="2147483653" r:id="R146b0703ad9544d9"/>
    <p:sldLayoutId xmlns:r="http://schemas.openxmlformats.org/officeDocument/2006/relationships" id="2147483654" r:id="R1ae77f7bd869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910700a0649aa" /><Relationship Type="http://schemas.openxmlformats.org/officeDocument/2006/relationships/notesSlide" Target="/ppt/notesSlides/notesSlide1.xml" Id="Rb87c2c3a1a8e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55a9d47e84fc2" /><Relationship Type="http://schemas.openxmlformats.org/officeDocument/2006/relationships/notesSlide" Target="/ppt/notesSlides/notesSlide2.xml" Id="Rfa9a63ceabcd44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954d58c714648" /><Relationship Type="http://schemas.openxmlformats.org/officeDocument/2006/relationships/chart" Target="/ppt/slides/charts/chart1.xml" Id="Rb07c1010500e4658" /><Relationship Type="http://schemas.openxmlformats.org/officeDocument/2006/relationships/chart" Target="/ppt/slides/charts/chart2.xml" Id="Rf2ac86e8517d4ed2" /><Relationship Type="http://schemas.openxmlformats.org/officeDocument/2006/relationships/notesSlide" Target="/ppt/notesSlides/notesSlide3.xml" Id="R7716ef88a1d04c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0758780db4789" /><Relationship Type="http://schemas.openxmlformats.org/officeDocument/2006/relationships/chart" Target="/ppt/slides/charts/chart3.xml" Id="Rf575e7402b0e4b47" /><Relationship Type="http://schemas.openxmlformats.org/officeDocument/2006/relationships/chart" Target="/ppt/slides/charts/chart4.xml" Id="R04049185960f41b2" /><Relationship Type="http://schemas.openxmlformats.org/officeDocument/2006/relationships/chart" Target="/ppt/slides/charts/chart5.xml" Id="R353e6b61c94044ee" /><Relationship Type="http://schemas.openxmlformats.org/officeDocument/2006/relationships/chart" Target="/ppt/slides/charts/chart6.xml" Id="Re17f9a6484d54219" /><Relationship Type="http://schemas.openxmlformats.org/officeDocument/2006/relationships/notesSlide" Target="/ppt/notesSlides/notesSlide4.xml" Id="R507a83de1bbd49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26178e7554fba" /><Relationship Type="http://schemas.openxmlformats.org/officeDocument/2006/relationships/chart" Target="/ppt/slides/charts/chart7.xml" Id="R3280d7ab9e78464a" /><Relationship Type="http://schemas.openxmlformats.org/officeDocument/2006/relationships/notesSlide" Target="/ppt/notesSlides/notesSlide5.xml" Id="R5f6690eff28b44c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Development Sample: Actual vs Fitted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Data'!$B$2:$B$50</c:f>
              <c:numCache>
                <c:formatCode>0.0</c:formatCode>
                <c:ptCount val="49"/>
                <c:pt idx="0">
                  <c:v>63.1</c:v>
                </c:pt>
                <c:pt idx="1">
                  <c:v>66.8</c:v>
                </c:pt>
                <c:pt idx="2">
                  <c:v>66.5</c:v>
                </c:pt>
                <c:pt idx="3">
                  <c:v>67.9</c:v>
                </c:pt>
                <c:pt idx="4">
                  <c:v>65.2</c:v>
                </c:pt>
                <c:pt idx="5">
                  <c:v>67.6</c:v>
                </c:pt>
                <c:pt idx="6">
                  <c:v>78.2</c:v>
                </c:pt>
                <c:pt idx="7">
                  <c:v>77.8</c:v>
                </c:pt>
                <c:pt idx="8">
                  <c:v>77.6</c:v>
                </c:pt>
                <c:pt idx="9">
                  <c:v>75.2</c:v>
                </c:pt>
                <c:pt idx="10">
                  <c:v>67.6</c:v>
                </c:pt>
                <c:pt idx="11">
                  <c:v>65.9</c:v>
                </c:pt>
                <c:pt idx="12">
                  <c:v>66.7</c:v>
                </c:pt>
                <c:pt idx="13">
                  <c:v>64.6</c:v>
                </c:pt>
                <c:pt idx="14">
                  <c:v>62.1</c:v>
                </c:pt>
                <c:pt idx="15">
                  <c:v>62.1</c:v>
                </c:pt>
                <c:pt idx="16">
                  <c:v>60.7</c:v>
                </c:pt>
                <c:pt idx="17">
                  <c:v>62.1</c:v>
                </c:pt>
                <c:pt idx="18">
                  <c:v>65.1</c:v>
                </c:pt>
                <c:pt idx="19">
                  <c:v>63.6</c:v>
                </c:pt>
                <c:pt idx="20">
                  <c:v>61.2</c:v>
                </c:pt>
                <c:pt idx="21">
                  <c:v>62.4</c:v>
                </c:pt>
                <c:pt idx="22">
                  <c:v>63.5</c:v>
                </c:pt>
                <c:pt idx="23">
                  <c:v>58.8</c:v>
                </c:pt>
                <c:pt idx="24">
                  <c:v>58.6</c:v>
                </c:pt>
                <c:pt idx="25">
                  <c:v>57.966667</c:v>
                </c:pt>
                <c:pt idx="26">
                  <c:v>56.9</c:v>
                </c:pt>
                <c:pt idx="27">
                  <c:v>56.2</c:v>
                </c:pt>
                <c:pt idx="28">
                  <c:v>59.7</c:v>
                </c:pt>
                <c:pt idx="29">
                  <c:v>56.5</c:v>
                </c:pt>
                <c:pt idx="30">
                  <c:v>60.7</c:v>
                </c:pt>
                <c:pt idx="31">
                  <c:v>53</c:v>
                </c:pt>
                <c:pt idx="32">
                  <c:v>54.8</c:v>
                </c:pt>
                <c:pt idx="33">
                  <c:v>52.3</c:v>
                </c:pt>
                <c:pt idx="34">
                  <c:v>57.7</c:v>
                </c:pt>
                <c:pt idx="35">
                  <c:v>58</c:v>
                </c:pt>
                <c:pt idx="36">
                  <c:v>63.4</c:v>
                </c:pt>
                <c:pt idx="37">
                  <c:v>60</c:v>
                </c:pt>
                <c:pt idx="38">
                  <c:v>54.1</c:v>
                </c:pt>
                <c:pt idx="39">
                  <c:v>54.6</c:v>
                </c:pt>
                <c:pt idx="40">
                  <c:v>52.6</c:v>
                </c:pt>
                <c:pt idx="41">
                  <c:v>57</c:v>
                </c:pt>
                <c:pt idx="42">
                  <c:v>53.6</c:v>
                </c:pt>
                <c:pt idx="43">
                  <c:v>52.8</c:v>
                </c:pt>
                <c:pt idx="44">
                  <c:v>49.5</c:v>
                </c:pt>
                <c:pt idx="45">
                  <c:v>50.5</c:v>
                </c:pt>
                <c:pt idx="46">
                  <c:v>49.2</c:v>
                </c:pt>
                <c:pt idx="47">
                  <c:v>53.1</c:v>
                </c:pt>
                <c:pt idx="48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v>Fitted EF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none"/>
          </c:marker>
          <c:cat>
            <c:strRef>
              <c:f>'Chart Data'!$C$2:$C$50</c:f>
              <c:strCache>
                <c:ptCount val="49"/>
                <c:pt idx="0">
                  <c:v>​</c:v>
                </c:pt>
                <c:pt idx="1">
                  <c:v>​​</c:v>
                </c:pt>
                <c:pt idx="2">
                  <c:v>2012</c:v>
                </c:pt>
                <c:pt idx="3">
                  <c:v>​​​​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2013</c:v>
                </c:pt>
                <c:pt idx="7">
                  <c:v>​​​​​​​​</c:v>
                </c:pt>
                <c:pt idx="8">
                  <c:v>​​​​​​​​​</c:v>
                </c:pt>
                <c:pt idx="9">
                  <c:v>​​​​​​​​​​</c:v>
                </c:pt>
                <c:pt idx="10">
                  <c:v>2014</c:v>
                </c:pt>
                <c:pt idx="11">
                  <c:v>​​​​​​​​​​​​</c:v>
                </c:pt>
                <c:pt idx="12">
                  <c:v>​​​​​​​​​​​​​</c:v>
                </c:pt>
                <c:pt idx="13">
                  <c:v>​​​​​​​​​​​​​​</c:v>
                </c:pt>
                <c:pt idx="14">
                  <c:v>2015</c:v>
                </c:pt>
                <c:pt idx="15">
                  <c:v>​​​​​​​​​​​​​​​​</c:v>
                </c:pt>
                <c:pt idx="16">
                  <c:v>​​​​​​​​​​​​​​​​​</c:v>
                </c:pt>
                <c:pt idx="17">
                  <c:v>​​​​​​​​​​​​​​​​​​</c:v>
                </c:pt>
                <c:pt idx="18">
                  <c:v>2016</c:v>
                </c:pt>
                <c:pt idx="19">
                  <c:v>​​​​​​​​​​​​​​​​​​​​</c:v>
                </c:pt>
                <c:pt idx="20">
                  <c:v>​​​​​​​​​​​​​​​​​​​​​</c:v>
                </c:pt>
                <c:pt idx="21">
                  <c:v>​​​​​​​​​​​​​​​​​​​​​​</c:v>
                </c:pt>
                <c:pt idx="22">
                  <c:v>2017</c:v>
                </c:pt>
                <c:pt idx="23">
                  <c:v>​​​​​​​​​​​​​​​​​​​​​​​​</c:v>
                </c:pt>
                <c:pt idx="24">
                  <c:v>​​​​​​​​​​​​​​​​​​​​​​​​​</c:v>
                </c:pt>
                <c:pt idx="25">
                  <c:v>​​​​​​​​​​​​​​​​​​​​​​​​​​</c:v>
                </c:pt>
                <c:pt idx="26">
                  <c:v>2018</c:v>
                </c:pt>
                <c:pt idx="27">
                  <c:v>​​​​​​​​​​​​​​​​​​​​​​​​​​​​</c:v>
                </c:pt>
                <c:pt idx="28">
                  <c:v>​​​​​​​​​​​​​​​​​​​​​​​​​​​​​</c:v>
                </c:pt>
                <c:pt idx="29">
                  <c:v>​​​​​​​​​​​​​​​​​​​​​​​​​​​​​​</c:v>
                </c:pt>
                <c:pt idx="30">
                  <c:v>2019</c:v>
                </c:pt>
                <c:pt idx="31">
                  <c:v>​​​​​​​​​​​​​​​​​​​​​​​​​​​​​​​​</c:v>
                </c:pt>
                <c:pt idx="32">
                  <c:v>​​​​​​​​​​​​​​​​​​​​​​​​​​​​​​​​​</c:v>
                </c:pt>
                <c:pt idx="33">
                  <c:v>​​​​​​​​​​​​​​​​​​​​​​​​​​​​​​​​​​</c:v>
                </c:pt>
                <c:pt idx="34">
                  <c:v>2020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​​​​​​​​​​​​​​​​​​​​​​​​​​​​​​​​​​​​​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2021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​​​​​​​​​​​​​​​​​​​​​​​​​​​​​​​​​​​​​​​​​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2022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​​​​​​​​​​​​​​​​​​​​​​​​​​​​​​​​​​​​​​​​​​​​​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2023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2023Q3</c:v>
                </c:pt>
              </c:strCache>
            </c:strRef>
          </c:cat>
          <c:val>
            <c:numRef>
              <c:f>'Chart Data'!$D$2:$D$50</c:f>
              <c:numCache>
                <c:formatCode>0.0</c:formatCode>
                <c:ptCount val="49"/>
                <c:pt idx="0">
                  <c:v>67.020665</c:v>
                </c:pt>
                <c:pt idx="1">
                  <c:v>65.922891</c:v>
                </c:pt>
                <c:pt idx="2">
                  <c:v>68.462069</c:v>
                </c:pt>
                <c:pt idx="3">
                  <c:v>68.240582</c:v>
                </c:pt>
                <c:pt idx="4">
                  <c:v>69.46669</c:v>
                </c:pt>
                <c:pt idx="5">
                  <c:v>67.409136</c:v>
                </c:pt>
                <c:pt idx="6">
                  <c:v>69.138258</c:v>
                </c:pt>
                <c:pt idx="7">
                  <c:v>77.071092</c:v>
                </c:pt>
                <c:pt idx="8">
                  <c:v>76.69022</c:v>
                </c:pt>
                <c:pt idx="9">
                  <c:v>76.478395</c:v>
                </c:pt>
                <c:pt idx="10">
                  <c:v>70.34316</c:v>
                </c:pt>
                <c:pt idx="11">
                  <c:v>64.753534</c:v>
                </c:pt>
                <c:pt idx="12">
                  <c:v>63.370105</c:v>
                </c:pt>
                <c:pt idx="13">
                  <c:v>64.174627</c:v>
                </c:pt>
                <c:pt idx="14">
                  <c:v>62.474492</c:v>
                </c:pt>
                <c:pt idx="15">
                  <c:v>60.757097</c:v>
                </c:pt>
                <c:pt idx="16">
                  <c:v>60.799875</c:v>
                </c:pt>
                <c:pt idx="17">
                  <c:v>59.616544</c:v>
                </c:pt>
                <c:pt idx="18">
                  <c:v>60.821264</c:v>
                </c:pt>
                <c:pt idx="19">
                  <c:v>62.99336</c:v>
                </c:pt>
                <c:pt idx="20">
                  <c:v>61.992867</c:v>
                </c:pt>
                <c:pt idx="21">
                  <c:v>60.17819</c:v>
                </c:pt>
                <c:pt idx="22">
                  <c:v>60.999973</c:v>
                </c:pt>
                <c:pt idx="23">
                  <c:v>61.769316</c:v>
                </c:pt>
                <c:pt idx="24">
                  <c:v>58.299346</c:v>
                </c:pt>
                <c:pt idx="25">
                  <c:v>58.258632</c:v>
                </c:pt>
                <c:pt idx="26">
                  <c:v>57.705492</c:v>
                </c:pt>
                <c:pt idx="27">
                  <c:v>56.93937</c:v>
                </c:pt>
                <c:pt idx="28">
                  <c:v>56.443955</c:v>
                </c:pt>
                <c:pt idx="29">
                  <c:v>58.985197</c:v>
                </c:pt>
                <c:pt idx="30">
                  <c:v>56.772387</c:v>
                </c:pt>
                <c:pt idx="31">
                  <c:v>59.851822</c:v>
                </c:pt>
                <c:pt idx="32">
                  <c:v>53.995866</c:v>
                </c:pt>
                <c:pt idx="33">
                  <c:v>55.453124</c:v>
                </c:pt>
                <c:pt idx="34">
                  <c:v>53.628784</c:v>
                </c:pt>
                <c:pt idx="35">
                  <c:v>57.765281</c:v>
                </c:pt>
                <c:pt idx="36">
                  <c:v>63.718986</c:v>
                </c:pt>
                <c:pt idx="37">
                  <c:v>59.128822</c:v>
                </c:pt>
                <c:pt idx="38">
                  <c:v>58.008908</c:v>
                </c:pt>
                <c:pt idx="39">
                  <c:v>54.615487</c:v>
                </c:pt>
                <c:pt idx="40">
                  <c:v>55.134355</c:v>
                </c:pt>
                <c:pt idx="41">
                  <c:v>53.294161</c:v>
                </c:pt>
                <c:pt idx="42">
                  <c:v>56.521255</c:v>
                </c:pt>
                <c:pt idx="43">
                  <c:v>54.396064</c:v>
                </c:pt>
                <c:pt idx="44">
                  <c:v>53.848208</c:v>
                </c:pt>
                <c:pt idx="45">
                  <c:v>51.497402</c:v>
                </c:pt>
                <c:pt idx="46">
                  <c:v>52.321249</c:v>
                </c:pt>
                <c:pt idx="47">
                  <c:v>51.318692</c:v>
                </c:pt>
                <c:pt idx="48">
                  <c:v>54.219418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2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2023Q4-2025Q4 Validation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Actual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61.7</c:v>
                </c:pt>
                <c:pt idx="1">
                  <c:v>59.3</c:v>
                </c:pt>
                <c:pt idx="2">
                  <c:v>53.1</c:v>
                </c:pt>
                <c:pt idx="3">
                  <c:v>54.9</c:v>
                </c:pt>
                <c:pt idx="4">
                  <c:v>52.7</c:v>
                </c:pt>
                <c:pt idx="5">
                  <c:v>53.4</c:v>
                </c:pt>
                <c:pt idx="6">
                  <c:v>52.6</c:v>
                </c:pt>
                <c:pt idx="7">
                  <c:v>56.1</c:v>
                </c:pt>
                <c:pt idx="8">
                  <c:v>54.8</c:v>
                </c:pt>
              </c:numCache>
            </c:numRef>
          </c:val>
          <c:smooth val="0"/>
        </c:ser>
        <c:ser>
          <c:idx val="1"/>
          <c:order val="1"/>
          <c:tx>
            <c:v>One-step</c:v>
          </c:tx>
          <c:spPr>
            <a:ln xmlns:a="http://schemas.openxmlformats.org/drawingml/2006/main" w="20955">
              <a:solidFill>
                <a:srgbClr val="C55A11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55A11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57.901213</c:v>
                </c:pt>
                <c:pt idx="1">
                  <c:v>60.675669</c:v>
                </c:pt>
                <c:pt idx="2">
                  <c:v>58.818214</c:v>
                </c:pt>
                <c:pt idx="3">
                  <c:v>54.304973</c:v>
                </c:pt>
                <c:pt idx="4">
                  <c:v>55.676676</c:v>
                </c:pt>
                <c:pt idx="5">
                  <c:v>53.902712</c:v>
                </c:pt>
                <c:pt idx="6">
                  <c:v>54.440905</c:v>
                </c:pt>
                <c:pt idx="7">
                  <c:v>53.89305</c:v>
                </c:pt>
                <c:pt idx="8">
                  <c:v>56.519848</c:v>
                </c:pt>
              </c:numCache>
            </c:numRef>
          </c:val>
          <c:smooth val="0"/>
        </c:ser>
        <c:ser>
          <c:idx val="2"/>
          <c:order val="2"/>
          <c:tx>
            <c:v>Recursive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548235"/>
              </a:solidFill>
            </c:spPr>
          </c:marker>
          <c:cat>
            <c:strRef>
              <c:f>'Chart Data'!$E$2:$E$10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Data'!$F$2:$F$10</c:f>
              <c:numCache>
                <c:formatCode>0.0</c:formatCode>
                <c:ptCount val="9"/>
                <c:pt idx="0">
                  <c:v>57.901213</c:v>
                </c:pt>
                <c:pt idx="1">
                  <c:v>57.871057</c:v>
                </c:pt>
                <c:pt idx="2">
                  <c:v>57.763237</c:v>
                </c:pt>
                <c:pt idx="3">
                  <c:v>57.747802</c:v>
                </c:pt>
                <c:pt idx="4">
                  <c:v>57.779183</c:v>
                </c:pt>
                <c:pt idx="5">
                  <c:v>57.65263</c:v>
                </c:pt>
                <c:pt idx="6">
                  <c:v>57.580586</c:v>
                </c:pt>
                <c:pt idx="7">
                  <c:v>57.570174</c:v>
                </c:pt>
                <c:pt idx="8">
                  <c:v>57.605265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4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40-Quarter Rolling Coefficients (100 = Full Model)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EF lag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Data'!$B$2:$B$11</c:f>
              <c:numCache>
                <c:formatCode>0</c:formatCode>
                <c:ptCount val="10"/>
                <c:pt idx="0">
                  <c:v>94.987728</c:v>
                </c:pt>
                <c:pt idx="1">
                  <c:v>94.356804</c:v>
                </c:pt>
                <c:pt idx="2">
                  <c:v>91.05619</c:v>
                </c:pt>
                <c:pt idx="3">
                  <c:v>90.919186</c:v>
                </c:pt>
                <c:pt idx="4">
                  <c:v>91.686784</c:v>
                </c:pt>
                <c:pt idx="5">
                  <c:v>92.358162</c:v>
                </c:pt>
                <c:pt idx="6">
                  <c:v>91.494138</c:v>
                </c:pt>
                <c:pt idx="7">
                  <c:v>103.752631</c:v>
                </c:pt>
                <c:pt idx="8">
                  <c:v>101.179257</c:v>
                </c:pt>
                <c:pt idx="9">
                  <c:v>98.590339</c:v>
                </c:pt>
              </c:numCache>
            </c:numRef>
          </c:val>
          <c:smooth val="0"/>
        </c:ser>
        <c:ser>
          <c:idx val="1"/>
          <c:order val="1"/>
          <c:tx>
            <c:v>Unemployment</c:v>
          </c:tx>
          <c:spPr>
            <a:ln xmlns:a="http://schemas.openxmlformats.org/drawingml/2006/main" w="20955">
              <a:solidFill>
                <a:srgbClr val="548235"/>
              </a:solidFill>
              <a:prstDash val="solid"/>
            </a:ln>
          </c:spPr>
          <c:marker>
            <c:symbol val="none"/>
          </c:marker>
          <c:cat>
            <c:strRef>
              <c:f>'Chart Data'!$C$2:$C$11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Data'!$D$2:$D$11</c:f>
              <c:numCache>
                <c:formatCode>0</c:formatCode>
                <c:ptCount val="10"/>
                <c:pt idx="0">
                  <c:v>95.723121</c:v>
                </c:pt>
                <c:pt idx="1">
                  <c:v>97.988111</c:v>
                </c:pt>
                <c:pt idx="2">
                  <c:v>93.09812</c:v>
                </c:pt>
                <c:pt idx="3">
                  <c:v>96.374685</c:v>
                </c:pt>
                <c:pt idx="4">
                  <c:v>96.850995</c:v>
                </c:pt>
                <c:pt idx="5">
                  <c:v>98.949761</c:v>
                </c:pt>
                <c:pt idx="6">
                  <c:v>98.796373</c:v>
                </c:pt>
                <c:pt idx="7">
                  <c:v>102.27894</c:v>
                </c:pt>
                <c:pt idx="8">
                  <c:v>101.513247</c:v>
                </c:pt>
                <c:pt idx="9">
                  <c:v>101.059829</c:v>
                </c:pt>
              </c:numCache>
            </c:numRef>
          </c:val>
          <c:smooth val="0"/>
        </c:ser>
        <c:ser>
          <c:idx val="2"/>
          <c:order val="2"/>
          <c:tx>
            <c:v>Full model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Ref>
              <c:f>'Chart Data'!$E$2:$E$11</c:f>
              <c:strCache>
                <c:ptCount val="10"/>
                <c:pt idx="0">
                  <c:v>2021Q2</c:v>
                </c:pt>
                <c:pt idx="1">
                  <c:v>​​</c:v>
                </c:pt>
                <c:pt idx="2">
                  <c:v>​​​</c:v>
                </c:pt>
                <c:pt idx="3">
                  <c:v>2022Q1</c:v>
                </c:pt>
                <c:pt idx="4">
                  <c:v>​​​​​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2023Q1</c:v>
                </c:pt>
                <c:pt idx="8">
                  <c:v>​​​​​​​​​</c:v>
                </c:pt>
                <c:pt idx="9">
                  <c:v>2023Q3</c:v>
                </c:pt>
              </c:strCache>
            </c:strRef>
          </c:cat>
          <c:val>
            <c:numRef>
              <c:f>'Chart Data'!$F$2:$F$11</c:f>
              <c:numCache>
                <c:formatCode>0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One-Step OOT Error (Actual - Forecast)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Error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3.798787</c:v>
                </c:pt>
                <c:pt idx="1">
                  <c:v>-1.375669</c:v>
                </c:pt>
                <c:pt idx="2">
                  <c:v>-5.718214</c:v>
                </c:pt>
                <c:pt idx="3">
                  <c:v>0.595027</c:v>
                </c:pt>
                <c:pt idx="4">
                  <c:v>-2.976676</c:v>
                </c:pt>
                <c:pt idx="5">
                  <c:v>-0.502712</c:v>
                </c:pt>
                <c:pt idx="6">
                  <c:v>-1.840905</c:v>
                </c:pt>
                <c:pt idx="7">
                  <c:v>2.20695</c:v>
                </c:pt>
                <c:pt idx="8">
                  <c:v>-1.719848</c:v>
                </c:pt>
              </c:numCache>
            </c:numRef>
          </c:val>
          <c:smooth val="0"/>
        </c:ser>
        <c:ser>
          <c:idx val="1"/>
          <c:order val="1"/>
          <c:tx>
            <c:v>Zero</c:v>
          </c:tx>
          <c:spPr>
            <a:ln xmlns:a="http://schemas.openxmlformats.org/drawingml/2006/main" w="11430">
              <a:solidFill>
                <a:srgbClr val="A6A6A6"/>
              </a:solidFill>
              <a:prstDash val="dash"/>
            </a:ln>
          </c:spPr>
          <c:marker>
            <c:symbol val="circle"/>
            <c:size val="4"/>
            <c:spPr>
              <a:solidFill xmlns:a="http://schemas.openxmlformats.org/drawingml/2006/main">
                <a:srgbClr val="A6A6A6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2023Q4</c:v>
                </c:pt>
                <c:pt idx="1">
                  <c:v>2024Q1</c:v>
                </c:pt>
                <c:pt idx="2">
                  <c:v>2024Q2</c:v>
                </c:pt>
                <c:pt idx="3">
                  <c:v>2024Q3</c:v>
                </c:pt>
                <c:pt idx="4">
                  <c:v>2024Q4</c:v>
                </c:pt>
                <c:pt idx="5">
                  <c:v>2025Q1</c:v>
                </c:pt>
                <c:pt idx="6">
                  <c:v>2025Q2</c:v>
                </c:pt>
                <c:pt idx="7">
                  <c:v>2025Q3</c:v>
                </c:pt>
                <c:pt idx="8">
                  <c:v>2025Q4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Unemployment Scenario Paths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4.333333</c:v>
                </c:pt>
                <c:pt idx="1">
                  <c:v>4.266667</c:v>
                </c:pt>
                <c:pt idx="2">
                  <c:v>4.17</c:v>
                </c:pt>
                <c:pt idx="3">
                  <c:v>4.303333</c:v>
                </c:pt>
                <c:pt idx="4">
                  <c:v>4.513333</c:v>
                </c:pt>
                <c:pt idx="5">
                  <c:v>4.623333</c:v>
                </c:pt>
                <c:pt idx="6">
                  <c:v>4.703333</c:v>
                </c:pt>
                <c:pt idx="7">
                  <c:v>4.71</c:v>
                </c:pt>
                <c:pt idx="8">
                  <c:v>4.68</c:v>
                </c:pt>
              </c:numCache>
            </c:numRef>
          </c:val>
          <c:smooth val="0"/>
        </c:ser>
        <c:ser>
          <c:idx val="1"/>
          <c:order val="1"/>
          <c:tx>
            <c:v>S4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6.565449</c:v>
                </c:pt>
                <c:pt idx="1">
                  <c:v>7.899902</c:v>
                </c:pt>
                <c:pt idx="2">
                  <c:v>8.566341</c:v>
                </c:pt>
                <c:pt idx="3">
                  <c:v>8.936377</c:v>
                </c:pt>
                <c:pt idx="4">
                  <c:v>9.191204</c:v>
                </c:pt>
                <c:pt idx="5">
                  <c:v>9.358607</c:v>
                </c:pt>
                <c:pt idx="6">
                  <c:v>9.428866</c:v>
                </c:pt>
                <c:pt idx="7">
                  <c:v>9.455956</c:v>
                </c:pt>
                <c:pt idx="8">
                  <c:v>9.427875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Conditional EF Forecasts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S1 EF</c:v>
          </c:tx>
          <c:spPr>
            <a:ln xmlns:a="http://schemas.openxmlformats.org/drawingml/2006/main" w="20955">
              <a:solidFill>
                <a:srgbClr val="1F4E79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cat>
            <c:strRef>
              <c:f>'Chart Data'!$A$2:$A$10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55.395293</c:v>
                </c:pt>
                <c:pt idx="1">
                  <c:v>55.686349</c:v>
                </c:pt>
                <c:pt idx="2">
                  <c:v>55.932595</c:v>
                </c:pt>
                <c:pt idx="3">
                  <c:v>56.095133</c:v>
                </c:pt>
                <c:pt idx="4">
                  <c:v>56.360137</c:v>
                </c:pt>
                <c:pt idx="5">
                  <c:v>56.603847</c:v>
                </c:pt>
                <c:pt idx="6">
                  <c:v>56.720319</c:v>
                </c:pt>
                <c:pt idx="7">
                  <c:v>56.787217</c:v>
                </c:pt>
                <c:pt idx="8">
                  <c:v>56.790219</c:v>
                </c:pt>
              </c:numCache>
            </c:numRef>
          </c:val>
          <c:smooth val="0"/>
        </c:ser>
        <c:ser>
          <c:idx val="1"/>
          <c:order val="1"/>
          <c:tx>
            <c:v>S4 EF</c:v>
          </c:tx>
          <c:spPr>
            <a:ln xmlns:a="http://schemas.openxmlformats.org/drawingml/2006/main" w="20955">
              <a:solidFill>
                <a:srgbClr val="C0504D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0504D"/>
              </a:solidFill>
            </c:spPr>
          </c:marker>
          <c:cat>
            <c:strRef>
              <c:f>'Chart Data'!$C$2:$C$10</c:f>
              <c:strCache>
                <c:ptCount val="9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  <c:pt idx="3">
                  <c:v>2026Q4</c:v>
                </c:pt>
                <c:pt idx="4">
                  <c:v>2027Q1</c:v>
                </c:pt>
                <c:pt idx="5">
                  <c:v>2027Q2</c:v>
                </c:pt>
                <c:pt idx="6">
                  <c:v>2027Q3</c:v>
                </c:pt>
                <c:pt idx="7">
                  <c:v>2027Q4</c:v>
                </c:pt>
                <c:pt idx="8">
                  <c:v>2028Q1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55.395293</c:v>
                </c:pt>
                <c:pt idx="1">
                  <c:v>57.09565</c:v>
                </c:pt>
                <c:pt idx="2">
                  <c:v>57.85586</c:v>
                </c:pt>
                <c:pt idx="3">
                  <c:v>57.994356</c:v>
                </c:pt>
                <c:pt idx="4">
                  <c:v>57.909284</c:v>
                </c:pt>
                <c:pt idx="5">
                  <c:v>57.773848</c:v>
                </c:pt>
                <c:pt idx="6">
                  <c:v>57.618836</c:v>
                </c:pt>
                <c:pt idx="7">
                  <c:v>57.44326</c:v>
                </c:pt>
                <c:pt idx="8">
                  <c:v>57.286607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9"/>
          <c:min val="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52525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Historical EF</c:v>
          </c:tx>
          <c:spPr>
            <a:ln xmlns:a="http://schemas.openxmlformats.org/drawingml/2006/main" w="23813">
              <a:solidFill>
                <a:srgbClr val="1F4E79"/>
              </a:solidFill>
              <a:prstDash val="solid"/>
            </a:ln>
          </c:spPr>
          <c:marker>
            <c:symbol val="none"/>
          </c:marker>
          <c:cat>
            <c:strRef>
              <c:f>'Chart Data'!$A$2:$A$61</c:f>
              <c:strCache>
                <c:ptCount val="60"/>
                <c:pt idx="0">
                  <c:v>2011</c:v>
                </c:pt>
                <c:pt idx="1">
                  <c:v>​​</c:v>
                </c:pt>
                <c:pt idx="2">
                  <c:v>​​​</c:v>
                </c:pt>
                <c:pt idx="3">
                  <c:v>​​​​</c:v>
                </c:pt>
                <c:pt idx="4">
                  <c:v>2012</c:v>
                </c:pt>
                <c:pt idx="5">
                  <c:v>​​​​​​</c:v>
                </c:pt>
                <c:pt idx="6">
                  <c:v>​​​​​​​</c:v>
                </c:pt>
                <c:pt idx="7">
                  <c:v>​​​​​​​​</c:v>
                </c:pt>
                <c:pt idx="8">
                  <c:v>2013</c:v>
                </c:pt>
                <c:pt idx="9">
                  <c:v>​​​​​​​​​​</c:v>
                </c:pt>
                <c:pt idx="10">
                  <c:v>​​​​​​​​​​​</c:v>
                </c:pt>
                <c:pt idx="11">
                  <c:v>​​​​​​​​​​​​</c:v>
                </c:pt>
                <c:pt idx="12">
                  <c:v>2014</c:v>
                </c:pt>
                <c:pt idx="13">
                  <c:v>​​​​​​​​​​​​​​</c:v>
                </c:pt>
                <c:pt idx="14">
                  <c:v>​​​​​​​​​​​​​​​</c:v>
                </c:pt>
                <c:pt idx="15">
                  <c:v>​​​​​​​​​​​​​​​​</c:v>
                </c:pt>
                <c:pt idx="16">
                  <c:v>2015</c:v>
                </c:pt>
                <c:pt idx="17">
                  <c:v>​​​​​​​​​​​​​​​​​​</c:v>
                </c:pt>
                <c:pt idx="18">
                  <c:v>​​​​​​​​​​​​​​​​​​​</c:v>
                </c:pt>
                <c:pt idx="19">
                  <c:v>​​​​​​​​​​​​​​​​​​​​</c:v>
                </c:pt>
                <c:pt idx="20">
                  <c:v>2016</c:v>
                </c:pt>
                <c:pt idx="21">
                  <c:v>​​​​​​​​​​​​​​​​​​​​​​</c:v>
                </c:pt>
                <c:pt idx="22">
                  <c:v>​​​​​​​​​​​​​​​​​​​​​​​</c:v>
                </c:pt>
                <c:pt idx="23">
                  <c:v>​​​​​​​​​​​​​​​​​​​​​​​​</c:v>
                </c:pt>
                <c:pt idx="24">
                  <c:v>2017</c:v>
                </c:pt>
                <c:pt idx="25">
                  <c:v>​​​​​​​​​​​​​​​​​​​​​​​​​​</c:v>
                </c:pt>
                <c:pt idx="26">
                  <c:v>​​​​​​​​​​​​​​​​​​​​​​​​​​​</c:v>
                </c:pt>
                <c:pt idx="27">
                  <c:v>​​​​​​​​​​​​​​​​​​​​​​​​​​​​</c:v>
                </c:pt>
                <c:pt idx="28">
                  <c:v>2018</c:v>
                </c:pt>
                <c:pt idx="29">
                  <c:v>​​​​​​​​​​​​​​​​​​​​​​​​​​​​​​</c:v>
                </c:pt>
                <c:pt idx="30">
                  <c:v>​​​​​​​​​​​​​​​​​​​​​​​​​​​​​​​</c:v>
                </c:pt>
                <c:pt idx="31">
                  <c:v>​​​​​​​​​​​​​​​​​​​​​​​​​​​​​​​​</c:v>
                </c:pt>
                <c:pt idx="32">
                  <c:v>2019</c:v>
                </c:pt>
                <c:pt idx="33">
                  <c:v>​​​​​​​​​​​​​​​​​​​​​​​​​​​​​​​​​​</c:v>
                </c:pt>
                <c:pt idx="34">
                  <c:v>​​​​​​​​​​​​​​​​​​​​​​​​​​​​​​​​​​​</c:v>
                </c:pt>
                <c:pt idx="35">
                  <c:v>​​​​​​​​​​​​​​​​​​​​​​​​​​​​​​​​​​​​</c:v>
                </c:pt>
                <c:pt idx="36">
                  <c:v>2020</c:v>
                </c:pt>
                <c:pt idx="37">
                  <c:v>​​​​​​​​​​​​​​​​​​​​​​​​​​​​​​​​​​​​​​</c:v>
                </c:pt>
                <c:pt idx="38">
                  <c:v>​​​​​​​​​​​​​​​​​​​​​​​​​​​​​​​​​​​​​​​</c:v>
                </c:pt>
                <c:pt idx="39">
                  <c:v>​​​​​​​​​​​​​​​​​​​​​​​​​​​​​​​​​​​​​​​​</c:v>
                </c:pt>
                <c:pt idx="40">
                  <c:v>2021</c:v>
                </c:pt>
                <c:pt idx="41">
                  <c:v>​​​​​​​​​​​​​​​​​​​​​​​​​​​​​​​​​​​​​​​​​​</c:v>
                </c:pt>
                <c:pt idx="42">
                  <c:v>​​​​​​​​​​​​​​​​​​​​​​​​​​​​​​​​​​​​​​​​​​​</c:v>
                </c:pt>
                <c:pt idx="43">
                  <c:v>​​​​​​​​​​​​​​​​​​​​​​​​​​​​​​​​​​​​​​​​​​​​</c:v>
                </c:pt>
                <c:pt idx="44">
                  <c:v>2022</c:v>
                </c:pt>
                <c:pt idx="45">
                  <c:v>​​​​​​​​​​​​​​​​​​​​​​​​​​​​​​​​​​​​​​​​​​​​​​</c:v>
                </c:pt>
                <c:pt idx="46">
                  <c:v>​​​​​​​​​​​​​​​​​​​​​​​​​​​​​​​​​​​​​​​​​​​​​​​</c:v>
                </c:pt>
                <c:pt idx="47">
                  <c:v>​​​​​​​​​​​​​​​​​​​​​​​​​​​​​​​​​​​​​​​​​​​​​​​​</c:v>
                </c:pt>
                <c:pt idx="48">
                  <c:v>2023</c:v>
                </c:pt>
                <c:pt idx="49">
                  <c:v>​​​​​​​​​​​​​​​​​​​​​​​​​​​​​​​​​​​​​​​​​​​​​​​​​​</c:v>
                </c:pt>
                <c:pt idx="50">
                  <c:v>​​​​​​​​​​​​​​​​​​​​​​​​​​​​​​​​​​​​​​​​​​​​​​​​​​​</c:v>
                </c:pt>
                <c:pt idx="51">
                  <c:v>​​​​​​​​​​​​​​​​​​​​​​​​​​​​​​​​​​​​​​​​​​​​​​​​​​​​</c:v>
                </c:pt>
                <c:pt idx="52">
                  <c:v>2024</c:v>
                </c:pt>
                <c:pt idx="53">
                  <c:v>​​​​​​​​​​​​​​​​​​​​​​​​​​​​​​​​​​​​​​​​​​​​​​​​​​​​​​</c:v>
                </c:pt>
                <c:pt idx="54">
                  <c:v>​​​​​​​​​​​​​​​​​​​​​​​​​​​​​​​​​​​​​​​​​​​​​​​​​​​​​​​</c:v>
                </c:pt>
                <c:pt idx="55">
                  <c:v>​​​​​​​​​​​​​​​​​​​​​​​​​​​​​​​​​​​​​​​​​​​​​​​​​​​​​​​​</c:v>
                </c:pt>
                <c:pt idx="56">
                  <c:v>2025</c:v>
                </c:pt>
                <c:pt idx="57">
                  <c:v>​​​​​​​​​​​​​​​​​​​​​​​​​​​​​​​​​​​​​​​​​​​​​​​​​​​​​​​​​​</c:v>
                </c:pt>
                <c:pt idx="58">
                  <c:v>​​​​​​​​​​​​​​​​​​​​​​​​​​​​​​​​​​​​​​​​​​​​​​​​​​​​​​​​​​​</c:v>
                </c:pt>
                <c:pt idx="59">
                  <c:v>2025Q4</c:v>
                </c:pt>
              </c:strCache>
            </c:strRef>
          </c:cat>
          <c:val>
            <c:numRef>
              <c:f>'Chart Data'!$B$2:$B$61</c:f>
              <c:numCache>
                <c:formatCode>0.0</c:formatCode>
                <c:ptCount val="60"/>
                <c:pt idx="0">
                  <c:v>63.9</c:v>
                </c:pt>
                <c:pt idx="1">
                  <c:v>64.5</c:v>
                </c:pt>
                <c:pt idx="2">
                  <c:v>63.1</c:v>
                </c:pt>
                <c:pt idx="3">
                  <c:v>66.8</c:v>
                </c:pt>
                <c:pt idx="4">
                  <c:v>66.5</c:v>
                </c:pt>
                <c:pt idx="5">
                  <c:v>67.9</c:v>
                </c:pt>
                <c:pt idx="6">
                  <c:v>65.2</c:v>
                </c:pt>
                <c:pt idx="7">
                  <c:v>67.6</c:v>
                </c:pt>
                <c:pt idx="8">
                  <c:v>78.2</c:v>
                </c:pt>
                <c:pt idx="9">
                  <c:v>77.8</c:v>
                </c:pt>
                <c:pt idx="10">
                  <c:v>77.6</c:v>
                </c:pt>
                <c:pt idx="11">
                  <c:v>75.2</c:v>
                </c:pt>
                <c:pt idx="12">
                  <c:v>67.6</c:v>
                </c:pt>
                <c:pt idx="13">
                  <c:v>65.9</c:v>
                </c:pt>
                <c:pt idx="14">
                  <c:v>66.7</c:v>
                </c:pt>
                <c:pt idx="15">
                  <c:v>64.6</c:v>
                </c:pt>
                <c:pt idx="16">
                  <c:v>62.1</c:v>
                </c:pt>
                <c:pt idx="17">
                  <c:v>62.1</c:v>
                </c:pt>
                <c:pt idx="18">
                  <c:v>60.7</c:v>
                </c:pt>
                <c:pt idx="19">
                  <c:v>62.1</c:v>
                </c:pt>
                <c:pt idx="20">
                  <c:v>65.1</c:v>
                </c:pt>
                <c:pt idx="21">
                  <c:v>63.6</c:v>
                </c:pt>
                <c:pt idx="22">
                  <c:v>61.2</c:v>
                </c:pt>
                <c:pt idx="23">
                  <c:v>62.4</c:v>
                </c:pt>
                <c:pt idx="24">
                  <c:v>63.5</c:v>
                </c:pt>
                <c:pt idx="25">
                  <c:v>58.8</c:v>
                </c:pt>
                <c:pt idx="26">
                  <c:v>58.6</c:v>
                </c:pt>
                <c:pt idx="27">
                  <c:v>57.966667</c:v>
                </c:pt>
                <c:pt idx="28">
                  <c:v>56.9</c:v>
                </c:pt>
                <c:pt idx="29">
                  <c:v>56.2</c:v>
                </c:pt>
                <c:pt idx="30">
                  <c:v>59.7</c:v>
                </c:pt>
                <c:pt idx="31">
                  <c:v>56.5</c:v>
                </c:pt>
                <c:pt idx="32">
                  <c:v>60.7</c:v>
                </c:pt>
                <c:pt idx="33">
                  <c:v>53</c:v>
                </c:pt>
                <c:pt idx="34">
                  <c:v>54.8</c:v>
                </c:pt>
                <c:pt idx="35">
                  <c:v>52.3</c:v>
                </c:pt>
                <c:pt idx="36">
                  <c:v>57.7</c:v>
                </c:pt>
                <c:pt idx="37">
                  <c:v>58</c:v>
                </c:pt>
                <c:pt idx="38">
                  <c:v>63.4</c:v>
                </c:pt>
                <c:pt idx="39">
                  <c:v>60</c:v>
                </c:pt>
                <c:pt idx="40">
                  <c:v>54.1</c:v>
                </c:pt>
                <c:pt idx="41">
                  <c:v>54.6</c:v>
                </c:pt>
                <c:pt idx="42">
                  <c:v>52.6</c:v>
                </c:pt>
                <c:pt idx="43">
                  <c:v>57</c:v>
                </c:pt>
                <c:pt idx="44">
                  <c:v>53.6</c:v>
                </c:pt>
                <c:pt idx="45">
                  <c:v>52.8</c:v>
                </c:pt>
                <c:pt idx="46">
                  <c:v>49.5</c:v>
                </c:pt>
                <c:pt idx="47">
                  <c:v>50.5</c:v>
                </c:pt>
                <c:pt idx="48">
                  <c:v>49.2</c:v>
                </c:pt>
                <c:pt idx="49">
                  <c:v>53.1</c:v>
                </c:pt>
                <c:pt idx="50">
                  <c:v>58</c:v>
                </c:pt>
                <c:pt idx="51">
                  <c:v>61.7</c:v>
                </c:pt>
                <c:pt idx="52">
                  <c:v>59.3</c:v>
                </c:pt>
                <c:pt idx="53">
                  <c:v>53.1</c:v>
                </c:pt>
                <c:pt idx="54">
                  <c:v>54.9</c:v>
                </c:pt>
                <c:pt idx="55">
                  <c:v>52.7</c:v>
                </c:pt>
                <c:pt idx="56">
                  <c:v>53.4</c:v>
                </c:pt>
                <c:pt idx="57">
                  <c:v>52.6</c:v>
                </c:pt>
                <c:pt idx="58">
                  <c:v>56.1</c:v>
                </c:pt>
                <c:pt idx="59">
                  <c:v>54.8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7C190-E94C-47F3-A91B-54CBED4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2A36-44EA-435D-A32D-AED1611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D5741-9FA0-4831-A820-956AADD1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E050A-76A3-42F3-825B-76CC23D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B966B-CA01-4938-BC65-EBD90CEB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A4D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4D67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288B6-EC73-44CE-8150-BD7A8E1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Noncomp Efficiency Ratio</a:t>
            </a:r>
          </a:p>
          <a:p xmlns:a="http://schemas.openxmlformats.org/drawingml/2006/main">
            <a:pPr>
              <a:defRPr sz="352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29D9C-DD98-4038-B3B3-A37501C9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Development and Conditional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255AF-F5F8-41C8-A9C8-906C1620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Working Group Review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October 21, 2026</a:t>
            </a:r>
          </a:p>
          <a:p xmlns:a="http://schemas.openxmlformats.org/drawingml/2006/main">
            <a:pPr>
              <a:defRPr sz="11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52525"/>
                </a:solidFill>
                <a:latin typeface="Arial"/>
                <a:ea typeface="Arial"/>
                <a:cs typeface="Arial"/>
              </a:rPr>
              <a:t>Historical data through 4Q25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ABFFF-759B-499A-A233-B9CEBD2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7125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34AD87-D70E-40F2-A3D3-2B949A21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290C0-BEC5-4029-BA66-99819BFA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6727-3998-46E3-B0F4-106A21F8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Development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3FDA4-04A7-4A1A-9046-AA52183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92C34-C40F-4831-9EBC-98EEB0F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40015-4261-4803-A384-2F86D1C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D4979-CDDF-4E72-8AD0-665B34F2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579D2-39F2-4E26-B45C-33BBB85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409700"/>
            <a:ext cx="1003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B19EB-9C3E-4FBE-A5BA-2E2AFBB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47825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5C1CD-D8F3-4A53-82A5-7D591122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47825"/>
            <a:ext cx="842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3C822-C732-44AE-ADE8-5F45A852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94DAD-CE34-4275-98C0-26B5F69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85925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Noncomp efficiency ratio, modeled as the supplied aggregate cost-to-income ratio. Higher EF indicates more expense per unit of income.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F6706-7C79-4A2E-8251-CF957BF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85975"/>
            <a:ext cx="1762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A79EC-B505-4A16-A73D-1FDFC3FB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842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87746-B88D-4C62-84BD-BD0B7A0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590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BFD24-B9F0-405A-96D1-BE95952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1. L-SNV quarterly EF and 22 Moody's macro series from 2011Q1 through 2025Q4.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2. Development sample: 2011Q3-2023Q3 (49 observations). OOT: 2023Q4-2025Q4 (9 quarters).</a:t>
            </a:r>
          </a:p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3. S1 and S4 unemployment paths extend through 2028Q1.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F7D71-B399-419F-A126-31EC049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08888-3762-4C81-9BE9-39506A9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24175"/>
            <a:ext cx="842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BC772-085A-423B-BCC9-70EAB22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B3023-5C9D-429D-A209-F9D8980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823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All Noncomp activity is modeled as one aggregate EF series without business-line segmentation.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245C0-8E07-4680-8C07-63E33CF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ACE67-6E07-4BFA-99A5-934E7AA8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842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C6C6C-5C98-4625-8414-BF2C00C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38763-D293-495E-B2BB-DDD4EC12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823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Quarterly EF in ratio levels. A value of 0.55 denotes 55%.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54EB1-C066-4186-9C51-3E6347DF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1762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0371D-9DC3-44AB-AA5B-A8DBCA8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842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8E997-A693-4614-9714-A78D9DC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59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F622C-4122-48E7-ABBA-5559269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823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9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252525"/>
                </a:solidFill>
                <a:latin typeface="Arial"/>
                <a:ea typeface="Arial"/>
                <a:cs typeface="Arial"/>
              </a:rPr>
              <a:t>ARDL regression with one lag of EF, a fixed post-2014 period indicator, and the one-quarter-lagged quarterly change in unemployment.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32982-CB18-4390-8EEB-33BAA75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000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4E800-1203-40EA-A9E2-414F3561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91025"/>
            <a:ext cx="984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Assumptions, Limitations, and 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01D61-1828-455E-870A-A3979AF3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692EC-A140-444C-8BD0-A1E3138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9625"/>
            <a:ext cx="8334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B45EA5-F5B5-436A-97A7-22E14B5B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1495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667906-937A-412E-A066-F3C60E5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814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The EF accounting definition and source data remain comparable over time.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The operating regime from 2014Q1 remains relevant over the forecast horizon.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Historical EF persistence and the unemployment response remain stable.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S1 and S4 are conditional inputs, and future residuals equal zero.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1B91C-351D-4B8C-99E6-5638261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43525"/>
            <a:ext cx="1666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2C6281-D050-4E44-93FF-4B08045A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8334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9804A-74B5-4FCB-AF7A-96E0D80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4954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9E01C-3D79-4189-AF0C-265367D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8143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1. Development includes 49 observations, and OOT validation covers nine quarters.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2. Smoothing of 2017Q3 and 2017Q4 introduces judgment and affects current and lagged EF.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3. Unemployment is the only selected macro driver, while GDP and output-gap alternatives show similar fit.</a:t>
            </a:r>
          </a:p>
          <a:p xmlns:a="http://schemas.openxmlformats.org/drawingml/2006/main">
            <a:pPr>
              <a:defRPr sz="907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07">
                <a:solidFill>
                  <a:srgbClr val="252525"/>
                </a:solidFill>
                <a:latin typeface="Arial"/>
                <a:ea typeface="Arial"/>
                <a:cs typeface="Arial"/>
              </a:rPr>
              <a:t>4. The aggregate model does not separate expense and income effects, and forecasts provide no probability range.</a:t>
            </a:r>
          </a:p>
        </p:txBody>
      </p:sp>
    </p:spTree>
    <p:extLst>
      <p:ext uri="{BB962C8B-B14F-4D97-AF65-F5344CB8AC3E}">
        <p14:creationId xmlns:p14="http://schemas.microsoft.com/office/powerpoint/2010/main" val="9203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1D733-0928-4A26-8845-3F4A7EC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824D5-96D7-4DFE-BCDF-4602026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8F369-3FE2-4966-8CD0-BDD843A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Model Fitting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BECAA-7D75-4335-BEF0-0E95D58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2377-014A-4452-BF17-E7AEBB3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23AB1-1A0B-4A3F-8062-CBC89DA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D934-B1CA-44DD-A2CD-BAC8EE5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ECE07-0875-41E5-A996-2B86DF9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33500"/>
            <a:ext cx="7858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C4456-54D4-4C4E-AC3D-2E933F28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811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Specification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2645D-871D-466C-9323-5353539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71600"/>
            <a:ext cx="766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Post14_t + 0.7383 EF_(t-1) + 0.00642 ΔU_(t-1)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0295-9286-437E-999B-E5305AF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1571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977C5-D254-4B9F-8118-25DC18BA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7858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D79E1-9CBA-4F65-84FE-B7176006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1400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B2538-A7DD-40EB-9722-42F1E96F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7667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quarterly persistence in the efficiency ratio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Post14_t: fixed indicator from 2014Q1 onward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quarterly unemployment-rate change with a one-quarter 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A1F13-3F52-460F-969B-8361D81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A6979-A15D-4B07-8C83-9290701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7858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E7162-F68C-421C-8688-B39A8D1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0ED86-89F2-41EA-881E-78DC8D0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R² = 0.8373, adjusted R² = 0.8265, and fit RMSE = 0.0283. One-step OOT RMSE = 0.0278, and recursive OOT RMSE = 0.0373.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F4184-0D85-4A1F-A59C-02281BF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1571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55538-FCB7-4DD7-BB95-C17B0733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785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40640-7A00-4D64-A314-52BB0D8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40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Conceptual Soundness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003C0-80FB-4630-8177-DC45D56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43225"/>
            <a:ext cx="766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EF lag coefficient is below one, so temporary effects decay over time.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The unemployment-change coefficient is positive and significant at 5% (p = 0.0289).</a:t>
            </a:r>
          </a:p>
          <a:p xmlns:a="http://schemas.openxmlformats.org/drawingml/2006/main">
            <a:pPr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DW, JB, CUSUM, and Ljung-Box diagnostics do not reject at 5% in development.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19B91-1901-4B4A-B72F-96BC6E7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In-Sample Backtesting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C7984-C090-41F6-9415-0F34C472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Out-of-Time Backtesting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365362ED-5D25-405D-B577-4367AD6D20FA}"/>
              </a:ext>
            </a:extLst>
          </p:cNvPr>
          <p:cNvGraphicFramePr/>
          <p:nvPr/>
        </p:nvGraphicFramePr>
        <p:xfrm>
          <a:off xmlns:a="http://schemas.openxmlformats.org/drawingml/2006/main" x="12858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7c1010500e4658"/>
          </a:graphicData>
        </a:graphic>
      </p:graphicFrame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EDE30E96-D71A-467C-9ED4-13940B1EF41A}"/>
              </a:ext>
            </a:extLst>
          </p:cNvPr>
          <p:cNvGraphicFramePr/>
          <p:nvPr/>
        </p:nvGraphicFramePr>
        <p:xfrm>
          <a:off xmlns:a="http://schemas.openxmlformats.org/drawingml/2006/main" x="6429375" y="4143375"/>
          <a:ext xmlns:a="http://schemas.openxmlformats.org/drawingml/2006/main" cx="4476750" cy="2076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ac86e8517d4ed2"/>
          </a:graphicData>
        </a:graphic>
      </p:graphicFrame>
    </p:spTree>
    <p:extLst>
      <p:ext uri="{BB962C8B-B14F-4D97-AF65-F5344CB8AC3E}">
        <p14:creationId xmlns:p14="http://schemas.microsoft.com/office/powerpoint/2010/main" val="1073844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C807B-BA53-46DA-8C1E-BBE666D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8409E-2607-4DF0-A11A-BF4A747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EA13E-D7F0-4CA3-A524-EAC66C6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Outcome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770A1-0A2D-4AF3-9D1B-260902D0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C32E-9EAF-4D3B-AF64-6ED5DD35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9CF5E-2CE6-41C5-A1BF-E3C8CE8C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CFEF8-9B78-4FA6-B39F-71F3770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049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Stability Analysis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3A604A7-2024-4F99-906A-15315A08ABAF}"/>
              </a:ext>
            </a:extLst>
          </p:cNvPr>
          <p:cNvGraphicFramePr/>
          <p:nvPr/>
        </p:nvGraphicFramePr>
        <p:xfrm>
          <a:off xmlns:a="http://schemas.openxmlformats.org/drawingml/2006/main" x="1047750" y="1428750"/>
          <a:ext xmlns:a="http://schemas.openxmlformats.org/drawingml/2006/main" cx="3714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75e7402b0e4b47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6B0B7C31-897E-4ABF-81E6-012F6EF6307A}"/>
              </a:ext>
            </a:extLst>
          </p:cNvPr>
          <p:cNvGraphicFramePr/>
          <p:nvPr/>
        </p:nvGraphicFramePr>
        <p:xfrm>
          <a:off xmlns:a="http://schemas.openxmlformats.org/drawingml/2006/main" x="4953000" y="1428750"/>
          <a:ext xmlns:a="http://schemas.openxmlformats.org/drawingml/2006/main" cx="3476625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049185960f41b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FC97D-A7A7-4F5F-A643-7E493766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760B5-C465-4EAF-BD27-B92BBF73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573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4945F-F84E-47B8-9B54-A51D849E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954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B3BF1-C72A-4C0F-A92C-B2BA73F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286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Ten 40-quarter windows end from 2Q21 through 3Q23 and retain the fixed post-2014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lag ranges from 0.671 to 0.766. The unemployment coefficient ranges from 0.00597 to 0.00656. Neither changes 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Both indices remain within 9.1% of the full model. One-step OOT RMSE equals 2.78 EF percentage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25FFF-E348-4FCB-8C13-3F86C479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957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F0DBC250-F031-44E9-A45D-0516F65207FB}"/>
              </a:ext>
            </a:extLst>
          </p:cNvPr>
          <p:cNvGraphicFramePr/>
          <p:nvPr/>
        </p:nvGraphicFramePr>
        <p:xfrm>
          <a:off xmlns:a="http://schemas.openxmlformats.org/drawingml/2006/main" x="1047750" y="4019550"/>
          <a:ext xmlns:a="http://schemas.openxmlformats.org/drawingml/2006/main" cx="3714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3e6b61c94044ee"/>
          </a:graphicData>
        </a:graphic>
      </p:graphicFrame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CC2AB517-8DAA-4551-B9D7-8CE5A1D8AD99}"/>
              </a:ext>
            </a:extLst>
          </p:cNvPr>
          <p:cNvGraphicFramePr/>
          <p:nvPr/>
        </p:nvGraphicFramePr>
        <p:xfrm>
          <a:off xmlns:a="http://schemas.openxmlformats.org/drawingml/2006/main" x="4953000" y="4019550"/>
          <a:ext xmlns:a="http://schemas.openxmlformats.org/drawingml/2006/main" cx="3476625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7f9a6484d5421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DA0E8-E1E8-4154-9837-E70CB3F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A51BB-E527-49F6-9B99-51B26631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Comments /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B1AC1-6BF6-484C-A0A8-335243C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6250"/>
            <a:ext cx="2476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CA99B-B91A-448C-8982-44478AB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28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Both forecasts equal 55.4% in 1Q26 because the lag structure uses the same historical unemployment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S4 peaks at 58.0% in 4Q26 versus 56.1% under S1.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15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By 1Q28, S4 equals 57.3% and S1 equals 56.8%.</a:t>
            </a:r>
          </a:p>
        </p:txBody>
      </p:sp>
    </p:spTree>
    <p:extLst>
      <p:ext uri="{BB962C8B-B14F-4D97-AF65-F5344CB8AC3E}">
        <p14:creationId xmlns:p14="http://schemas.microsoft.com/office/powerpoint/2010/main" val="2070134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67A73B-A642-49EA-B577-D8F998AE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71330-07B0-4459-BCA9-FF26EA4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A5595-1346-41AD-9E2A-7483BEB7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Champion: Noncomp Efficiency Ratio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5EEC6-6D6F-4A8F-9D4D-297BFE1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325" b="1" i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325" b="1" i="1">
                <a:solidFill>
                  <a:srgbClr val="252525"/>
                </a:solidFill>
                <a:latin typeface="Arial"/>
                <a:ea typeface="Arial"/>
                <a:cs typeface="Arial"/>
              </a:rPr>
              <a:t>Pinnacle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AD0E7-D7F2-4DD7-B510-E454471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86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FINANCIAL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5FDD3-68AB-4A7D-963D-068E6BC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00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2525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AE379-A9D1-4A14-9237-D88230A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239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3F6BD-C993-4035-9DC4-CBBABFB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525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13322-0C52-466A-9B6D-0D14B68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1504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90D50-A3FC-403A-B023-542ED2EE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71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991F7-C7AD-4060-84CC-EB43DAA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19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Efficiency Ratio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63DCE-A3F8-41B3-B4ED-42392148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097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Expense growth and revenue performance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Operating leverage and business mix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Labor-market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A2AA2-2983-4F8C-B7F4-ABFE43BD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504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B7AA0-4F18-40A5-B3F9-A4F280D1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19325"/>
            <a:ext cx="37147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D676A-AC32-4CFB-8AA9-CDA32077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66950"/>
            <a:ext cx="1333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  <a:p xmlns:a="http://schemas.openxmlformats.org/drawingml/2006/main">
            <a:pPr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C252F-A676-4F65-BDEB-540F3CE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7425"/>
            <a:ext cx="3524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shifts after 2014 and remains persistent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Quarterly history is limited to 60 level observations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combines expense and income channels</a:t>
            </a:r>
          </a:p>
          <a:p xmlns:a="http://schemas.openxmlformats.org/drawingml/2006/main">
            <a:pPr>
              <a:defRPr sz="86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Close macro alternatives complicate variable selection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2E6F734A-CED9-4A1E-B0AE-147AB2E5F3C9}"/>
              </a:ext>
            </a:extLst>
          </p:cNvPr>
          <p:cNvGraphicFramePr/>
          <p:nvPr/>
        </p:nvGraphicFramePr>
        <p:xfrm>
          <a:off xmlns:a="http://schemas.openxmlformats.org/drawingml/2006/main" x="6981825" y="1238250"/>
          <a:ext xmlns:a="http://schemas.openxmlformats.org/drawingml/2006/main" cx="4048125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80d7ab9e78464a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7BE23-ABE5-4FF9-8976-12A66D1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04F21-4EA8-40AB-9DD8-9FFE24C2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24250"/>
            <a:ext cx="506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Engineering Framework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39D2A-6927-4859-B738-5AD334F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DEBC7-D8DC-493B-AB22-08792BB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43325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C2D24-B8B7-4248-BABB-0CFADD1D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909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80936-D9B6-46A2-94B7-8EF3EAB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 modeled in ratio levels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2017Q3 and 2017Q4 replaced by documented local averages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Macro series use quarterly differences or log changes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Every macro candidate is lagged one quarter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24F65-D6D9-4DE6-AE64-DE99A730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3DDCB-8EA5-494B-963C-A8A31818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84DFD-4B54-48C2-AF13-9AE2DDB6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96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1495D-64C8-4378-A109-9310566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0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Base terms include the post-2014 indicator and EF lag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Forward selection uses a common 49-quarter sample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Trend removed after p = 0.1719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Final model uses lagged unemployment change with no pulse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24A42-9381-4425-85FC-154D709D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C62D9-6D7F-4B15-8E05-55E67E1A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E1515-6662-4C50-8774-E10F454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162550"/>
            <a:ext cx="133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&amp;</a:t>
            </a:r>
          </a:p>
          <a:p xmlns:a="http://schemas.openxmlformats.org/drawingml/2006/main">
            <a:pPr>
              <a:defRPr sz="8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4567BE-DF8F-472B-96C0-F0D7A8D6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Development sample has 49 observations and nine OOT quarters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Smoothing introduces judgment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GDP and output-gap alternatives show similar fit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Aggregate EF cannot separate expense and income effects</a:t>
            </a:r>
          </a:p>
          <a:p xmlns:a="http://schemas.openxmlformats.org/drawingml/2006/main">
            <a:pPr>
              <a:defRPr sz="81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10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Forecasts are conditional point estimates without probability ranges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7B900-2448-4F1D-95D4-00937618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21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406EF-B64B-4B5E-917C-E5F843E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Champion: Noncomp EF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1C254-6018-4583-A051-C55DC095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843F0-2686-404D-B0E5-E6D4A009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2924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C071F-F151-4304-AF60-9DF7B1F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9095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494F6-D19B-472A-8E0E-768B660B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81425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EF_t = 0.1938 - 0.0436 D_t + 0.7383 EF_(t-1)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+ 0.00642 ΔU_(t-1) + ε_t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3764FF-8AD8-463B-9D3F-AED3A32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475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E05B05-799E-48A8-9FA6-CA0840E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81475"/>
            <a:ext cx="2924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23F943-96C7-4842-BEE8-25273F5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29100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37023D-0BAD-40D2-AEEC-ECD0F171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1957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D_t: post-2014 period indicator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EF_(t-1): one-quarter EF lag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ΔU_(t-1): lagged quarterly unemployment-rate 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043909-EF11-4300-AAEA-8C353A5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33925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DE87B2-8268-4F18-A93C-8CE38C4F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33925"/>
            <a:ext cx="2924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2A70B7-6620-40D9-B7B6-B98119F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111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Goodness of Fit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4D4585-FFA9-4E69-A3DE-FA1DC718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72025"/>
            <a:ext cx="2733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R² = 0.8373    Adjusted R² = 0.8265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Fit RMSE = 0.0283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One-step OOT RMSE = 0.0278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Recursive OOT RMSE = 0.0373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C5D9AC-241E-4CE7-902F-AB0312D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00675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6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04F769-C89E-494F-9ECC-642058A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00675"/>
            <a:ext cx="29241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D44080-FE22-4B0B-86C2-CCCEFEE8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48300"/>
            <a:ext cx="1114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B92A69-8F6B-45EE-B4D7-BC59F667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38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DW = 2.195    JB p = 0.274    CUSUM p = 0.709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Ljung-Box p = 0.151 at lag 4 and 0.249 at lag 8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Max VIF = 1.611</a:t>
            </a:r>
          </a:p>
          <a:p xmlns:a="http://schemas.openxmlformats.org/drawingml/2006/main">
            <a:pPr>
              <a:defRPr sz="803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803">
                <a:solidFill>
                  <a:srgbClr val="252525"/>
                </a:solidFill>
                <a:latin typeface="Arial"/>
                <a:ea typeface="Arial"/>
                <a:cs typeface="Arial"/>
              </a:rPr>
              <a:t>• All coefficients are significant at 5%</a:t>
            </a:r>
          </a:p>
        </p:txBody>
      </p:sp>
    </p:spTree>
    <p:extLst>
      <p:ext uri="{BB962C8B-B14F-4D97-AF65-F5344CB8AC3E}">
        <p14:creationId xmlns:p14="http://schemas.microsoft.com/office/powerpoint/2010/main" val="2121449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2026-10-21T20:31:05.9450000Z</dcterms:created>
  <dcterms:modified xsi:type="dcterms:W3CDTF">2026-10-21T20:31:05.9450000Z</dcterms:modified>
</coreProperties>
</file>