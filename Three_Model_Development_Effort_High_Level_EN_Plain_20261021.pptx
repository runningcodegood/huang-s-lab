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273e43ca6f4dfd" /><Relationship Type="http://schemas.openxmlformats.org/officeDocument/2006/relationships/extended-properties" Target="/docProps/app.xml" Id="R5aa37f4164104626" /><Relationship Type="http://schemas.openxmlformats.org/officeDocument/2006/relationships/officeDocument" Target="/ppt/presentation.xml" Id="Rb9982a16666144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4adf18f5f454d"/>
  </p:sldMasterIdLst>
  <p:notesMasterIdLst>
    <p:notesMasterId xmlns:r="http://schemas.openxmlformats.org/officeDocument/2006/relationships" r:id="Rdd9dfbc29e4149e0"/>
  </p:notesMasterIdLst>
  <p:sldIdLst>
    <p:sldId xmlns:r="http://schemas.openxmlformats.org/officeDocument/2006/relationships" id="256" r:id="R81b8db873945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b25987223b4ad2" /><Relationship Type="http://schemas.openxmlformats.org/officeDocument/2006/relationships/slideMaster" Target="/ppt/slideMasters/slideMaster1.xml" Id="R61f4adf18f5f454d" /><Relationship Type="http://schemas.openxmlformats.org/officeDocument/2006/relationships/notesMaster" Target="/ppt/notesMasters/notesMaster1.xml" Id="Rdd9dfbc29e4149e0" /><Relationship Type="http://schemas.openxmlformats.org/officeDocument/2006/relationships/presProps" Target="/ppt/presProps.xml" Id="R20779c88e6ea42fd" /><Relationship Type="http://schemas.openxmlformats.org/officeDocument/2006/relationships/tableStyles" Target="/ppt/tableStyles.xml" Id="R88854e2212c44c27" /><Relationship Type="http://schemas.openxmlformats.org/officeDocument/2006/relationships/slide" Target="/ppt/slides/slide1.xml" Id="R81b8db873945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c85108cc0345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57dd5fd9d34c4c" /><Relationship Type="http://schemas.openxmlformats.org/officeDocument/2006/relationships/notesMaster" Target="/ppt/notesMasters/notesMaster1.xml" Id="Rfc37a031fbaa4a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sources:</a:t>
            </a:r>
          </a:p>
          <a:p xmlns:a="http://schemas.openxmlformats.org/drawingml/2006/main">
            <a:r>
              <a:t>/Users/hyx/Documents/ChatGPT/Cardfee/output/Cardfee_Model_Summary.md</a:t>
            </a:r>
          </a:p>
          <a:p xmlns:a="http://schemas.openxmlformats.org/drawingml/2006/main">
            <a:r>
              <a:t>/Users/hyx/Documents/ChatGPT/Cardfee/README.md</a:t>
            </a:r>
          </a:p>
          <a:p xmlns:a="http://schemas.openxmlformats.org/drawingml/2006/main">
            <a:r>
              <a:t>/Users/hyx/Documents/ChatGPT/Comp/outputs/01a0fe2b-3699-76b0-8399-c69c5fd48ff2/PNFP_22Macro_CSV_ARDL_20261015_v2/README.md</a:t>
            </a:r>
          </a:p>
          <a:p xmlns:a="http://schemas.openxmlformats.org/drawingml/2006/main">
            <a:r>
              <a:t>/Users/hyx/Documents/ChatGPT/Comp/.codex-pnfp-ardl/english_bundle_20261009/PNFP_Quantitative_Research_Package/README.md</a:t>
            </a:r>
          </a:p>
          <a:p xmlns:a="http://schemas.openxmlformats.org/drawingml/2006/main">
            <a:r>
              <a:t>/Users/hyx/Documents/ChatGPT/Comp/outputs/01a1116d-79ff-71f2-90ac-49290fc9bd2e/Noncomp_EF_Code_and_Data_20261019/README.md</a:t>
            </a:r>
          </a:p>
          <a:p xmlns:a="http://schemas.openxmlformats.org/drawingml/2006/main">
            <a:r>
              <a:t>/Users/hyx/Documents/ChatGPT/Comp/Noncomp_Model_Summary.md</a:t>
            </a:r>
          </a:p>
          <a:p xmlns:a="http://schemas.openxmlformats.org/drawingml/2006/main">
            <a:r>
              <a:t>English version. This slide summarizes work performed and separates research candidates from adopted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e5a274ce14d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c09ada80a40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5790ee9664f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809fa704b4c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b1f6424784f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e5162423e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6B1994-A2CC-4323-83A8-601C91623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FFC08C-C478-4712-A18B-D72EEFBA1E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058CA0-4A18-40B2-A885-B2E37DF4B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D9EE24-38D0-47B9-A104-132D27188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B6EF31-90D6-408A-8B91-8CB902BF35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1F107A-7C9A-4BF6-8160-57E760611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7AB5B2-A0D1-4F73-95B6-8FB9F2CB9E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2DAC29-365A-4CF6-AFCF-6DCA5E667C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F850FE-4413-479F-A640-18DFA07F6C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978B1C-8A40-4C4F-82BF-B1C60EFFC1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fe53f2c2c4004" /><Relationship Type="http://schemas.openxmlformats.org/officeDocument/2006/relationships/slideLayout" Target="/ppt/slideLayouts/slideLayout1.xml" Id="R37810401d529477a" /><Relationship Type="http://schemas.openxmlformats.org/officeDocument/2006/relationships/slideLayout" Target="/ppt/slideLayouts/slideLayout2.xml" Id="Rc57e0d73d4404ea3" /><Relationship Type="http://schemas.openxmlformats.org/officeDocument/2006/relationships/slideLayout" Target="/ppt/slideLayouts/slideLayout3.xml" Id="Rdac169fbe6ee45b5" /><Relationship Type="http://schemas.openxmlformats.org/officeDocument/2006/relationships/slideLayout" Target="/ppt/slideLayouts/slideLayout4.xml" Id="Rf1209e913d124b27" /><Relationship Type="http://schemas.openxmlformats.org/officeDocument/2006/relationships/slideLayout" Target="/ppt/slideLayouts/slideLayout5.xml" Id="R5984d862f64e45c1" /><Relationship Type="http://schemas.openxmlformats.org/officeDocument/2006/relationships/slideLayout" Target="/ppt/slideLayouts/slideLayout6.xml" Id="Rbb37f36b381942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10401d529477a"/>
    <p:sldLayoutId xmlns:r="http://schemas.openxmlformats.org/officeDocument/2006/relationships" id="2147483650" r:id="Rc57e0d73d4404ea3"/>
    <p:sldLayoutId xmlns:r="http://schemas.openxmlformats.org/officeDocument/2006/relationships" id="2147483651" r:id="Rdac169fbe6ee45b5"/>
    <p:sldLayoutId xmlns:r="http://schemas.openxmlformats.org/officeDocument/2006/relationships" id="2147483652" r:id="Rf1209e913d124b27"/>
    <p:sldLayoutId xmlns:r="http://schemas.openxmlformats.org/officeDocument/2006/relationships" id="2147483653" r:id="R5984d862f64e45c1"/>
    <p:sldLayoutId xmlns:r="http://schemas.openxmlformats.org/officeDocument/2006/relationships" id="2147483654" r:id="Rbb37f36b381942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be4783f2b42c0" /><Relationship Type="http://schemas.openxmlformats.org/officeDocument/2006/relationships/notesSlide" Target="/ppt/notesSlides/notesSlide1.xml" Id="R6c98d599024048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2EA7AF-E61F-415E-829A-8C016333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1CE285B-3726-4F13-8F5E-CC39647C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6F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6F7C8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6F7C84"/>
                </a:solidFill>
                <a:latin typeface="Arial"/>
                <a:ea typeface="Arial"/>
                <a:cs typeface="Arial"/>
              </a:rPr>
              <a:t>MODEL DEVELOPMENT: CARD FEE, COMP AND NONCOMP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37E665-B451-4759-844E-48A8BB68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End-to-End Development Across Three Models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3B37D7-4613-4F61-AABB-7A1F5FB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>
                <a:solidFill>
                  <a:srgbClr val="6F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13">
                <a:solidFill>
                  <a:srgbClr val="6F7C84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6F7C84"/>
                </a:solidFill>
                <a:latin typeface="Arial"/>
                <a:ea typeface="Arial"/>
                <a:cs typeface="Arial"/>
              </a:rPr>
              <a:t>Card Fee, Comp and Noncomp followed the same cycle from business definition through validation and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D5BA3-B2F5-477B-8013-60A94911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D3C5D-84FE-435C-83AB-0EDFB616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488FC-2FED-4F72-8F32-EEA7442F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CARD FEE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44EAC-630F-4E17-B802-1E04E74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3267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Card Fee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ED016-C230-42EC-82F5-8D953C6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BD456-E75B-440E-9745-63A23A5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3267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E4C56"/>
                </a:solidFill>
                <a:latin typeface="Arial"/>
                <a:ea typeface="Arial"/>
                <a:cs typeface="Arial"/>
              </a:rPr>
              <a:t>Objective: Forecast card fee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34F5B-BAD9-44F8-837C-A9D8E83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4E79F-19D8-45C7-9621-5B9090A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Reconciled the revenue definition and resolved historical anomalies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37BAB-F1B2-4590-9D87-38DCD3B1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3657B-D0CF-4785-952F-A351CDC5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Matched each card business with a method suited to its operating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63AAA-58B0-4B52-A33C-C74654D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B94BD-14BB-462E-AC1E-EE15A437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Used backtests and stress scenarios to assess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8578F-2F40-4CEA-9B69-359F5D40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3267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3D949-19D5-4EBA-9D38-1698CA30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3267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60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60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3E4C56"/>
                </a:solidFill>
                <a:latin typeface="Arial"/>
                <a:ea typeface="Arial"/>
                <a:cs typeface="Arial"/>
              </a:rPr>
              <a:t>DELIVERABLE   Configurable tool and standardized model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D842E-67DA-43F6-BBCE-AC81167C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COMP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5FFA3-4825-4B31-9B67-8C9BEB6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62175"/>
            <a:ext cx="3267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Bonus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8575B-D4C0-4B33-9B0A-2FF7F26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431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F5E9D-3C3B-4852-9FAC-D0FC0B56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67000"/>
            <a:ext cx="3267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E4C56"/>
                </a:solidFill>
                <a:latin typeface="Arial"/>
                <a:ea typeface="Arial"/>
                <a:cs typeface="Arial"/>
              </a:rPr>
              <a:t>Objective: Assess the bonus ratio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AF25D-FEBF-4B7A-A814-DF143625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571A1-53FC-4899-B93A-AF5CF3CB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Rebuilt the key ratio and corrected the underlying historical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7148D-3643-4DB1-ABCB-8C3C111D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052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EA6A5-336F-4958-B787-4D57D2A6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90925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Compared macro drivers, pandemic treatments and model structures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C9A97-E813-40FE-8CB0-36BF888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9DA8E-1744-4C71-9686-166832B6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7670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Used several backtests to assess stability and adoption readiness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AEE32-B926-4016-8B67-EFBBF0D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38675"/>
            <a:ext cx="3267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933D1-9792-44E3-B8B2-BDAF4A2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52975"/>
            <a:ext cx="3267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60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60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3E4C56"/>
                </a:solidFill>
                <a:latin typeface="Arial"/>
                <a:ea typeface="Arial"/>
                <a:cs typeface="Arial"/>
              </a:rPr>
              <a:t>DELIVERABLE   Complete evidence package and rationale for nonadoption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64F87-5947-4C57-A9F7-3085D02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57375"/>
            <a:ext cx="346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NONCOMP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3A7E07-730E-4069-805C-53295BA0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6217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Efficiency Ratio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6FCF4-610B-49B5-8502-9F9496D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431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BA528D-073E-4DE9-86B6-582B0C97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E4C56"/>
                </a:solidFill>
                <a:latin typeface="Arial"/>
                <a:ea typeface="Arial"/>
                <a:cs typeface="Arial"/>
              </a:rPr>
              <a:t>Objective: Forecast baseline and stress outcomes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AC53C-51DA-4EA8-9E42-018F9DD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DD78F-8762-4187-85DB-85068ADB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Addressed confirmed data issues and identified long-term structural change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3E1456-BEEE-408C-9C16-1FD3FBA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052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6B8FEA-6ACB-4FB7-B859-98B4D856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Compared macro drivers and selected a model with clear business interpretation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C95EFB-42E9-4975-BFE3-C8FF4BC7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06EECD-2046-4155-B09D-AF7DCF2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85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185">
                <a:solidFill>
                  <a:srgbClr val="3E4C56"/>
                </a:solidFill>
                <a:latin typeface="Arial"/>
                <a:ea typeface="Arial"/>
                <a:cs typeface="Arial"/>
              </a:rPr>
              <a:t>Tested single-quarter and cumulative forecasts across stress scenarios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A73D75-A927-4C57-9E3B-9642B65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38675"/>
            <a:ext cx="346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B9C700-4E5C-4D43-A02D-CBBA3957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5297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60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60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3E4C56"/>
                </a:solidFill>
                <a:latin typeface="Arial"/>
                <a:ea typeface="Arial"/>
                <a:cs typeface="Arial"/>
              </a:rPr>
              <a:t>DELIVERABLE   Scenario forecasts, reproducible code and development documentation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5D57A4-061C-41BE-B605-B29E5CFA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B0A447-CBE4-4ABA-A2E4-64936AF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63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63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Shared work across all three models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4663B4-7C00-4EB3-A0B0-2B890EC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62575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88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88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3E4C56"/>
                </a:solidFill>
                <a:latin typeface="Arial"/>
                <a:ea typeface="Arial"/>
                <a:cs typeface="Arial"/>
              </a:rPr>
              <a:t>My contribution: turned fragmented data and competing specifications into documented decisions that can be rerun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DD0B09-B71C-48E5-85F1-23638F8A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6740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03A04C-B5AC-4E2D-968A-A513328E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48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8071CB-B4C4-4EC0-B7E9-2631B76E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9123AE-821D-4769-AB73-F385F0F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019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3E4C56"/>
                </a:solidFill>
                <a:latin typeface="Arial"/>
                <a:ea typeface="Arial"/>
                <a:cs typeface="Arial"/>
              </a:rPr>
              <a:t>Define business scope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5A271F-254C-45AC-B6E9-188B5DF0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48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9238CC-3812-43BC-AEBF-B2BC7150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293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993779-54A3-4850-B6F5-388CFED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019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3E4C56"/>
                </a:solidFill>
                <a:latin typeface="Arial"/>
                <a:ea typeface="Arial"/>
                <a:cs typeface="Arial"/>
              </a:rPr>
              <a:t>Rebuild and verify data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2C3382-98DA-4BD6-AC5B-DE41B8A7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48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A512C5-2FA4-4F98-BFEB-EC361D8C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293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9BFFC0-241C-44EA-B663-9A53652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19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3E4C56"/>
                </a:solidFill>
                <a:latin typeface="Arial"/>
                <a:ea typeface="Arial"/>
                <a:cs typeface="Arial"/>
              </a:rPr>
              <a:t>Develop and compare models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A26943-31EE-4058-AE0F-3EF05A02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648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83AA08-A425-43D8-BAB7-3E6BF03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293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C029AE-BA50-4FFF-9C6E-7401A2A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019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3E4C56"/>
                </a:solidFill>
                <a:latin typeface="Arial"/>
                <a:ea typeface="Arial"/>
                <a:cs typeface="Arial"/>
              </a:rPr>
              <a:t>Backtest and stress test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01DE90-597B-48D3-9A16-B4E6F4E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48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04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AF4A6F-A679-41BC-AF0E-AE2BE703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8293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E27201-6E15-44D6-83E3-3277CA1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019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>
                <a:solidFill>
                  <a:srgbClr val="3E4C56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3E4C56"/>
                </a:solidFill>
                <a:latin typeface="Arial"/>
                <a:ea typeface="Arial"/>
                <a:cs typeface="Arial"/>
              </a:rPr>
              <a:t>Document and reproduce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D878A0-4AA0-4924-A9AB-D6E3C40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8">
                <a:solidFill>
                  <a:srgbClr val="6F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8">
                <a:solidFill>
                  <a:srgbClr val="6F7C8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F7C84"/>
                </a:solidFill>
                <a:latin typeface="Arial"/>
                <a:ea typeface="Arial"/>
                <a:cs typeface="Arial"/>
              </a:rPr>
              <a:t>Scope: Summary of current workspace deliverables. Research candidates and adopted methods are described separately.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28BFE0-1929-4927-BB90-7D64035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865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6F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F7C8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F7C84"/>
                </a:solidFill>
                <a:latin typeface="Arial"/>
                <a:ea typeface="Arial"/>
                <a:cs typeface="Arial"/>
              </a:rPr>
              <a:t>2026.10.21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95135F-51E6-421D-B3E8-05039F3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246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6193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2026-10-21T22:06:10.6520000Z</dcterms:created>
  <dcterms:modified xsi:type="dcterms:W3CDTF">2026-10-21T22:06:10.6530000Z</dcterms:modified>
</coreProperties>
</file>