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4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5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8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9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10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de5eadd9de484e" /><Relationship Type="http://schemas.openxmlformats.org/officeDocument/2006/relationships/extended-properties" Target="/docProps/app.xml" Id="R0f557cfa2b5e46ab" /><Relationship Type="http://schemas.openxmlformats.org/officeDocument/2006/relationships/officeDocument" Target="/ppt/presentation.xml" Id="R5ad277c92d1f40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f45c1560f34785"/>
  </p:sldMasterIdLst>
  <p:notesMasterIdLst>
    <p:notesMasterId xmlns:r="http://schemas.openxmlformats.org/officeDocument/2006/relationships" r:id="Raf8cca2564c248b9"/>
  </p:notesMasterIdLst>
  <p:sldIdLst>
    <p:sldId xmlns:r="http://schemas.openxmlformats.org/officeDocument/2006/relationships" id="256" r:id="R8295db6a880a49a4"/>
    <p:sldId xmlns:r="http://schemas.openxmlformats.org/officeDocument/2006/relationships" id="257" r:id="Rf8fb5b3124bf41f3"/>
    <p:sldId xmlns:r="http://schemas.openxmlformats.org/officeDocument/2006/relationships" id="258" r:id="R60744bd571cc4106"/>
    <p:sldId xmlns:r="http://schemas.openxmlformats.org/officeDocument/2006/relationships" id="259" r:id="R14e32bf26c8c4b29"/>
    <p:sldId xmlns:r="http://schemas.openxmlformats.org/officeDocument/2006/relationships" id="260" r:id="R22298f68cd334864"/>
    <p:sldId xmlns:r="http://schemas.openxmlformats.org/officeDocument/2006/relationships" id="261" r:id="R35d38866a249404e"/>
    <p:sldId xmlns:r="http://schemas.openxmlformats.org/officeDocument/2006/relationships" id="262" r:id="R33af217eb5c2421c"/>
    <p:sldId xmlns:r="http://schemas.openxmlformats.org/officeDocument/2006/relationships" id="263" r:id="R55c494c011fe4abb"/>
    <p:sldId xmlns:r="http://schemas.openxmlformats.org/officeDocument/2006/relationships" id="264" r:id="Rb1cb1a39ffd4405d"/>
    <p:sldId xmlns:r="http://schemas.openxmlformats.org/officeDocument/2006/relationships" id="265" r:id="R0c0fb127d71d49f0"/>
    <p:sldId xmlns:r="http://schemas.openxmlformats.org/officeDocument/2006/relationships" id="266" r:id="Rd47eaae126e847f9"/>
    <p:sldId xmlns:r="http://schemas.openxmlformats.org/officeDocument/2006/relationships" id="267" r:id="Rfc3660325c8a4347"/>
    <p:sldId xmlns:r="http://schemas.openxmlformats.org/officeDocument/2006/relationships" id="268" r:id="Re8e33fc2c8fe4202"/>
    <p:sldId xmlns:r="http://schemas.openxmlformats.org/officeDocument/2006/relationships" id="269" r:id="Rf1c517eb599d40e4"/>
    <p:sldId xmlns:r="http://schemas.openxmlformats.org/officeDocument/2006/relationships" id="270" r:id="Rbd46e0b85692461b"/>
    <p:sldId xmlns:r="http://schemas.openxmlformats.org/officeDocument/2006/relationships" id="271" r:id="R5793ce4bc3544a01"/>
    <p:sldId xmlns:r="http://schemas.openxmlformats.org/officeDocument/2006/relationships" id="272" r:id="R24e461ed0cfa40ee"/>
    <p:sldId xmlns:r="http://schemas.openxmlformats.org/officeDocument/2006/relationships" id="273" r:id="R4e701c12c6014bce"/>
    <p:sldId xmlns:r="http://schemas.openxmlformats.org/officeDocument/2006/relationships" id="274" r:id="Rf36864265f984fac"/>
    <p:sldId xmlns:r="http://schemas.openxmlformats.org/officeDocument/2006/relationships" id="275" r:id="R35fa91aca6cf4970"/>
    <p:sldId xmlns:r="http://schemas.openxmlformats.org/officeDocument/2006/relationships" id="276" r:id="Rc0e5abb9a7854a6a"/>
    <p:sldId xmlns:r="http://schemas.openxmlformats.org/officeDocument/2006/relationships" id="277" r:id="R0750751e5dce413f"/>
    <p:sldId xmlns:r="http://schemas.openxmlformats.org/officeDocument/2006/relationships" id="278" r:id="Refc0fc648a9b4512"/>
    <p:sldId xmlns:r="http://schemas.openxmlformats.org/officeDocument/2006/relationships" id="279" r:id="R8b0adf1db77742d4"/>
    <p:sldId xmlns:r="http://schemas.openxmlformats.org/officeDocument/2006/relationships" id="280" r:id="R967b518bd47e463a"/>
    <p:sldId xmlns:r="http://schemas.openxmlformats.org/officeDocument/2006/relationships" id="281" r:id="Rbf141707ed164236"/>
    <p:sldId xmlns:r="http://schemas.openxmlformats.org/officeDocument/2006/relationships" id="282" r:id="Rb1737385c20d4bb7"/>
    <p:sldId xmlns:r="http://schemas.openxmlformats.org/officeDocument/2006/relationships" id="283" r:id="R17d7c09509cf4ebe"/>
    <p:sldId xmlns:r="http://schemas.openxmlformats.org/officeDocument/2006/relationships" id="284" r:id="Ra517b01df0114a40"/>
    <p:sldId xmlns:r="http://schemas.openxmlformats.org/officeDocument/2006/relationships" id="285" r:id="R93c4cf84d79d4dd6"/>
    <p:sldId xmlns:r="http://schemas.openxmlformats.org/officeDocument/2006/relationships" id="286" r:id="Re7ed8b51ac8e48a7"/>
    <p:sldId xmlns:r="http://schemas.openxmlformats.org/officeDocument/2006/relationships" id="287" r:id="R7dbd349f49a44762"/>
    <p:sldId xmlns:r="http://schemas.openxmlformats.org/officeDocument/2006/relationships" id="288" r:id="Rac7536152dfd41a2"/>
    <p:sldId xmlns:r="http://schemas.openxmlformats.org/officeDocument/2006/relationships" id="289" r:id="Rbd5a355c176746c4"/>
    <p:sldId xmlns:r="http://schemas.openxmlformats.org/officeDocument/2006/relationships" id="290" r:id="R432031d27ab24099"/>
    <p:sldId xmlns:r="http://schemas.openxmlformats.org/officeDocument/2006/relationships" id="291" r:id="R8a52003810d149cf"/>
    <p:sldId xmlns:r="http://schemas.openxmlformats.org/officeDocument/2006/relationships" id="292" r:id="R0c6198726c2b48d5"/>
    <p:sldId xmlns:r="http://schemas.openxmlformats.org/officeDocument/2006/relationships" id="293" r:id="Rf5037ea3e20148c5"/>
    <p:sldId xmlns:r="http://schemas.openxmlformats.org/officeDocument/2006/relationships" id="294" r:id="Ra1dbdc64c4a249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79c274e1a44ca6" /><Relationship Type="http://schemas.openxmlformats.org/officeDocument/2006/relationships/slideMaster" Target="/ppt/slideMasters/slideMaster1.xml" Id="Rb5f45c1560f34785" /><Relationship Type="http://schemas.openxmlformats.org/officeDocument/2006/relationships/notesMaster" Target="/ppt/notesMasters/notesMaster1.xml" Id="Raf8cca2564c248b9" /><Relationship Type="http://schemas.openxmlformats.org/officeDocument/2006/relationships/presProps" Target="/ppt/presProps.xml" Id="R8e8ec11d64a14beb" /><Relationship Type="http://schemas.openxmlformats.org/officeDocument/2006/relationships/viewProps" Target="/ppt/viewProps.xml" Id="Rac047cd982c34f4f" /><Relationship Type="http://schemas.openxmlformats.org/officeDocument/2006/relationships/tableStyles" Target="/ppt/tableStyles.xml" Id="R0e9f51181a234dcb" /><Relationship Type="http://schemas.openxmlformats.org/officeDocument/2006/relationships/slide" Target="/ppt/slides/slide1.xml" Id="R8295db6a880a49a4" /><Relationship Type="http://schemas.openxmlformats.org/officeDocument/2006/relationships/slide" Target="/ppt/slides/slide2.xml" Id="Rf8fb5b3124bf41f3" /><Relationship Type="http://schemas.openxmlformats.org/officeDocument/2006/relationships/slide" Target="/ppt/slides/slide3.xml" Id="R60744bd571cc4106" /><Relationship Type="http://schemas.openxmlformats.org/officeDocument/2006/relationships/slide" Target="/ppt/slides/slide4.xml" Id="R14e32bf26c8c4b29" /><Relationship Type="http://schemas.openxmlformats.org/officeDocument/2006/relationships/slide" Target="/ppt/slides/slide5.xml" Id="R22298f68cd334864" /><Relationship Type="http://schemas.openxmlformats.org/officeDocument/2006/relationships/slide" Target="/ppt/slides/slide6.xml" Id="R35d38866a249404e" /><Relationship Type="http://schemas.openxmlformats.org/officeDocument/2006/relationships/slide" Target="/ppt/slides/slide7.xml" Id="R33af217eb5c2421c" /><Relationship Type="http://schemas.openxmlformats.org/officeDocument/2006/relationships/slide" Target="/ppt/slides/slide8.xml" Id="R55c494c011fe4abb" /><Relationship Type="http://schemas.openxmlformats.org/officeDocument/2006/relationships/slide" Target="/ppt/slides/slide9.xml" Id="Rb1cb1a39ffd4405d" /><Relationship Type="http://schemas.openxmlformats.org/officeDocument/2006/relationships/slide" Target="/ppt/slides/slide10.xml" Id="R0c0fb127d71d49f0" /><Relationship Type="http://schemas.openxmlformats.org/officeDocument/2006/relationships/slide" Target="/ppt/slides/slide11.xml" Id="Rd47eaae126e847f9" /><Relationship Type="http://schemas.openxmlformats.org/officeDocument/2006/relationships/slide" Target="/ppt/slides/slide12.xml" Id="Rfc3660325c8a4347" /><Relationship Type="http://schemas.openxmlformats.org/officeDocument/2006/relationships/slide" Target="/ppt/slides/slide13.xml" Id="Re8e33fc2c8fe4202" /><Relationship Type="http://schemas.openxmlformats.org/officeDocument/2006/relationships/slide" Target="/ppt/slides/slide14.xml" Id="Rf1c517eb599d40e4" /><Relationship Type="http://schemas.openxmlformats.org/officeDocument/2006/relationships/slide" Target="/ppt/slides/slide15.xml" Id="Rbd46e0b85692461b" /><Relationship Type="http://schemas.openxmlformats.org/officeDocument/2006/relationships/slide" Target="/ppt/slides/slide16.xml" Id="R5793ce4bc3544a01" /><Relationship Type="http://schemas.openxmlformats.org/officeDocument/2006/relationships/slide" Target="/ppt/slides/slide17.xml" Id="R24e461ed0cfa40ee" /><Relationship Type="http://schemas.openxmlformats.org/officeDocument/2006/relationships/slide" Target="/ppt/slides/slide18.xml" Id="R4e701c12c6014bce" /><Relationship Type="http://schemas.openxmlformats.org/officeDocument/2006/relationships/slide" Target="/ppt/slides/slide19.xml" Id="Rf36864265f984fac" /><Relationship Type="http://schemas.openxmlformats.org/officeDocument/2006/relationships/slide" Target="/ppt/slides/slide20.xml" Id="R35fa91aca6cf4970" /><Relationship Type="http://schemas.openxmlformats.org/officeDocument/2006/relationships/slide" Target="/ppt/slides/slide21.xml" Id="Rc0e5abb9a7854a6a" /><Relationship Type="http://schemas.openxmlformats.org/officeDocument/2006/relationships/slide" Target="/ppt/slides/slide22.xml" Id="R0750751e5dce413f" /><Relationship Type="http://schemas.openxmlformats.org/officeDocument/2006/relationships/slide" Target="/ppt/slides/slide23.xml" Id="Refc0fc648a9b4512" /><Relationship Type="http://schemas.openxmlformats.org/officeDocument/2006/relationships/slide" Target="/ppt/slides/slide24.xml" Id="R8b0adf1db77742d4" /><Relationship Type="http://schemas.openxmlformats.org/officeDocument/2006/relationships/slide" Target="/ppt/slides/slide25.xml" Id="R967b518bd47e463a" /><Relationship Type="http://schemas.openxmlformats.org/officeDocument/2006/relationships/slide" Target="/ppt/slides/slide26.xml" Id="Rbf141707ed164236" /><Relationship Type="http://schemas.openxmlformats.org/officeDocument/2006/relationships/slide" Target="/ppt/slides/slide27.xml" Id="Rb1737385c20d4bb7" /><Relationship Type="http://schemas.openxmlformats.org/officeDocument/2006/relationships/slide" Target="/ppt/slides/slide28.xml" Id="R17d7c09509cf4ebe" /><Relationship Type="http://schemas.openxmlformats.org/officeDocument/2006/relationships/slide" Target="/ppt/slides/slide29.xml" Id="Ra517b01df0114a40" /><Relationship Type="http://schemas.openxmlformats.org/officeDocument/2006/relationships/slide" Target="/ppt/slides/slide30.xml" Id="R93c4cf84d79d4dd6" /><Relationship Type="http://schemas.openxmlformats.org/officeDocument/2006/relationships/slide" Target="/ppt/slides/slide31.xml" Id="Re7ed8b51ac8e48a7" /><Relationship Type="http://schemas.openxmlformats.org/officeDocument/2006/relationships/slide" Target="/ppt/slides/slide32.xml" Id="R7dbd349f49a44762" /><Relationship Type="http://schemas.openxmlformats.org/officeDocument/2006/relationships/slide" Target="/ppt/slides/slide33.xml" Id="Rac7536152dfd41a2" /><Relationship Type="http://schemas.openxmlformats.org/officeDocument/2006/relationships/slide" Target="/ppt/slides/slide34.xml" Id="Rbd5a355c176746c4" /><Relationship Type="http://schemas.openxmlformats.org/officeDocument/2006/relationships/slide" Target="/ppt/slides/slide35.xml" Id="R432031d27ab24099" /><Relationship Type="http://schemas.openxmlformats.org/officeDocument/2006/relationships/slide" Target="/ppt/slides/slide36.xml" Id="R8a52003810d149cf" /><Relationship Type="http://schemas.openxmlformats.org/officeDocument/2006/relationships/slide" Target="/ppt/slides/slide37.xml" Id="R0c6198726c2b48d5" /><Relationship Type="http://schemas.openxmlformats.org/officeDocument/2006/relationships/slide" Target="/ppt/slides/slide38.xml" Id="Rf5037ea3e20148c5" /><Relationship Type="http://schemas.openxmlformats.org/officeDocument/2006/relationships/slide" Target="/ppt/slides/slide39.xml" Id="Ra1dbdc64c4a249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9385df08074e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27fe95276f4cc4" /><Relationship Type="http://schemas.openxmlformats.org/officeDocument/2006/relationships/notesMaster" Target="/ppt/notesMasters/notesMaster1.xml" Id="R8fb4a499042143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cc28d7dbe746c5" /><Relationship Type="http://schemas.openxmlformats.org/officeDocument/2006/relationships/notesMaster" Target="/ppt/notesMasters/notesMaster1.xml" Id="Rc4370c2c066049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85ecc44b0c476b" /><Relationship Type="http://schemas.openxmlformats.org/officeDocument/2006/relationships/notesMaster" Target="/ppt/notesMasters/notesMaster1.xml" Id="R7a008a2b08b140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ff7d947c534ca2" /><Relationship Type="http://schemas.openxmlformats.org/officeDocument/2006/relationships/notesMaster" Target="/ppt/notesMasters/notesMaster1.xml" Id="R8f531e5aa1df4b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31483e4af940e4" /><Relationship Type="http://schemas.openxmlformats.org/officeDocument/2006/relationships/notesMaster" Target="/ppt/notesMasters/notesMaster1.xml" Id="Rf165d3a81a7847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b9c2e640ef45a3" /><Relationship Type="http://schemas.openxmlformats.org/officeDocument/2006/relationships/notesMaster" Target="/ppt/notesMasters/notesMaster1.xml" Id="Rd1d070b666704d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6714f511024d0a" /><Relationship Type="http://schemas.openxmlformats.org/officeDocument/2006/relationships/notesMaster" Target="/ppt/notesMasters/notesMaster1.xml" Id="R36a6e3302b754a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96cc5685fc4bd7" /><Relationship Type="http://schemas.openxmlformats.org/officeDocument/2006/relationships/notesMaster" Target="/ppt/notesMasters/notesMaster1.xml" Id="R30bcec1fc0f046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ee25f09c4d430a" /><Relationship Type="http://schemas.openxmlformats.org/officeDocument/2006/relationships/notesMaster" Target="/ppt/notesMasters/notesMaster1.xml" Id="Rd6c63bd6cf884c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9e584274b147c6" /><Relationship Type="http://schemas.openxmlformats.org/officeDocument/2006/relationships/notesMaster" Target="/ppt/notesMasters/notesMaster1.xml" Id="R77823e4d69154d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fc3cbff0c34f94" /><Relationship Type="http://schemas.openxmlformats.org/officeDocument/2006/relationships/notesMaster" Target="/ppt/notesMasters/notesMaster1.xml" Id="R27b3ee06557c4e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0ab2c7f5194f03" /><Relationship Type="http://schemas.openxmlformats.org/officeDocument/2006/relationships/notesMaster" Target="/ppt/notesMasters/notesMaster1.xml" Id="R24b8d30ff81541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aed17a05aa4b6a" /><Relationship Type="http://schemas.openxmlformats.org/officeDocument/2006/relationships/notesMaster" Target="/ppt/notesMasters/notesMaster1.xml" Id="R49c0abc9cd9e40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98c6dcaf3a40b8" /><Relationship Type="http://schemas.openxmlformats.org/officeDocument/2006/relationships/notesMaster" Target="/ppt/notesMasters/notesMaster1.xml" Id="R3762a37ce8e342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a66132abf74a08" /><Relationship Type="http://schemas.openxmlformats.org/officeDocument/2006/relationships/notesMaster" Target="/ppt/notesMasters/notesMaster1.xml" Id="R291a13c9830d42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e84c2408e24526" /><Relationship Type="http://schemas.openxmlformats.org/officeDocument/2006/relationships/notesMaster" Target="/ppt/notesMasters/notesMaster1.xml" Id="Ra8a2d22ea56740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47f5d51f4b4888" /><Relationship Type="http://schemas.openxmlformats.org/officeDocument/2006/relationships/notesMaster" Target="/ppt/notesMasters/notesMaster1.xml" Id="R1325667b94774c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c984008b9543bf" /><Relationship Type="http://schemas.openxmlformats.org/officeDocument/2006/relationships/notesMaster" Target="/ppt/notesMasters/notesMaster1.xml" Id="R8964200a0a3540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cc487bf1114d21" /><Relationship Type="http://schemas.openxmlformats.org/officeDocument/2006/relationships/notesMaster" Target="/ppt/notesMasters/notesMaster1.xml" Id="R16514d103f814c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b8f2c6cc2e4269" /><Relationship Type="http://schemas.openxmlformats.org/officeDocument/2006/relationships/notesMaster" Target="/ppt/notesMasters/notesMaster1.xml" Id="R636c470ef7324f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f6d21b531c44693" /><Relationship Type="http://schemas.openxmlformats.org/officeDocument/2006/relationships/notesMaster" Target="/ppt/notesMasters/notesMaster1.xml" Id="Rebfb06e3c3d94e9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0b5c9a959374645" /><Relationship Type="http://schemas.openxmlformats.org/officeDocument/2006/relationships/notesMaster" Target="/ppt/notesMasters/notesMaster1.xml" Id="R63d623174afd46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66b8e2cf3e473d" /><Relationship Type="http://schemas.openxmlformats.org/officeDocument/2006/relationships/notesMaster" Target="/ppt/notesMasters/notesMaster1.xml" Id="R504625723ddd4de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271f477458487a" /><Relationship Type="http://schemas.openxmlformats.org/officeDocument/2006/relationships/notesMaster" Target="/ppt/notesMasters/notesMaster1.xml" Id="Rb996e5ee100d46e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898fabc5c14d3c" /><Relationship Type="http://schemas.openxmlformats.org/officeDocument/2006/relationships/notesMaster" Target="/ppt/notesMasters/notesMaster1.xml" Id="Rb692ab6a912d4fc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2ba7270861d4837" /><Relationship Type="http://schemas.openxmlformats.org/officeDocument/2006/relationships/notesMaster" Target="/ppt/notesMasters/notesMaster1.xml" Id="R7e1be857151b45c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9a8680fb6234ce4" /><Relationship Type="http://schemas.openxmlformats.org/officeDocument/2006/relationships/notesMaster" Target="/ppt/notesMasters/notesMaster1.xml" Id="R2be785ab45ea497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4b325c5001483c" /><Relationship Type="http://schemas.openxmlformats.org/officeDocument/2006/relationships/notesMaster" Target="/ppt/notesMasters/notesMaster1.xml" Id="R745a9cc8334140f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d0eb4a9c87e4a4e" /><Relationship Type="http://schemas.openxmlformats.org/officeDocument/2006/relationships/notesMaster" Target="/ppt/notesMasters/notesMaster1.xml" Id="R6d5014d407c84fd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177feffc0c04846" /><Relationship Type="http://schemas.openxmlformats.org/officeDocument/2006/relationships/notesMaster" Target="/ppt/notesMasters/notesMaster1.xml" Id="R4072336f96704a2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fc59f11642f42c4" /><Relationship Type="http://schemas.openxmlformats.org/officeDocument/2006/relationships/notesMaster" Target="/ppt/notesMasters/notesMaster1.xml" Id="Rc814bf443a5940e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9213d2a0db4d34" /><Relationship Type="http://schemas.openxmlformats.org/officeDocument/2006/relationships/notesMaster" Target="/ppt/notesMasters/notesMaster1.xml" Id="Rc1a9365d376d403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fbf1e16f020458f" /><Relationship Type="http://schemas.openxmlformats.org/officeDocument/2006/relationships/notesMaster" Target="/ppt/notesMasters/notesMaster1.xml" Id="R6d4f86ad57c8452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8e017e85ce441d5" /><Relationship Type="http://schemas.openxmlformats.org/officeDocument/2006/relationships/notesMaster" Target="/ppt/notesMasters/notesMaster1.xml" Id="Rf8272b956f43400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b7438ac676b444a" /><Relationship Type="http://schemas.openxmlformats.org/officeDocument/2006/relationships/notesMaster" Target="/ppt/notesMasters/notesMaster1.xml" Id="Reb9f64f10615491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d55a1b20e7641a3" /><Relationship Type="http://schemas.openxmlformats.org/officeDocument/2006/relationships/notesMaster" Target="/ppt/notesMasters/notesMaster1.xml" Id="R23e4105127ff432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f037a0f1fbd4186" /><Relationship Type="http://schemas.openxmlformats.org/officeDocument/2006/relationships/notesMaster" Target="/ppt/notesMasters/notesMaster1.xml" Id="Re04b6373fac24b6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50ab23eea7a4156" /><Relationship Type="http://schemas.openxmlformats.org/officeDocument/2006/relationships/notesMaster" Target="/ppt/notesMasters/notesMaster1.xml" Id="Rdef85071e7fd43c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8716530060a4df1" /><Relationship Type="http://schemas.openxmlformats.org/officeDocument/2006/relationships/notesMaster" Target="/ppt/notesMasters/notesMaster1.xml" Id="R33df5a4055b840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component framework and equations in Card_Fee_Challenge_Review.pptx, slides 6–14, 16–21, 23–27 and 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outputs/combined_analysis_20260916/results/RUN_SUMMARY.md, Method and interpretation. The long-run residual ADF is an implemented gate and differs from formal Engle–Granger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outputs/combined_analysis_20260916/results/RUN_SUMMARY.md. Residual correlation controls for EC_lag12 and uses Pearson p-values with n−2 degrees of freedom. OOT participates in screening and lag ranking. Candidate-specific complete cases apply.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outputs/combined_analysis_20260916/results/RUN_SUMMARY.md, Backtests. Both modes remain conditional on supplied macro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component-methodology slides and the scope and aggregation definitions in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29a5f343d4f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bf35e58d474b47" /><Relationship Type="http://schemas.openxmlformats.org/officeDocument/2006/relationships/slideLayout" Target="/ppt/slideLayouts/slideLayout1.xml" Id="Rb5e879f2e24845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e879f2e24845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666e135a44a7d" /><Relationship Type="http://schemas.openxmlformats.org/officeDocument/2006/relationships/notesSlide" Target="/ppt/notesSlides/notesSlide1.xml" Id="R4551dc4f0e8443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40d2e14b0411f" /><Relationship Type="http://schemas.openxmlformats.org/officeDocument/2006/relationships/notesSlide" Target="/ppt/notesSlides/notesSlide2.xml" Id="R7ac75eb64a164c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869e3cd5d4566" /><Relationship Type="http://schemas.openxmlformats.org/officeDocument/2006/relationships/notesSlide" Target="/ppt/notesSlides/notesSlide3.xml" Id="Rf94bf170a2034b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d71c993454ba1" /><Relationship Type="http://schemas.openxmlformats.org/officeDocument/2006/relationships/notesSlide" Target="/ppt/notesSlides/notesSlide4.xml" Id="R2b44ec7f792041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731e311464a2d" /><Relationship Type="http://schemas.openxmlformats.org/officeDocument/2006/relationships/chart" Target="/ppt/slides/charts/chart1.xml" Id="R86a0df88e1e14858" /><Relationship Type="http://schemas.openxmlformats.org/officeDocument/2006/relationships/notesSlide" Target="/ppt/notesSlides/notesSlide5.xml" Id="Rd40062bc5c644d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36514c2b14826" /><Relationship Type="http://schemas.openxmlformats.org/officeDocument/2006/relationships/chart" Target="/ppt/slides/charts/chart2.xml" Id="Rbda8b7ff0f8548f3" /><Relationship Type="http://schemas.openxmlformats.org/officeDocument/2006/relationships/notesSlide" Target="/ppt/notesSlides/notesSlide6.xml" Id="R5f1d579980cd47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ff2dd5966477e" /><Relationship Type="http://schemas.openxmlformats.org/officeDocument/2006/relationships/notesSlide" Target="/ppt/notesSlides/notesSlide7.xml" Id="Rbbbf39b025144a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5a5edb4d142e7" /><Relationship Type="http://schemas.openxmlformats.org/officeDocument/2006/relationships/notesSlide" Target="/ppt/notesSlides/notesSlide8.xml" Id="R29b96ea3b4244e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167d3d32d439c" /><Relationship Type="http://schemas.openxmlformats.org/officeDocument/2006/relationships/notesSlide" Target="/ppt/notesSlides/notesSlide9.xml" Id="R3ef2d9523a814b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10242af8a40fb" /><Relationship Type="http://schemas.openxmlformats.org/officeDocument/2006/relationships/notesSlide" Target="/ppt/notesSlides/notesSlide10.xml" Id="Re4f4f779b53946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b06ebd9ac4293" /><Relationship Type="http://schemas.openxmlformats.org/officeDocument/2006/relationships/notesSlide" Target="/ppt/notesSlides/notesSlide11.xml" Id="R85d826913e4748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334635d534309" /><Relationship Type="http://schemas.openxmlformats.org/officeDocument/2006/relationships/notesSlide" Target="/ppt/notesSlides/notesSlide12.xml" Id="R26da5947e5c64e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4cee83af74a25" /><Relationship Type="http://schemas.openxmlformats.org/officeDocument/2006/relationships/chart" Target="/ppt/slides/charts/chart3.xml" Id="R40931c1a27804b84" /><Relationship Type="http://schemas.openxmlformats.org/officeDocument/2006/relationships/notesSlide" Target="/ppt/notesSlides/notesSlide13.xml" Id="Ra02befa3ccb148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ab8bc10684831" /><Relationship Type="http://schemas.openxmlformats.org/officeDocument/2006/relationships/notesSlide" Target="/ppt/notesSlides/notesSlide14.xml" Id="R1f81fbba3b1d40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86facd1e44010" /><Relationship Type="http://schemas.openxmlformats.org/officeDocument/2006/relationships/notesSlide" Target="/ppt/notesSlides/notesSlide15.xml" Id="Re67acd351e1646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064f5f4974e60" /><Relationship Type="http://schemas.openxmlformats.org/officeDocument/2006/relationships/notesSlide" Target="/ppt/notesSlides/notesSlide16.xml" Id="R129dd1ec63f84c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96850006a43f8" /><Relationship Type="http://schemas.openxmlformats.org/officeDocument/2006/relationships/notesSlide" Target="/ppt/notesSlides/notesSlide17.xml" Id="Rdf4491ab788f48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226e0836f482c" /><Relationship Type="http://schemas.openxmlformats.org/officeDocument/2006/relationships/notesSlide" Target="/ppt/notesSlides/notesSlide18.xml" Id="Rd0bbcc457b3745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df66e40c543e6" /><Relationship Type="http://schemas.openxmlformats.org/officeDocument/2006/relationships/chart" Target="/ppt/slides/charts/chart4.xml" Id="R3b9f83db5d7c49ad" /><Relationship Type="http://schemas.openxmlformats.org/officeDocument/2006/relationships/notesSlide" Target="/ppt/notesSlides/notesSlide19.xml" Id="R4acd8477ddc3492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6d25cd73f4dcf" /><Relationship Type="http://schemas.openxmlformats.org/officeDocument/2006/relationships/notesSlide" Target="/ppt/notesSlides/notesSlide20.xml" Id="Ra5ad2a0de28e44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90fb4c2234de9" /><Relationship Type="http://schemas.openxmlformats.org/officeDocument/2006/relationships/notesSlide" Target="/ppt/notesSlides/notesSlide21.xml" Id="R86653bd66ad5489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cbb809e2a4376" /><Relationship Type="http://schemas.openxmlformats.org/officeDocument/2006/relationships/notesSlide" Target="/ppt/notesSlides/notesSlide22.xml" Id="R54c3015996ec46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6c5e46848449c" /><Relationship Type="http://schemas.openxmlformats.org/officeDocument/2006/relationships/notesSlide" Target="/ppt/notesSlides/notesSlide23.xml" Id="R45dba09022964a4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684dde42242cd" /><Relationship Type="http://schemas.openxmlformats.org/officeDocument/2006/relationships/notesSlide" Target="/ppt/notesSlides/notesSlide24.xml" Id="Re5c1a335d3bd4f8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fc00d44d14199" /><Relationship Type="http://schemas.openxmlformats.org/officeDocument/2006/relationships/chart" Target="/ppt/slides/charts/chart5.xml" Id="R4f3315cdf43c4c6d" /><Relationship Type="http://schemas.openxmlformats.org/officeDocument/2006/relationships/notesSlide" Target="/ppt/notesSlides/notesSlide25.xml" Id="R5d6b469b1bb74e7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b79827fbe4f94" /><Relationship Type="http://schemas.openxmlformats.org/officeDocument/2006/relationships/chart" Target="/ppt/slides/charts/chart6.xml" Id="R4fc5e5450856430f" /><Relationship Type="http://schemas.openxmlformats.org/officeDocument/2006/relationships/chart" Target="/ppt/slides/charts/chart7.xml" Id="R87b9a87fcf87417e" /><Relationship Type="http://schemas.openxmlformats.org/officeDocument/2006/relationships/notesSlide" Target="/ppt/notesSlides/notesSlide26.xml" Id="R3b1c6e90ce6f4e8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0970b3bb84192" /><Relationship Type="http://schemas.openxmlformats.org/officeDocument/2006/relationships/notesSlide" Target="/ppt/notesSlides/notesSlide27.xml" Id="R521bcd49c287447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59a752cc54d13" /><Relationship Type="http://schemas.openxmlformats.org/officeDocument/2006/relationships/notesSlide" Target="/ppt/notesSlides/notesSlide28.xml" Id="Rc2d4132f89a247b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8f1d71dc240b4" /><Relationship Type="http://schemas.openxmlformats.org/officeDocument/2006/relationships/notesSlide" Target="/ppt/notesSlides/notesSlide29.xml" Id="R4b09850136cc475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bcc826eea4ebc" /><Relationship Type="http://schemas.openxmlformats.org/officeDocument/2006/relationships/notesSlide" Target="/ppt/notesSlides/notesSlide30.xml" Id="Re33da0f19c48409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e254f343e4716" /><Relationship Type="http://schemas.openxmlformats.org/officeDocument/2006/relationships/notesSlide" Target="/ppt/notesSlides/notesSlide31.xml" Id="Ra90654d9fbf24d3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bb74d7fbf44f1" /><Relationship Type="http://schemas.openxmlformats.org/officeDocument/2006/relationships/chart" Target="/ppt/slides/charts/chart8.xml" Id="R6d1fbd0d8903402f" /><Relationship Type="http://schemas.openxmlformats.org/officeDocument/2006/relationships/notesSlide" Target="/ppt/notesSlides/notesSlide32.xml" Id="R5c2d41dc5ca942c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e0e66430d4fb1" /><Relationship Type="http://schemas.openxmlformats.org/officeDocument/2006/relationships/chart" Target="/ppt/slides/charts/chart9.xml" Id="Rf6e5028b67674487" /><Relationship Type="http://schemas.openxmlformats.org/officeDocument/2006/relationships/notesSlide" Target="/ppt/notesSlides/notesSlide33.xml" Id="R990ad1e921db449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238e974bd45a3" /><Relationship Type="http://schemas.openxmlformats.org/officeDocument/2006/relationships/notesSlide" Target="/ppt/notesSlides/notesSlide34.xml" Id="R89ff8ae4a82b462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15f606f014733" /><Relationship Type="http://schemas.openxmlformats.org/officeDocument/2006/relationships/notesSlide" Target="/ppt/notesSlides/notesSlide35.xml" Id="Rbda727cc1d1f4a9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2a36284344c4d" /><Relationship Type="http://schemas.openxmlformats.org/officeDocument/2006/relationships/chart" Target="/ppt/slides/charts/chart10.xml" Id="R607dc9a4e5c24d48" /><Relationship Type="http://schemas.openxmlformats.org/officeDocument/2006/relationships/notesSlide" Target="/ppt/notesSlides/notesSlide36.xml" Id="R24c97b44ba6b4c6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f8be79aac435e" /><Relationship Type="http://schemas.openxmlformats.org/officeDocument/2006/relationships/notesSlide" Target="/ppt/notesSlides/notesSlide37.xml" Id="R30600ecc15e6457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11fd313854915" /><Relationship Type="http://schemas.openxmlformats.org/officeDocument/2006/relationships/notesSlide" Target="/ppt/notesSlides/notesSlide38.xml" Id="R81aefb29a16e411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6d802e9084ebe" /><Relationship Type="http://schemas.openxmlformats.org/officeDocument/2006/relationships/notesSlide" Target="/ppt/notesSlides/notesSlide39.xml" Id="Rbfe8d67c96484d6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Commercial + Small Business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2011.083333333</c:v>
                </c:pt>
                <c:pt idx="2">
                  <c:v>2011.166666667</c:v>
                </c:pt>
                <c:pt idx="3">
                  <c:v>2011.25</c:v>
                </c:pt>
                <c:pt idx="4">
                  <c:v>2011.333333333</c:v>
                </c:pt>
                <c:pt idx="5">
                  <c:v>2011.416666667</c:v>
                </c:pt>
                <c:pt idx="6">
                  <c:v>2011.5</c:v>
                </c:pt>
                <c:pt idx="7">
                  <c:v>2011.583333333</c:v>
                </c:pt>
                <c:pt idx="8">
                  <c:v>2011.666666667</c:v>
                </c:pt>
                <c:pt idx="9">
                  <c:v>2011.75</c:v>
                </c:pt>
                <c:pt idx="10">
                  <c:v>2011.833333333</c:v>
                </c:pt>
                <c:pt idx="11">
                  <c:v>2011.916666667</c:v>
                </c:pt>
                <c:pt idx="12">
                  <c:v>2012</c:v>
                </c:pt>
                <c:pt idx="13">
                  <c:v>2012.083333333</c:v>
                </c:pt>
                <c:pt idx="14">
                  <c:v>2012.166666667</c:v>
                </c:pt>
                <c:pt idx="15">
                  <c:v>2012.25</c:v>
                </c:pt>
                <c:pt idx="16">
                  <c:v>2012.333333333</c:v>
                </c:pt>
                <c:pt idx="17">
                  <c:v>2012.416666667</c:v>
                </c:pt>
                <c:pt idx="18">
                  <c:v>2012.5</c:v>
                </c:pt>
                <c:pt idx="19">
                  <c:v>2012.583333333</c:v>
                </c:pt>
                <c:pt idx="20">
                  <c:v>2012.666666667</c:v>
                </c:pt>
                <c:pt idx="21">
                  <c:v>2012.75</c:v>
                </c:pt>
                <c:pt idx="22">
                  <c:v>2012.833333333</c:v>
                </c:pt>
                <c:pt idx="23">
                  <c:v>2012.916666667</c:v>
                </c:pt>
                <c:pt idx="24">
                  <c:v>2013</c:v>
                </c:pt>
                <c:pt idx="25">
                  <c:v>2013.083333333</c:v>
                </c:pt>
                <c:pt idx="26">
                  <c:v>2013.166666667</c:v>
                </c:pt>
                <c:pt idx="27">
                  <c:v>2013.25</c:v>
                </c:pt>
                <c:pt idx="28">
                  <c:v>2013.333333333</c:v>
                </c:pt>
                <c:pt idx="29">
                  <c:v>2013.416666667</c:v>
                </c:pt>
                <c:pt idx="30">
                  <c:v>2013.5</c:v>
                </c:pt>
                <c:pt idx="31">
                  <c:v>2013.583333333</c:v>
                </c:pt>
                <c:pt idx="32">
                  <c:v>2013.666666667</c:v>
                </c:pt>
                <c:pt idx="33">
                  <c:v>2013.75</c:v>
                </c:pt>
                <c:pt idx="34">
                  <c:v>2013.833333333</c:v>
                </c:pt>
                <c:pt idx="35">
                  <c:v>2013.916666667</c:v>
                </c:pt>
                <c:pt idx="36">
                  <c:v>2014</c:v>
                </c:pt>
                <c:pt idx="37">
                  <c:v>2014.083333333</c:v>
                </c:pt>
                <c:pt idx="38">
                  <c:v>2014.166666667</c:v>
                </c:pt>
                <c:pt idx="39">
                  <c:v>2014.25</c:v>
                </c:pt>
                <c:pt idx="40">
                  <c:v>2014.333333333</c:v>
                </c:pt>
                <c:pt idx="41">
                  <c:v>2014.416666667</c:v>
                </c:pt>
                <c:pt idx="42">
                  <c:v>2014.5</c:v>
                </c:pt>
                <c:pt idx="43">
                  <c:v>2014.583333333</c:v>
                </c:pt>
                <c:pt idx="44">
                  <c:v>2014.666666667</c:v>
                </c:pt>
                <c:pt idx="45">
                  <c:v>2014.75</c:v>
                </c:pt>
                <c:pt idx="46">
                  <c:v>2014.833333333</c:v>
                </c:pt>
                <c:pt idx="47">
                  <c:v>2014.916666667</c:v>
                </c:pt>
                <c:pt idx="48">
                  <c:v>2015</c:v>
                </c:pt>
                <c:pt idx="49">
                  <c:v>2015.083333333</c:v>
                </c:pt>
                <c:pt idx="50">
                  <c:v>2015.166666667</c:v>
                </c:pt>
                <c:pt idx="51">
                  <c:v>2015.25</c:v>
                </c:pt>
                <c:pt idx="52">
                  <c:v>2015.333333333</c:v>
                </c:pt>
                <c:pt idx="53">
                  <c:v>2015.416666667</c:v>
                </c:pt>
                <c:pt idx="54">
                  <c:v>2015.5</c:v>
                </c:pt>
                <c:pt idx="55">
                  <c:v>2015.583333333</c:v>
                </c:pt>
                <c:pt idx="56">
                  <c:v>2015.666666667</c:v>
                </c:pt>
                <c:pt idx="57">
                  <c:v>2015.75</c:v>
                </c:pt>
                <c:pt idx="58">
                  <c:v>2015.833333333</c:v>
                </c:pt>
                <c:pt idx="59">
                  <c:v>2015.916666667</c:v>
                </c:pt>
                <c:pt idx="60">
                  <c:v>2016</c:v>
                </c:pt>
                <c:pt idx="61">
                  <c:v>2016.083333333</c:v>
                </c:pt>
                <c:pt idx="62">
                  <c:v>2016.166666667</c:v>
                </c:pt>
                <c:pt idx="63">
                  <c:v>2016.25</c:v>
                </c:pt>
                <c:pt idx="64">
                  <c:v>2016.333333333</c:v>
                </c:pt>
                <c:pt idx="65">
                  <c:v>2016.416666667</c:v>
                </c:pt>
                <c:pt idx="66">
                  <c:v>2016.5</c:v>
                </c:pt>
                <c:pt idx="67">
                  <c:v>2016.583333333</c:v>
                </c:pt>
                <c:pt idx="68">
                  <c:v>2016.666666667</c:v>
                </c:pt>
                <c:pt idx="69">
                  <c:v>2016.75</c:v>
                </c:pt>
                <c:pt idx="70">
                  <c:v>2016.833333333</c:v>
                </c:pt>
                <c:pt idx="71">
                  <c:v>2016.916666667</c:v>
                </c:pt>
                <c:pt idx="72">
                  <c:v>2017</c:v>
                </c:pt>
                <c:pt idx="73">
                  <c:v>2017.083333333</c:v>
                </c:pt>
                <c:pt idx="74">
                  <c:v>2017.166666667</c:v>
                </c:pt>
                <c:pt idx="75">
                  <c:v>2017.25</c:v>
                </c:pt>
                <c:pt idx="76">
                  <c:v>2017.333333333</c:v>
                </c:pt>
                <c:pt idx="77">
                  <c:v>2017.416666667</c:v>
                </c:pt>
                <c:pt idx="78">
                  <c:v>2017.5</c:v>
                </c:pt>
                <c:pt idx="79">
                  <c:v>2017.583333333</c:v>
                </c:pt>
                <c:pt idx="80">
                  <c:v>2017.666666667</c:v>
                </c:pt>
                <c:pt idx="81">
                  <c:v>2017.75</c:v>
                </c:pt>
                <c:pt idx="82">
                  <c:v>2017.833333333</c:v>
                </c:pt>
                <c:pt idx="83">
                  <c:v>2017.916666667</c:v>
                </c:pt>
                <c:pt idx="84">
                  <c:v>2018</c:v>
                </c:pt>
                <c:pt idx="85">
                  <c:v>2018.083333333</c:v>
                </c:pt>
                <c:pt idx="86">
                  <c:v>2018.166666667</c:v>
                </c:pt>
                <c:pt idx="87">
                  <c:v>2018.25</c:v>
                </c:pt>
                <c:pt idx="88">
                  <c:v>2018.333333333</c:v>
                </c:pt>
                <c:pt idx="89">
                  <c:v>2018.416666667</c:v>
                </c:pt>
                <c:pt idx="90">
                  <c:v>2018.5</c:v>
                </c:pt>
                <c:pt idx="91">
                  <c:v>2018.583333333</c:v>
                </c:pt>
                <c:pt idx="92">
                  <c:v>2018.666666667</c:v>
                </c:pt>
                <c:pt idx="93">
                  <c:v>2018.75</c:v>
                </c:pt>
                <c:pt idx="94">
                  <c:v>2018.833333333</c:v>
                </c:pt>
                <c:pt idx="95">
                  <c:v>2018.916666667</c:v>
                </c:pt>
                <c:pt idx="96">
                  <c:v>2019</c:v>
                </c:pt>
                <c:pt idx="97">
                  <c:v>2019.083333333</c:v>
                </c:pt>
                <c:pt idx="98">
                  <c:v>2019.166666667</c:v>
                </c:pt>
                <c:pt idx="99">
                  <c:v>2019.25</c:v>
                </c:pt>
                <c:pt idx="100">
                  <c:v>2019.333333333</c:v>
                </c:pt>
                <c:pt idx="101">
                  <c:v>2019.416666667</c:v>
                </c:pt>
                <c:pt idx="102">
                  <c:v>2019.5</c:v>
                </c:pt>
                <c:pt idx="103">
                  <c:v>2019.583333333</c:v>
                </c:pt>
                <c:pt idx="104">
                  <c:v>2019.666666667</c:v>
                </c:pt>
                <c:pt idx="105">
                  <c:v>2019.75</c:v>
                </c:pt>
                <c:pt idx="106">
                  <c:v>2019.833333333</c:v>
                </c:pt>
                <c:pt idx="107">
                  <c:v>2019.916666667</c:v>
                </c:pt>
                <c:pt idx="108">
                  <c:v>2020</c:v>
                </c:pt>
                <c:pt idx="109">
                  <c:v>2020.083333333</c:v>
                </c:pt>
                <c:pt idx="110">
                  <c:v>2020.166666667</c:v>
                </c:pt>
                <c:pt idx="111">
                  <c:v>2020.25</c:v>
                </c:pt>
                <c:pt idx="112">
                  <c:v>2020.333333333</c:v>
                </c:pt>
                <c:pt idx="113">
                  <c:v>2020.416666667</c:v>
                </c:pt>
                <c:pt idx="114">
                  <c:v>2020.5</c:v>
                </c:pt>
                <c:pt idx="115">
                  <c:v>2020.583333333</c:v>
                </c:pt>
                <c:pt idx="116">
                  <c:v>2020.666666667</c:v>
                </c:pt>
                <c:pt idx="117">
                  <c:v>2020.75</c:v>
                </c:pt>
                <c:pt idx="118">
                  <c:v>2020.833333333</c:v>
                </c:pt>
                <c:pt idx="119">
                  <c:v>2020.916666667</c:v>
                </c:pt>
                <c:pt idx="120">
                  <c:v>2021</c:v>
                </c:pt>
                <c:pt idx="121">
                  <c:v>2021.083333333</c:v>
                </c:pt>
                <c:pt idx="122">
                  <c:v>2021.166666667</c:v>
                </c:pt>
                <c:pt idx="123">
                  <c:v>2021.25</c:v>
                </c:pt>
                <c:pt idx="124">
                  <c:v>2021.333333333</c:v>
                </c:pt>
                <c:pt idx="125">
                  <c:v>2021.416666667</c:v>
                </c:pt>
                <c:pt idx="126">
                  <c:v>2021.5</c:v>
                </c:pt>
                <c:pt idx="127">
                  <c:v>2021.583333333</c:v>
                </c:pt>
                <c:pt idx="128">
                  <c:v>2021.666666667</c:v>
                </c:pt>
                <c:pt idx="129">
                  <c:v>2021.75</c:v>
                </c:pt>
                <c:pt idx="130">
                  <c:v>2021.833333333</c:v>
                </c:pt>
                <c:pt idx="131">
                  <c:v>2021.916666667</c:v>
                </c:pt>
                <c:pt idx="132">
                  <c:v>2022</c:v>
                </c:pt>
                <c:pt idx="133">
                  <c:v>2022.083333333</c:v>
                </c:pt>
                <c:pt idx="134">
                  <c:v>2022.166666667</c:v>
                </c:pt>
                <c:pt idx="135">
                  <c:v>2022.25</c:v>
                </c:pt>
                <c:pt idx="136">
                  <c:v>2022.333333333</c:v>
                </c:pt>
                <c:pt idx="137">
                  <c:v>2022.416666667</c:v>
                </c:pt>
                <c:pt idx="138">
                  <c:v>2022.5</c:v>
                </c:pt>
                <c:pt idx="139">
                  <c:v>2022.583333333</c:v>
                </c:pt>
                <c:pt idx="140">
                  <c:v>2022.666666667</c:v>
                </c:pt>
                <c:pt idx="141">
                  <c:v>2022.75</c:v>
                </c:pt>
                <c:pt idx="142">
                  <c:v>2022.833333333</c:v>
                </c:pt>
                <c:pt idx="143">
                  <c:v>2022.916666667</c:v>
                </c:pt>
                <c:pt idx="144">
                  <c:v>2023</c:v>
                </c:pt>
                <c:pt idx="145">
                  <c:v>2023.083333333</c:v>
                </c:pt>
                <c:pt idx="146">
                  <c:v>2023.166666667</c:v>
                </c:pt>
                <c:pt idx="147">
                  <c:v>2023.25</c:v>
                </c:pt>
                <c:pt idx="148">
                  <c:v>2023.333333333</c:v>
                </c:pt>
                <c:pt idx="149">
                  <c:v>2023.416666667</c:v>
                </c:pt>
                <c:pt idx="150">
                  <c:v>2023.5</c:v>
                </c:pt>
                <c:pt idx="151">
                  <c:v>2023.583333333</c:v>
                </c:pt>
                <c:pt idx="152">
                  <c:v>2023.666666667</c:v>
                </c:pt>
                <c:pt idx="153">
                  <c:v>2023.75</c:v>
                </c:pt>
                <c:pt idx="154">
                  <c:v>2023.833333333</c:v>
                </c:pt>
                <c:pt idx="155">
                  <c:v>2023.916666667</c:v>
                </c:pt>
                <c:pt idx="156">
                  <c:v>2024</c:v>
                </c:pt>
                <c:pt idx="157">
                  <c:v>2024.083333333</c:v>
                </c:pt>
                <c:pt idx="158">
                  <c:v>2024.166666667</c:v>
                </c:pt>
                <c:pt idx="159">
                  <c:v>2024.25</c:v>
                </c:pt>
                <c:pt idx="160">
                  <c:v>2024.333333333</c:v>
                </c:pt>
                <c:pt idx="161">
                  <c:v>2024.416666667</c:v>
                </c:pt>
                <c:pt idx="162">
                  <c:v>2024.5</c:v>
                </c:pt>
                <c:pt idx="163">
                  <c:v>2024.583333333</c:v>
                </c:pt>
                <c:pt idx="164">
                  <c:v>2024.666666667</c:v>
                </c:pt>
                <c:pt idx="165">
                  <c:v>2024.75</c:v>
                </c:pt>
                <c:pt idx="166">
                  <c:v>2024.833333333</c:v>
                </c:pt>
                <c:pt idx="167">
                  <c:v>2024.916666667</c:v>
                </c:pt>
                <c:pt idx="168">
                  <c:v>2025</c:v>
                </c:pt>
                <c:pt idx="169">
                  <c:v>2025.083333333</c:v>
                </c:pt>
                <c:pt idx="170">
                  <c:v>2025.166666667</c:v>
                </c:pt>
                <c:pt idx="171">
                  <c:v>2025.25</c:v>
                </c:pt>
                <c:pt idx="172">
                  <c:v>2025.333333333</c:v>
                </c:pt>
                <c:pt idx="173">
                  <c:v>2025.416666667</c:v>
                </c:pt>
                <c:pt idx="174">
                  <c:v>2025.5</c:v>
                </c:pt>
                <c:pt idx="175">
                  <c:v>2025.583333333</c:v>
                </c:pt>
                <c:pt idx="176">
                  <c:v>2025.666666667</c:v>
                </c:pt>
                <c:pt idx="177">
                  <c:v>2025.75</c:v>
                </c:pt>
                <c:pt idx="178">
                  <c:v>2025.833333333</c:v>
                </c:pt>
                <c:pt idx="179">
                  <c:v>2025.916666667</c:v>
                </c:pt>
              </c:numCache>
            </c:numRef>
          </c:xVal>
          <c:yVal>
            <c:numRef>
              <c:f>'Chart Data'!$B$2:$B$181</c:f>
              <c:numCache>
                <c:formatCode>#,##0</c:formatCode>
                <c:ptCount val="180"/>
                <c:pt idx="0">
                  <c:v>771</c:v>
                </c:pt>
                <c:pt idx="1">
                  <c:v>842</c:v>
                </c:pt>
                <c:pt idx="2">
                  <c:v>1119</c:v>
                </c:pt>
                <c:pt idx="3">
                  <c:v>948</c:v>
                </c:pt>
                <c:pt idx="4">
                  <c:v>1047</c:v>
                </c:pt>
                <c:pt idx="5">
                  <c:v>971</c:v>
                </c:pt>
                <c:pt idx="6">
                  <c:v>868</c:v>
                </c:pt>
                <c:pt idx="7">
                  <c:v>1063</c:v>
                </c:pt>
                <c:pt idx="8">
                  <c:v>974</c:v>
                </c:pt>
                <c:pt idx="9">
                  <c:v>949</c:v>
                </c:pt>
                <c:pt idx="10">
                  <c:v>941</c:v>
                </c:pt>
                <c:pt idx="11">
                  <c:v>985</c:v>
                </c:pt>
                <c:pt idx="12">
                  <c:v>1009</c:v>
                </c:pt>
                <c:pt idx="13">
                  <c:v>957</c:v>
                </c:pt>
                <c:pt idx="14">
                  <c:v>1067</c:v>
                </c:pt>
                <c:pt idx="15">
                  <c:v>1089</c:v>
                </c:pt>
                <c:pt idx="16">
                  <c:v>1160</c:v>
                </c:pt>
                <c:pt idx="17">
                  <c:v>1079</c:v>
                </c:pt>
                <c:pt idx="18">
                  <c:v>1132</c:v>
                </c:pt>
                <c:pt idx="19">
                  <c:v>1134</c:v>
                </c:pt>
                <c:pt idx="20">
                  <c:v>983</c:v>
                </c:pt>
                <c:pt idx="21">
                  <c:v>1150</c:v>
                </c:pt>
                <c:pt idx="22">
                  <c:v>978</c:v>
                </c:pt>
                <c:pt idx="23">
                  <c:v>1025</c:v>
                </c:pt>
                <c:pt idx="24">
                  <c:v>989</c:v>
                </c:pt>
                <c:pt idx="25">
                  <c:v>943</c:v>
                </c:pt>
                <c:pt idx="26">
                  <c:v>1089</c:v>
                </c:pt>
                <c:pt idx="27">
                  <c:v>1128</c:v>
                </c:pt>
                <c:pt idx="28">
                  <c:v>1063</c:v>
                </c:pt>
                <c:pt idx="29">
                  <c:v>999</c:v>
                </c:pt>
                <c:pt idx="30">
                  <c:v>1160</c:v>
                </c:pt>
                <c:pt idx="31">
                  <c:v>1032</c:v>
                </c:pt>
                <c:pt idx="32">
                  <c:v>1022</c:v>
                </c:pt>
                <c:pt idx="33">
                  <c:v>1280</c:v>
                </c:pt>
                <c:pt idx="34">
                  <c:v>1090</c:v>
                </c:pt>
                <c:pt idx="35">
                  <c:v>1184</c:v>
                </c:pt>
                <c:pt idx="36">
                  <c:v>1121</c:v>
                </c:pt>
                <c:pt idx="37">
                  <c:v>1059</c:v>
                </c:pt>
                <c:pt idx="38">
                  <c:v>1158</c:v>
                </c:pt>
                <c:pt idx="39">
                  <c:v>1264</c:v>
                </c:pt>
                <c:pt idx="40">
                  <c:v>1231</c:v>
                </c:pt>
                <c:pt idx="41">
                  <c:v>1226</c:v>
                </c:pt>
                <c:pt idx="42">
                  <c:v>1277</c:v>
                </c:pt>
                <c:pt idx="43">
                  <c:v>1188</c:v>
                </c:pt>
                <c:pt idx="44">
                  <c:v>1206</c:v>
                </c:pt>
                <c:pt idx="45">
                  <c:v>1305</c:v>
                </c:pt>
                <c:pt idx="46">
                  <c:v>1166</c:v>
                </c:pt>
                <c:pt idx="47">
                  <c:v>1362</c:v>
                </c:pt>
                <c:pt idx="48">
                  <c:v>1140</c:v>
                </c:pt>
                <c:pt idx="49">
                  <c:v>1111</c:v>
                </c:pt>
                <c:pt idx="50">
                  <c:v>1455</c:v>
                </c:pt>
                <c:pt idx="51">
                  <c:v>1409</c:v>
                </c:pt>
                <c:pt idx="52">
                  <c:v>1294</c:v>
                </c:pt>
                <c:pt idx="53">
                  <c:v>1472</c:v>
                </c:pt>
                <c:pt idx="54">
                  <c:v>1360</c:v>
                </c:pt>
                <c:pt idx="55">
                  <c:v>1279</c:v>
                </c:pt>
                <c:pt idx="56">
                  <c:v>1336</c:v>
                </c:pt>
                <c:pt idx="57">
                  <c:v>1316</c:v>
                </c:pt>
                <c:pt idx="58">
                  <c:v>1233</c:v>
                </c:pt>
                <c:pt idx="59">
                  <c:v>1233</c:v>
                </c:pt>
                <c:pt idx="60">
                  <c:v>1151</c:v>
                </c:pt>
                <c:pt idx="61">
                  <c:v>1236</c:v>
                </c:pt>
                <c:pt idx="62">
                  <c:v>1539</c:v>
                </c:pt>
                <c:pt idx="63">
                  <c:v>1249</c:v>
                </c:pt>
                <c:pt idx="64">
                  <c:v>1388</c:v>
                </c:pt>
                <c:pt idx="65">
                  <c:v>1280</c:v>
                </c:pt>
                <c:pt idx="66">
                  <c:v>1184</c:v>
                </c:pt>
                <c:pt idx="67">
                  <c:v>1418</c:v>
                </c:pt>
                <c:pt idx="68">
                  <c:v>1310</c:v>
                </c:pt>
                <c:pt idx="69">
                  <c:v>1226</c:v>
                </c:pt>
                <c:pt idx="70">
                  <c:v>1166</c:v>
                </c:pt>
                <c:pt idx="71">
                  <c:v>1253</c:v>
                </c:pt>
                <c:pt idx="72">
                  <c:v>1278</c:v>
                </c:pt>
                <c:pt idx="73">
                  <c:v>1198</c:v>
                </c:pt>
                <c:pt idx="74">
                  <c:v>1373</c:v>
                </c:pt>
                <c:pt idx="75">
                  <c:v>1202</c:v>
                </c:pt>
                <c:pt idx="76">
                  <c:v>1409</c:v>
                </c:pt>
                <c:pt idx="77">
                  <c:v>1331</c:v>
                </c:pt>
                <c:pt idx="78">
                  <c:v>1245</c:v>
                </c:pt>
                <c:pt idx="79">
                  <c:v>1434</c:v>
                </c:pt>
                <c:pt idx="80">
                  <c:v>1245</c:v>
                </c:pt>
                <c:pt idx="81">
                  <c:v>1456</c:v>
                </c:pt>
                <c:pt idx="82">
                  <c:v>1298</c:v>
                </c:pt>
                <c:pt idx="83">
                  <c:v>1400</c:v>
                </c:pt>
                <c:pt idx="84">
                  <c:v>1441</c:v>
                </c:pt>
                <c:pt idx="85">
                  <c:v>1349</c:v>
                </c:pt>
                <c:pt idx="86">
                  <c:v>1673</c:v>
                </c:pt>
                <c:pt idx="87">
                  <c:v>1466</c:v>
                </c:pt>
                <c:pt idx="88">
                  <c:v>1667</c:v>
                </c:pt>
                <c:pt idx="89">
                  <c:v>1545</c:v>
                </c:pt>
                <c:pt idx="90">
                  <c:v>1512</c:v>
                </c:pt>
                <c:pt idx="91">
                  <c:v>1739</c:v>
                </c:pt>
                <c:pt idx="92">
                  <c:v>1656</c:v>
                </c:pt>
                <c:pt idx="93">
                  <c:v>1600</c:v>
                </c:pt>
                <c:pt idx="94">
                  <c:v>1516</c:v>
                </c:pt>
                <c:pt idx="95">
                  <c:v>1673</c:v>
                </c:pt>
                <c:pt idx="96">
                  <c:v>1565</c:v>
                </c:pt>
                <c:pt idx="97">
                  <c:v>1545</c:v>
                </c:pt>
                <c:pt idx="98">
                  <c:v>1856</c:v>
                </c:pt>
                <c:pt idx="99">
                  <c:v>1508</c:v>
                </c:pt>
                <c:pt idx="100">
                  <c:v>1672</c:v>
                </c:pt>
                <c:pt idx="101">
                  <c:v>1762</c:v>
                </c:pt>
                <c:pt idx="102">
                  <c:v>1606</c:v>
                </c:pt>
                <c:pt idx="103">
                  <c:v>1835</c:v>
                </c:pt>
                <c:pt idx="104">
                  <c:v>1697</c:v>
                </c:pt>
                <c:pt idx="105">
                  <c:v>1680</c:v>
                </c:pt>
                <c:pt idx="106">
                  <c:v>1668</c:v>
                </c:pt>
                <c:pt idx="107">
                  <c:v>1523</c:v>
                </c:pt>
                <c:pt idx="108">
                  <c:v>1745</c:v>
                </c:pt>
                <c:pt idx="109">
                  <c:v>1671</c:v>
                </c:pt>
                <c:pt idx="110">
                  <c:v>1497</c:v>
                </c:pt>
                <c:pt idx="111">
                  <c:v>1167</c:v>
                </c:pt>
                <c:pt idx="112">
                  <c:v>1265</c:v>
                </c:pt>
                <c:pt idx="113">
                  <c:v>1336</c:v>
                </c:pt>
                <c:pt idx="114">
                  <c:v>1450</c:v>
                </c:pt>
                <c:pt idx="115">
                  <c:v>1494</c:v>
                </c:pt>
                <c:pt idx="116">
                  <c:v>1691</c:v>
                </c:pt>
                <c:pt idx="117">
                  <c:v>1638</c:v>
                </c:pt>
                <c:pt idx="118">
                  <c:v>1673</c:v>
                </c:pt>
                <c:pt idx="119">
                  <c:v>1471</c:v>
                </c:pt>
                <c:pt idx="120">
                  <c:v>1597</c:v>
                </c:pt>
                <c:pt idx="121">
                  <c:v>1481</c:v>
                </c:pt>
                <c:pt idx="122">
                  <c:v>1780</c:v>
                </c:pt>
                <c:pt idx="123">
                  <c:v>1752</c:v>
                </c:pt>
                <c:pt idx="124">
                  <c:v>1892</c:v>
                </c:pt>
                <c:pt idx="125">
                  <c:v>1904</c:v>
                </c:pt>
                <c:pt idx="126">
                  <c:v>2006</c:v>
                </c:pt>
                <c:pt idx="127">
                  <c:v>2013</c:v>
                </c:pt>
                <c:pt idx="128">
                  <c:v>1968</c:v>
                </c:pt>
                <c:pt idx="129">
                  <c:v>2065</c:v>
                </c:pt>
                <c:pt idx="130">
                  <c:v>1860</c:v>
                </c:pt>
                <c:pt idx="131">
                  <c:v>2195</c:v>
                </c:pt>
                <c:pt idx="132">
                  <c:v>2135</c:v>
                </c:pt>
                <c:pt idx="133">
                  <c:v>2146</c:v>
                </c:pt>
                <c:pt idx="134">
                  <c:v>2349</c:v>
                </c:pt>
                <c:pt idx="135">
                  <c:v>2351</c:v>
                </c:pt>
                <c:pt idx="136">
                  <c:v>2432</c:v>
                </c:pt>
                <c:pt idx="137">
                  <c:v>2282</c:v>
                </c:pt>
                <c:pt idx="138">
                  <c:v>2334</c:v>
                </c:pt>
                <c:pt idx="139">
                  <c:v>2444</c:v>
                </c:pt>
                <c:pt idx="140">
                  <c:v>2416</c:v>
                </c:pt>
                <c:pt idx="141">
                  <c:v>2633</c:v>
                </c:pt>
                <c:pt idx="142">
                  <c:v>2274</c:v>
                </c:pt>
                <c:pt idx="143">
                  <c:v>2475</c:v>
                </c:pt>
                <c:pt idx="144">
                  <c:v>2322</c:v>
                </c:pt>
                <c:pt idx="145">
                  <c:v>2236</c:v>
                </c:pt>
                <c:pt idx="146">
                  <c:v>2631</c:v>
                </c:pt>
                <c:pt idx="147">
                  <c:v>2535</c:v>
                </c:pt>
                <c:pt idx="148">
                  <c:v>2525</c:v>
                </c:pt>
                <c:pt idx="149">
                  <c:v>2417</c:v>
                </c:pt>
                <c:pt idx="150">
                  <c:v>2426</c:v>
                </c:pt>
                <c:pt idx="151">
                  <c:v>2413</c:v>
                </c:pt>
                <c:pt idx="152">
                  <c:v>2414</c:v>
                </c:pt>
                <c:pt idx="153">
                  <c:v>2520</c:v>
                </c:pt>
                <c:pt idx="154">
                  <c:v>2328</c:v>
                </c:pt>
                <c:pt idx="155">
                  <c:v>2575</c:v>
                </c:pt>
                <c:pt idx="156">
                  <c:v>2196</c:v>
                </c:pt>
                <c:pt idx="157">
                  <c:v>2351</c:v>
                </c:pt>
                <c:pt idx="158">
                  <c:v>2556</c:v>
                </c:pt>
                <c:pt idx="159">
                  <c:v>2273</c:v>
                </c:pt>
                <c:pt idx="160">
                  <c:v>2370</c:v>
                </c:pt>
                <c:pt idx="161">
                  <c:v>2256</c:v>
                </c:pt>
                <c:pt idx="162">
                  <c:v>2333</c:v>
                </c:pt>
                <c:pt idx="163">
                  <c:v>2325</c:v>
                </c:pt>
                <c:pt idx="164">
                  <c:v>2237</c:v>
                </c:pt>
                <c:pt idx="165">
                  <c:v>2310</c:v>
                </c:pt>
                <c:pt idx="166">
                  <c:v>2326</c:v>
                </c:pt>
                <c:pt idx="167">
                  <c:v>1964</c:v>
                </c:pt>
                <c:pt idx="168">
                  <c:v>2150</c:v>
                </c:pt>
                <c:pt idx="169">
                  <c:v>2087</c:v>
                </c:pt>
                <c:pt idx="170">
                  <c:v>2316</c:v>
                </c:pt>
                <c:pt idx="171">
                  <c:v>2209</c:v>
                </c:pt>
                <c:pt idx="172">
                  <c:v>2270</c:v>
                </c:pt>
                <c:pt idx="173">
                  <c:v>2201</c:v>
                </c:pt>
                <c:pt idx="174">
                  <c:v>2086</c:v>
                </c:pt>
                <c:pt idx="175">
                  <c:v>2260</c:v>
                </c:pt>
                <c:pt idx="176">
                  <c:v>2004</c:v>
                </c:pt>
                <c:pt idx="177">
                  <c:v>2296</c:v>
                </c:pt>
                <c:pt idx="178">
                  <c:v>2116</c:v>
                </c:pt>
                <c:pt idx="179">
                  <c:v>1887</c:v>
                </c:pt>
              </c:numCache>
            </c:numRef>
          </c:yVal>
          <c:smooth val="0"/>
        </c:ser>
        <c:ser>
          <c:idx val="1"/>
          <c:order val="1"/>
          <c:tx>
            <c:v>Consumer</c:v>
          </c:tx>
          <c:spPr>
            <a:ln xmlns:a="http://schemas.openxmlformats.org/drawingml/2006/main"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2011.083333333</c:v>
                </c:pt>
                <c:pt idx="2">
                  <c:v>2011.166666667</c:v>
                </c:pt>
                <c:pt idx="3">
                  <c:v>2011.25</c:v>
                </c:pt>
                <c:pt idx="4">
                  <c:v>2011.333333333</c:v>
                </c:pt>
                <c:pt idx="5">
                  <c:v>2011.416666667</c:v>
                </c:pt>
                <c:pt idx="6">
                  <c:v>2011.5</c:v>
                </c:pt>
                <c:pt idx="7">
                  <c:v>2011.583333333</c:v>
                </c:pt>
                <c:pt idx="8">
                  <c:v>2011.666666667</c:v>
                </c:pt>
                <c:pt idx="9">
                  <c:v>2011.75</c:v>
                </c:pt>
                <c:pt idx="10">
                  <c:v>2011.833333333</c:v>
                </c:pt>
                <c:pt idx="11">
                  <c:v>2011.916666667</c:v>
                </c:pt>
                <c:pt idx="12">
                  <c:v>2012</c:v>
                </c:pt>
                <c:pt idx="13">
                  <c:v>2012.083333333</c:v>
                </c:pt>
                <c:pt idx="14">
                  <c:v>2012.166666667</c:v>
                </c:pt>
                <c:pt idx="15">
                  <c:v>2012.25</c:v>
                </c:pt>
                <c:pt idx="16">
                  <c:v>2012.333333333</c:v>
                </c:pt>
                <c:pt idx="17">
                  <c:v>2012.416666667</c:v>
                </c:pt>
                <c:pt idx="18">
                  <c:v>2012.5</c:v>
                </c:pt>
                <c:pt idx="19">
                  <c:v>2012.583333333</c:v>
                </c:pt>
                <c:pt idx="20">
                  <c:v>2012.666666667</c:v>
                </c:pt>
                <c:pt idx="21">
                  <c:v>2012.75</c:v>
                </c:pt>
                <c:pt idx="22">
                  <c:v>2012.833333333</c:v>
                </c:pt>
                <c:pt idx="23">
                  <c:v>2012.916666667</c:v>
                </c:pt>
                <c:pt idx="24">
                  <c:v>2013</c:v>
                </c:pt>
                <c:pt idx="25">
                  <c:v>2013.083333333</c:v>
                </c:pt>
                <c:pt idx="26">
                  <c:v>2013.166666667</c:v>
                </c:pt>
                <c:pt idx="27">
                  <c:v>2013.25</c:v>
                </c:pt>
                <c:pt idx="28">
                  <c:v>2013.333333333</c:v>
                </c:pt>
                <c:pt idx="29">
                  <c:v>2013.416666667</c:v>
                </c:pt>
                <c:pt idx="30">
                  <c:v>2013.5</c:v>
                </c:pt>
                <c:pt idx="31">
                  <c:v>2013.583333333</c:v>
                </c:pt>
                <c:pt idx="32">
                  <c:v>2013.666666667</c:v>
                </c:pt>
                <c:pt idx="33">
                  <c:v>2013.75</c:v>
                </c:pt>
                <c:pt idx="34">
                  <c:v>2013.833333333</c:v>
                </c:pt>
                <c:pt idx="35">
                  <c:v>2013.916666667</c:v>
                </c:pt>
                <c:pt idx="36">
                  <c:v>2014</c:v>
                </c:pt>
                <c:pt idx="37">
                  <c:v>2014.083333333</c:v>
                </c:pt>
                <c:pt idx="38">
                  <c:v>2014.166666667</c:v>
                </c:pt>
                <c:pt idx="39">
                  <c:v>2014.25</c:v>
                </c:pt>
                <c:pt idx="40">
                  <c:v>2014.333333333</c:v>
                </c:pt>
                <c:pt idx="41">
                  <c:v>2014.416666667</c:v>
                </c:pt>
                <c:pt idx="42">
                  <c:v>2014.5</c:v>
                </c:pt>
                <c:pt idx="43">
                  <c:v>2014.583333333</c:v>
                </c:pt>
                <c:pt idx="44">
                  <c:v>2014.666666667</c:v>
                </c:pt>
                <c:pt idx="45">
                  <c:v>2014.75</c:v>
                </c:pt>
                <c:pt idx="46">
                  <c:v>2014.833333333</c:v>
                </c:pt>
                <c:pt idx="47">
                  <c:v>2014.916666667</c:v>
                </c:pt>
                <c:pt idx="48">
                  <c:v>2015</c:v>
                </c:pt>
                <c:pt idx="49">
                  <c:v>2015.083333333</c:v>
                </c:pt>
                <c:pt idx="50">
                  <c:v>2015.166666667</c:v>
                </c:pt>
                <c:pt idx="51">
                  <c:v>2015.25</c:v>
                </c:pt>
                <c:pt idx="52">
                  <c:v>2015.333333333</c:v>
                </c:pt>
                <c:pt idx="53">
                  <c:v>2015.416666667</c:v>
                </c:pt>
                <c:pt idx="54">
                  <c:v>2015.5</c:v>
                </c:pt>
                <c:pt idx="55">
                  <c:v>2015.583333333</c:v>
                </c:pt>
                <c:pt idx="56">
                  <c:v>2015.666666667</c:v>
                </c:pt>
                <c:pt idx="57">
                  <c:v>2015.75</c:v>
                </c:pt>
                <c:pt idx="58">
                  <c:v>2015.833333333</c:v>
                </c:pt>
                <c:pt idx="59">
                  <c:v>2015.916666667</c:v>
                </c:pt>
                <c:pt idx="60">
                  <c:v>2016</c:v>
                </c:pt>
                <c:pt idx="61">
                  <c:v>2016.083333333</c:v>
                </c:pt>
                <c:pt idx="62">
                  <c:v>2016.166666667</c:v>
                </c:pt>
                <c:pt idx="63">
                  <c:v>2016.25</c:v>
                </c:pt>
                <c:pt idx="64">
                  <c:v>2016.333333333</c:v>
                </c:pt>
                <c:pt idx="65">
                  <c:v>2016.416666667</c:v>
                </c:pt>
                <c:pt idx="66">
                  <c:v>2016.5</c:v>
                </c:pt>
                <c:pt idx="67">
                  <c:v>2016.583333333</c:v>
                </c:pt>
                <c:pt idx="68">
                  <c:v>2016.666666667</c:v>
                </c:pt>
                <c:pt idx="69">
                  <c:v>2016.75</c:v>
                </c:pt>
                <c:pt idx="70">
                  <c:v>2016.833333333</c:v>
                </c:pt>
                <c:pt idx="71">
                  <c:v>2016.916666667</c:v>
                </c:pt>
                <c:pt idx="72">
                  <c:v>2017</c:v>
                </c:pt>
                <c:pt idx="73">
                  <c:v>2017.083333333</c:v>
                </c:pt>
                <c:pt idx="74">
                  <c:v>2017.166666667</c:v>
                </c:pt>
                <c:pt idx="75">
                  <c:v>2017.25</c:v>
                </c:pt>
                <c:pt idx="76">
                  <c:v>2017.333333333</c:v>
                </c:pt>
                <c:pt idx="77">
                  <c:v>2017.416666667</c:v>
                </c:pt>
                <c:pt idx="78">
                  <c:v>2017.5</c:v>
                </c:pt>
                <c:pt idx="79">
                  <c:v>2017.583333333</c:v>
                </c:pt>
                <c:pt idx="80">
                  <c:v>2017.666666667</c:v>
                </c:pt>
                <c:pt idx="81">
                  <c:v>2017.75</c:v>
                </c:pt>
                <c:pt idx="82">
                  <c:v>2017.833333333</c:v>
                </c:pt>
                <c:pt idx="83">
                  <c:v>2017.916666667</c:v>
                </c:pt>
                <c:pt idx="84">
                  <c:v>2018</c:v>
                </c:pt>
                <c:pt idx="85">
                  <c:v>2018.083333333</c:v>
                </c:pt>
                <c:pt idx="86">
                  <c:v>2018.166666667</c:v>
                </c:pt>
                <c:pt idx="87">
                  <c:v>2018.25</c:v>
                </c:pt>
                <c:pt idx="88">
                  <c:v>2018.333333333</c:v>
                </c:pt>
                <c:pt idx="89">
                  <c:v>2018.416666667</c:v>
                </c:pt>
                <c:pt idx="90">
                  <c:v>2018.5</c:v>
                </c:pt>
                <c:pt idx="91">
                  <c:v>2018.583333333</c:v>
                </c:pt>
                <c:pt idx="92">
                  <c:v>2018.666666667</c:v>
                </c:pt>
                <c:pt idx="93">
                  <c:v>2018.75</c:v>
                </c:pt>
                <c:pt idx="94">
                  <c:v>2018.833333333</c:v>
                </c:pt>
                <c:pt idx="95">
                  <c:v>2018.916666667</c:v>
                </c:pt>
                <c:pt idx="96">
                  <c:v>2019</c:v>
                </c:pt>
                <c:pt idx="97">
                  <c:v>2019.083333333</c:v>
                </c:pt>
                <c:pt idx="98">
                  <c:v>2019.166666667</c:v>
                </c:pt>
                <c:pt idx="99">
                  <c:v>2019.25</c:v>
                </c:pt>
                <c:pt idx="100">
                  <c:v>2019.333333333</c:v>
                </c:pt>
                <c:pt idx="101">
                  <c:v>2019.416666667</c:v>
                </c:pt>
                <c:pt idx="102">
                  <c:v>2019.5</c:v>
                </c:pt>
                <c:pt idx="103">
                  <c:v>2019.583333333</c:v>
                </c:pt>
                <c:pt idx="104">
                  <c:v>2019.666666667</c:v>
                </c:pt>
                <c:pt idx="105">
                  <c:v>2019.75</c:v>
                </c:pt>
                <c:pt idx="106">
                  <c:v>2019.833333333</c:v>
                </c:pt>
                <c:pt idx="107">
                  <c:v>2019.916666667</c:v>
                </c:pt>
                <c:pt idx="108">
                  <c:v>2020</c:v>
                </c:pt>
                <c:pt idx="109">
                  <c:v>2020.083333333</c:v>
                </c:pt>
                <c:pt idx="110">
                  <c:v>2020.166666667</c:v>
                </c:pt>
                <c:pt idx="111">
                  <c:v>2020.25</c:v>
                </c:pt>
                <c:pt idx="112">
                  <c:v>2020.333333333</c:v>
                </c:pt>
                <c:pt idx="113">
                  <c:v>2020.416666667</c:v>
                </c:pt>
                <c:pt idx="114">
                  <c:v>2020.5</c:v>
                </c:pt>
                <c:pt idx="115">
                  <c:v>2020.583333333</c:v>
                </c:pt>
                <c:pt idx="116">
                  <c:v>2020.666666667</c:v>
                </c:pt>
                <c:pt idx="117">
                  <c:v>2020.75</c:v>
                </c:pt>
                <c:pt idx="118">
                  <c:v>2020.833333333</c:v>
                </c:pt>
                <c:pt idx="119">
                  <c:v>2020.916666667</c:v>
                </c:pt>
                <c:pt idx="120">
                  <c:v>2021</c:v>
                </c:pt>
                <c:pt idx="121">
                  <c:v>2021.083333333</c:v>
                </c:pt>
                <c:pt idx="122">
                  <c:v>2021.166666667</c:v>
                </c:pt>
                <c:pt idx="123">
                  <c:v>2021.25</c:v>
                </c:pt>
                <c:pt idx="124">
                  <c:v>2021.333333333</c:v>
                </c:pt>
                <c:pt idx="125">
                  <c:v>2021.416666667</c:v>
                </c:pt>
                <c:pt idx="126">
                  <c:v>2021.5</c:v>
                </c:pt>
                <c:pt idx="127">
                  <c:v>2021.583333333</c:v>
                </c:pt>
                <c:pt idx="128">
                  <c:v>2021.666666667</c:v>
                </c:pt>
                <c:pt idx="129">
                  <c:v>2021.75</c:v>
                </c:pt>
                <c:pt idx="130">
                  <c:v>2021.833333333</c:v>
                </c:pt>
                <c:pt idx="131">
                  <c:v>2021.916666667</c:v>
                </c:pt>
                <c:pt idx="132">
                  <c:v>2022</c:v>
                </c:pt>
                <c:pt idx="133">
                  <c:v>2022.083333333</c:v>
                </c:pt>
                <c:pt idx="134">
                  <c:v>2022.166666667</c:v>
                </c:pt>
                <c:pt idx="135">
                  <c:v>2022.25</c:v>
                </c:pt>
                <c:pt idx="136">
                  <c:v>2022.333333333</c:v>
                </c:pt>
                <c:pt idx="137">
                  <c:v>2022.416666667</c:v>
                </c:pt>
                <c:pt idx="138">
                  <c:v>2022.5</c:v>
                </c:pt>
                <c:pt idx="139">
                  <c:v>2022.583333333</c:v>
                </c:pt>
                <c:pt idx="140">
                  <c:v>2022.666666667</c:v>
                </c:pt>
                <c:pt idx="141">
                  <c:v>2022.75</c:v>
                </c:pt>
                <c:pt idx="142">
                  <c:v>2022.833333333</c:v>
                </c:pt>
                <c:pt idx="143">
                  <c:v>2022.916666667</c:v>
                </c:pt>
                <c:pt idx="144">
                  <c:v>2023</c:v>
                </c:pt>
                <c:pt idx="145">
                  <c:v>2023.083333333</c:v>
                </c:pt>
                <c:pt idx="146">
                  <c:v>2023.166666667</c:v>
                </c:pt>
                <c:pt idx="147">
                  <c:v>2023.25</c:v>
                </c:pt>
                <c:pt idx="148">
                  <c:v>2023.333333333</c:v>
                </c:pt>
                <c:pt idx="149">
                  <c:v>2023.416666667</c:v>
                </c:pt>
                <c:pt idx="150">
                  <c:v>2023.5</c:v>
                </c:pt>
                <c:pt idx="151">
                  <c:v>2023.583333333</c:v>
                </c:pt>
                <c:pt idx="152">
                  <c:v>2023.666666667</c:v>
                </c:pt>
                <c:pt idx="153">
                  <c:v>2023.75</c:v>
                </c:pt>
                <c:pt idx="154">
                  <c:v>2023.833333333</c:v>
                </c:pt>
                <c:pt idx="155">
                  <c:v>2023.916666667</c:v>
                </c:pt>
                <c:pt idx="156">
                  <c:v>2024</c:v>
                </c:pt>
                <c:pt idx="157">
                  <c:v>2024.083333333</c:v>
                </c:pt>
                <c:pt idx="158">
                  <c:v>2024.166666667</c:v>
                </c:pt>
                <c:pt idx="159">
                  <c:v>2024.25</c:v>
                </c:pt>
                <c:pt idx="160">
                  <c:v>2024.333333333</c:v>
                </c:pt>
                <c:pt idx="161">
                  <c:v>2024.416666667</c:v>
                </c:pt>
                <c:pt idx="162">
                  <c:v>2024.5</c:v>
                </c:pt>
                <c:pt idx="163">
                  <c:v>2024.583333333</c:v>
                </c:pt>
                <c:pt idx="164">
                  <c:v>2024.666666667</c:v>
                </c:pt>
                <c:pt idx="165">
                  <c:v>2024.75</c:v>
                </c:pt>
                <c:pt idx="166">
                  <c:v>2024.833333333</c:v>
                </c:pt>
                <c:pt idx="167">
                  <c:v>2024.916666667</c:v>
                </c:pt>
                <c:pt idx="168">
                  <c:v>2025</c:v>
                </c:pt>
                <c:pt idx="169">
                  <c:v>2025.083333333</c:v>
                </c:pt>
                <c:pt idx="170">
                  <c:v>2025.166666667</c:v>
                </c:pt>
                <c:pt idx="171">
                  <c:v>2025.25</c:v>
                </c:pt>
                <c:pt idx="172">
                  <c:v>2025.333333333</c:v>
                </c:pt>
                <c:pt idx="173">
                  <c:v>2025.416666667</c:v>
                </c:pt>
                <c:pt idx="174">
                  <c:v>2025.5</c:v>
                </c:pt>
                <c:pt idx="175">
                  <c:v>2025.583333333</c:v>
                </c:pt>
                <c:pt idx="176">
                  <c:v>2025.666666667</c:v>
                </c:pt>
                <c:pt idx="177">
                  <c:v>2025.75</c:v>
                </c:pt>
                <c:pt idx="178">
                  <c:v>2025.833333333</c:v>
                </c:pt>
                <c:pt idx="179">
                  <c:v>2025.916666667</c:v>
                </c:pt>
              </c:numCache>
            </c:numRef>
          </c:xVal>
          <c:yVal>
            <c:numRef>
              <c:f>'Chart Data'!$D$2:$D$181</c:f>
              <c:numCache>
                <c:formatCode>#,##0</c:formatCode>
                <c:ptCount val="180"/>
                <c:pt idx="0">
                  <c:v>745</c:v>
                </c:pt>
                <c:pt idx="1">
                  <c:v>771</c:v>
                </c:pt>
                <c:pt idx="2">
                  <c:v>1023</c:v>
                </c:pt>
                <c:pt idx="3">
                  <c:v>983</c:v>
                </c:pt>
                <c:pt idx="4">
                  <c:v>742</c:v>
                </c:pt>
                <c:pt idx="5">
                  <c:v>933</c:v>
                </c:pt>
                <c:pt idx="6">
                  <c:v>884</c:v>
                </c:pt>
                <c:pt idx="7">
                  <c:v>917</c:v>
                </c:pt>
                <c:pt idx="8">
                  <c:v>841</c:v>
                </c:pt>
                <c:pt idx="9">
                  <c:v>817</c:v>
                </c:pt>
                <c:pt idx="10">
                  <c:v>837</c:v>
                </c:pt>
                <c:pt idx="11">
                  <c:v>994</c:v>
                </c:pt>
                <c:pt idx="12">
                  <c:v>770</c:v>
                </c:pt>
                <c:pt idx="13">
                  <c:v>769</c:v>
                </c:pt>
                <c:pt idx="14">
                  <c:v>841</c:v>
                </c:pt>
                <c:pt idx="15">
                  <c:v>846</c:v>
                </c:pt>
                <c:pt idx="16">
                  <c:v>889</c:v>
                </c:pt>
                <c:pt idx="17">
                  <c:v>820</c:v>
                </c:pt>
                <c:pt idx="18">
                  <c:v>769</c:v>
                </c:pt>
                <c:pt idx="19">
                  <c:v>830</c:v>
                </c:pt>
                <c:pt idx="20">
                  <c:v>726</c:v>
                </c:pt>
                <c:pt idx="21">
                  <c:v>824</c:v>
                </c:pt>
                <c:pt idx="22">
                  <c:v>892</c:v>
                </c:pt>
                <c:pt idx="23">
                  <c:v>878</c:v>
                </c:pt>
                <c:pt idx="24">
                  <c:v>729</c:v>
                </c:pt>
                <c:pt idx="25">
                  <c:v>754</c:v>
                </c:pt>
                <c:pt idx="26">
                  <c:v>735</c:v>
                </c:pt>
                <c:pt idx="27">
                  <c:v>831</c:v>
                </c:pt>
                <c:pt idx="28">
                  <c:v>835</c:v>
                </c:pt>
                <c:pt idx="29">
                  <c:v>770</c:v>
                </c:pt>
                <c:pt idx="30">
                  <c:v>754</c:v>
                </c:pt>
                <c:pt idx="31">
                  <c:v>781</c:v>
                </c:pt>
                <c:pt idx="32">
                  <c:v>639</c:v>
                </c:pt>
                <c:pt idx="33">
                  <c:v>626</c:v>
                </c:pt>
                <c:pt idx="34">
                  <c:v>543</c:v>
                </c:pt>
                <c:pt idx="35">
                  <c:v>756</c:v>
                </c:pt>
                <c:pt idx="36">
                  <c:v>545</c:v>
                </c:pt>
                <c:pt idx="37">
                  <c:v>543</c:v>
                </c:pt>
                <c:pt idx="38">
                  <c:v>511</c:v>
                </c:pt>
                <c:pt idx="39">
                  <c:v>676</c:v>
                </c:pt>
                <c:pt idx="40">
                  <c:v>639</c:v>
                </c:pt>
                <c:pt idx="41">
                  <c:v>610</c:v>
                </c:pt>
                <c:pt idx="42">
                  <c:v>651</c:v>
                </c:pt>
                <c:pt idx="43">
                  <c:v>584</c:v>
                </c:pt>
                <c:pt idx="44">
                  <c:v>638</c:v>
                </c:pt>
                <c:pt idx="45">
                  <c:v>606</c:v>
                </c:pt>
                <c:pt idx="46">
                  <c:v>535</c:v>
                </c:pt>
                <c:pt idx="47">
                  <c:v>872</c:v>
                </c:pt>
                <c:pt idx="48">
                  <c:v>550</c:v>
                </c:pt>
                <c:pt idx="49">
                  <c:v>555</c:v>
                </c:pt>
                <c:pt idx="50">
                  <c:v>558</c:v>
                </c:pt>
                <c:pt idx="51">
                  <c:v>541</c:v>
                </c:pt>
                <c:pt idx="52">
                  <c:v>524</c:v>
                </c:pt>
                <c:pt idx="53">
                  <c:v>575</c:v>
                </c:pt>
                <c:pt idx="54">
                  <c:v>546</c:v>
                </c:pt>
                <c:pt idx="55">
                  <c:v>512</c:v>
                </c:pt>
                <c:pt idx="56">
                  <c:v>529</c:v>
                </c:pt>
                <c:pt idx="57">
                  <c:v>482</c:v>
                </c:pt>
                <c:pt idx="58">
                  <c:v>486</c:v>
                </c:pt>
                <c:pt idx="59">
                  <c:v>665</c:v>
                </c:pt>
                <c:pt idx="60">
                  <c:v>438</c:v>
                </c:pt>
                <c:pt idx="61">
                  <c:v>479</c:v>
                </c:pt>
                <c:pt idx="62">
                  <c:v>641</c:v>
                </c:pt>
                <c:pt idx="63">
                  <c:v>514</c:v>
                </c:pt>
                <c:pt idx="64">
                  <c:v>558</c:v>
                </c:pt>
                <c:pt idx="65">
                  <c:v>542</c:v>
                </c:pt>
                <c:pt idx="66">
                  <c:v>493</c:v>
                </c:pt>
                <c:pt idx="67">
                  <c:v>557</c:v>
                </c:pt>
                <c:pt idx="68">
                  <c:v>499</c:v>
                </c:pt>
                <c:pt idx="69">
                  <c:v>458</c:v>
                </c:pt>
                <c:pt idx="70">
                  <c:v>538</c:v>
                </c:pt>
                <c:pt idx="71">
                  <c:v>598</c:v>
                </c:pt>
                <c:pt idx="72">
                  <c:v>501</c:v>
                </c:pt>
                <c:pt idx="73">
                  <c:v>469</c:v>
                </c:pt>
                <c:pt idx="74">
                  <c:v>531</c:v>
                </c:pt>
                <c:pt idx="75">
                  <c:v>487</c:v>
                </c:pt>
                <c:pt idx="76">
                  <c:v>571</c:v>
                </c:pt>
                <c:pt idx="77">
                  <c:v>535</c:v>
                </c:pt>
                <c:pt idx="78">
                  <c:v>495</c:v>
                </c:pt>
                <c:pt idx="79">
                  <c:v>552</c:v>
                </c:pt>
                <c:pt idx="80">
                  <c:v>476</c:v>
                </c:pt>
                <c:pt idx="81">
                  <c:v>526</c:v>
                </c:pt>
                <c:pt idx="82">
                  <c:v>520</c:v>
                </c:pt>
                <c:pt idx="83">
                  <c:v>565</c:v>
                </c:pt>
                <c:pt idx="84">
                  <c:v>519</c:v>
                </c:pt>
                <c:pt idx="85">
                  <c:v>478</c:v>
                </c:pt>
                <c:pt idx="86">
                  <c:v>560</c:v>
                </c:pt>
                <c:pt idx="87">
                  <c:v>527</c:v>
                </c:pt>
                <c:pt idx="88">
                  <c:v>585</c:v>
                </c:pt>
                <c:pt idx="89">
                  <c:v>571</c:v>
                </c:pt>
                <c:pt idx="90">
                  <c:v>572</c:v>
                </c:pt>
                <c:pt idx="91">
                  <c:v>528</c:v>
                </c:pt>
                <c:pt idx="92">
                  <c:v>561</c:v>
                </c:pt>
                <c:pt idx="93">
                  <c:v>551</c:v>
                </c:pt>
                <c:pt idx="94">
                  <c:v>591</c:v>
                </c:pt>
                <c:pt idx="95">
                  <c:v>654</c:v>
                </c:pt>
                <c:pt idx="96">
                  <c:v>550</c:v>
                </c:pt>
                <c:pt idx="97">
                  <c:v>491</c:v>
                </c:pt>
                <c:pt idx="98">
                  <c:v>584</c:v>
                </c:pt>
                <c:pt idx="99">
                  <c:v>562</c:v>
                </c:pt>
                <c:pt idx="100">
                  <c:v>605</c:v>
                </c:pt>
                <c:pt idx="101">
                  <c:v>607</c:v>
                </c:pt>
                <c:pt idx="102">
                  <c:v>585</c:v>
                </c:pt>
                <c:pt idx="103">
                  <c:v>709</c:v>
                </c:pt>
                <c:pt idx="104">
                  <c:v>541</c:v>
                </c:pt>
                <c:pt idx="105">
                  <c:v>715</c:v>
                </c:pt>
                <c:pt idx="106">
                  <c:v>593</c:v>
                </c:pt>
                <c:pt idx="107">
                  <c:v>728</c:v>
                </c:pt>
                <c:pt idx="108">
                  <c:v>527</c:v>
                </c:pt>
                <c:pt idx="109">
                  <c:v>678</c:v>
                </c:pt>
                <c:pt idx="110">
                  <c:v>590</c:v>
                </c:pt>
                <c:pt idx="111">
                  <c:v>467</c:v>
                </c:pt>
                <c:pt idx="112">
                  <c:v>582</c:v>
                </c:pt>
                <c:pt idx="113">
                  <c:v>553</c:v>
                </c:pt>
                <c:pt idx="114">
                  <c:v>602</c:v>
                </c:pt>
                <c:pt idx="115">
                  <c:v>588</c:v>
                </c:pt>
                <c:pt idx="116">
                  <c:v>589</c:v>
                </c:pt>
                <c:pt idx="117">
                  <c:v>616</c:v>
                </c:pt>
                <c:pt idx="118">
                  <c:v>607</c:v>
                </c:pt>
                <c:pt idx="119">
                  <c:v>706</c:v>
                </c:pt>
                <c:pt idx="120">
                  <c:v>642</c:v>
                </c:pt>
                <c:pt idx="121">
                  <c:v>600</c:v>
                </c:pt>
                <c:pt idx="122">
                  <c:v>718</c:v>
                </c:pt>
                <c:pt idx="123">
                  <c:v>747</c:v>
                </c:pt>
                <c:pt idx="124">
                  <c:v>766</c:v>
                </c:pt>
                <c:pt idx="125">
                  <c:v>767</c:v>
                </c:pt>
                <c:pt idx="126">
                  <c:v>747</c:v>
                </c:pt>
                <c:pt idx="127">
                  <c:v>747</c:v>
                </c:pt>
                <c:pt idx="128">
                  <c:v>724</c:v>
                </c:pt>
                <c:pt idx="129">
                  <c:v>727</c:v>
                </c:pt>
                <c:pt idx="130">
                  <c:v>768</c:v>
                </c:pt>
                <c:pt idx="131">
                  <c:v>842</c:v>
                </c:pt>
                <c:pt idx="132">
                  <c:v>724</c:v>
                </c:pt>
                <c:pt idx="133">
                  <c:v>715</c:v>
                </c:pt>
                <c:pt idx="134">
                  <c:v>786</c:v>
                </c:pt>
                <c:pt idx="135">
                  <c:v>812</c:v>
                </c:pt>
                <c:pt idx="136">
                  <c:v>845</c:v>
                </c:pt>
                <c:pt idx="137">
                  <c:v>835</c:v>
                </c:pt>
                <c:pt idx="138">
                  <c:v>778</c:v>
                </c:pt>
                <c:pt idx="139">
                  <c:v>776</c:v>
                </c:pt>
                <c:pt idx="140">
                  <c:v>748</c:v>
                </c:pt>
                <c:pt idx="141">
                  <c:v>776</c:v>
                </c:pt>
                <c:pt idx="142">
                  <c:v>782</c:v>
                </c:pt>
                <c:pt idx="143">
                  <c:v>869</c:v>
                </c:pt>
                <c:pt idx="144">
                  <c:v>772</c:v>
                </c:pt>
                <c:pt idx="145">
                  <c:v>701</c:v>
                </c:pt>
                <c:pt idx="146">
                  <c:v>793</c:v>
                </c:pt>
                <c:pt idx="147">
                  <c:v>790</c:v>
                </c:pt>
                <c:pt idx="148">
                  <c:v>802</c:v>
                </c:pt>
                <c:pt idx="149">
                  <c:v>783</c:v>
                </c:pt>
                <c:pt idx="150">
                  <c:v>781</c:v>
                </c:pt>
                <c:pt idx="151">
                  <c:v>765</c:v>
                </c:pt>
                <c:pt idx="152">
                  <c:v>730</c:v>
                </c:pt>
                <c:pt idx="153">
                  <c:v>769</c:v>
                </c:pt>
                <c:pt idx="154">
                  <c:v>773</c:v>
                </c:pt>
                <c:pt idx="155">
                  <c:v>851</c:v>
                </c:pt>
                <c:pt idx="156">
                  <c:v>694</c:v>
                </c:pt>
                <c:pt idx="157">
                  <c:v>721</c:v>
                </c:pt>
                <c:pt idx="158">
                  <c:v>797</c:v>
                </c:pt>
                <c:pt idx="159">
                  <c:v>765</c:v>
                </c:pt>
                <c:pt idx="160">
                  <c:v>804</c:v>
                </c:pt>
                <c:pt idx="161">
                  <c:v>779</c:v>
                </c:pt>
                <c:pt idx="162">
                  <c:v>822</c:v>
                </c:pt>
                <c:pt idx="163">
                  <c:v>776</c:v>
                </c:pt>
                <c:pt idx="164">
                  <c:v>701</c:v>
                </c:pt>
                <c:pt idx="165">
                  <c:v>781</c:v>
                </c:pt>
                <c:pt idx="166">
                  <c:v>777</c:v>
                </c:pt>
                <c:pt idx="167">
                  <c:v>819</c:v>
                </c:pt>
                <c:pt idx="168">
                  <c:v>685</c:v>
                </c:pt>
                <c:pt idx="169">
                  <c:v>657</c:v>
                </c:pt>
                <c:pt idx="170">
                  <c:v>730</c:v>
                </c:pt>
                <c:pt idx="171">
                  <c:v>755</c:v>
                </c:pt>
                <c:pt idx="172">
                  <c:v>780</c:v>
                </c:pt>
                <c:pt idx="173">
                  <c:v>722</c:v>
                </c:pt>
                <c:pt idx="174">
                  <c:v>751</c:v>
                </c:pt>
                <c:pt idx="175">
                  <c:v>727</c:v>
                </c:pt>
                <c:pt idx="176">
                  <c:v>680</c:v>
                </c:pt>
                <c:pt idx="177">
                  <c:v>747</c:v>
                </c:pt>
                <c:pt idx="178">
                  <c:v>729</c:v>
                </c:pt>
                <c:pt idx="179">
                  <c:v>909</c:v>
                </c:pt>
              </c:numCache>
            </c:numRef>
          </c:yVal>
          <c:smooth val="0"/>
        </c:ser>
        <c:ser>
          <c:idx val="2"/>
          <c:order val="2"/>
          <c:tx>
            <c:v>Debit</c:v>
          </c:tx>
          <c:spPr>
            <a:ln xmlns:a="http://schemas.openxmlformats.org/drawingml/2006/main" w="23813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Data'!$E$2:$E$181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2011.083333333</c:v>
                </c:pt>
                <c:pt idx="2">
                  <c:v>2011.166666667</c:v>
                </c:pt>
                <c:pt idx="3">
                  <c:v>2011.25</c:v>
                </c:pt>
                <c:pt idx="4">
                  <c:v>2011.333333333</c:v>
                </c:pt>
                <c:pt idx="5">
                  <c:v>2011.416666667</c:v>
                </c:pt>
                <c:pt idx="6">
                  <c:v>2011.5</c:v>
                </c:pt>
                <c:pt idx="7">
                  <c:v>2011.583333333</c:v>
                </c:pt>
                <c:pt idx="8">
                  <c:v>2011.666666667</c:v>
                </c:pt>
                <c:pt idx="9">
                  <c:v>2011.75</c:v>
                </c:pt>
                <c:pt idx="10">
                  <c:v>2011.833333333</c:v>
                </c:pt>
                <c:pt idx="11">
                  <c:v>2011.916666667</c:v>
                </c:pt>
                <c:pt idx="12">
                  <c:v>2012</c:v>
                </c:pt>
                <c:pt idx="13">
                  <c:v>2012.083333333</c:v>
                </c:pt>
                <c:pt idx="14">
                  <c:v>2012.166666667</c:v>
                </c:pt>
                <c:pt idx="15">
                  <c:v>2012.25</c:v>
                </c:pt>
                <c:pt idx="16">
                  <c:v>2012.333333333</c:v>
                </c:pt>
                <c:pt idx="17">
                  <c:v>2012.416666667</c:v>
                </c:pt>
                <c:pt idx="18">
                  <c:v>2012.5</c:v>
                </c:pt>
                <c:pt idx="19">
                  <c:v>2012.583333333</c:v>
                </c:pt>
                <c:pt idx="20">
                  <c:v>2012.666666667</c:v>
                </c:pt>
                <c:pt idx="21">
                  <c:v>2012.75</c:v>
                </c:pt>
                <c:pt idx="22">
                  <c:v>2012.833333333</c:v>
                </c:pt>
                <c:pt idx="23">
                  <c:v>2012.916666667</c:v>
                </c:pt>
                <c:pt idx="24">
                  <c:v>2013</c:v>
                </c:pt>
                <c:pt idx="25">
                  <c:v>2013.083333333</c:v>
                </c:pt>
                <c:pt idx="26">
                  <c:v>2013.166666667</c:v>
                </c:pt>
                <c:pt idx="27">
                  <c:v>2013.25</c:v>
                </c:pt>
                <c:pt idx="28">
                  <c:v>2013.333333333</c:v>
                </c:pt>
                <c:pt idx="29">
                  <c:v>2013.416666667</c:v>
                </c:pt>
                <c:pt idx="30">
                  <c:v>2013.5</c:v>
                </c:pt>
                <c:pt idx="31">
                  <c:v>2013.583333333</c:v>
                </c:pt>
                <c:pt idx="32">
                  <c:v>2013.666666667</c:v>
                </c:pt>
                <c:pt idx="33">
                  <c:v>2013.75</c:v>
                </c:pt>
                <c:pt idx="34">
                  <c:v>2013.833333333</c:v>
                </c:pt>
                <c:pt idx="35">
                  <c:v>2013.916666667</c:v>
                </c:pt>
                <c:pt idx="36">
                  <c:v>2014</c:v>
                </c:pt>
                <c:pt idx="37">
                  <c:v>2014.083333333</c:v>
                </c:pt>
                <c:pt idx="38">
                  <c:v>2014.166666667</c:v>
                </c:pt>
                <c:pt idx="39">
                  <c:v>2014.25</c:v>
                </c:pt>
                <c:pt idx="40">
                  <c:v>2014.333333333</c:v>
                </c:pt>
                <c:pt idx="41">
                  <c:v>2014.416666667</c:v>
                </c:pt>
                <c:pt idx="42">
                  <c:v>2014.5</c:v>
                </c:pt>
                <c:pt idx="43">
                  <c:v>2014.583333333</c:v>
                </c:pt>
                <c:pt idx="44">
                  <c:v>2014.666666667</c:v>
                </c:pt>
                <c:pt idx="45">
                  <c:v>2014.75</c:v>
                </c:pt>
                <c:pt idx="46">
                  <c:v>2014.833333333</c:v>
                </c:pt>
                <c:pt idx="47">
                  <c:v>2014.916666667</c:v>
                </c:pt>
                <c:pt idx="48">
                  <c:v>2015</c:v>
                </c:pt>
                <c:pt idx="49">
                  <c:v>2015.083333333</c:v>
                </c:pt>
                <c:pt idx="50">
                  <c:v>2015.166666667</c:v>
                </c:pt>
                <c:pt idx="51">
                  <c:v>2015.25</c:v>
                </c:pt>
                <c:pt idx="52">
                  <c:v>2015.333333333</c:v>
                </c:pt>
                <c:pt idx="53">
                  <c:v>2015.416666667</c:v>
                </c:pt>
                <c:pt idx="54">
                  <c:v>2015.5</c:v>
                </c:pt>
                <c:pt idx="55">
                  <c:v>2015.583333333</c:v>
                </c:pt>
                <c:pt idx="56">
                  <c:v>2015.666666667</c:v>
                </c:pt>
                <c:pt idx="57">
                  <c:v>2015.75</c:v>
                </c:pt>
                <c:pt idx="58">
                  <c:v>2015.833333333</c:v>
                </c:pt>
                <c:pt idx="59">
                  <c:v>2015.916666667</c:v>
                </c:pt>
                <c:pt idx="60">
                  <c:v>2016</c:v>
                </c:pt>
                <c:pt idx="61">
                  <c:v>2016.083333333</c:v>
                </c:pt>
                <c:pt idx="62">
                  <c:v>2016.166666667</c:v>
                </c:pt>
                <c:pt idx="63">
                  <c:v>2016.25</c:v>
                </c:pt>
                <c:pt idx="64">
                  <c:v>2016.333333333</c:v>
                </c:pt>
                <c:pt idx="65">
                  <c:v>2016.416666667</c:v>
                </c:pt>
                <c:pt idx="66">
                  <c:v>2016.5</c:v>
                </c:pt>
                <c:pt idx="67">
                  <c:v>2016.583333333</c:v>
                </c:pt>
                <c:pt idx="68">
                  <c:v>2016.666666667</c:v>
                </c:pt>
                <c:pt idx="69">
                  <c:v>2016.75</c:v>
                </c:pt>
                <c:pt idx="70">
                  <c:v>2016.833333333</c:v>
                </c:pt>
                <c:pt idx="71">
                  <c:v>2016.916666667</c:v>
                </c:pt>
                <c:pt idx="72">
                  <c:v>2017</c:v>
                </c:pt>
                <c:pt idx="73">
                  <c:v>2017.083333333</c:v>
                </c:pt>
                <c:pt idx="74">
                  <c:v>2017.166666667</c:v>
                </c:pt>
                <c:pt idx="75">
                  <c:v>2017.25</c:v>
                </c:pt>
                <c:pt idx="76">
                  <c:v>2017.333333333</c:v>
                </c:pt>
                <c:pt idx="77">
                  <c:v>2017.416666667</c:v>
                </c:pt>
                <c:pt idx="78">
                  <c:v>2017.5</c:v>
                </c:pt>
                <c:pt idx="79">
                  <c:v>2017.583333333</c:v>
                </c:pt>
                <c:pt idx="80">
                  <c:v>2017.666666667</c:v>
                </c:pt>
                <c:pt idx="81">
                  <c:v>2017.75</c:v>
                </c:pt>
                <c:pt idx="82">
                  <c:v>2017.833333333</c:v>
                </c:pt>
                <c:pt idx="83">
                  <c:v>2017.916666667</c:v>
                </c:pt>
                <c:pt idx="84">
                  <c:v>2018</c:v>
                </c:pt>
                <c:pt idx="85">
                  <c:v>2018.083333333</c:v>
                </c:pt>
                <c:pt idx="86">
                  <c:v>2018.166666667</c:v>
                </c:pt>
                <c:pt idx="87">
                  <c:v>2018.25</c:v>
                </c:pt>
                <c:pt idx="88">
                  <c:v>2018.333333333</c:v>
                </c:pt>
                <c:pt idx="89">
                  <c:v>2018.416666667</c:v>
                </c:pt>
                <c:pt idx="90">
                  <c:v>2018.5</c:v>
                </c:pt>
                <c:pt idx="91">
                  <c:v>2018.583333333</c:v>
                </c:pt>
                <c:pt idx="92">
                  <c:v>2018.666666667</c:v>
                </c:pt>
                <c:pt idx="93">
                  <c:v>2018.75</c:v>
                </c:pt>
                <c:pt idx="94">
                  <c:v>2018.833333333</c:v>
                </c:pt>
                <c:pt idx="95">
                  <c:v>2018.916666667</c:v>
                </c:pt>
                <c:pt idx="96">
                  <c:v>2019</c:v>
                </c:pt>
                <c:pt idx="97">
                  <c:v>2019.083333333</c:v>
                </c:pt>
                <c:pt idx="98">
                  <c:v>2019.166666667</c:v>
                </c:pt>
                <c:pt idx="99">
                  <c:v>2019.25</c:v>
                </c:pt>
                <c:pt idx="100">
                  <c:v>2019.333333333</c:v>
                </c:pt>
                <c:pt idx="101">
                  <c:v>2019.416666667</c:v>
                </c:pt>
                <c:pt idx="102">
                  <c:v>2019.5</c:v>
                </c:pt>
                <c:pt idx="103">
                  <c:v>2019.583333333</c:v>
                </c:pt>
                <c:pt idx="104">
                  <c:v>2019.666666667</c:v>
                </c:pt>
                <c:pt idx="105">
                  <c:v>2019.75</c:v>
                </c:pt>
                <c:pt idx="106">
                  <c:v>2019.833333333</c:v>
                </c:pt>
                <c:pt idx="107">
                  <c:v>2019.916666667</c:v>
                </c:pt>
                <c:pt idx="108">
                  <c:v>2020</c:v>
                </c:pt>
                <c:pt idx="109">
                  <c:v>2020.083333333</c:v>
                </c:pt>
                <c:pt idx="110">
                  <c:v>2020.166666667</c:v>
                </c:pt>
                <c:pt idx="111">
                  <c:v>2020.25</c:v>
                </c:pt>
                <c:pt idx="112">
                  <c:v>2020.333333333</c:v>
                </c:pt>
                <c:pt idx="113">
                  <c:v>2020.416666667</c:v>
                </c:pt>
                <c:pt idx="114">
                  <c:v>2020.5</c:v>
                </c:pt>
                <c:pt idx="115">
                  <c:v>2020.583333333</c:v>
                </c:pt>
                <c:pt idx="116">
                  <c:v>2020.666666667</c:v>
                </c:pt>
                <c:pt idx="117">
                  <c:v>2020.75</c:v>
                </c:pt>
                <c:pt idx="118">
                  <c:v>2020.833333333</c:v>
                </c:pt>
                <c:pt idx="119">
                  <c:v>2020.916666667</c:v>
                </c:pt>
                <c:pt idx="120">
                  <c:v>2021</c:v>
                </c:pt>
                <c:pt idx="121">
                  <c:v>2021.083333333</c:v>
                </c:pt>
                <c:pt idx="122">
                  <c:v>2021.166666667</c:v>
                </c:pt>
                <c:pt idx="123">
                  <c:v>2021.25</c:v>
                </c:pt>
                <c:pt idx="124">
                  <c:v>2021.333333333</c:v>
                </c:pt>
                <c:pt idx="125">
                  <c:v>2021.416666667</c:v>
                </c:pt>
                <c:pt idx="126">
                  <c:v>2021.5</c:v>
                </c:pt>
                <c:pt idx="127">
                  <c:v>2021.583333333</c:v>
                </c:pt>
                <c:pt idx="128">
                  <c:v>2021.666666667</c:v>
                </c:pt>
                <c:pt idx="129">
                  <c:v>2021.75</c:v>
                </c:pt>
                <c:pt idx="130">
                  <c:v>2021.833333333</c:v>
                </c:pt>
                <c:pt idx="131">
                  <c:v>2021.916666667</c:v>
                </c:pt>
                <c:pt idx="132">
                  <c:v>2022</c:v>
                </c:pt>
                <c:pt idx="133">
                  <c:v>2022.083333333</c:v>
                </c:pt>
                <c:pt idx="134">
                  <c:v>2022.166666667</c:v>
                </c:pt>
                <c:pt idx="135">
                  <c:v>2022.25</c:v>
                </c:pt>
                <c:pt idx="136">
                  <c:v>2022.333333333</c:v>
                </c:pt>
                <c:pt idx="137">
                  <c:v>2022.416666667</c:v>
                </c:pt>
                <c:pt idx="138">
                  <c:v>2022.5</c:v>
                </c:pt>
                <c:pt idx="139">
                  <c:v>2022.583333333</c:v>
                </c:pt>
                <c:pt idx="140">
                  <c:v>2022.666666667</c:v>
                </c:pt>
                <c:pt idx="141">
                  <c:v>2022.75</c:v>
                </c:pt>
                <c:pt idx="142">
                  <c:v>2022.833333333</c:v>
                </c:pt>
                <c:pt idx="143">
                  <c:v>2022.916666667</c:v>
                </c:pt>
                <c:pt idx="144">
                  <c:v>2023</c:v>
                </c:pt>
                <c:pt idx="145">
                  <c:v>2023.083333333</c:v>
                </c:pt>
                <c:pt idx="146">
                  <c:v>2023.166666667</c:v>
                </c:pt>
                <c:pt idx="147">
                  <c:v>2023.25</c:v>
                </c:pt>
                <c:pt idx="148">
                  <c:v>2023.333333333</c:v>
                </c:pt>
                <c:pt idx="149">
                  <c:v>2023.416666667</c:v>
                </c:pt>
                <c:pt idx="150">
                  <c:v>2023.5</c:v>
                </c:pt>
                <c:pt idx="151">
                  <c:v>2023.583333333</c:v>
                </c:pt>
                <c:pt idx="152">
                  <c:v>2023.666666667</c:v>
                </c:pt>
                <c:pt idx="153">
                  <c:v>2023.75</c:v>
                </c:pt>
                <c:pt idx="154">
                  <c:v>2023.833333333</c:v>
                </c:pt>
                <c:pt idx="155">
                  <c:v>2023.916666667</c:v>
                </c:pt>
                <c:pt idx="156">
                  <c:v>2024</c:v>
                </c:pt>
                <c:pt idx="157">
                  <c:v>2024.083333333</c:v>
                </c:pt>
                <c:pt idx="158">
                  <c:v>2024.166666667</c:v>
                </c:pt>
                <c:pt idx="159">
                  <c:v>2024.25</c:v>
                </c:pt>
                <c:pt idx="160">
                  <c:v>2024.333333333</c:v>
                </c:pt>
                <c:pt idx="161">
                  <c:v>2024.416666667</c:v>
                </c:pt>
                <c:pt idx="162">
                  <c:v>2024.5</c:v>
                </c:pt>
                <c:pt idx="163">
                  <c:v>2024.583333333</c:v>
                </c:pt>
                <c:pt idx="164">
                  <c:v>2024.666666667</c:v>
                </c:pt>
                <c:pt idx="165">
                  <c:v>2024.75</c:v>
                </c:pt>
                <c:pt idx="166">
                  <c:v>2024.833333333</c:v>
                </c:pt>
                <c:pt idx="167">
                  <c:v>2024.916666667</c:v>
                </c:pt>
                <c:pt idx="168">
                  <c:v>2025</c:v>
                </c:pt>
                <c:pt idx="169">
                  <c:v>2025.083333333</c:v>
                </c:pt>
                <c:pt idx="170">
                  <c:v>2025.166666667</c:v>
                </c:pt>
                <c:pt idx="171">
                  <c:v>2025.25</c:v>
                </c:pt>
                <c:pt idx="172">
                  <c:v>2025.333333333</c:v>
                </c:pt>
                <c:pt idx="173">
                  <c:v>2025.416666667</c:v>
                </c:pt>
                <c:pt idx="174">
                  <c:v>2025.5</c:v>
                </c:pt>
                <c:pt idx="175">
                  <c:v>2025.583333333</c:v>
                </c:pt>
                <c:pt idx="176">
                  <c:v>2025.666666667</c:v>
                </c:pt>
                <c:pt idx="177">
                  <c:v>2025.75</c:v>
                </c:pt>
                <c:pt idx="178">
                  <c:v>2025.833333333</c:v>
                </c:pt>
                <c:pt idx="179">
                  <c:v>2025.916666667</c:v>
                </c:pt>
              </c:numCache>
            </c:numRef>
          </c:xVal>
          <c:yVal>
            <c:numRef>
              <c:f>'Chart Data'!$F$2:$F$181</c:f>
              <c:numCache>
                <c:formatCode>#,##0</c:formatCode>
                <c:ptCount val="180"/>
                <c:pt idx="0">
                  <c:v>1832</c:v>
                </c:pt>
                <c:pt idx="1">
                  <c:v>2000</c:v>
                </c:pt>
                <c:pt idx="2">
                  <c:v>2597</c:v>
                </c:pt>
                <c:pt idx="3">
                  <c:v>2200</c:v>
                </c:pt>
                <c:pt idx="4">
                  <c:v>2478</c:v>
                </c:pt>
                <c:pt idx="5">
                  <c:v>2317</c:v>
                </c:pt>
                <c:pt idx="6">
                  <c:v>2061</c:v>
                </c:pt>
                <c:pt idx="7">
                  <c:v>2546</c:v>
                </c:pt>
                <c:pt idx="8">
                  <c:v>2189</c:v>
                </c:pt>
                <c:pt idx="9">
                  <c:v>890</c:v>
                </c:pt>
                <c:pt idx="10">
                  <c:v>795</c:v>
                </c:pt>
                <c:pt idx="11">
                  <c:v>738</c:v>
                </c:pt>
                <c:pt idx="12">
                  <c:v>650</c:v>
                </c:pt>
                <c:pt idx="13">
                  <c:v>694</c:v>
                </c:pt>
                <c:pt idx="14">
                  <c:v>1650</c:v>
                </c:pt>
                <c:pt idx="15">
                  <c:v>1013</c:v>
                </c:pt>
                <c:pt idx="16">
                  <c:v>983</c:v>
                </c:pt>
                <c:pt idx="17">
                  <c:v>1084</c:v>
                </c:pt>
                <c:pt idx="18">
                  <c:v>985</c:v>
                </c:pt>
                <c:pt idx="19">
                  <c:v>1040</c:v>
                </c:pt>
                <c:pt idx="20">
                  <c:v>793</c:v>
                </c:pt>
                <c:pt idx="21">
                  <c:v>962</c:v>
                </c:pt>
                <c:pt idx="22">
                  <c:v>912</c:v>
                </c:pt>
                <c:pt idx="23">
                  <c:v>2916</c:v>
                </c:pt>
                <c:pt idx="24">
                  <c:v>649</c:v>
                </c:pt>
                <c:pt idx="25">
                  <c:v>759</c:v>
                </c:pt>
                <c:pt idx="26">
                  <c:v>880</c:v>
                </c:pt>
                <c:pt idx="27">
                  <c:v>1047</c:v>
                </c:pt>
                <c:pt idx="28">
                  <c:v>1022</c:v>
                </c:pt>
                <c:pt idx="29">
                  <c:v>864</c:v>
                </c:pt>
                <c:pt idx="30">
                  <c:v>931</c:v>
                </c:pt>
                <c:pt idx="31">
                  <c:v>906</c:v>
                </c:pt>
                <c:pt idx="32">
                  <c:v>969</c:v>
                </c:pt>
                <c:pt idx="33">
                  <c:v>1107</c:v>
                </c:pt>
                <c:pt idx="34">
                  <c:v>1032</c:v>
                </c:pt>
                <c:pt idx="35">
                  <c:v>839</c:v>
                </c:pt>
                <c:pt idx="36">
                  <c:v>696</c:v>
                </c:pt>
                <c:pt idx="37">
                  <c:v>846</c:v>
                </c:pt>
                <c:pt idx="38">
                  <c:v>1506</c:v>
                </c:pt>
                <c:pt idx="39">
                  <c:v>986</c:v>
                </c:pt>
                <c:pt idx="40">
                  <c:v>1095</c:v>
                </c:pt>
                <c:pt idx="41">
                  <c:v>1504</c:v>
                </c:pt>
                <c:pt idx="42">
                  <c:v>1105</c:v>
                </c:pt>
                <c:pt idx="43">
                  <c:v>1075</c:v>
                </c:pt>
                <c:pt idx="44">
                  <c:v>1133</c:v>
                </c:pt>
                <c:pt idx="45">
                  <c:v>1069</c:v>
                </c:pt>
                <c:pt idx="46">
                  <c:v>1238</c:v>
                </c:pt>
                <c:pt idx="47">
                  <c:v>1020</c:v>
                </c:pt>
                <c:pt idx="48">
                  <c:v>1229</c:v>
                </c:pt>
                <c:pt idx="49">
                  <c:v>1252</c:v>
                </c:pt>
                <c:pt idx="50">
                  <c:v>1489</c:v>
                </c:pt>
                <c:pt idx="51">
                  <c:v>1395</c:v>
                </c:pt>
                <c:pt idx="52">
                  <c:v>1365</c:v>
                </c:pt>
                <c:pt idx="53">
                  <c:v>1491</c:v>
                </c:pt>
                <c:pt idx="54">
                  <c:v>1415</c:v>
                </c:pt>
                <c:pt idx="55">
                  <c:v>1423</c:v>
                </c:pt>
                <c:pt idx="56">
                  <c:v>1340</c:v>
                </c:pt>
                <c:pt idx="57">
                  <c:v>1347</c:v>
                </c:pt>
                <c:pt idx="58">
                  <c:v>1433</c:v>
                </c:pt>
                <c:pt idx="59">
                  <c:v>1503</c:v>
                </c:pt>
                <c:pt idx="60">
                  <c:v>1245</c:v>
                </c:pt>
                <c:pt idx="61">
                  <c:v>1434</c:v>
                </c:pt>
                <c:pt idx="62">
                  <c:v>1511</c:v>
                </c:pt>
                <c:pt idx="63">
                  <c:v>1389</c:v>
                </c:pt>
                <c:pt idx="64">
                  <c:v>1575</c:v>
                </c:pt>
                <c:pt idx="65">
                  <c:v>1389</c:v>
                </c:pt>
                <c:pt idx="66">
                  <c:v>1352</c:v>
                </c:pt>
                <c:pt idx="67">
                  <c:v>1562</c:v>
                </c:pt>
                <c:pt idx="68">
                  <c:v>1371</c:v>
                </c:pt>
                <c:pt idx="69">
                  <c:v>1458</c:v>
                </c:pt>
                <c:pt idx="70">
                  <c:v>1383</c:v>
                </c:pt>
                <c:pt idx="71">
                  <c:v>1461</c:v>
                </c:pt>
                <c:pt idx="72">
                  <c:v>1397</c:v>
                </c:pt>
                <c:pt idx="73">
                  <c:v>1314</c:v>
                </c:pt>
                <c:pt idx="74">
                  <c:v>1499</c:v>
                </c:pt>
                <c:pt idx="75">
                  <c:v>1378</c:v>
                </c:pt>
                <c:pt idx="76">
                  <c:v>1602</c:v>
                </c:pt>
                <c:pt idx="77">
                  <c:v>1423</c:v>
                </c:pt>
                <c:pt idx="78">
                  <c:v>1494</c:v>
                </c:pt>
                <c:pt idx="79">
                  <c:v>1466</c:v>
                </c:pt>
                <c:pt idx="80">
                  <c:v>1313</c:v>
                </c:pt>
                <c:pt idx="81">
                  <c:v>1519</c:v>
                </c:pt>
                <c:pt idx="82">
                  <c:v>1385</c:v>
                </c:pt>
                <c:pt idx="83">
                  <c:v>1448</c:v>
                </c:pt>
                <c:pt idx="84">
                  <c:v>1240</c:v>
                </c:pt>
                <c:pt idx="85">
                  <c:v>1511</c:v>
                </c:pt>
                <c:pt idx="86">
                  <c:v>1614</c:v>
                </c:pt>
                <c:pt idx="87">
                  <c:v>1515</c:v>
                </c:pt>
                <c:pt idx="88">
                  <c:v>1525</c:v>
                </c:pt>
                <c:pt idx="89">
                  <c:v>1491</c:v>
                </c:pt>
                <c:pt idx="90">
                  <c:v>1536</c:v>
                </c:pt>
                <c:pt idx="91">
                  <c:v>1493</c:v>
                </c:pt>
                <c:pt idx="92">
                  <c:v>1431</c:v>
                </c:pt>
                <c:pt idx="93">
                  <c:v>1524</c:v>
                </c:pt>
                <c:pt idx="94">
                  <c:v>1463</c:v>
                </c:pt>
                <c:pt idx="95">
                  <c:v>1591</c:v>
                </c:pt>
                <c:pt idx="96">
                  <c:v>1424</c:v>
                </c:pt>
                <c:pt idx="97">
                  <c:v>1380</c:v>
                </c:pt>
                <c:pt idx="98">
                  <c:v>1626</c:v>
                </c:pt>
                <c:pt idx="99">
                  <c:v>1606</c:v>
                </c:pt>
                <c:pt idx="100">
                  <c:v>1765</c:v>
                </c:pt>
                <c:pt idx="101">
                  <c:v>1776</c:v>
                </c:pt>
                <c:pt idx="102">
                  <c:v>1482</c:v>
                </c:pt>
                <c:pt idx="103">
                  <c:v>1336</c:v>
                </c:pt>
                <c:pt idx="104">
                  <c:v>1461</c:v>
                </c:pt>
                <c:pt idx="105">
                  <c:v>1426</c:v>
                </c:pt>
                <c:pt idx="106">
                  <c:v>1326</c:v>
                </c:pt>
                <c:pt idx="107">
                  <c:v>1461</c:v>
                </c:pt>
                <c:pt idx="108">
                  <c:v>1486</c:v>
                </c:pt>
                <c:pt idx="109">
                  <c:v>1256</c:v>
                </c:pt>
                <c:pt idx="110">
                  <c:v>1355</c:v>
                </c:pt>
                <c:pt idx="111">
                  <c:v>1186</c:v>
                </c:pt>
                <c:pt idx="112">
                  <c:v>1377</c:v>
                </c:pt>
                <c:pt idx="113">
                  <c:v>1391</c:v>
                </c:pt>
                <c:pt idx="114">
                  <c:v>1464</c:v>
                </c:pt>
                <c:pt idx="115">
                  <c:v>1469</c:v>
                </c:pt>
                <c:pt idx="116">
                  <c:v>1361</c:v>
                </c:pt>
                <c:pt idx="117">
                  <c:v>1520</c:v>
                </c:pt>
                <c:pt idx="118">
                  <c:v>1408</c:v>
                </c:pt>
                <c:pt idx="119">
                  <c:v>1471</c:v>
                </c:pt>
                <c:pt idx="120">
                  <c:v>1616</c:v>
                </c:pt>
                <c:pt idx="121">
                  <c:v>1297</c:v>
                </c:pt>
                <c:pt idx="122">
                  <c:v>1743</c:v>
                </c:pt>
                <c:pt idx="123">
                  <c:v>1565</c:v>
                </c:pt>
                <c:pt idx="124">
                  <c:v>1675</c:v>
                </c:pt>
                <c:pt idx="125">
                  <c:v>1610</c:v>
                </c:pt>
                <c:pt idx="126">
                  <c:v>1529</c:v>
                </c:pt>
                <c:pt idx="127">
                  <c:v>1555</c:v>
                </c:pt>
                <c:pt idx="128">
                  <c:v>1516</c:v>
                </c:pt>
                <c:pt idx="129">
                  <c:v>1164</c:v>
                </c:pt>
                <c:pt idx="130">
                  <c:v>1398</c:v>
                </c:pt>
                <c:pt idx="131">
                  <c:v>1604</c:v>
                </c:pt>
                <c:pt idx="132">
                  <c:v>1818</c:v>
                </c:pt>
                <c:pt idx="133">
                  <c:v>2014</c:v>
                </c:pt>
                <c:pt idx="134">
                  <c:v>1704</c:v>
                </c:pt>
                <c:pt idx="135">
                  <c:v>1871</c:v>
                </c:pt>
                <c:pt idx="136">
                  <c:v>1698</c:v>
                </c:pt>
                <c:pt idx="137">
                  <c:v>1604</c:v>
                </c:pt>
                <c:pt idx="138">
                  <c:v>1562</c:v>
                </c:pt>
                <c:pt idx="139">
                  <c:v>1572</c:v>
                </c:pt>
                <c:pt idx="140">
                  <c:v>1543</c:v>
                </c:pt>
                <c:pt idx="141">
                  <c:v>1666</c:v>
                </c:pt>
                <c:pt idx="142">
                  <c:v>1500</c:v>
                </c:pt>
                <c:pt idx="143">
                  <c:v>1687</c:v>
                </c:pt>
                <c:pt idx="144">
                  <c:v>1636</c:v>
                </c:pt>
                <c:pt idx="145">
                  <c:v>1481</c:v>
                </c:pt>
                <c:pt idx="146">
                  <c:v>1773</c:v>
                </c:pt>
                <c:pt idx="147">
                  <c:v>1654</c:v>
                </c:pt>
                <c:pt idx="148">
                  <c:v>1716</c:v>
                </c:pt>
                <c:pt idx="149">
                  <c:v>1634</c:v>
                </c:pt>
                <c:pt idx="150">
                  <c:v>1772</c:v>
                </c:pt>
                <c:pt idx="151">
                  <c:v>1713</c:v>
                </c:pt>
                <c:pt idx="152">
                  <c:v>1543</c:v>
                </c:pt>
                <c:pt idx="153">
                  <c:v>1831</c:v>
                </c:pt>
                <c:pt idx="154">
                  <c:v>1591</c:v>
                </c:pt>
                <c:pt idx="155">
                  <c:v>1703</c:v>
                </c:pt>
                <c:pt idx="156">
                  <c:v>981</c:v>
                </c:pt>
                <c:pt idx="157">
                  <c:v>1425</c:v>
                </c:pt>
                <c:pt idx="158">
                  <c:v>1742</c:v>
                </c:pt>
                <c:pt idx="159">
                  <c:v>1633</c:v>
                </c:pt>
                <c:pt idx="160">
                  <c:v>1663</c:v>
                </c:pt>
                <c:pt idx="161">
                  <c:v>1577</c:v>
                </c:pt>
                <c:pt idx="162">
                  <c:v>1570</c:v>
                </c:pt>
                <c:pt idx="163">
                  <c:v>1598</c:v>
                </c:pt>
                <c:pt idx="164">
                  <c:v>1523</c:v>
                </c:pt>
                <c:pt idx="165">
                  <c:v>1704</c:v>
                </c:pt>
                <c:pt idx="166">
                  <c:v>1532</c:v>
                </c:pt>
                <c:pt idx="167">
                  <c:v>1713</c:v>
                </c:pt>
                <c:pt idx="168">
                  <c:v>1437</c:v>
                </c:pt>
                <c:pt idx="169">
                  <c:v>1421</c:v>
                </c:pt>
                <c:pt idx="170">
                  <c:v>1742</c:v>
                </c:pt>
                <c:pt idx="171">
                  <c:v>1614</c:v>
                </c:pt>
                <c:pt idx="172">
                  <c:v>1669</c:v>
                </c:pt>
                <c:pt idx="173">
                  <c:v>1586</c:v>
                </c:pt>
                <c:pt idx="174">
                  <c:v>1628</c:v>
                </c:pt>
                <c:pt idx="175">
                  <c:v>1786</c:v>
                </c:pt>
                <c:pt idx="176">
                  <c:v>1574</c:v>
                </c:pt>
                <c:pt idx="177">
                  <c:v>1650</c:v>
                </c:pt>
                <c:pt idx="178">
                  <c:v>1524</c:v>
                </c:pt>
                <c:pt idx="179">
                  <c:v>1689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800"/>
      </c:valAx>
      <c:valAx>
        <c:axId val="48650112"/>
        <c:scaling>
          <c:orientation val="minMax"/>
          <c:max val="2026"/>
          <c:min val="2011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Sponsorship fees</c:v>
          </c:tx>
          <c:spPr>
            <a:ln xmlns:a="http://schemas.openxmlformats.org/drawingml/2006/main" w="23813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Data'!$A$2:$A$97</c:f>
              <c:numCache>
                <c:formatCode>General</c:formatCode>
                <c:ptCount val="96"/>
                <c:pt idx="0">
                  <c:v>2018</c:v>
                </c:pt>
                <c:pt idx="1">
                  <c:v>2018.083333333</c:v>
                </c:pt>
                <c:pt idx="2">
                  <c:v>2018.166666667</c:v>
                </c:pt>
                <c:pt idx="3">
                  <c:v>2018.25</c:v>
                </c:pt>
                <c:pt idx="4">
                  <c:v>2018.333333333</c:v>
                </c:pt>
                <c:pt idx="5">
                  <c:v>2018.416666667</c:v>
                </c:pt>
                <c:pt idx="6">
                  <c:v>2018.5</c:v>
                </c:pt>
                <c:pt idx="7">
                  <c:v>2018.583333333</c:v>
                </c:pt>
                <c:pt idx="8">
                  <c:v>2018.666666667</c:v>
                </c:pt>
                <c:pt idx="9">
                  <c:v>2018.75</c:v>
                </c:pt>
                <c:pt idx="10">
                  <c:v>2018.833333333</c:v>
                </c:pt>
                <c:pt idx="11">
                  <c:v>2018.916666667</c:v>
                </c:pt>
                <c:pt idx="12">
                  <c:v>2019</c:v>
                </c:pt>
                <c:pt idx="13">
                  <c:v>2019.083333333</c:v>
                </c:pt>
                <c:pt idx="14">
                  <c:v>2019.166666667</c:v>
                </c:pt>
                <c:pt idx="15">
                  <c:v>2019.25</c:v>
                </c:pt>
                <c:pt idx="16">
                  <c:v>2019.333333333</c:v>
                </c:pt>
                <c:pt idx="17">
                  <c:v>2019.416666667</c:v>
                </c:pt>
                <c:pt idx="18">
                  <c:v>2019.5</c:v>
                </c:pt>
                <c:pt idx="19">
                  <c:v>2019.583333333</c:v>
                </c:pt>
                <c:pt idx="20">
                  <c:v>2019.666666667</c:v>
                </c:pt>
                <c:pt idx="21">
                  <c:v>2019.75</c:v>
                </c:pt>
                <c:pt idx="22">
                  <c:v>2019.833333333</c:v>
                </c:pt>
                <c:pt idx="23">
                  <c:v>2019.916666667</c:v>
                </c:pt>
                <c:pt idx="24">
                  <c:v>2020</c:v>
                </c:pt>
                <c:pt idx="25">
                  <c:v>2020.083333333</c:v>
                </c:pt>
                <c:pt idx="26">
                  <c:v>2020.166666667</c:v>
                </c:pt>
                <c:pt idx="27">
                  <c:v>2020.25</c:v>
                </c:pt>
                <c:pt idx="28">
                  <c:v>2020.333333333</c:v>
                </c:pt>
                <c:pt idx="29">
                  <c:v>2020.416666667</c:v>
                </c:pt>
                <c:pt idx="30">
                  <c:v>2020.5</c:v>
                </c:pt>
                <c:pt idx="31">
                  <c:v>2020.583333333</c:v>
                </c:pt>
                <c:pt idx="32">
                  <c:v>2020.666666667</c:v>
                </c:pt>
                <c:pt idx="33">
                  <c:v>2020.75</c:v>
                </c:pt>
                <c:pt idx="34">
                  <c:v>2020.833333333</c:v>
                </c:pt>
                <c:pt idx="35">
                  <c:v>2020.916666667</c:v>
                </c:pt>
                <c:pt idx="36">
                  <c:v>2021</c:v>
                </c:pt>
                <c:pt idx="37">
                  <c:v>2021.083333333</c:v>
                </c:pt>
                <c:pt idx="38">
                  <c:v>2021.166666667</c:v>
                </c:pt>
                <c:pt idx="39">
                  <c:v>2021.25</c:v>
                </c:pt>
                <c:pt idx="40">
                  <c:v>2021.333333333</c:v>
                </c:pt>
                <c:pt idx="41">
                  <c:v>2021.416666667</c:v>
                </c:pt>
                <c:pt idx="42">
                  <c:v>2021.5</c:v>
                </c:pt>
                <c:pt idx="43">
                  <c:v>2021.583333333</c:v>
                </c:pt>
                <c:pt idx="44">
                  <c:v>2021.666666667</c:v>
                </c:pt>
                <c:pt idx="45">
                  <c:v>2021.75</c:v>
                </c:pt>
                <c:pt idx="46">
                  <c:v>2021.833333333</c:v>
                </c:pt>
                <c:pt idx="47">
                  <c:v>2021.916666667</c:v>
                </c:pt>
                <c:pt idx="48">
                  <c:v>2022</c:v>
                </c:pt>
                <c:pt idx="49">
                  <c:v>2022.083333333</c:v>
                </c:pt>
                <c:pt idx="50">
                  <c:v>2022.166666667</c:v>
                </c:pt>
                <c:pt idx="51">
                  <c:v>2022.25</c:v>
                </c:pt>
                <c:pt idx="52">
                  <c:v>2022.333333333</c:v>
                </c:pt>
                <c:pt idx="53">
                  <c:v>2022.416666667</c:v>
                </c:pt>
                <c:pt idx="54">
                  <c:v>2022.5</c:v>
                </c:pt>
                <c:pt idx="55">
                  <c:v>2022.583333333</c:v>
                </c:pt>
                <c:pt idx="56">
                  <c:v>2022.666666667</c:v>
                </c:pt>
                <c:pt idx="57">
                  <c:v>2022.75</c:v>
                </c:pt>
                <c:pt idx="58">
                  <c:v>2022.833333333</c:v>
                </c:pt>
                <c:pt idx="59">
                  <c:v>2022.916666667</c:v>
                </c:pt>
                <c:pt idx="60">
                  <c:v>2023</c:v>
                </c:pt>
                <c:pt idx="61">
                  <c:v>2023.083333333</c:v>
                </c:pt>
                <c:pt idx="62">
                  <c:v>2023.166666667</c:v>
                </c:pt>
                <c:pt idx="63">
                  <c:v>2023.25</c:v>
                </c:pt>
                <c:pt idx="64">
                  <c:v>2023.333333333</c:v>
                </c:pt>
                <c:pt idx="65">
                  <c:v>2023.416666667</c:v>
                </c:pt>
                <c:pt idx="66">
                  <c:v>2023.5</c:v>
                </c:pt>
                <c:pt idx="67">
                  <c:v>2023.583333333</c:v>
                </c:pt>
                <c:pt idx="68">
                  <c:v>2023.666666667</c:v>
                </c:pt>
                <c:pt idx="69">
                  <c:v>2023.75</c:v>
                </c:pt>
                <c:pt idx="70">
                  <c:v>2023.833333333</c:v>
                </c:pt>
                <c:pt idx="71">
                  <c:v>2023.916666667</c:v>
                </c:pt>
                <c:pt idx="72">
                  <c:v>2024</c:v>
                </c:pt>
                <c:pt idx="73">
                  <c:v>2024.083333333</c:v>
                </c:pt>
                <c:pt idx="74">
                  <c:v>2024.166666667</c:v>
                </c:pt>
                <c:pt idx="75">
                  <c:v>2024.25</c:v>
                </c:pt>
                <c:pt idx="76">
                  <c:v>2024.333333333</c:v>
                </c:pt>
                <c:pt idx="77">
                  <c:v>2024.416666667</c:v>
                </c:pt>
                <c:pt idx="78">
                  <c:v>2024.5</c:v>
                </c:pt>
                <c:pt idx="79">
                  <c:v>2024.583333333</c:v>
                </c:pt>
                <c:pt idx="80">
                  <c:v>2024.666666667</c:v>
                </c:pt>
                <c:pt idx="81">
                  <c:v>2024.75</c:v>
                </c:pt>
                <c:pt idx="82">
                  <c:v>2024.833333333</c:v>
                </c:pt>
                <c:pt idx="83">
                  <c:v>2024.916666667</c:v>
                </c:pt>
                <c:pt idx="84">
                  <c:v>2025</c:v>
                </c:pt>
                <c:pt idx="85">
                  <c:v>2025.083333333</c:v>
                </c:pt>
                <c:pt idx="86">
                  <c:v>2025.166666667</c:v>
                </c:pt>
                <c:pt idx="87">
                  <c:v>2025.25</c:v>
                </c:pt>
                <c:pt idx="88">
                  <c:v>2025.333333333</c:v>
                </c:pt>
                <c:pt idx="89">
                  <c:v>2025.416666667</c:v>
                </c:pt>
                <c:pt idx="90">
                  <c:v>2025.5</c:v>
                </c:pt>
                <c:pt idx="91">
                  <c:v>2025.583333333</c:v>
                </c:pt>
                <c:pt idx="92">
                  <c:v>2025.666666667</c:v>
                </c:pt>
                <c:pt idx="93">
                  <c:v>2025.75</c:v>
                </c:pt>
                <c:pt idx="94">
                  <c:v>2025.833333333</c:v>
                </c:pt>
                <c:pt idx="95">
                  <c:v>2025.916666667</c:v>
                </c:pt>
              </c:numCache>
            </c:numRef>
          </c:xVal>
          <c:yVal>
            <c:numRef>
              <c:f>'Chart Data'!$B$2:$B$97</c:f>
              <c:numCache>
                <c:formatCode>#,##0</c:formatCode>
                <c:ptCount val="96"/>
                <c:pt idx="0">
                  <c:v>731</c:v>
                </c:pt>
                <c:pt idx="1">
                  <c:v>739</c:v>
                </c:pt>
                <c:pt idx="2">
                  <c:v>783</c:v>
                </c:pt>
                <c:pt idx="3">
                  <c:v>861</c:v>
                </c:pt>
                <c:pt idx="4">
                  <c:v>866</c:v>
                </c:pt>
                <c:pt idx="5">
                  <c:v>821</c:v>
                </c:pt>
                <c:pt idx="6">
                  <c:v>840</c:v>
                </c:pt>
                <c:pt idx="7">
                  <c:v>814</c:v>
                </c:pt>
                <c:pt idx="8">
                  <c:v>769</c:v>
                </c:pt>
                <c:pt idx="9">
                  <c:v>821</c:v>
                </c:pt>
                <c:pt idx="10">
                  <c:v>817</c:v>
                </c:pt>
                <c:pt idx="11">
                  <c:v>722</c:v>
                </c:pt>
                <c:pt idx="12">
                  <c:v>886</c:v>
                </c:pt>
                <c:pt idx="13">
                  <c:v>872</c:v>
                </c:pt>
                <c:pt idx="14">
                  <c:v>880</c:v>
                </c:pt>
                <c:pt idx="15">
                  <c:v>879</c:v>
                </c:pt>
                <c:pt idx="16">
                  <c:v>898</c:v>
                </c:pt>
                <c:pt idx="17">
                  <c:v>529</c:v>
                </c:pt>
                <c:pt idx="18">
                  <c:v>1110</c:v>
                </c:pt>
                <c:pt idx="19">
                  <c:v>1183</c:v>
                </c:pt>
                <c:pt idx="20">
                  <c:v>915</c:v>
                </c:pt>
                <c:pt idx="21">
                  <c:v>822</c:v>
                </c:pt>
                <c:pt idx="22">
                  <c:v>870</c:v>
                </c:pt>
                <c:pt idx="23">
                  <c:v>786</c:v>
                </c:pt>
                <c:pt idx="24">
                  <c:v>659</c:v>
                </c:pt>
                <c:pt idx="25">
                  <c:v>831</c:v>
                </c:pt>
                <c:pt idx="26">
                  <c:v>840</c:v>
                </c:pt>
                <c:pt idx="27">
                  <c:v>571</c:v>
                </c:pt>
                <c:pt idx="28">
                  <c:v>509</c:v>
                </c:pt>
                <c:pt idx="29">
                  <c:v>558</c:v>
                </c:pt>
                <c:pt idx="30">
                  <c:v>586</c:v>
                </c:pt>
                <c:pt idx="31">
                  <c:v>694</c:v>
                </c:pt>
                <c:pt idx="32">
                  <c:v>534</c:v>
                </c:pt>
                <c:pt idx="33">
                  <c:v>804</c:v>
                </c:pt>
                <c:pt idx="34">
                  <c:v>716</c:v>
                </c:pt>
                <c:pt idx="35">
                  <c:v>692</c:v>
                </c:pt>
                <c:pt idx="36">
                  <c:v>-25</c:v>
                </c:pt>
                <c:pt idx="37">
                  <c:v>-22</c:v>
                </c:pt>
                <c:pt idx="38">
                  <c:v>-22</c:v>
                </c:pt>
                <c:pt idx="39">
                  <c:v>-41</c:v>
                </c:pt>
                <c:pt idx="40">
                  <c:v>-19</c:v>
                </c:pt>
                <c:pt idx="41">
                  <c:v>-21</c:v>
                </c:pt>
                <c:pt idx="42">
                  <c:v>-18</c:v>
                </c:pt>
                <c:pt idx="43">
                  <c:v>-31</c:v>
                </c:pt>
                <c:pt idx="44">
                  <c:v>-60</c:v>
                </c:pt>
                <c:pt idx="45">
                  <c:v>-11</c:v>
                </c:pt>
                <c:pt idx="46">
                  <c:v>123</c:v>
                </c:pt>
                <c:pt idx="47">
                  <c:v>-18</c:v>
                </c:pt>
                <c:pt idx="48">
                  <c:v>2</c:v>
                </c:pt>
                <c:pt idx="49">
                  <c:v>-15</c:v>
                </c:pt>
                <c:pt idx="50">
                  <c:v>22</c:v>
                </c:pt>
                <c:pt idx="51">
                  <c:v>-16</c:v>
                </c:pt>
                <c:pt idx="52">
                  <c:v>2</c:v>
                </c:pt>
                <c:pt idx="53">
                  <c:v>26</c:v>
                </c:pt>
                <c:pt idx="54">
                  <c:v>-21</c:v>
                </c:pt>
                <c:pt idx="55">
                  <c:v>-14</c:v>
                </c:pt>
                <c:pt idx="56">
                  <c:v>-30</c:v>
                </c:pt>
                <c:pt idx="57">
                  <c:v>-43</c:v>
                </c:pt>
                <c:pt idx="58">
                  <c:v>-17</c:v>
                </c:pt>
                <c:pt idx="59">
                  <c:v>-22</c:v>
                </c:pt>
                <c:pt idx="60">
                  <c:v>-22</c:v>
                </c:pt>
                <c:pt idx="61">
                  <c:v>-12</c:v>
                </c:pt>
                <c:pt idx="62">
                  <c:v>-14</c:v>
                </c:pt>
                <c:pt idx="63">
                  <c:v>-21</c:v>
                </c:pt>
                <c:pt idx="64">
                  <c:v>-11</c:v>
                </c:pt>
                <c:pt idx="65">
                  <c:v>-16</c:v>
                </c:pt>
                <c:pt idx="66">
                  <c:v>-16</c:v>
                </c:pt>
                <c:pt idx="67">
                  <c:v>-29</c:v>
                </c:pt>
                <c:pt idx="68">
                  <c:v>-41</c:v>
                </c:pt>
                <c:pt idx="69">
                  <c:v>-11</c:v>
                </c:pt>
                <c:pt idx="70">
                  <c:v>-5</c:v>
                </c:pt>
                <c:pt idx="71">
                  <c:v>3</c:v>
                </c:pt>
                <c:pt idx="72">
                  <c:v>-26</c:v>
                </c:pt>
                <c:pt idx="73">
                  <c:v>-25</c:v>
                </c:pt>
                <c:pt idx="74">
                  <c:v>-22</c:v>
                </c:pt>
                <c:pt idx="75">
                  <c:v>-29</c:v>
                </c:pt>
                <c:pt idx="76">
                  <c:v>-122</c:v>
                </c:pt>
                <c:pt idx="77">
                  <c:v>-25</c:v>
                </c:pt>
                <c:pt idx="78">
                  <c:v>-34</c:v>
                </c:pt>
                <c:pt idx="79">
                  <c:v>-21</c:v>
                </c:pt>
                <c:pt idx="80">
                  <c:v>-31</c:v>
                </c:pt>
                <c:pt idx="81">
                  <c:v>-56</c:v>
                </c:pt>
                <c:pt idx="82">
                  <c:v>-36</c:v>
                </c:pt>
                <c:pt idx="83">
                  <c:v>2</c:v>
                </c:pt>
                <c:pt idx="84">
                  <c:v>-29</c:v>
                </c:pt>
                <c:pt idx="85">
                  <c:v>-24</c:v>
                </c:pt>
                <c:pt idx="86">
                  <c:v>-20</c:v>
                </c:pt>
                <c:pt idx="87">
                  <c:v>-23</c:v>
                </c:pt>
                <c:pt idx="88">
                  <c:v>-24</c:v>
                </c:pt>
                <c:pt idx="89">
                  <c:v>-28</c:v>
                </c:pt>
                <c:pt idx="90">
                  <c:v>-40</c:v>
                </c:pt>
                <c:pt idx="91">
                  <c:v>-31</c:v>
                </c:pt>
                <c:pt idx="92">
                  <c:v>3</c:v>
                </c:pt>
                <c:pt idx="93">
                  <c:v>-27</c:v>
                </c:pt>
                <c:pt idx="94">
                  <c:v>-31</c:v>
                </c:pt>
                <c:pt idx="95">
                  <c:v>-25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00"/>
          <c:min val="-2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0"/>
      </c:valAx>
      <c:valAx>
        <c:axId val="48650112"/>
        <c:scaling>
          <c:orientation val="minMax"/>
          <c:max val="2026"/>
          <c:min val="2018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scatterChart>
        <c:scatterStyle val="lineMarker"/>
        <c:varyColors val="0"/>
        <c:ser>
          <c:idx val="0"/>
          <c:order val="0"/>
          <c:tx>
            <c:v>Actual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</c:v>
                </c:pt>
                <c:pt idx="2">
                  <c:v>2011.166667</c:v>
                </c:pt>
                <c:pt idx="3">
                  <c:v>2011.25</c:v>
                </c:pt>
                <c:pt idx="4">
                  <c:v>2011.333333</c:v>
                </c:pt>
                <c:pt idx="5">
                  <c:v>2011.416667</c:v>
                </c:pt>
                <c:pt idx="6">
                  <c:v>2011.5</c:v>
                </c:pt>
                <c:pt idx="7">
                  <c:v>2011.583333</c:v>
                </c:pt>
                <c:pt idx="8">
                  <c:v>2011.666667</c:v>
                </c:pt>
                <c:pt idx="9">
                  <c:v>2011.75</c:v>
                </c:pt>
                <c:pt idx="10">
                  <c:v>2011.833333</c:v>
                </c:pt>
                <c:pt idx="11">
                  <c:v>2011.916667</c:v>
                </c:pt>
                <c:pt idx="12">
                  <c:v>2012</c:v>
                </c:pt>
                <c:pt idx="13">
                  <c:v>2012.083333</c:v>
                </c:pt>
                <c:pt idx="14">
                  <c:v>2012.166667</c:v>
                </c:pt>
                <c:pt idx="15">
                  <c:v>2012.25</c:v>
                </c:pt>
                <c:pt idx="16">
                  <c:v>2012.333333</c:v>
                </c:pt>
                <c:pt idx="17">
                  <c:v>2012.416667</c:v>
                </c:pt>
                <c:pt idx="18">
                  <c:v>2012.5</c:v>
                </c:pt>
                <c:pt idx="19">
                  <c:v>2012.583333</c:v>
                </c:pt>
                <c:pt idx="20">
                  <c:v>2012.666667</c:v>
                </c:pt>
                <c:pt idx="21">
                  <c:v>2012.75</c:v>
                </c:pt>
                <c:pt idx="22">
                  <c:v>2012.833333</c:v>
                </c:pt>
                <c:pt idx="23">
                  <c:v>2012.916667</c:v>
                </c:pt>
                <c:pt idx="24">
                  <c:v>2013</c:v>
                </c:pt>
                <c:pt idx="25">
                  <c:v>2013.083333</c:v>
                </c:pt>
                <c:pt idx="26">
                  <c:v>2013.166667</c:v>
                </c:pt>
                <c:pt idx="27">
                  <c:v>2013.25</c:v>
                </c:pt>
                <c:pt idx="28">
                  <c:v>2013.333333</c:v>
                </c:pt>
                <c:pt idx="29">
                  <c:v>2013.416667</c:v>
                </c:pt>
                <c:pt idx="30">
                  <c:v>2013.5</c:v>
                </c:pt>
                <c:pt idx="31">
                  <c:v>2013.583333</c:v>
                </c:pt>
                <c:pt idx="32">
                  <c:v>2013.666667</c:v>
                </c:pt>
                <c:pt idx="33">
                  <c:v>2013.75</c:v>
                </c:pt>
                <c:pt idx="34">
                  <c:v>2013.833333</c:v>
                </c:pt>
                <c:pt idx="35">
                  <c:v>2013.916667</c:v>
                </c:pt>
                <c:pt idx="36">
                  <c:v>2014</c:v>
                </c:pt>
                <c:pt idx="37">
                  <c:v>2014.083333</c:v>
                </c:pt>
                <c:pt idx="38">
                  <c:v>2014.166667</c:v>
                </c:pt>
                <c:pt idx="39">
                  <c:v>2014.25</c:v>
                </c:pt>
                <c:pt idx="40">
                  <c:v>2014.333333</c:v>
                </c:pt>
                <c:pt idx="41">
                  <c:v>2014.416667</c:v>
                </c:pt>
                <c:pt idx="42">
                  <c:v>2014.5</c:v>
                </c:pt>
                <c:pt idx="43">
                  <c:v>2014.583333</c:v>
                </c:pt>
                <c:pt idx="44">
                  <c:v>2014.666667</c:v>
                </c:pt>
                <c:pt idx="45">
                  <c:v>2014.75</c:v>
                </c:pt>
                <c:pt idx="46">
                  <c:v>2014.833333</c:v>
                </c:pt>
                <c:pt idx="47">
                  <c:v>2014.916667</c:v>
                </c:pt>
                <c:pt idx="48">
                  <c:v>2015</c:v>
                </c:pt>
                <c:pt idx="49">
                  <c:v>2015.083333</c:v>
                </c:pt>
                <c:pt idx="50">
                  <c:v>2015.166667</c:v>
                </c:pt>
                <c:pt idx="51">
                  <c:v>2015.25</c:v>
                </c:pt>
                <c:pt idx="52">
                  <c:v>2015.333333</c:v>
                </c:pt>
                <c:pt idx="53">
                  <c:v>2015.416667</c:v>
                </c:pt>
                <c:pt idx="54">
                  <c:v>2015.5</c:v>
                </c:pt>
                <c:pt idx="55">
                  <c:v>2015.583333</c:v>
                </c:pt>
                <c:pt idx="56">
                  <c:v>2015.666667</c:v>
                </c:pt>
                <c:pt idx="57">
                  <c:v>2015.75</c:v>
                </c:pt>
                <c:pt idx="58">
                  <c:v>2015.833333</c:v>
                </c:pt>
                <c:pt idx="59">
                  <c:v>2015.916667</c:v>
                </c:pt>
                <c:pt idx="60">
                  <c:v>2016</c:v>
                </c:pt>
                <c:pt idx="61">
                  <c:v>2016.083333</c:v>
                </c:pt>
                <c:pt idx="62">
                  <c:v>2016.166667</c:v>
                </c:pt>
                <c:pt idx="63">
                  <c:v>2016.25</c:v>
                </c:pt>
                <c:pt idx="64">
                  <c:v>2016.333333</c:v>
                </c:pt>
                <c:pt idx="65">
                  <c:v>2016.416667</c:v>
                </c:pt>
                <c:pt idx="66">
                  <c:v>2016.5</c:v>
                </c:pt>
                <c:pt idx="67">
                  <c:v>2016.583333</c:v>
                </c:pt>
                <c:pt idx="68">
                  <c:v>2016.666667</c:v>
                </c:pt>
                <c:pt idx="69">
                  <c:v>2016.75</c:v>
                </c:pt>
                <c:pt idx="70">
                  <c:v>2016.833333</c:v>
                </c:pt>
                <c:pt idx="71">
                  <c:v>2016.916667</c:v>
                </c:pt>
                <c:pt idx="72">
                  <c:v>2017</c:v>
                </c:pt>
                <c:pt idx="73">
                  <c:v>2017.083333</c:v>
                </c:pt>
                <c:pt idx="74">
                  <c:v>2017.166667</c:v>
                </c:pt>
                <c:pt idx="75">
                  <c:v>2017.25</c:v>
                </c:pt>
                <c:pt idx="76">
                  <c:v>2017.333333</c:v>
                </c:pt>
                <c:pt idx="77">
                  <c:v>2017.416667</c:v>
                </c:pt>
                <c:pt idx="78">
                  <c:v>2017.5</c:v>
                </c:pt>
                <c:pt idx="79">
                  <c:v>2017.583333</c:v>
                </c:pt>
                <c:pt idx="80">
                  <c:v>2017.666667</c:v>
                </c:pt>
                <c:pt idx="81">
                  <c:v>2017.75</c:v>
                </c:pt>
                <c:pt idx="82">
                  <c:v>2017.833333</c:v>
                </c:pt>
                <c:pt idx="83">
                  <c:v>2017.916667</c:v>
                </c:pt>
                <c:pt idx="84">
                  <c:v>2018</c:v>
                </c:pt>
                <c:pt idx="85">
                  <c:v>2018.083333</c:v>
                </c:pt>
                <c:pt idx="86">
                  <c:v>2018.166667</c:v>
                </c:pt>
                <c:pt idx="87">
                  <c:v>2018.25</c:v>
                </c:pt>
                <c:pt idx="88">
                  <c:v>2018.333333</c:v>
                </c:pt>
                <c:pt idx="89">
                  <c:v>2018.416667</c:v>
                </c:pt>
                <c:pt idx="90">
                  <c:v>2018.5</c:v>
                </c:pt>
                <c:pt idx="91">
                  <c:v>2018.583333</c:v>
                </c:pt>
                <c:pt idx="92">
                  <c:v>2018.666667</c:v>
                </c:pt>
                <c:pt idx="93">
                  <c:v>2018.75</c:v>
                </c:pt>
                <c:pt idx="94">
                  <c:v>2018.833333</c:v>
                </c:pt>
                <c:pt idx="95">
                  <c:v>2018.916667</c:v>
                </c:pt>
                <c:pt idx="96">
                  <c:v>2019</c:v>
                </c:pt>
                <c:pt idx="97">
                  <c:v>2019.083333</c:v>
                </c:pt>
                <c:pt idx="98">
                  <c:v>2019.166667</c:v>
                </c:pt>
                <c:pt idx="99">
                  <c:v>2019.25</c:v>
                </c:pt>
                <c:pt idx="100">
                  <c:v>2019.333333</c:v>
                </c:pt>
                <c:pt idx="101">
                  <c:v>2019.416667</c:v>
                </c:pt>
                <c:pt idx="102">
                  <c:v>2019.5</c:v>
                </c:pt>
                <c:pt idx="103">
                  <c:v>2019.583333</c:v>
                </c:pt>
                <c:pt idx="104">
                  <c:v>2019.666667</c:v>
                </c:pt>
                <c:pt idx="105">
                  <c:v>2019.75</c:v>
                </c:pt>
                <c:pt idx="106">
                  <c:v>2019.833333</c:v>
                </c:pt>
                <c:pt idx="107">
                  <c:v>2019.916667</c:v>
                </c:pt>
                <c:pt idx="108">
                  <c:v>2020</c:v>
                </c:pt>
                <c:pt idx="109">
                  <c:v>2020.083333</c:v>
                </c:pt>
                <c:pt idx="110">
                  <c:v>2020.166667</c:v>
                </c:pt>
                <c:pt idx="111">
                  <c:v>2020.25</c:v>
                </c:pt>
                <c:pt idx="112">
                  <c:v>2020.333333</c:v>
                </c:pt>
                <c:pt idx="113">
                  <c:v>2020.416667</c:v>
                </c:pt>
                <c:pt idx="114">
                  <c:v>2020.5</c:v>
                </c:pt>
                <c:pt idx="115">
                  <c:v>2020.583333</c:v>
                </c:pt>
                <c:pt idx="116">
                  <c:v>2020.666667</c:v>
                </c:pt>
                <c:pt idx="117">
                  <c:v>2020.75</c:v>
                </c:pt>
                <c:pt idx="118">
                  <c:v>2020.833333</c:v>
                </c:pt>
                <c:pt idx="119">
                  <c:v>2020.916667</c:v>
                </c:pt>
                <c:pt idx="120">
                  <c:v>2021</c:v>
                </c:pt>
                <c:pt idx="121">
                  <c:v>2021.083333</c:v>
                </c:pt>
                <c:pt idx="122">
                  <c:v>2021.166667</c:v>
                </c:pt>
                <c:pt idx="123">
                  <c:v>2021.25</c:v>
                </c:pt>
                <c:pt idx="124">
                  <c:v>2021.333333</c:v>
                </c:pt>
                <c:pt idx="125">
                  <c:v>2021.416667</c:v>
                </c:pt>
                <c:pt idx="126">
                  <c:v>2021.5</c:v>
                </c:pt>
                <c:pt idx="127">
                  <c:v>2021.583333</c:v>
                </c:pt>
                <c:pt idx="128">
                  <c:v>2021.666667</c:v>
                </c:pt>
                <c:pt idx="129">
                  <c:v>2021.75</c:v>
                </c:pt>
                <c:pt idx="130">
                  <c:v>2021.833333</c:v>
                </c:pt>
                <c:pt idx="131">
                  <c:v>2021.916667</c:v>
                </c:pt>
                <c:pt idx="132">
                  <c:v>2022</c:v>
                </c:pt>
                <c:pt idx="133">
                  <c:v>2022.083333</c:v>
                </c:pt>
                <c:pt idx="134">
                  <c:v>2022.166667</c:v>
                </c:pt>
                <c:pt idx="135">
                  <c:v>2022.25</c:v>
                </c:pt>
                <c:pt idx="136">
                  <c:v>2022.333333</c:v>
                </c:pt>
                <c:pt idx="137">
                  <c:v>2022.416667</c:v>
                </c:pt>
                <c:pt idx="138">
                  <c:v>2022.5</c:v>
                </c:pt>
                <c:pt idx="139">
                  <c:v>2022.583333</c:v>
                </c:pt>
                <c:pt idx="140">
                  <c:v>2022.666667</c:v>
                </c:pt>
                <c:pt idx="141">
                  <c:v>2022.75</c:v>
                </c:pt>
                <c:pt idx="142">
                  <c:v>2022.833333</c:v>
                </c:pt>
                <c:pt idx="143">
                  <c:v>2022.916667</c:v>
                </c:pt>
                <c:pt idx="144">
                  <c:v>2023</c:v>
                </c:pt>
                <c:pt idx="145">
                  <c:v>2023.083333</c:v>
                </c:pt>
                <c:pt idx="146">
                  <c:v>2023.166667</c:v>
                </c:pt>
                <c:pt idx="147">
                  <c:v>2023.25</c:v>
                </c:pt>
                <c:pt idx="148">
                  <c:v>2023.333333</c:v>
                </c:pt>
                <c:pt idx="149">
                  <c:v>2023.416667</c:v>
                </c:pt>
                <c:pt idx="150">
                  <c:v>2023.5</c:v>
                </c:pt>
                <c:pt idx="151">
                  <c:v>2023.583333</c:v>
                </c:pt>
                <c:pt idx="152">
                  <c:v>2023.666667</c:v>
                </c:pt>
                <c:pt idx="153">
                  <c:v>2023.75</c:v>
                </c:pt>
                <c:pt idx="154">
                  <c:v>2023.833333</c:v>
                </c:pt>
                <c:pt idx="155">
                  <c:v>2023.916667</c:v>
                </c:pt>
                <c:pt idx="156">
                  <c:v>2024</c:v>
                </c:pt>
                <c:pt idx="157">
                  <c:v>2024.083333</c:v>
                </c:pt>
                <c:pt idx="158">
                  <c:v>2024.166667</c:v>
                </c:pt>
                <c:pt idx="159">
                  <c:v>2024.25</c:v>
                </c:pt>
                <c:pt idx="160">
                  <c:v>2024.333333</c:v>
                </c:pt>
                <c:pt idx="161">
                  <c:v>2024.416667</c:v>
                </c:pt>
                <c:pt idx="162">
                  <c:v>2024.5</c:v>
                </c:pt>
                <c:pt idx="163">
                  <c:v>2024.583333</c:v>
                </c:pt>
                <c:pt idx="164">
                  <c:v>2024.666667</c:v>
                </c:pt>
                <c:pt idx="165">
                  <c:v>2024.75</c:v>
                </c:pt>
                <c:pt idx="166">
                  <c:v>2024.833333</c:v>
                </c:pt>
                <c:pt idx="167">
                  <c:v>2024.916667</c:v>
                </c:pt>
                <c:pt idx="168">
                  <c:v>2025</c:v>
                </c:pt>
                <c:pt idx="169">
                  <c:v>2025.083333</c:v>
                </c:pt>
                <c:pt idx="170">
                  <c:v>2025.166667</c:v>
                </c:pt>
                <c:pt idx="171">
                  <c:v>2025.25</c:v>
                </c:pt>
                <c:pt idx="172">
                  <c:v>2025.333333</c:v>
                </c:pt>
                <c:pt idx="173">
                  <c:v>2025.416667</c:v>
                </c:pt>
                <c:pt idx="174">
                  <c:v>2025.5</c:v>
                </c:pt>
                <c:pt idx="175">
                  <c:v>2025.583333</c:v>
                </c:pt>
                <c:pt idx="176">
                  <c:v>2025.666667</c:v>
                </c:pt>
                <c:pt idx="177">
                  <c:v>2025.75</c:v>
                </c:pt>
                <c:pt idx="178">
                  <c:v>2025.833333</c:v>
                </c:pt>
                <c:pt idx="179">
                  <c:v>2025.916667</c:v>
                </c:pt>
              </c:numCache>
            </c:numRef>
          </c:xVal>
          <c:yVal>
            <c:numRef>
              <c:f>'Chart Data'!$B$2:$B$181</c:f>
              <c:numCache>
                <c:formatCode>#,##0</c:formatCode>
                <c:ptCount val="180"/>
                <c:pt idx="0">
                  <c:v>771</c:v>
                </c:pt>
                <c:pt idx="1">
                  <c:v>842</c:v>
                </c:pt>
                <c:pt idx="2">
                  <c:v>1119</c:v>
                </c:pt>
                <c:pt idx="3">
                  <c:v>948</c:v>
                </c:pt>
                <c:pt idx="4">
                  <c:v>1047</c:v>
                </c:pt>
                <c:pt idx="5">
                  <c:v>971</c:v>
                </c:pt>
                <c:pt idx="6">
                  <c:v>868</c:v>
                </c:pt>
                <c:pt idx="7">
                  <c:v>1063</c:v>
                </c:pt>
                <c:pt idx="8">
                  <c:v>974</c:v>
                </c:pt>
                <c:pt idx="9">
                  <c:v>949</c:v>
                </c:pt>
                <c:pt idx="10">
                  <c:v>941</c:v>
                </c:pt>
                <c:pt idx="11">
                  <c:v>985</c:v>
                </c:pt>
                <c:pt idx="12">
                  <c:v>1009</c:v>
                </c:pt>
                <c:pt idx="13">
                  <c:v>957</c:v>
                </c:pt>
                <c:pt idx="14">
                  <c:v>1067</c:v>
                </c:pt>
                <c:pt idx="15">
                  <c:v>1089</c:v>
                </c:pt>
                <c:pt idx="16">
                  <c:v>1160</c:v>
                </c:pt>
                <c:pt idx="17">
                  <c:v>1079</c:v>
                </c:pt>
                <c:pt idx="18">
                  <c:v>1132</c:v>
                </c:pt>
                <c:pt idx="19">
                  <c:v>1134</c:v>
                </c:pt>
                <c:pt idx="20">
                  <c:v>983</c:v>
                </c:pt>
                <c:pt idx="21">
                  <c:v>1150</c:v>
                </c:pt>
                <c:pt idx="22">
                  <c:v>978</c:v>
                </c:pt>
                <c:pt idx="23">
                  <c:v>1025</c:v>
                </c:pt>
                <c:pt idx="24">
                  <c:v>989</c:v>
                </c:pt>
                <c:pt idx="25">
                  <c:v>943</c:v>
                </c:pt>
                <c:pt idx="26">
                  <c:v>1089</c:v>
                </c:pt>
                <c:pt idx="27">
                  <c:v>1128</c:v>
                </c:pt>
                <c:pt idx="28">
                  <c:v>1063</c:v>
                </c:pt>
                <c:pt idx="29">
                  <c:v>999</c:v>
                </c:pt>
                <c:pt idx="30">
                  <c:v>1160</c:v>
                </c:pt>
                <c:pt idx="31">
                  <c:v>1032</c:v>
                </c:pt>
                <c:pt idx="32">
                  <c:v>1022</c:v>
                </c:pt>
                <c:pt idx="33">
                  <c:v>1280</c:v>
                </c:pt>
                <c:pt idx="34">
                  <c:v>1090</c:v>
                </c:pt>
                <c:pt idx="35">
                  <c:v>1184</c:v>
                </c:pt>
                <c:pt idx="36">
                  <c:v>1121</c:v>
                </c:pt>
                <c:pt idx="37">
                  <c:v>1059</c:v>
                </c:pt>
                <c:pt idx="38">
                  <c:v>1158</c:v>
                </c:pt>
                <c:pt idx="39">
                  <c:v>1264</c:v>
                </c:pt>
                <c:pt idx="40">
                  <c:v>1231</c:v>
                </c:pt>
                <c:pt idx="41">
                  <c:v>1226</c:v>
                </c:pt>
                <c:pt idx="42">
                  <c:v>1277</c:v>
                </c:pt>
                <c:pt idx="43">
                  <c:v>1188</c:v>
                </c:pt>
                <c:pt idx="44">
                  <c:v>1206</c:v>
                </c:pt>
                <c:pt idx="45">
                  <c:v>1305</c:v>
                </c:pt>
                <c:pt idx="46">
                  <c:v>1166</c:v>
                </c:pt>
                <c:pt idx="47">
                  <c:v>1362</c:v>
                </c:pt>
                <c:pt idx="48">
                  <c:v>1140</c:v>
                </c:pt>
                <c:pt idx="49">
                  <c:v>1111</c:v>
                </c:pt>
                <c:pt idx="50">
                  <c:v>1455</c:v>
                </c:pt>
                <c:pt idx="51">
                  <c:v>1409</c:v>
                </c:pt>
                <c:pt idx="52">
                  <c:v>1294</c:v>
                </c:pt>
                <c:pt idx="53">
                  <c:v>1472</c:v>
                </c:pt>
                <c:pt idx="54">
                  <c:v>1360</c:v>
                </c:pt>
                <c:pt idx="55">
                  <c:v>1279</c:v>
                </c:pt>
                <c:pt idx="56">
                  <c:v>1336</c:v>
                </c:pt>
                <c:pt idx="57">
                  <c:v>1316</c:v>
                </c:pt>
                <c:pt idx="58">
                  <c:v>1233</c:v>
                </c:pt>
                <c:pt idx="59">
                  <c:v>1233</c:v>
                </c:pt>
                <c:pt idx="60">
                  <c:v>1151</c:v>
                </c:pt>
                <c:pt idx="61">
                  <c:v>1236</c:v>
                </c:pt>
                <c:pt idx="62">
                  <c:v>1539</c:v>
                </c:pt>
                <c:pt idx="63">
                  <c:v>1249</c:v>
                </c:pt>
                <c:pt idx="64">
                  <c:v>1388</c:v>
                </c:pt>
                <c:pt idx="65">
                  <c:v>1280</c:v>
                </c:pt>
                <c:pt idx="66">
                  <c:v>1184</c:v>
                </c:pt>
                <c:pt idx="67">
                  <c:v>1418</c:v>
                </c:pt>
                <c:pt idx="68">
                  <c:v>1310</c:v>
                </c:pt>
                <c:pt idx="69">
                  <c:v>1226</c:v>
                </c:pt>
                <c:pt idx="70">
                  <c:v>1166</c:v>
                </c:pt>
                <c:pt idx="71">
                  <c:v>1253</c:v>
                </c:pt>
                <c:pt idx="72">
                  <c:v>1278</c:v>
                </c:pt>
                <c:pt idx="73">
                  <c:v>1198</c:v>
                </c:pt>
                <c:pt idx="74">
                  <c:v>1373</c:v>
                </c:pt>
                <c:pt idx="75">
                  <c:v>1202</c:v>
                </c:pt>
                <c:pt idx="76">
                  <c:v>1409</c:v>
                </c:pt>
                <c:pt idx="77">
                  <c:v>1331</c:v>
                </c:pt>
                <c:pt idx="78">
                  <c:v>1245</c:v>
                </c:pt>
                <c:pt idx="79">
                  <c:v>1434</c:v>
                </c:pt>
                <c:pt idx="80">
                  <c:v>1245</c:v>
                </c:pt>
                <c:pt idx="81">
                  <c:v>1456</c:v>
                </c:pt>
                <c:pt idx="82">
                  <c:v>1298</c:v>
                </c:pt>
                <c:pt idx="83">
                  <c:v>1400</c:v>
                </c:pt>
                <c:pt idx="84">
                  <c:v>1441</c:v>
                </c:pt>
                <c:pt idx="85">
                  <c:v>1349</c:v>
                </c:pt>
                <c:pt idx="86">
                  <c:v>1673</c:v>
                </c:pt>
                <c:pt idx="87">
                  <c:v>1466</c:v>
                </c:pt>
                <c:pt idx="88">
                  <c:v>1667</c:v>
                </c:pt>
                <c:pt idx="89">
                  <c:v>1545</c:v>
                </c:pt>
                <c:pt idx="90">
                  <c:v>1512</c:v>
                </c:pt>
                <c:pt idx="91">
                  <c:v>1739</c:v>
                </c:pt>
                <c:pt idx="92">
                  <c:v>1656</c:v>
                </c:pt>
                <c:pt idx="93">
                  <c:v>1600</c:v>
                </c:pt>
                <c:pt idx="94">
                  <c:v>1516</c:v>
                </c:pt>
                <c:pt idx="95">
                  <c:v>1673</c:v>
                </c:pt>
                <c:pt idx="96">
                  <c:v>1565</c:v>
                </c:pt>
                <c:pt idx="97">
                  <c:v>1545</c:v>
                </c:pt>
                <c:pt idx="98">
                  <c:v>1856</c:v>
                </c:pt>
                <c:pt idx="99">
                  <c:v>1508</c:v>
                </c:pt>
                <c:pt idx="100">
                  <c:v>1672</c:v>
                </c:pt>
                <c:pt idx="101">
                  <c:v>1762</c:v>
                </c:pt>
                <c:pt idx="102">
                  <c:v>1606</c:v>
                </c:pt>
                <c:pt idx="103">
                  <c:v>1835</c:v>
                </c:pt>
                <c:pt idx="104">
                  <c:v>1697</c:v>
                </c:pt>
                <c:pt idx="105">
                  <c:v>1680</c:v>
                </c:pt>
                <c:pt idx="106">
                  <c:v>1668</c:v>
                </c:pt>
                <c:pt idx="107">
                  <c:v>1523</c:v>
                </c:pt>
                <c:pt idx="108">
                  <c:v>1745</c:v>
                </c:pt>
                <c:pt idx="109">
                  <c:v>1671</c:v>
                </c:pt>
                <c:pt idx="110">
                  <c:v>1497</c:v>
                </c:pt>
                <c:pt idx="111">
                  <c:v>1167</c:v>
                </c:pt>
                <c:pt idx="112">
                  <c:v>1265</c:v>
                </c:pt>
                <c:pt idx="113">
                  <c:v>1336</c:v>
                </c:pt>
                <c:pt idx="114">
                  <c:v>1450</c:v>
                </c:pt>
                <c:pt idx="115">
                  <c:v>1494</c:v>
                </c:pt>
                <c:pt idx="116">
                  <c:v>1691</c:v>
                </c:pt>
                <c:pt idx="117">
                  <c:v>1638</c:v>
                </c:pt>
                <c:pt idx="118">
                  <c:v>1673</c:v>
                </c:pt>
                <c:pt idx="119">
                  <c:v>1471</c:v>
                </c:pt>
                <c:pt idx="120">
                  <c:v>1597</c:v>
                </c:pt>
                <c:pt idx="121">
                  <c:v>1481</c:v>
                </c:pt>
                <c:pt idx="122">
                  <c:v>1780</c:v>
                </c:pt>
                <c:pt idx="123">
                  <c:v>1752</c:v>
                </c:pt>
                <c:pt idx="124">
                  <c:v>1892</c:v>
                </c:pt>
                <c:pt idx="125">
                  <c:v>1904</c:v>
                </c:pt>
                <c:pt idx="126">
                  <c:v>2006</c:v>
                </c:pt>
                <c:pt idx="127">
                  <c:v>2013</c:v>
                </c:pt>
                <c:pt idx="128">
                  <c:v>1968</c:v>
                </c:pt>
                <c:pt idx="129">
                  <c:v>2065</c:v>
                </c:pt>
                <c:pt idx="130">
                  <c:v>1860</c:v>
                </c:pt>
                <c:pt idx="131">
                  <c:v>2195</c:v>
                </c:pt>
                <c:pt idx="132">
                  <c:v>2135</c:v>
                </c:pt>
                <c:pt idx="133">
                  <c:v>2146</c:v>
                </c:pt>
                <c:pt idx="134">
                  <c:v>2349</c:v>
                </c:pt>
                <c:pt idx="135">
                  <c:v>2351</c:v>
                </c:pt>
                <c:pt idx="136">
                  <c:v>2432</c:v>
                </c:pt>
                <c:pt idx="137">
                  <c:v>2282</c:v>
                </c:pt>
                <c:pt idx="138">
                  <c:v>2334</c:v>
                </c:pt>
                <c:pt idx="139">
                  <c:v>2444</c:v>
                </c:pt>
                <c:pt idx="140">
                  <c:v>2416</c:v>
                </c:pt>
                <c:pt idx="141">
                  <c:v>2633</c:v>
                </c:pt>
                <c:pt idx="142">
                  <c:v>2274</c:v>
                </c:pt>
                <c:pt idx="143">
                  <c:v>2475</c:v>
                </c:pt>
                <c:pt idx="144">
                  <c:v>2322</c:v>
                </c:pt>
                <c:pt idx="145">
                  <c:v>2236</c:v>
                </c:pt>
                <c:pt idx="146">
                  <c:v>2631</c:v>
                </c:pt>
                <c:pt idx="147">
                  <c:v>2535</c:v>
                </c:pt>
                <c:pt idx="148">
                  <c:v>2525</c:v>
                </c:pt>
                <c:pt idx="149">
                  <c:v>2417</c:v>
                </c:pt>
                <c:pt idx="150">
                  <c:v>2426</c:v>
                </c:pt>
                <c:pt idx="151">
                  <c:v>2413</c:v>
                </c:pt>
                <c:pt idx="152">
                  <c:v>2414</c:v>
                </c:pt>
                <c:pt idx="153">
                  <c:v>2520</c:v>
                </c:pt>
                <c:pt idx="154">
                  <c:v>2328</c:v>
                </c:pt>
                <c:pt idx="155">
                  <c:v>2575</c:v>
                </c:pt>
                <c:pt idx="156">
                  <c:v>2196</c:v>
                </c:pt>
                <c:pt idx="157">
                  <c:v>2351</c:v>
                </c:pt>
                <c:pt idx="158">
                  <c:v>2556</c:v>
                </c:pt>
                <c:pt idx="159">
                  <c:v>2273</c:v>
                </c:pt>
                <c:pt idx="160">
                  <c:v>2370</c:v>
                </c:pt>
                <c:pt idx="161">
                  <c:v>2256</c:v>
                </c:pt>
                <c:pt idx="162">
                  <c:v>2333</c:v>
                </c:pt>
                <c:pt idx="163">
                  <c:v>2325</c:v>
                </c:pt>
                <c:pt idx="164">
                  <c:v>2237</c:v>
                </c:pt>
                <c:pt idx="165">
                  <c:v>2310</c:v>
                </c:pt>
                <c:pt idx="166">
                  <c:v>2326</c:v>
                </c:pt>
                <c:pt idx="167">
                  <c:v>1964</c:v>
                </c:pt>
                <c:pt idx="168">
                  <c:v>2150</c:v>
                </c:pt>
                <c:pt idx="169">
                  <c:v>2087</c:v>
                </c:pt>
                <c:pt idx="170">
                  <c:v>2316</c:v>
                </c:pt>
                <c:pt idx="171">
                  <c:v>2209</c:v>
                </c:pt>
                <c:pt idx="172">
                  <c:v>2270</c:v>
                </c:pt>
                <c:pt idx="173">
                  <c:v>2201</c:v>
                </c:pt>
                <c:pt idx="174">
                  <c:v>2086</c:v>
                </c:pt>
                <c:pt idx="175">
                  <c:v>2260</c:v>
                </c:pt>
                <c:pt idx="176">
                  <c:v>2004</c:v>
                </c:pt>
                <c:pt idx="177">
                  <c:v>2296</c:v>
                </c:pt>
                <c:pt idx="178">
                  <c:v>2116</c:v>
                </c:pt>
                <c:pt idx="179">
                  <c:v>1887</c:v>
                </c:pt>
              </c:numCache>
            </c:numRef>
          </c:yVal>
          <c:smooth val="0"/>
        </c:ser>
        <c:ser>
          <c:idx val="1"/>
          <c:order val="1"/>
          <c:tx>
            <c:v>Frozen long-run fitted level</c:v>
          </c:tx>
          <c:spPr>
            <a:ln xmlns:a="http://schemas.openxmlformats.org/drawingml/2006/main"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</c:v>
                </c:pt>
                <c:pt idx="2">
                  <c:v>2011.166667</c:v>
                </c:pt>
                <c:pt idx="3">
                  <c:v>2011.25</c:v>
                </c:pt>
                <c:pt idx="4">
                  <c:v>2011.333333</c:v>
                </c:pt>
                <c:pt idx="5">
                  <c:v>2011.416667</c:v>
                </c:pt>
                <c:pt idx="6">
                  <c:v>2011.5</c:v>
                </c:pt>
                <c:pt idx="7">
                  <c:v>2011.583333</c:v>
                </c:pt>
                <c:pt idx="8">
                  <c:v>2011.666667</c:v>
                </c:pt>
                <c:pt idx="9">
                  <c:v>2011.75</c:v>
                </c:pt>
                <c:pt idx="10">
                  <c:v>2011.833333</c:v>
                </c:pt>
                <c:pt idx="11">
                  <c:v>2011.916667</c:v>
                </c:pt>
                <c:pt idx="12">
                  <c:v>2012</c:v>
                </c:pt>
                <c:pt idx="13">
                  <c:v>2012.083333</c:v>
                </c:pt>
                <c:pt idx="14">
                  <c:v>2012.166667</c:v>
                </c:pt>
                <c:pt idx="15">
                  <c:v>2012.25</c:v>
                </c:pt>
                <c:pt idx="16">
                  <c:v>2012.333333</c:v>
                </c:pt>
                <c:pt idx="17">
                  <c:v>2012.416667</c:v>
                </c:pt>
                <c:pt idx="18">
                  <c:v>2012.5</c:v>
                </c:pt>
                <c:pt idx="19">
                  <c:v>2012.583333</c:v>
                </c:pt>
                <c:pt idx="20">
                  <c:v>2012.666667</c:v>
                </c:pt>
                <c:pt idx="21">
                  <c:v>2012.75</c:v>
                </c:pt>
                <c:pt idx="22">
                  <c:v>2012.833333</c:v>
                </c:pt>
                <c:pt idx="23">
                  <c:v>2012.916667</c:v>
                </c:pt>
                <c:pt idx="24">
                  <c:v>2013</c:v>
                </c:pt>
                <c:pt idx="25">
                  <c:v>2013.083333</c:v>
                </c:pt>
                <c:pt idx="26">
                  <c:v>2013.166667</c:v>
                </c:pt>
                <c:pt idx="27">
                  <c:v>2013.25</c:v>
                </c:pt>
                <c:pt idx="28">
                  <c:v>2013.333333</c:v>
                </c:pt>
                <c:pt idx="29">
                  <c:v>2013.416667</c:v>
                </c:pt>
                <c:pt idx="30">
                  <c:v>2013.5</c:v>
                </c:pt>
                <c:pt idx="31">
                  <c:v>2013.583333</c:v>
                </c:pt>
                <c:pt idx="32">
                  <c:v>2013.666667</c:v>
                </c:pt>
                <c:pt idx="33">
                  <c:v>2013.75</c:v>
                </c:pt>
                <c:pt idx="34">
                  <c:v>2013.833333</c:v>
                </c:pt>
                <c:pt idx="35">
                  <c:v>2013.916667</c:v>
                </c:pt>
                <c:pt idx="36">
                  <c:v>2014</c:v>
                </c:pt>
                <c:pt idx="37">
                  <c:v>2014.083333</c:v>
                </c:pt>
                <c:pt idx="38">
                  <c:v>2014.166667</c:v>
                </c:pt>
                <c:pt idx="39">
                  <c:v>2014.25</c:v>
                </c:pt>
                <c:pt idx="40">
                  <c:v>2014.333333</c:v>
                </c:pt>
                <c:pt idx="41">
                  <c:v>2014.416667</c:v>
                </c:pt>
                <c:pt idx="42">
                  <c:v>2014.5</c:v>
                </c:pt>
                <c:pt idx="43">
                  <c:v>2014.583333</c:v>
                </c:pt>
                <c:pt idx="44">
                  <c:v>2014.666667</c:v>
                </c:pt>
                <c:pt idx="45">
                  <c:v>2014.75</c:v>
                </c:pt>
                <c:pt idx="46">
                  <c:v>2014.833333</c:v>
                </c:pt>
                <c:pt idx="47">
                  <c:v>2014.916667</c:v>
                </c:pt>
                <c:pt idx="48">
                  <c:v>2015</c:v>
                </c:pt>
                <c:pt idx="49">
                  <c:v>2015.083333</c:v>
                </c:pt>
                <c:pt idx="50">
                  <c:v>2015.166667</c:v>
                </c:pt>
                <c:pt idx="51">
                  <c:v>2015.25</c:v>
                </c:pt>
                <c:pt idx="52">
                  <c:v>2015.333333</c:v>
                </c:pt>
                <c:pt idx="53">
                  <c:v>2015.416667</c:v>
                </c:pt>
                <c:pt idx="54">
                  <c:v>2015.5</c:v>
                </c:pt>
                <c:pt idx="55">
                  <c:v>2015.583333</c:v>
                </c:pt>
                <c:pt idx="56">
                  <c:v>2015.666667</c:v>
                </c:pt>
                <c:pt idx="57">
                  <c:v>2015.75</c:v>
                </c:pt>
                <c:pt idx="58">
                  <c:v>2015.833333</c:v>
                </c:pt>
                <c:pt idx="59">
                  <c:v>2015.916667</c:v>
                </c:pt>
                <c:pt idx="60">
                  <c:v>2016</c:v>
                </c:pt>
                <c:pt idx="61">
                  <c:v>2016.083333</c:v>
                </c:pt>
                <c:pt idx="62">
                  <c:v>2016.166667</c:v>
                </c:pt>
                <c:pt idx="63">
                  <c:v>2016.25</c:v>
                </c:pt>
                <c:pt idx="64">
                  <c:v>2016.333333</c:v>
                </c:pt>
                <c:pt idx="65">
                  <c:v>2016.416667</c:v>
                </c:pt>
                <c:pt idx="66">
                  <c:v>2016.5</c:v>
                </c:pt>
                <c:pt idx="67">
                  <c:v>2016.583333</c:v>
                </c:pt>
                <c:pt idx="68">
                  <c:v>2016.666667</c:v>
                </c:pt>
                <c:pt idx="69">
                  <c:v>2016.75</c:v>
                </c:pt>
                <c:pt idx="70">
                  <c:v>2016.833333</c:v>
                </c:pt>
                <c:pt idx="71">
                  <c:v>2016.916667</c:v>
                </c:pt>
                <c:pt idx="72">
                  <c:v>2017</c:v>
                </c:pt>
                <c:pt idx="73">
                  <c:v>2017.083333</c:v>
                </c:pt>
                <c:pt idx="74">
                  <c:v>2017.166667</c:v>
                </c:pt>
                <c:pt idx="75">
                  <c:v>2017.25</c:v>
                </c:pt>
                <c:pt idx="76">
                  <c:v>2017.333333</c:v>
                </c:pt>
                <c:pt idx="77">
                  <c:v>2017.416667</c:v>
                </c:pt>
                <c:pt idx="78">
                  <c:v>2017.5</c:v>
                </c:pt>
                <c:pt idx="79">
                  <c:v>2017.583333</c:v>
                </c:pt>
                <c:pt idx="80">
                  <c:v>2017.666667</c:v>
                </c:pt>
                <c:pt idx="81">
                  <c:v>2017.75</c:v>
                </c:pt>
                <c:pt idx="82">
                  <c:v>2017.833333</c:v>
                </c:pt>
                <c:pt idx="83">
                  <c:v>2017.916667</c:v>
                </c:pt>
                <c:pt idx="84">
                  <c:v>2018</c:v>
                </c:pt>
                <c:pt idx="85">
                  <c:v>2018.083333</c:v>
                </c:pt>
                <c:pt idx="86">
                  <c:v>2018.166667</c:v>
                </c:pt>
                <c:pt idx="87">
                  <c:v>2018.25</c:v>
                </c:pt>
                <c:pt idx="88">
                  <c:v>2018.333333</c:v>
                </c:pt>
                <c:pt idx="89">
                  <c:v>2018.416667</c:v>
                </c:pt>
                <c:pt idx="90">
                  <c:v>2018.5</c:v>
                </c:pt>
                <c:pt idx="91">
                  <c:v>2018.583333</c:v>
                </c:pt>
                <c:pt idx="92">
                  <c:v>2018.666667</c:v>
                </c:pt>
                <c:pt idx="93">
                  <c:v>2018.75</c:v>
                </c:pt>
                <c:pt idx="94">
                  <c:v>2018.833333</c:v>
                </c:pt>
                <c:pt idx="95">
                  <c:v>2018.916667</c:v>
                </c:pt>
                <c:pt idx="96">
                  <c:v>2019</c:v>
                </c:pt>
                <c:pt idx="97">
                  <c:v>2019.083333</c:v>
                </c:pt>
                <c:pt idx="98">
                  <c:v>2019.166667</c:v>
                </c:pt>
                <c:pt idx="99">
                  <c:v>2019.25</c:v>
                </c:pt>
                <c:pt idx="100">
                  <c:v>2019.333333</c:v>
                </c:pt>
                <c:pt idx="101">
                  <c:v>2019.416667</c:v>
                </c:pt>
                <c:pt idx="102">
                  <c:v>2019.5</c:v>
                </c:pt>
                <c:pt idx="103">
                  <c:v>2019.583333</c:v>
                </c:pt>
                <c:pt idx="104">
                  <c:v>2019.666667</c:v>
                </c:pt>
                <c:pt idx="105">
                  <c:v>2019.75</c:v>
                </c:pt>
                <c:pt idx="106">
                  <c:v>2019.833333</c:v>
                </c:pt>
                <c:pt idx="107">
                  <c:v>2019.916667</c:v>
                </c:pt>
                <c:pt idx="108">
                  <c:v>2020</c:v>
                </c:pt>
                <c:pt idx="109">
                  <c:v>2020.083333</c:v>
                </c:pt>
                <c:pt idx="110">
                  <c:v>2020.166667</c:v>
                </c:pt>
                <c:pt idx="111">
                  <c:v>2020.25</c:v>
                </c:pt>
                <c:pt idx="112">
                  <c:v>2020.333333</c:v>
                </c:pt>
                <c:pt idx="113">
                  <c:v>2020.416667</c:v>
                </c:pt>
                <c:pt idx="114">
                  <c:v>2020.5</c:v>
                </c:pt>
                <c:pt idx="115">
                  <c:v>2020.583333</c:v>
                </c:pt>
                <c:pt idx="116">
                  <c:v>2020.666667</c:v>
                </c:pt>
                <c:pt idx="117">
                  <c:v>2020.75</c:v>
                </c:pt>
                <c:pt idx="118">
                  <c:v>2020.833333</c:v>
                </c:pt>
                <c:pt idx="119">
                  <c:v>2020.916667</c:v>
                </c:pt>
                <c:pt idx="120">
                  <c:v>2021</c:v>
                </c:pt>
                <c:pt idx="121">
                  <c:v>2021.083333</c:v>
                </c:pt>
                <c:pt idx="122">
                  <c:v>2021.166667</c:v>
                </c:pt>
                <c:pt idx="123">
                  <c:v>2021.25</c:v>
                </c:pt>
                <c:pt idx="124">
                  <c:v>2021.333333</c:v>
                </c:pt>
                <c:pt idx="125">
                  <c:v>2021.416667</c:v>
                </c:pt>
                <c:pt idx="126">
                  <c:v>2021.5</c:v>
                </c:pt>
                <c:pt idx="127">
                  <c:v>2021.583333</c:v>
                </c:pt>
                <c:pt idx="128">
                  <c:v>2021.666667</c:v>
                </c:pt>
                <c:pt idx="129">
                  <c:v>2021.75</c:v>
                </c:pt>
                <c:pt idx="130">
                  <c:v>2021.833333</c:v>
                </c:pt>
                <c:pt idx="131">
                  <c:v>2021.916667</c:v>
                </c:pt>
                <c:pt idx="132">
                  <c:v>2022</c:v>
                </c:pt>
                <c:pt idx="133">
                  <c:v>2022.083333</c:v>
                </c:pt>
                <c:pt idx="134">
                  <c:v>2022.166667</c:v>
                </c:pt>
                <c:pt idx="135">
                  <c:v>2022.25</c:v>
                </c:pt>
                <c:pt idx="136">
                  <c:v>2022.333333</c:v>
                </c:pt>
                <c:pt idx="137">
                  <c:v>2022.416667</c:v>
                </c:pt>
                <c:pt idx="138">
                  <c:v>2022.5</c:v>
                </c:pt>
                <c:pt idx="139">
                  <c:v>2022.583333</c:v>
                </c:pt>
                <c:pt idx="140">
                  <c:v>2022.666667</c:v>
                </c:pt>
                <c:pt idx="141">
                  <c:v>2022.75</c:v>
                </c:pt>
                <c:pt idx="142">
                  <c:v>2022.833333</c:v>
                </c:pt>
                <c:pt idx="143">
                  <c:v>2022.916667</c:v>
                </c:pt>
                <c:pt idx="144">
                  <c:v>2023</c:v>
                </c:pt>
                <c:pt idx="145">
                  <c:v>2023.083333</c:v>
                </c:pt>
                <c:pt idx="146">
                  <c:v>2023.166667</c:v>
                </c:pt>
                <c:pt idx="147">
                  <c:v>2023.25</c:v>
                </c:pt>
                <c:pt idx="148">
                  <c:v>2023.333333</c:v>
                </c:pt>
                <c:pt idx="149">
                  <c:v>2023.416667</c:v>
                </c:pt>
                <c:pt idx="150">
                  <c:v>2023.5</c:v>
                </c:pt>
                <c:pt idx="151">
                  <c:v>2023.583333</c:v>
                </c:pt>
                <c:pt idx="152">
                  <c:v>2023.666667</c:v>
                </c:pt>
                <c:pt idx="153">
                  <c:v>2023.75</c:v>
                </c:pt>
                <c:pt idx="154">
                  <c:v>2023.833333</c:v>
                </c:pt>
                <c:pt idx="155">
                  <c:v>2023.916667</c:v>
                </c:pt>
                <c:pt idx="156">
                  <c:v>2024</c:v>
                </c:pt>
                <c:pt idx="157">
                  <c:v>2024.083333</c:v>
                </c:pt>
                <c:pt idx="158">
                  <c:v>2024.166667</c:v>
                </c:pt>
                <c:pt idx="159">
                  <c:v>2024.25</c:v>
                </c:pt>
                <c:pt idx="160">
                  <c:v>2024.333333</c:v>
                </c:pt>
                <c:pt idx="161">
                  <c:v>2024.416667</c:v>
                </c:pt>
                <c:pt idx="162">
                  <c:v>2024.5</c:v>
                </c:pt>
                <c:pt idx="163">
                  <c:v>2024.583333</c:v>
                </c:pt>
                <c:pt idx="164">
                  <c:v>2024.666667</c:v>
                </c:pt>
                <c:pt idx="165">
                  <c:v>2024.75</c:v>
                </c:pt>
                <c:pt idx="166">
                  <c:v>2024.833333</c:v>
                </c:pt>
                <c:pt idx="167">
                  <c:v>2024.916667</c:v>
                </c:pt>
                <c:pt idx="168">
                  <c:v>2025</c:v>
                </c:pt>
                <c:pt idx="169">
                  <c:v>2025.083333</c:v>
                </c:pt>
                <c:pt idx="170">
                  <c:v>2025.166667</c:v>
                </c:pt>
                <c:pt idx="171">
                  <c:v>2025.25</c:v>
                </c:pt>
                <c:pt idx="172">
                  <c:v>2025.333333</c:v>
                </c:pt>
                <c:pt idx="173">
                  <c:v>2025.416667</c:v>
                </c:pt>
                <c:pt idx="174">
                  <c:v>2025.5</c:v>
                </c:pt>
                <c:pt idx="175">
                  <c:v>2025.583333</c:v>
                </c:pt>
                <c:pt idx="176">
                  <c:v>2025.666667</c:v>
                </c:pt>
                <c:pt idx="177">
                  <c:v>2025.75</c:v>
                </c:pt>
                <c:pt idx="178">
                  <c:v>2025.833333</c:v>
                </c:pt>
                <c:pt idx="179">
                  <c:v>2025.916667</c:v>
                </c:pt>
              </c:numCache>
            </c:numRef>
          </c:xVal>
          <c:yVal>
            <c:numRef>
              <c:f>'Chart Data'!$D$2:$D$181</c:f>
              <c:numCache>
                <c:formatCode>#,##0</c:formatCode>
                <c:ptCount val="180"/>
                <c:pt idx="0">
                  <c:v>896.074874</c:v>
                </c:pt>
                <c:pt idx="1">
                  <c:v>912.933401</c:v>
                </c:pt>
                <c:pt idx="2">
                  <c:v>926.533569</c:v>
                </c:pt>
                <c:pt idx="3">
                  <c:v>940.783759</c:v>
                </c:pt>
                <c:pt idx="4">
                  <c:v>953.11258</c:v>
                </c:pt>
                <c:pt idx="5">
                  <c:v>956.171606</c:v>
                </c:pt>
                <c:pt idx="6">
                  <c:v>963.805335</c:v>
                </c:pt>
                <c:pt idx="7">
                  <c:v>968.698811</c:v>
                </c:pt>
                <c:pt idx="8">
                  <c:v>981.939708</c:v>
                </c:pt>
                <c:pt idx="9">
                  <c:v>989.77277</c:v>
                </c:pt>
                <c:pt idx="10">
                  <c:v>1004.131351</c:v>
                </c:pt>
                <c:pt idx="11">
                  <c:v>1012.653906</c:v>
                </c:pt>
                <c:pt idx="12">
                  <c:v>1024.626731</c:v>
                </c:pt>
                <c:pt idx="13">
                  <c:v>1037.209357</c:v>
                </c:pt>
                <c:pt idx="14">
                  <c:v>1040.962651</c:v>
                </c:pt>
                <c:pt idx="15">
                  <c:v>1052.646425</c:v>
                </c:pt>
                <c:pt idx="16">
                  <c:v>1042.697635</c:v>
                </c:pt>
                <c:pt idx="17">
                  <c:v>1030.757057</c:v>
                </c:pt>
                <c:pt idx="18">
                  <c:v>1030.762307</c:v>
                </c:pt>
                <c:pt idx="19">
                  <c:v>1061.142533</c:v>
                </c:pt>
                <c:pt idx="20">
                  <c:v>1082.67693</c:v>
                </c:pt>
                <c:pt idx="21">
                  <c:v>1095.772688</c:v>
                </c:pt>
                <c:pt idx="22">
                  <c:v>1065.772732</c:v>
                </c:pt>
                <c:pt idx="23">
                  <c:v>1068.132515</c:v>
                </c:pt>
                <c:pt idx="24">
                  <c:v>1080.170784</c:v>
                </c:pt>
                <c:pt idx="25">
                  <c:v>1112.985237</c:v>
                </c:pt>
                <c:pt idx="26">
                  <c:v>1096.750009</c:v>
                </c:pt>
                <c:pt idx="27">
                  <c:v>1093.809873</c:v>
                </c:pt>
                <c:pt idx="28">
                  <c:v>1104.503852</c:v>
                </c:pt>
                <c:pt idx="29">
                  <c:v>1115.2718</c:v>
                </c:pt>
                <c:pt idx="30">
                  <c:v>1125.489393</c:v>
                </c:pt>
                <c:pt idx="31">
                  <c:v>1134.863355</c:v>
                </c:pt>
                <c:pt idx="32">
                  <c:v>1135.914844</c:v>
                </c:pt>
                <c:pt idx="33">
                  <c:v>1129.574211</c:v>
                </c:pt>
                <c:pt idx="34">
                  <c:v>1140.603463</c:v>
                </c:pt>
                <c:pt idx="35">
                  <c:v>1158.771783</c:v>
                </c:pt>
                <c:pt idx="36">
                  <c:v>1170.469806</c:v>
                </c:pt>
                <c:pt idx="37">
                  <c:v>1166.191179</c:v>
                </c:pt>
                <c:pt idx="38">
                  <c:v>1184.813663</c:v>
                </c:pt>
                <c:pt idx="39">
                  <c:v>1196.618101</c:v>
                </c:pt>
                <c:pt idx="40">
                  <c:v>1210.7466</c:v>
                </c:pt>
                <c:pt idx="41">
                  <c:v>1213.828875</c:v>
                </c:pt>
                <c:pt idx="42">
                  <c:v>1221.244996</c:v>
                </c:pt>
                <c:pt idx="43">
                  <c:v>1220.041619</c:v>
                </c:pt>
                <c:pt idx="44">
                  <c:v>1218.145748</c:v>
                </c:pt>
                <c:pt idx="45">
                  <c:v>1219.961925</c:v>
                </c:pt>
                <c:pt idx="46">
                  <c:v>1218.146973</c:v>
                </c:pt>
                <c:pt idx="47">
                  <c:v>1213.600493</c:v>
                </c:pt>
                <c:pt idx="48">
                  <c:v>1174.495102</c:v>
                </c:pt>
                <c:pt idx="49">
                  <c:v>1187.588611</c:v>
                </c:pt>
                <c:pt idx="50">
                  <c:v>1190.579468</c:v>
                </c:pt>
                <c:pt idx="51">
                  <c:v>1198.458001</c:v>
                </c:pt>
                <c:pt idx="52">
                  <c:v>1219.039075</c:v>
                </c:pt>
                <c:pt idx="53">
                  <c:v>1219.011128</c:v>
                </c:pt>
                <c:pt idx="54">
                  <c:v>1230.500542</c:v>
                </c:pt>
                <c:pt idx="55">
                  <c:v>1230.423098</c:v>
                </c:pt>
                <c:pt idx="56">
                  <c:v>1221.361161</c:v>
                </c:pt>
                <c:pt idx="57">
                  <c:v>1225.7927</c:v>
                </c:pt>
                <c:pt idx="58">
                  <c:v>1225.62084</c:v>
                </c:pt>
                <c:pt idx="59">
                  <c:v>1223.161865</c:v>
                </c:pt>
                <c:pt idx="60">
                  <c:v>1215.990074</c:v>
                </c:pt>
                <c:pt idx="61">
                  <c:v>1206.286364</c:v>
                </c:pt>
                <c:pt idx="62">
                  <c:v>1219.3524</c:v>
                </c:pt>
                <c:pt idx="63">
                  <c:v>1240.988713</c:v>
                </c:pt>
                <c:pt idx="64">
                  <c:v>1252.880345</c:v>
                </c:pt>
                <c:pt idx="65">
                  <c:v>1268.41858</c:v>
                </c:pt>
                <c:pt idx="66">
                  <c:v>1266.473488</c:v>
                </c:pt>
                <c:pt idx="67">
                  <c:v>1274.445214</c:v>
                </c:pt>
                <c:pt idx="68">
                  <c:v>1285.450743</c:v>
                </c:pt>
                <c:pt idx="69">
                  <c:v>1299.471326</c:v>
                </c:pt>
                <c:pt idx="70">
                  <c:v>1318.776553</c:v>
                </c:pt>
                <c:pt idx="71">
                  <c:v>1359.015576</c:v>
                </c:pt>
                <c:pt idx="72">
                  <c:v>1378.333828</c:v>
                </c:pt>
                <c:pt idx="73">
                  <c:v>1383.667968</c:v>
                </c:pt>
                <c:pt idx="74">
                  <c:v>1378.973626</c:v>
                </c:pt>
                <c:pt idx="75">
                  <c:v>1384.14613</c:v>
                </c:pt>
                <c:pt idx="76">
                  <c:v>1380.530749</c:v>
                </c:pt>
                <c:pt idx="77">
                  <c:v>1380.000642</c:v>
                </c:pt>
                <c:pt idx="78">
                  <c:v>1387.94462</c:v>
                </c:pt>
                <c:pt idx="79">
                  <c:v>1406.524157</c:v>
                </c:pt>
                <c:pt idx="80">
                  <c:v>1421.991223</c:v>
                </c:pt>
                <c:pt idx="81">
                  <c:v>1428.820517</c:v>
                </c:pt>
                <c:pt idx="82">
                  <c:v>1455.819668</c:v>
                </c:pt>
                <c:pt idx="83">
                  <c:v>1455.97558</c:v>
                </c:pt>
                <c:pt idx="84">
                  <c:v>1484.088941</c:v>
                </c:pt>
                <c:pt idx="85">
                  <c:v>1500.13131</c:v>
                </c:pt>
                <c:pt idx="86">
                  <c:v>1489.563995</c:v>
                </c:pt>
                <c:pt idx="87">
                  <c:v>1502.58456</c:v>
                </c:pt>
                <c:pt idx="88">
                  <c:v>1525.240115</c:v>
                </c:pt>
                <c:pt idx="89">
                  <c:v>1527.464509</c:v>
                </c:pt>
                <c:pt idx="90">
                  <c:v>1533.674253</c:v>
                </c:pt>
                <c:pt idx="91">
                  <c:v>1545.905382</c:v>
                </c:pt>
                <c:pt idx="92">
                  <c:v>1552.643258</c:v>
                </c:pt>
                <c:pt idx="93">
                  <c:v>1562.290523</c:v>
                </c:pt>
                <c:pt idx="94">
                  <c:v>1548.414603</c:v>
                </c:pt>
                <c:pt idx="95">
                  <c:v>1550.596526</c:v>
                </c:pt>
                <c:pt idx="96">
                  <c:v>1534.085271</c:v>
                </c:pt>
                <c:pt idx="97">
                  <c:v>1550.831382</c:v>
                </c:pt>
                <c:pt idx="98">
                  <c:v>1569.954525</c:v>
                </c:pt>
                <c:pt idx="99">
                  <c:v>1594.807751</c:v>
                </c:pt>
                <c:pt idx="100">
                  <c:v>1601.93782</c:v>
                </c:pt>
                <c:pt idx="101">
                  <c:v>1593.722039</c:v>
                </c:pt>
                <c:pt idx="102">
                  <c:v>1610.532845</c:v>
                </c:pt>
                <c:pt idx="103">
                  <c:v>1609.118135</c:v>
                </c:pt>
                <c:pt idx="104">
                  <c:v>1611.548138</c:v>
                </c:pt>
                <c:pt idx="105">
                  <c:v>1628.175834</c:v>
                </c:pt>
                <c:pt idx="106">
                  <c:v>1650.882109</c:v>
                </c:pt>
                <c:pt idx="107">
                  <c:v>1657.792122</c:v>
                </c:pt>
                <c:pt idx="108">
                  <c:v>1673.78302</c:v>
                </c:pt>
                <c:pt idx="109">
                  <c:v>1677.044654</c:v>
                </c:pt>
                <c:pt idx="110">
                  <c:v>1622.939936</c:v>
                </c:pt>
                <c:pt idx="111">
                  <c:v>1561.566959</c:v>
                </c:pt>
                <c:pt idx="112">
                  <c:v>1570.649344</c:v>
                </c:pt>
                <c:pt idx="113">
                  <c:v>1619.028479</c:v>
                </c:pt>
                <c:pt idx="114">
                  <c:v>1637.442155</c:v>
                </c:pt>
                <c:pt idx="115">
                  <c:v>1661.522444</c:v>
                </c:pt>
                <c:pt idx="116">
                  <c:v>1689.414447</c:v>
                </c:pt>
                <c:pt idx="117">
                  <c:v>1695.595219</c:v>
                </c:pt>
                <c:pt idx="118">
                  <c:v>1697.033452</c:v>
                </c:pt>
                <c:pt idx="119">
                  <c:v>1698.086992</c:v>
                </c:pt>
                <c:pt idx="120">
                  <c:v>1706.924847</c:v>
                </c:pt>
                <c:pt idx="121">
                  <c:v>1727.243118</c:v>
                </c:pt>
                <c:pt idx="122">
                  <c:v>1763.396648</c:v>
                </c:pt>
                <c:pt idx="123">
                  <c:v>1801.738851</c:v>
                </c:pt>
                <c:pt idx="124">
                  <c:v>1835.365988</c:v>
                </c:pt>
                <c:pt idx="125">
                  <c:v>1890.714855</c:v>
                </c:pt>
                <c:pt idx="126">
                  <c:v>1904.167635</c:v>
                </c:pt>
                <c:pt idx="127">
                  <c:v>1920.876525</c:v>
                </c:pt>
                <c:pt idx="128">
                  <c:v>1940.910519</c:v>
                </c:pt>
                <c:pt idx="129">
                  <c:v>1988.736374</c:v>
                </c:pt>
                <c:pt idx="130">
                  <c:v>2035.573935</c:v>
                </c:pt>
                <c:pt idx="131">
                  <c:v>2075.021348</c:v>
                </c:pt>
                <c:pt idx="132">
                  <c:v>2100.898116</c:v>
                </c:pt>
                <c:pt idx="133">
                  <c:v>2133.494012</c:v>
                </c:pt>
                <c:pt idx="134">
                  <c:v>2185.502853</c:v>
                </c:pt>
                <c:pt idx="135">
                  <c:v>2202.645932</c:v>
                </c:pt>
                <c:pt idx="136">
                  <c:v>2255.629292</c:v>
                </c:pt>
                <c:pt idx="137">
                  <c:v>2312.863607</c:v>
                </c:pt>
                <c:pt idx="138">
                  <c:v>2313.440685</c:v>
                </c:pt>
                <c:pt idx="139">
                  <c:v>2324.49066</c:v>
                </c:pt>
                <c:pt idx="140">
                  <c:v>2349.947212</c:v>
                </c:pt>
                <c:pt idx="141">
                  <c:v>2378.996922</c:v>
                </c:pt>
                <c:pt idx="142">
                  <c:v>2396.596414</c:v>
                </c:pt>
                <c:pt idx="143">
                  <c:v>2389.242263</c:v>
                </c:pt>
                <c:pt idx="144">
                  <c:v>2422.081464</c:v>
                </c:pt>
                <c:pt idx="145">
                  <c:v>2444.423769</c:v>
                </c:pt>
                <c:pt idx="146">
                  <c:v>2448.517311</c:v>
                </c:pt>
                <c:pt idx="147">
                  <c:v>2464.276903</c:v>
                </c:pt>
                <c:pt idx="148">
                  <c:v>2475.155017</c:v>
                </c:pt>
                <c:pt idx="149">
                  <c:v>2494.450771</c:v>
                </c:pt>
                <c:pt idx="150">
                  <c:v>2509.674731</c:v>
                </c:pt>
                <c:pt idx="151">
                  <c:v>2535.96094</c:v>
                </c:pt>
                <c:pt idx="152">
                  <c:v>2557.347949</c:v>
                </c:pt>
                <c:pt idx="153">
                  <c:v>2565.201259</c:v>
                </c:pt>
                <c:pt idx="154">
                  <c:v>2573.444038</c:v>
                </c:pt>
                <c:pt idx="155">
                  <c:v>2589.983791</c:v>
                </c:pt>
                <c:pt idx="156">
                  <c:v>2600.781737</c:v>
                </c:pt>
                <c:pt idx="157">
                  <c:v>2623.567982</c:v>
                </c:pt>
                <c:pt idx="158">
                  <c:v>2646.982025</c:v>
                </c:pt>
                <c:pt idx="159">
                  <c:v>2664.61199</c:v>
                </c:pt>
                <c:pt idx="160">
                  <c:v>2670.858206</c:v>
                </c:pt>
                <c:pt idx="161">
                  <c:v>2672.009362</c:v>
                </c:pt>
                <c:pt idx="162">
                  <c:v>2690.906648</c:v>
                </c:pt>
                <c:pt idx="163">
                  <c:v>2690.672342</c:v>
                </c:pt>
                <c:pt idx="164">
                  <c:v>2704.701175</c:v>
                </c:pt>
                <c:pt idx="165">
                  <c:v>2731.022081</c:v>
                </c:pt>
                <c:pt idx="166">
                  <c:v>2779.143387</c:v>
                </c:pt>
                <c:pt idx="167">
                  <c:v>2813.453742</c:v>
                </c:pt>
                <c:pt idx="168">
                  <c:v>2830.980566</c:v>
                </c:pt>
                <c:pt idx="169">
                  <c:v>2836.726673</c:v>
                </c:pt>
                <c:pt idx="170">
                  <c:v>2825.854084</c:v>
                </c:pt>
                <c:pt idx="171">
                  <c:v>2829.803237</c:v>
                </c:pt>
                <c:pt idx="172">
                  <c:v>2847.445675</c:v>
                </c:pt>
                <c:pt idx="173">
                  <c:v>2862.569969</c:v>
                </c:pt>
                <c:pt idx="174">
                  <c:v>2883.534511</c:v>
                </c:pt>
                <c:pt idx="175">
                  <c:v>2907.238831</c:v>
                </c:pt>
                <c:pt idx="176">
                  <c:v>2917.998055</c:v>
                </c:pt>
                <c:pt idx="177">
                  <c:v>2923.798358</c:v>
                </c:pt>
                <c:pt idx="178">
                  <c:v>2934.631751</c:v>
                </c:pt>
                <c:pt idx="179">
                  <c:v>2955.381961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26"/>
          <c:min val="2011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crossBetween val="midCat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scatterChart>
        <c:scatterStyle val="lineMarker"/>
        <c:varyColors val="0"/>
        <c:ser>
          <c:idx val="0"/>
          <c:order val="0"/>
          <c:tx>
            <c:v>Actual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Data'!$B$2:$B$28</c:f>
              <c:numCache>
                <c:formatCode>#,##0</c:formatCode>
                <c:ptCount val="27"/>
                <c:pt idx="0">
                  <c:v>2520</c:v>
                </c:pt>
                <c:pt idx="1">
                  <c:v>2328</c:v>
                </c:pt>
                <c:pt idx="2">
                  <c:v>2575</c:v>
                </c:pt>
                <c:pt idx="3">
                  <c:v>2196</c:v>
                </c:pt>
                <c:pt idx="4">
                  <c:v>2351</c:v>
                </c:pt>
                <c:pt idx="5">
                  <c:v>2556</c:v>
                </c:pt>
                <c:pt idx="6">
                  <c:v>2273</c:v>
                </c:pt>
                <c:pt idx="7">
                  <c:v>2370</c:v>
                </c:pt>
                <c:pt idx="8">
                  <c:v>2256</c:v>
                </c:pt>
                <c:pt idx="9">
                  <c:v>2333</c:v>
                </c:pt>
                <c:pt idx="10">
                  <c:v>2325</c:v>
                </c:pt>
                <c:pt idx="11">
                  <c:v>2237</c:v>
                </c:pt>
                <c:pt idx="12">
                  <c:v>2310</c:v>
                </c:pt>
                <c:pt idx="13">
                  <c:v>2326</c:v>
                </c:pt>
                <c:pt idx="14">
                  <c:v>1964</c:v>
                </c:pt>
                <c:pt idx="15">
                  <c:v>2150</c:v>
                </c:pt>
                <c:pt idx="16">
                  <c:v>2087</c:v>
                </c:pt>
                <c:pt idx="17">
                  <c:v>2316</c:v>
                </c:pt>
                <c:pt idx="18">
                  <c:v>2209</c:v>
                </c:pt>
                <c:pt idx="19">
                  <c:v>2270</c:v>
                </c:pt>
                <c:pt idx="20">
                  <c:v>2201</c:v>
                </c:pt>
                <c:pt idx="21">
                  <c:v>2086</c:v>
                </c:pt>
                <c:pt idx="22">
                  <c:v>2260</c:v>
                </c:pt>
                <c:pt idx="23">
                  <c:v>2004</c:v>
                </c:pt>
                <c:pt idx="24">
                  <c:v>2296</c:v>
                </c:pt>
                <c:pt idx="25">
                  <c:v>2116</c:v>
                </c:pt>
                <c:pt idx="26">
                  <c:v>1887</c:v>
                </c:pt>
              </c:numCache>
            </c:numRef>
          </c:yVal>
          <c:smooth val="0"/>
        </c:ser>
        <c:ser>
          <c:idx val="1"/>
          <c:order val="1"/>
          <c:tx>
            <c:v>Static forecast</c:v>
          </c:tx>
          <c:spPr>
            <a:ln xmlns:a="http://schemas.openxmlformats.org/drawingml/2006/main"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Data'!$D$2:$D$28</c:f>
              <c:numCache>
                <c:formatCode>#,##0</c:formatCode>
                <c:ptCount val="27"/>
                <c:pt idx="0">
                  <c:v>2395.760492</c:v>
                </c:pt>
                <c:pt idx="1">
                  <c:v>2491.548247</c:v>
                </c:pt>
                <c:pt idx="2">
                  <c:v>2520.703393</c:v>
                </c:pt>
                <c:pt idx="3">
                  <c:v>2621.262917</c:v>
                </c:pt>
                <c:pt idx="4">
                  <c:v>2557.399068</c:v>
                </c:pt>
                <c:pt idx="5">
                  <c:v>2539.535446</c:v>
                </c:pt>
                <c:pt idx="6">
                  <c:v>2479.536217</c:v>
                </c:pt>
                <c:pt idx="7">
                  <c:v>2451.848531</c:v>
                </c:pt>
                <c:pt idx="8">
                  <c:v>2564.037971</c:v>
                </c:pt>
                <c:pt idx="9">
                  <c:v>2538.720141</c:v>
                </c:pt>
                <c:pt idx="10">
                  <c:v>2665.291698</c:v>
                </c:pt>
                <c:pt idx="11">
                  <c:v>2645.659577</c:v>
                </c:pt>
                <c:pt idx="12">
                  <c:v>2536.005341</c:v>
                </c:pt>
                <c:pt idx="13">
                  <c:v>2599.477799</c:v>
                </c:pt>
                <c:pt idx="14">
                  <c:v>2625.711587</c:v>
                </c:pt>
                <c:pt idx="15">
                  <c:v>2537.751798</c:v>
                </c:pt>
                <c:pt idx="16">
                  <c:v>2745.413007</c:v>
                </c:pt>
                <c:pt idx="17">
                  <c:v>2636.79084</c:v>
                </c:pt>
                <c:pt idx="18">
                  <c:v>2735.242024</c:v>
                </c:pt>
                <c:pt idx="19">
                  <c:v>2834.687488</c:v>
                </c:pt>
                <c:pt idx="20">
                  <c:v>2703.468488</c:v>
                </c:pt>
                <c:pt idx="21">
                  <c:v>2838.576184</c:v>
                </c:pt>
                <c:pt idx="22">
                  <c:v>2720.063273</c:v>
                </c:pt>
                <c:pt idx="23">
                  <c:v>2823.199739</c:v>
                </c:pt>
                <c:pt idx="24">
                  <c:v>2840.794497</c:v>
                </c:pt>
                <c:pt idx="25">
                  <c:v>2990.342343</c:v>
                </c:pt>
                <c:pt idx="26">
                  <c:v>2899.422486</c:v>
                </c:pt>
              </c:numCache>
            </c:numRef>
          </c:yVal>
          <c:smooth val="0"/>
        </c:ser>
        <c:ser>
          <c:idx val="2"/>
          <c:order val="2"/>
          <c:tx>
            <c:v>Recursive forecast</c:v>
          </c:tx>
          <c:spPr>
            <a:ln xmlns:a="http://schemas.openxmlformats.org/drawingml/2006/main" w="23813">
              <a:solidFill>
                <a:srgbClr val="A5483C"/>
              </a:solidFill>
              <a:prstDash val="solid"/>
            </a:ln>
          </c:spPr>
          <c:marker>
            <c:symbol val="none"/>
          </c:marker>
          <c:xVal>
            <c:numRef>
              <c:f>'Chart Data'!$E$2:$E$28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Data'!$F$2:$F$28</c:f>
              <c:numCache>
                <c:formatCode>#,##0</c:formatCode>
                <c:ptCount val="27"/>
                <c:pt idx="0">
                  <c:v>2395.760492</c:v>
                </c:pt>
                <c:pt idx="1">
                  <c:v>2452.28347</c:v>
                </c:pt>
                <c:pt idx="2">
                  <c:v>2570.20302</c:v>
                </c:pt>
                <c:pt idx="3">
                  <c:v>2619.616049</c:v>
                </c:pt>
                <c:pt idx="4">
                  <c:v>2706.673628</c:v>
                </c:pt>
                <c:pt idx="5">
                  <c:v>2692.681046</c:v>
                </c:pt>
                <c:pt idx="6">
                  <c:v>2501.382142</c:v>
                </c:pt>
                <c:pt idx="7">
                  <c:v>2565.4869</c:v>
                </c:pt>
                <c:pt idx="8">
                  <c:v>2631.481929</c:v>
                </c:pt>
                <c:pt idx="9">
                  <c:v>2774.114627</c:v>
                </c:pt>
                <c:pt idx="10">
                  <c:v>2910.384692</c:v>
                </c:pt>
                <c:pt idx="11">
                  <c:v>2887.58228</c:v>
                </c:pt>
                <c:pt idx="12">
                  <c:v>2857.326929</c:v>
                </c:pt>
                <c:pt idx="13">
                  <c:v>2861.306996</c:v>
                </c:pt>
                <c:pt idx="14">
                  <c:v>2873.176547</c:v>
                </c:pt>
                <c:pt idx="15">
                  <c:v>2866.67215</c:v>
                </c:pt>
                <c:pt idx="16">
                  <c:v>2893.83064</c:v>
                </c:pt>
                <c:pt idx="17">
                  <c:v>2915.427808</c:v>
                </c:pt>
                <c:pt idx="18">
                  <c:v>3011.830082</c:v>
                </c:pt>
                <c:pt idx="19">
                  <c:v>3107.377458</c:v>
                </c:pt>
                <c:pt idx="20">
                  <c:v>3063.733702</c:v>
                </c:pt>
                <c:pt idx="21">
                  <c:v>2968.964486</c:v>
                </c:pt>
                <c:pt idx="22">
                  <c:v>2778.42841</c:v>
                </c:pt>
                <c:pt idx="23">
                  <c:v>2712.355481</c:v>
                </c:pt>
                <c:pt idx="24">
                  <c:v>2851.478519</c:v>
                </c:pt>
                <c:pt idx="25">
                  <c:v>3006.03109</c:v>
                </c:pt>
                <c:pt idx="26">
                  <c:v>3082.621496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12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6023"/>
          <c:min val="45200"/>
        </c:scaling>
        <c:delete val="0"/>
        <c:axPos val="b"/>
        <c:numFmt formatCode="yyyy\-mm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crossBetween val="midCat"/>
        <c:majorUnit val="18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scatterChart>
        <c:scatterStyle val="lineMarker"/>
        <c:varyColors val="0"/>
        <c:ser>
          <c:idx val="0"/>
          <c:order val="0"/>
          <c:tx>
            <c:v>Actual</c:v>
          </c:tx>
          <c:spPr>
            <a:ln xmlns:a="http://schemas.openxmlformats.org/drawingml/2006/main"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Data'!$B$2:$B$28</c:f>
              <c:numCache>
                <c:formatCode>#,##0</c:formatCode>
                <c:ptCount val="27"/>
                <c:pt idx="0">
                  <c:v>769</c:v>
                </c:pt>
                <c:pt idx="1">
                  <c:v>773</c:v>
                </c:pt>
                <c:pt idx="2">
                  <c:v>851</c:v>
                </c:pt>
                <c:pt idx="3">
                  <c:v>694</c:v>
                </c:pt>
                <c:pt idx="4">
                  <c:v>721</c:v>
                </c:pt>
                <c:pt idx="5">
                  <c:v>797</c:v>
                </c:pt>
                <c:pt idx="6">
                  <c:v>765</c:v>
                </c:pt>
                <c:pt idx="7">
                  <c:v>804</c:v>
                </c:pt>
                <c:pt idx="8">
                  <c:v>779</c:v>
                </c:pt>
                <c:pt idx="9">
                  <c:v>822</c:v>
                </c:pt>
                <c:pt idx="10">
                  <c:v>776</c:v>
                </c:pt>
                <c:pt idx="11">
                  <c:v>701</c:v>
                </c:pt>
                <c:pt idx="12">
                  <c:v>781</c:v>
                </c:pt>
                <c:pt idx="13">
                  <c:v>777</c:v>
                </c:pt>
                <c:pt idx="14">
                  <c:v>819</c:v>
                </c:pt>
                <c:pt idx="15">
                  <c:v>685</c:v>
                </c:pt>
                <c:pt idx="16">
                  <c:v>657</c:v>
                </c:pt>
                <c:pt idx="17">
                  <c:v>730</c:v>
                </c:pt>
                <c:pt idx="18">
                  <c:v>755</c:v>
                </c:pt>
                <c:pt idx="19">
                  <c:v>780</c:v>
                </c:pt>
                <c:pt idx="20">
                  <c:v>722</c:v>
                </c:pt>
                <c:pt idx="21">
                  <c:v>751</c:v>
                </c:pt>
                <c:pt idx="22">
                  <c:v>727</c:v>
                </c:pt>
                <c:pt idx="23">
                  <c:v>680</c:v>
                </c:pt>
                <c:pt idx="24">
                  <c:v>747</c:v>
                </c:pt>
                <c:pt idx="25">
                  <c:v>729</c:v>
                </c:pt>
                <c:pt idx="26">
                  <c:v>909</c:v>
                </c:pt>
              </c:numCache>
            </c:numRef>
          </c:yVal>
          <c:smooth val="0"/>
        </c:ser>
        <c:ser>
          <c:idx val="1"/>
          <c:order val="1"/>
          <c:tx>
            <c:v>One-step prediction</c:v>
          </c:tx>
          <c:spPr>
            <a:ln xmlns:a="http://schemas.openxmlformats.org/drawingml/2006/main" w="22860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Data'!$D$2:$D$28</c:f>
              <c:numCache>
                <c:formatCode>#,##0</c:formatCode>
                <c:ptCount val="27"/>
                <c:pt idx="0">
                  <c:v>748.810485914</c:v>
                </c:pt>
                <c:pt idx="1">
                  <c:v>739.861478776</c:v>
                </c:pt>
                <c:pt idx="2">
                  <c:v>897.332807621</c:v>
                </c:pt>
                <c:pt idx="3">
                  <c:v>695.091076009</c:v>
                </c:pt>
                <c:pt idx="4">
                  <c:v>747.238004918</c:v>
                </c:pt>
                <c:pt idx="5">
                  <c:v>741.533572433</c:v>
                </c:pt>
                <c:pt idx="6">
                  <c:v>731.852852103</c:v>
                </c:pt>
                <c:pt idx="7">
                  <c:v>751.376177938</c:v>
                </c:pt>
                <c:pt idx="8">
                  <c:v>779.400945726</c:v>
                </c:pt>
                <c:pt idx="9">
                  <c:v>777.064481169</c:v>
                </c:pt>
                <c:pt idx="10">
                  <c:v>791.44640769</c:v>
                </c:pt>
                <c:pt idx="11">
                  <c:v>784.059971132</c:v>
                </c:pt>
                <c:pt idx="12">
                  <c:v>753.881679044</c:v>
                </c:pt>
                <c:pt idx="13">
                  <c:v>754.460418148</c:v>
                </c:pt>
                <c:pt idx="14">
                  <c:v>913.13754367</c:v>
                </c:pt>
                <c:pt idx="15">
                  <c:v>698.649164852</c:v>
                </c:pt>
                <c:pt idx="16">
                  <c:v>737.530771206</c:v>
                </c:pt>
                <c:pt idx="17">
                  <c:v>705.971707352</c:v>
                </c:pt>
                <c:pt idx="18">
                  <c:v>688.550934633</c:v>
                </c:pt>
                <c:pt idx="19">
                  <c:v>699.436018426</c:v>
                </c:pt>
                <c:pt idx="20">
                  <c:v>736.806084945</c:v>
                </c:pt>
                <c:pt idx="21">
                  <c:v>739.130720248</c:v>
                </c:pt>
                <c:pt idx="22">
                  <c:v>753.580528228</c:v>
                </c:pt>
                <c:pt idx="23">
                  <c:v>728.587024845</c:v>
                </c:pt>
                <c:pt idx="24">
                  <c:v>705.120917827</c:v>
                </c:pt>
                <c:pt idx="25">
                  <c:v>708.838360238</c:v>
                </c:pt>
                <c:pt idx="26">
                  <c:v>858.38950008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200"/>
          <c:min val="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midCat"/>
        <c:majorUnit val="200"/>
      </c:valAx>
      <c:valAx>
        <c:axId val="48650112"/>
        <c:scaling>
          <c:orientation val="minMax"/>
          <c:max val="46023"/>
          <c:min val="45200"/>
        </c:scaling>
        <c:delete val="0"/>
        <c:axPos val="b"/>
        <c:numFmt formatCode="yyyy\-mm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crossBetween val="midCat"/>
        <c:majorUnit val="18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52F38"/>
                </a:solidFill>
                <a:latin typeface="Arial"/>
                <a:ea typeface="Arial"/>
                <a:cs typeface="Arial"/>
              </a:rPr>
              <a:t>Autoregressive coefficients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scatterChart>
        <c:scatterStyle val="lineMarker"/>
        <c:varyColors val="0"/>
        <c:ser>
          <c:idx val="0"/>
          <c:order val="0"/>
          <c:tx>
            <c:v>y(t−1)</c:v>
          </c:tx>
          <c:spPr>
            <a:ln xmlns:a="http://schemas.openxmlformats.org/drawingml/2006/main"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Data'!$A$2:$A$119</c:f>
              <c:numCache>
                <c:formatCode>General</c:formatCode>
                <c:ptCount val="118"/>
                <c:pt idx="0">
                  <c:v>2016.166666667</c:v>
                </c:pt>
                <c:pt idx="1">
                  <c:v>2016.25</c:v>
                </c:pt>
                <c:pt idx="2">
                  <c:v>2016.333333333</c:v>
                </c:pt>
                <c:pt idx="3">
                  <c:v>2016.416666667</c:v>
                </c:pt>
                <c:pt idx="4">
                  <c:v>2016.5</c:v>
                </c:pt>
                <c:pt idx="5">
                  <c:v>2016.583333333</c:v>
                </c:pt>
                <c:pt idx="6">
                  <c:v>2016.666666667</c:v>
                </c:pt>
                <c:pt idx="7">
                  <c:v>2016.75</c:v>
                </c:pt>
                <c:pt idx="8">
                  <c:v>2016.833333333</c:v>
                </c:pt>
                <c:pt idx="9">
                  <c:v>2016.916666667</c:v>
                </c:pt>
                <c:pt idx="10">
                  <c:v>2017</c:v>
                </c:pt>
                <c:pt idx="11">
                  <c:v>2017.083333333</c:v>
                </c:pt>
                <c:pt idx="12">
                  <c:v>2017.166666667</c:v>
                </c:pt>
                <c:pt idx="13">
                  <c:v>2017.25</c:v>
                </c:pt>
                <c:pt idx="14">
                  <c:v>2017.333333333</c:v>
                </c:pt>
                <c:pt idx="15">
                  <c:v>2017.416666667</c:v>
                </c:pt>
                <c:pt idx="16">
                  <c:v>2017.5</c:v>
                </c:pt>
                <c:pt idx="17">
                  <c:v>2017.583333333</c:v>
                </c:pt>
                <c:pt idx="18">
                  <c:v>2017.666666667</c:v>
                </c:pt>
                <c:pt idx="19">
                  <c:v>2017.75</c:v>
                </c:pt>
                <c:pt idx="20">
                  <c:v>2017.833333333</c:v>
                </c:pt>
                <c:pt idx="21">
                  <c:v>2017.916666667</c:v>
                </c:pt>
                <c:pt idx="22">
                  <c:v>2018</c:v>
                </c:pt>
                <c:pt idx="23">
                  <c:v>2018.083333333</c:v>
                </c:pt>
                <c:pt idx="24">
                  <c:v>2018.166666667</c:v>
                </c:pt>
                <c:pt idx="25">
                  <c:v>2018.25</c:v>
                </c:pt>
                <c:pt idx="26">
                  <c:v>2018.333333333</c:v>
                </c:pt>
                <c:pt idx="27">
                  <c:v>2018.416666667</c:v>
                </c:pt>
                <c:pt idx="28">
                  <c:v>2018.5</c:v>
                </c:pt>
                <c:pt idx="29">
                  <c:v>2018.583333333</c:v>
                </c:pt>
                <c:pt idx="30">
                  <c:v>2018.666666667</c:v>
                </c:pt>
                <c:pt idx="31">
                  <c:v>2018.75</c:v>
                </c:pt>
                <c:pt idx="32">
                  <c:v>2018.833333333</c:v>
                </c:pt>
                <c:pt idx="33">
                  <c:v>2018.916666667</c:v>
                </c:pt>
                <c:pt idx="34">
                  <c:v>2019</c:v>
                </c:pt>
                <c:pt idx="35">
                  <c:v>2019.083333333</c:v>
                </c:pt>
                <c:pt idx="36">
                  <c:v>2019.166666667</c:v>
                </c:pt>
                <c:pt idx="37">
                  <c:v>2019.25</c:v>
                </c:pt>
                <c:pt idx="38">
                  <c:v>2019.333333333</c:v>
                </c:pt>
                <c:pt idx="39">
                  <c:v>2019.416666667</c:v>
                </c:pt>
                <c:pt idx="40">
                  <c:v>2019.5</c:v>
                </c:pt>
                <c:pt idx="41">
                  <c:v>2019.583333333</c:v>
                </c:pt>
                <c:pt idx="42">
                  <c:v>2019.666666667</c:v>
                </c:pt>
                <c:pt idx="43">
                  <c:v>2019.75</c:v>
                </c:pt>
                <c:pt idx="44">
                  <c:v>2019.833333333</c:v>
                </c:pt>
                <c:pt idx="45">
                  <c:v>2019.916666667</c:v>
                </c:pt>
                <c:pt idx="46">
                  <c:v>2020</c:v>
                </c:pt>
                <c:pt idx="47">
                  <c:v>2020.083333333</c:v>
                </c:pt>
                <c:pt idx="48">
                  <c:v>2020.166666667</c:v>
                </c:pt>
                <c:pt idx="49">
                  <c:v>2020.25</c:v>
                </c:pt>
                <c:pt idx="50">
                  <c:v>2020.333333333</c:v>
                </c:pt>
                <c:pt idx="51">
                  <c:v>2020.416666667</c:v>
                </c:pt>
                <c:pt idx="52">
                  <c:v>2020.5</c:v>
                </c:pt>
                <c:pt idx="53">
                  <c:v>2020.583333333</c:v>
                </c:pt>
                <c:pt idx="54">
                  <c:v>2020.666666667</c:v>
                </c:pt>
                <c:pt idx="55">
                  <c:v>2020.75</c:v>
                </c:pt>
                <c:pt idx="56">
                  <c:v>2020.833333333</c:v>
                </c:pt>
                <c:pt idx="57">
                  <c:v>2020.916666667</c:v>
                </c:pt>
                <c:pt idx="58">
                  <c:v>2021</c:v>
                </c:pt>
                <c:pt idx="59">
                  <c:v>2021.083333333</c:v>
                </c:pt>
                <c:pt idx="60">
                  <c:v>2021.166666667</c:v>
                </c:pt>
                <c:pt idx="61">
                  <c:v>2021.25</c:v>
                </c:pt>
                <c:pt idx="62">
                  <c:v>2021.333333333</c:v>
                </c:pt>
                <c:pt idx="63">
                  <c:v>2021.416666667</c:v>
                </c:pt>
                <c:pt idx="64">
                  <c:v>2021.5</c:v>
                </c:pt>
                <c:pt idx="65">
                  <c:v>2021.583333333</c:v>
                </c:pt>
                <c:pt idx="66">
                  <c:v>2021.666666667</c:v>
                </c:pt>
                <c:pt idx="67">
                  <c:v>2021.75</c:v>
                </c:pt>
                <c:pt idx="68">
                  <c:v>2021.833333333</c:v>
                </c:pt>
                <c:pt idx="69">
                  <c:v>2021.916666667</c:v>
                </c:pt>
                <c:pt idx="70">
                  <c:v>2022</c:v>
                </c:pt>
                <c:pt idx="71">
                  <c:v>2022.083333333</c:v>
                </c:pt>
                <c:pt idx="72">
                  <c:v>2022.166666667</c:v>
                </c:pt>
                <c:pt idx="73">
                  <c:v>2022.25</c:v>
                </c:pt>
                <c:pt idx="74">
                  <c:v>2022.333333333</c:v>
                </c:pt>
                <c:pt idx="75">
                  <c:v>2022.416666667</c:v>
                </c:pt>
                <c:pt idx="76">
                  <c:v>2022.5</c:v>
                </c:pt>
                <c:pt idx="77">
                  <c:v>2022.583333333</c:v>
                </c:pt>
                <c:pt idx="78">
                  <c:v>2022.666666667</c:v>
                </c:pt>
                <c:pt idx="79">
                  <c:v>2022.75</c:v>
                </c:pt>
                <c:pt idx="80">
                  <c:v>2022.833333333</c:v>
                </c:pt>
                <c:pt idx="81">
                  <c:v>2022.916666667</c:v>
                </c:pt>
                <c:pt idx="82">
                  <c:v>2023</c:v>
                </c:pt>
                <c:pt idx="83">
                  <c:v>2023.083333333</c:v>
                </c:pt>
                <c:pt idx="84">
                  <c:v>2023.166666667</c:v>
                </c:pt>
                <c:pt idx="85">
                  <c:v>2023.25</c:v>
                </c:pt>
                <c:pt idx="86">
                  <c:v>2023.333333333</c:v>
                </c:pt>
                <c:pt idx="87">
                  <c:v>2023.416666667</c:v>
                </c:pt>
                <c:pt idx="88">
                  <c:v>2023.5</c:v>
                </c:pt>
                <c:pt idx="89">
                  <c:v>2023.583333333</c:v>
                </c:pt>
                <c:pt idx="90">
                  <c:v>2023.666666667</c:v>
                </c:pt>
                <c:pt idx="91">
                  <c:v>2023.75</c:v>
                </c:pt>
                <c:pt idx="92">
                  <c:v>2023.833333333</c:v>
                </c:pt>
                <c:pt idx="93">
                  <c:v>2023.916666667</c:v>
                </c:pt>
                <c:pt idx="94">
                  <c:v>2024</c:v>
                </c:pt>
                <c:pt idx="95">
                  <c:v>2024.083333333</c:v>
                </c:pt>
                <c:pt idx="96">
                  <c:v>2024.166666667</c:v>
                </c:pt>
                <c:pt idx="97">
                  <c:v>2024.25</c:v>
                </c:pt>
                <c:pt idx="98">
                  <c:v>2024.333333333</c:v>
                </c:pt>
                <c:pt idx="99">
                  <c:v>2024.416666667</c:v>
                </c:pt>
                <c:pt idx="100">
                  <c:v>2024.5</c:v>
                </c:pt>
                <c:pt idx="101">
                  <c:v>2024.583333333</c:v>
                </c:pt>
                <c:pt idx="102">
                  <c:v>2024.666666667</c:v>
                </c:pt>
                <c:pt idx="103">
                  <c:v>2024.75</c:v>
                </c:pt>
                <c:pt idx="104">
                  <c:v>2024.833333333</c:v>
                </c:pt>
                <c:pt idx="105">
                  <c:v>2024.916666667</c:v>
                </c:pt>
                <c:pt idx="106">
                  <c:v>2025</c:v>
                </c:pt>
                <c:pt idx="107">
                  <c:v>2025.083333333</c:v>
                </c:pt>
                <c:pt idx="108">
                  <c:v>2025.166666667</c:v>
                </c:pt>
                <c:pt idx="109">
                  <c:v>2025.25</c:v>
                </c:pt>
                <c:pt idx="110">
                  <c:v>2025.333333333</c:v>
                </c:pt>
                <c:pt idx="111">
                  <c:v>2025.416666667</c:v>
                </c:pt>
                <c:pt idx="112">
                  <c:v>2025.5</c:v>
                </c:pt>
                <c:pt idx="113">
                  <c:v>2025.583333333</c:v>
                </c:pt>
                <c:pt idx="114">
                  <c:v>2025.666666667</c:v>
                </c:pt>
                <c:pt idx="115">
                  <c:v>2025.75</c:v>
                </c:pt>
                <c:pt idx="116">
                  <c:v>2025.833333333</c:v>
                </c:pt>
                <c:pt idx="117">
                  <c:v>2025.916666667</c:v>
                </c:pt>
              </c:numCache>
            </c:numRef>
          </c:xVal>
          <c:yVal>
            <c:numRef>
              <c:f>'Chart Data'!$B$2:$B$119</c:f>
              <c:numCache>
                <c:formatCode>0.0</c:formatCode>
                <c:ptCount val="118"/>
                <c:pt idx="0">
                  <c:v>-0.481299662</c:v>
                </c:pt>
                <c:pt idx="1">
                  <c:v>-0.539248117</c:v>
                </c:pt>
                <c:pt idx="2">
                  <c:v>-0.513113856</c:v>
                </c:pt>
                <c:pt idx="3">
                  <c:v>-0.483485709</c:v>
                </c:pt>
                <c:pt idx="4">
                  <c:v>-0.487970707</c:v>
                </c:pt>
                <c:pt idx="5">
                  <c:v>-0.508735279</c:v>
                </c:pt>
                <c:pt idx="6">
                  <c:v>-0.511944628</c:v>
                </c:pt>
                <c:pt idx="7">
                  <c:v>-0.512258063</c:v>
                </c:pt>
                <c:pt idx="8">
                  <c:v>-0.526852677</c:v>
                </c:pt>
                <c:pt idx="9">
                  <c:v>-0.538651474</c:v>
                </c:pt>
                <c:pt idx="10">
                  <c:v>-0.543310169</c:v>
                </c:pt>
                <c:pt idx="11">
                  <c:v>-0.543079526</c:v>
                </c:pt>
                <c:pt idx="12">
                  <c:v>-0.549747761</c:v>
                </c:pt>
                <c:pt idx="13">
                  <c:v>-0.563362988</c:v>
                </c:pt>
                <c:pt idx="14">
                  <c:v>-0.573156978</c:v>
                </c:pt>
                <c:pt idx="15">
                  <c:v>-0.567731134</c:v>
                </c:pt>
                <c:pt idx="16">
                  <c:v>-0.571168045</c:v>
                </c:pt>
                <c:pt idx="17">
                  <c:v>-0.574228114</c:v>
                </c:pt>
                <c:pt idx="18">
                  <c:v>-0.577256463</c:v>
                </c:pt>
                <c:pt idx="19">
                  <c:v>-0.575218839</c:v>
                </c:pt>
                <c:pt idx="20">
                  <c:v>-0.589379703</c:v>
                </c:pt>
                <c:pt idx="21">
                  <c:v>-0.564287265</c:v>
                </c:pt>
                <c:pt idx="22">
                  <c:v>-0.594409051</c:v>
                </c:pt>
                <c:pt idx="23">
                  <c:v>-0.609496448</c:v>
                </c:pt>
                <c:pt idx="24">
                  <c:v>-0.62360885</c:v>
                </c:pt>
                <c:pt idx="25">
                  <c:v>-0.623471252</c:v>
                </c:pt>
                <c:pt idx="26">
                  <c:v>-0.64036368</c:v>
                </c:pt>
                <c:pt idx="27">
                  <c:v>-0.633874124</c:v>
                </c:pt>
                <c:pt idx="28">
                  <c:v>-0.635547074</c:v>
                </c:pt>
                <c:pt idx="29">
                  <c:v>-0.637394965</c:v>
                </c:pt>
                <c:pt idx="30">
                  <c:v>-0.625697471</c:v>
                </c:pt>
                <c:pt idx="31">
                  <c:v>-0.645054767</c:v>
                </c:pt>
                <c:pt idx="32">
                  <c:v>-0.667567203</c:v>
                </c:pt>
                <c:pt idx="33">
                  <c:v>-0.678996899</c:v>
                </c:pt>
                <c:pt idx="34">
                  <c:v>-0.684064514</c:v>
                </c:pt>
                <c:pt idx="35">
                  <c:v>-0.691725199</c:v>
                </c:pt>
                <c:pt idx="36">
                  <c:v>-0.739968849</c:v>
                </c:pt>
                <c:pt idx="37">
                  <c:v>-0.707196138</c:v>
                </c:pt>
                <c:pt idx="38">
                  <c:v>-0.742227259</c:v>
                </c:pt>
                <c:pt idx="39">
                  <c:v>-0.743497316</c:v>
                </c:pt>
                <c:pt idx="40">
                  <c:v>-0.741445096</c:v>
                </c:pt>
                <c:pt idx="41">
                  <c:v>-0.739730045</c:v>
                </c:pt>
                <c:pt idx="42">
                  <c:v>-0.773922537</c:v>
                </c:pt>
                <c:pt idx="43">
                  <c:v>-0.807247753</c:v>
                </c:pt>
                <c:pt idx="44">
                  <c:v>-0.817441971</c:v>
                </c:pt>
                <c:pt idx="45">
                  <c:v>-0.776329538</c:v>
                </c:pt>
                <c:pt idx="46">
                  <c:v>-0.746914706</c:v>
                </c:pt>
                <c:pt idx="47">
                  <c:v>-0.794744151</c:v>
                </c:pt>
                <c:pt idx="48">
                  <c:v>-0.860191209</c:v>
                </c:pt>
                <c:pt idx="49">
                  <c:v>-0.860480591</c:v>
                </c:pt>
                <c:pt idx="50">
                  <c:v>-0.845646008</c:v>
                </c:pt>
                <c:pt idx="51">
                  <c:v>-0.854926397</c:v>
                </c:pt>
                <c:pt idx="52">
                  <c:v>-0.859946633</c:v>
                </c:pt>
                <c:pt idx="53">
                  <c:v>-0.859741946</c:v>
                </c:pt>
                <c:pt idx="54">
                  <c:v>-0.863144369</c:v>
                </c:pt>
                <c:pt idx="55">
                  <c:v>-0.861327704</c:v>
                </c:pt>
                <c:pt idx="56">
                  <c:v>-0.861959281</c:v>
                </c:pt>
                <c:pt idx="57">
                  <c:v>-0.849121036</c:v>
                </c:pt>
                <c:pt idx="58">
                  <c:v>-0.834854597</c:v>
                </c:pt>
                <c:pt idx="59">
                  <c:v>-0.873685969</c:v>
                </c:pt>
                <c:pt idx="60">
                  <c:v>-0.829707793</c:v>
                </c:pt>
                <c:pt idx="61">
                  <c:v>-0.842906515</c:v>
                </c:pt>
                <c:pt idx="62">
                  <c:v>-0.828169253</c:v>
                </c:pt>
                <c:pt idx="63">
                  <c:v>-0.826871187</c:v>
                </c:pt>
                <c:pt idx="64">
                  <c:v>-0.820922841</c:v>
                </c:pt>
                <c:pt idx="65">
                  <c:v>-0.814205778</c:v>
                </c:pt>
                <c:pt idx="66">
                  <c:v>-0.808524312</c:v>
                </c:pt>
                <c:pt idx="67">
                  <c:v>-0.812686004</c:v>
                </c:pt>
                <c:pt idx="68">
                  <c:v>-0.797661263</c:v>
                </c:pt>
                <c:pt idx="69">
                  <c:v>-0.805534867</c:v>
                </c:pt>
                <c:pt idx="70">
                  <c:v>-0.809097834</c:v>
                </c:pt>
                <c:pt idx="71">
                  <c:v>-0.828809047</c:v>
                </c:pt>
                <c:pt idx="72">
                  <c:v>-0.824334039</c:v>
                </c:pt>
                <c:pt idx="73">
                  <c:v>-0.809716</c:v>
                </c:pt>
                <c:pt idx="74">
                  <c:v>-0.794894434</c:v>
                </c:pt>
                <c:pt idx="75">
                  <c:v>-0.800990683</c:v>
                </c:pt>
                <c:pt idx="76">
                  <c:v>-0.79745225</c:v>
                </c:pt>
                <c:pt idx="77">
                  <c:v>-0.78188669</c:v>
                </c:pt>
                <c:pt idx="78">
                  <c:v>-0.765491679</c:v>
                </c:pt>
                <c:pt idx="79">
                  <c:v>-0.765177331</c:v>
                </c:pt>
                <c:pt idx="80">
                  <c:v>-0.763048716</c:v>
                </c:pt>
                <c:pt idx="81">
                  <c:v>-0.761447171</c:v>
                </c:pt>
                <c:pt idx="82">
                  <c:v>-0.757243301</c:v>
                </c:pt>
                <c:pt idx="83">
                  <c:v>-0.746134792</c:v>
                </c:pt>
                <c:pt idx="84">
                  <c:v>-0.72781801</c:v>
                </c:pt>
                <c:pt idx="85">
                  <c:v>-0.723019333</c:v>
                </c:pt>
                <c:pt idx="86">
                  <c:v>-0.721861736</c:v>
                </c:pt>
                <c:pt idx="87">
                  <c:v>-0.727763857</c:v>
                </c:pt>
                <c:pt idx="88">
                  <c:v>-0.728563507</c:v>
                </c:pt>
                <c:pt idx="89">
                  <c:v>-0.728139492</c:v>
                </c:pt>
                <c:pt idx="90">
                  <c:v>-0.724114071</c:v>
                </c:pt>
                <c:pt idx="91">
                  <c:v>-0.725866538</c:v>
                </c:pt>
                <c:pt idx="92">
                  <c:v>-0.726416958</c:v>
                </c:pt>
                <c:pt idx="93">
                  <c:v>-0.728102047</c:v>
                </c:pt>
                <c:pt idx="94">
                  <c:v>-0.729713545</c:v>
                </c:pt>
                <c:pt idx="95">
                  <c:v>-0.747477334</c:v>
                </c:pt>
                <c:pt idx="96">
                  <c:v>-0.747446242</c:v>
                </c:pt>
                <c:pt idx="97">
                  <c:v>-0.746837374</c:v>
                </c:pt>
                <c:pt idx="98">
                  <c:v>-0.75749515</c:v>
                </c:pt>
                <c:pt idx="99">
                  <c:v>-0.764226571</c:v>
                </c:pt>
                <c:pt idx="100">
                  <c:v>-0.761683551</c:v>
                </c:pt>
                <c:pt idx="101">
                  <c:v>-0.752660475</c:v>
                </c:pt>
                <c:pt idx="102">
                  <c:v>-0.687293599</c:v>
                </c:pt>
                <c:pt idx="103">
                  <c:v>-0.634032233</c:v>
                </c:pt>
                <c:pt idx="104">
                  <c:v>-0.59675415</c:v>
                </c:pt>
                <c:pt idx="105">
                  <c:v>-0.590850477</c:v>
                </c:pt>
                <c:pt idx="106">
                  <c:v>-0.582235822</c:v>
                </c:pt>
                <c:pt idx="107">
                  <c:v>-0.435533907</c:v>
                </c:pt>
                <c:pt idx="108">
                  <c:v>-0.389196261</c:v>
                </c:pt>
                <c:pt idx="109">
                  <c:v>-0.365350216</c:v>
                </c:pt>
                <c:pt idx="110">
                  <c:v>-0.249214665</c:v>
                </c:pt>
                <c:pt idx="111">
                  <c:v>-0.195165699</c:v>
                </c:pt>
                <c:pt idx="112">
                  <c:v>-0.211181495</c:v>
                </c:pt>
                <c:pt idx="113">
                  <c:v>-0.198571497</c:v>
                </c:pt>
                <c:pt idx="114">
                  <c:v>-0.194534696</c:v>
                </c:pt>
                <c:pt idx="115">
                  <c:v>-0.212590753</c:v>
                </c:pt>
                <c:pt idx="116">
                  <c:v>-0.219948324</c:v>
                </c:pt>
                <c:pt idx="117">
                  <c:v>-0.226359815</c:v>
                </c:pt>
              </c:numCache>
            </c:numRef>
          </c:yVal>
          <c:smooth val="0"/>
        </c:ser>
        <c:ser>
          <c:idx val="1"/>
          <c:order val="1"/>
          <c:tx>
            <c:v>y(t−2)</c:v>
          </c:tx>
          <c:spPr>
            <a:ln xmlns:a="http://schemas.openxmlformats.org/drawingml/2006/main" w="22860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Data'!$C$2:$C$119</c:f>
              <c:numCache>
                <c:formatCode>General</c:formatCode>
                <c:ptCount val="118"/>
                <c:pt idx="0">
                  <c:v>2016.166666667</c:v>
                </c:pt>
                <c:pt idx="1">
                  <c:v>2016.25</c:v>
                </c:pt>
                <c:pt idx="2">
                  <c:v>2016.333333333</c:v>
                </c:pt>
                <c:pt idx="3">
                  <c:v>2016.416666667</c:v>
                </c:pt>
                <c:pt idx="4">
                  <c:v>2016.5</c:v>
                </c:pt>
                <c:pt idx="5">
                  <c:v>2016.583333333</c:v>
                </c:pt>
                <c:pt idx="6">
                  <c:v>2016.666666667</c:v>
                </c:pt>
                <c:pt idx="7">
                  <c:v>2016.75</c:v>
                </c:pt>
                <c:pt idx="8">
                  <c:v>2016.833333333</c:v>
                </c:pt>
                <c:pt idx="9">
                  <c:v>2016.916666667</c:v>
                </c:pt>
                <c:pt idx="10">
                  <c:v>2017</c:v>
                </c:pt>
                <c:pt idx="11">
                  <c:v>2017.083333333</c:v>
                </c:pt>
                <c:pt idx="12">
                  <c:v>2017.166666667</c:v>
                </c:pt>
                <c:pt idx="13">
                  <c:v>2017.25</c:v>
                </c:pt>
                <c:pt idx="14">
                  <c:v>2017.333333333</c:v>
                </c:pt>
                <c:pt idx="15">
                  <c:v>2017.416666667</c:v>
                </c:pt>
                <c:pt idx="16">
                  <c:v>2017.5</c:v>
                </c:pt>
                <c:pt idx="17">
                  <c:v>2017.583333333</c:v>
                </c:pt>
                <c:pt idx="18">
                  <c:v>2017.666666667</c:v>
                </c:pt>
                <c:pt idx="19">
                  <c:v>2017.75</c:v>
                </c:pt>
                <c:pt idx="20">
                  <c:v>2017.833333333</c:v>
                </c:pt>
                <c:pt idx="21">
                  <c:v>2017.916666667</c:v>
                </c:pt>
                <c:pt idx="22">
                  <c:v>2018</c:v>
                </c:pt>
                <c:pt idx="23">
                  <c:v>2018.083333333</c:v>
                </c:pt>
                <c:pt idx="24">
                  <c:v>2018.166666667</c:v>
                </c:pt>
                <c:pt idx="25">
                  <c:v>2018.25</c:v>
                </c:pt>
                <c:pt idx="26">
                  <c:v>2018.333333333</c:v>
                </c:pt>
                <c:pt idx="27">
                  <c:v>2018.416666667</c:v>
                </c:pt>
                <c:pt idx="28">
                  <c:v>2018.5</c:v>
                </c:pt>
                <c:pt idx="29">
                  <c:v>2018.583333333</c:v>
                </c:pt>
                <c:pt idx="30">
                  <c:v>2018.666666667</c:v>
                </c:pt>
                <c:pt idx="31">
                  <c:v>2018.75</c:v>
                </c:pt>
                <c:pt idx="32">
                  <c:v>2018.833333333</c:v>
                </c:pt>
                <c:pt idx="33">
                  <c:v>2018.916666667</c:v>
                </c:pt>
                <c:pt idx="34">
                  <c:v>2019</c:v>
                </c:pt>
                <c:pt idx="35">
                  <c:v>2019.083333333</c:v>
                </c:pt>
                <c:pt idx="36">
                  <c:v>2019.166666667</c:v>
                </c:pt>
                <c:pt idx="37">
                  <c:v>2019.25</c:v>
                </c:pt>
                <c:pt idx="38">
                  <c:v>2019.333333333</c:v>
                </c:pt>
                <c:pt idx="39">
                  <c:v>2019.416666667</c:v>
                </c:pt>
                <c:pt idx="40">
                  <c:v>2019.5</c:v>
                </c:pt>
                <c:pt idx="41">
                  <c:v>2019.583333333</c:v>
                </c:pt>
                <c:pt idx="42">
                  <c:v>2019.666666667</c:v>
                </c:pt>
                <c:pt idx="43">
                  <c:v>2019.75</c:v>
                </c:pt>
                <c:pt idx="44">
                  <c:v>2019.833333333</c:v>
                </c:pt>
                <c:pt idx="45">
                  <c:v>2019.916666667</c:v>
                </c:pt>
                <c:pt idx="46">
                  <c:v>2020</c:v>
                </c:pt>
                <c:pt idx="47">
                  <c:v>2020.083333333</c:v>
                </c:pt>
                <c:pt idx="48">
                  <c:v>2020.166666667</c:v>
                </c:pt>
                <c:pt idx="49">
                  <c:v>2020.25</c:v>
                </c:pt>
                <c:pt idx="50">
                  <c:v>2020.333333333</c:v>
                </c:pt>
                <c:pt idx="51">
                  <c:v>2020.416666667</c:v>
                </c:pt>
                <c:pt idx="52">
                  <c:v>2020.5</c:v>
                </c:pt>
                <c:pt idx="53">
                  <c:v>2020.583333333</c:v>
                </c:pt>
                <c:pt idx="54">
                  <c:v>2020.666666667</c:v>
                </c:pt>
                <c:pt idx="55">
                  <c:v>2020.75</c:v>
                </c:pt>
                <c:pt idx="56">
                  <c:v>2020.833333333</c:v>
                </c:pt>
                <c:pt idx="57">
                  <c:v>2020.916666667</c:v>
                </c:pt>
                <c:pt idx="58">
                  <c:v>2021</c:v>
                </c:pt>
                <c:pt idx="59">
                  <c:v>2021.083333333</c:v>
                </c:pt>
                <c:pt idx="60">
                  <c:v>2021.166666667</c:v>
                </c:pt>
                <c:pt idx="61">
                  <c:v>2021.25</c:v>
                </c:pt>
                <c:pt idx="62">
                  <c:v>2021.333333333</c:v>
                </c:pt>
                <c:pt idx="63">
                  <c:v>2021.416666667</c:v>
                </c:pt>
                <c:pt idx="64">
                  <c:v>2021.5</c:v>
                </c:pt>
                <c:pt idx="65">
                  <c:v>2021.583333333</c:v>
                </c:pt>
                <c:pt idx="66">
                  <c:v>2021.666666667</c:v>
                </c:pt>
                <c:pt idx="67">
                  <c:v>2021.75</c:v>
                </c:pt>
                <c:pt idx="68">
                  <c:v>2021.833333333</c:v>
                </c:pt>
                <c:pt idx="69">
                  <c:v>2021.916666667</c:v>
                </c:pt>
                <c:pt idx="70">
                  <c:v>2022</c:v>
                </c:pt>
                <c:pt idx="71">
                  <c:v>2022.083333333</c:v>
                </c:pt>
                <c:pt idx="72">
                  <c:v>2022.166666667</c:v>
                </c:pt>
                <c:pt idx="73">
                  <c:v>2022.25</c:v>
                </c:pt>
                <c:pt idx="74">
                  <c:v>2022.333333333</c:v>
                </c:pt>
                <c:pt idx="75">
                  <c:v>2022.416666667</c:v>
                </c:pt>
                <c:pt idx="76">
                  <c:v>2022.5</c:v>
                </c:pt>
                <c:pt idx="77">
                  <c:v>2022.583333333</c:v>
                </c:pt>
                <c:pt idx="78">
                  <c:v>2022.666666667</c:v>
                </c:pt>
                <c:pt idx="79">
                  <c:v>2022.75</c:v>
                </c:pt>
                <c:pt idx="80">
                  <c:v>2022.833333333</c:v>
                </c:pt>
                <c:pt idx="81">
                  <c:v>2022.916666667</c:v>
                </c:pt>
                <c:pt idx="82">
                  <c:v>2023</c:v>
                </c:pt>
                <c:pt idx="83">
                  <c:v>2023.083333333</c:v>
                </c:pt>
                <c:pt idx="84">
                  <c:v>2023.166666667</c:v>
                </c:pt>
                <c:pt idx="85">
                  <c:v>2023.25</c:v>
                </c:pt>
                <c:pt idx="86">
                  <c:v>2023.333333333</c:v>
                </c:pt>
                <c:pt idx="87">
                  <c:v>2023.416666667</c:v>
                </c:pt>
                <c:pt idx="88">
                  <c:v>2023.5</c:v>
                </c:pt>
                <c:pt idx="89">
                  <c:v>2023.583333333</c:v>
                </c:pt>
                <c:pt idx="90">
                  <c:v>2023.666666667</c:v>
                </c:pt>
                <c:pt idx="91">
                  <c:v>2023.75</c:v>
                </c:pt>
                <c:pt idx="92">
                  <c:v>2023.833333333</c:v>
                </c:pt>
                <c:pt idx="93">
                  <c:v>2023.916666667</c:v>
                </c:pt>
                <c:pt idx="94">
                  <c:v>2024</c:v>
                </c:pt>
                <c:pt idx="95">
                  <c:v>2024.083333333</c:v>
                </c:pt>
                <c:pt idx="96">
                  <c:v>2024.166666667</c:v>
                </c:pt>
                <c:pt idx="97">
                  <c:v>2024.25</c:v>
                </c:pt>
                <c:pt idx="98">
                  <c:v>2024.333333333</c:v>
                </c:pt>
                <c:pt idx="99">
                  <c:v>2024.416666667</c:v>
                </c:pt>
                <c:pt idx="100">
                  <c:v>2024.5</c:v>
                </c:pt>
                <c:pt idx="101">
                  <c:v>2024.583333333</c:v>
                </c:pt>
                <c:pt idx="102">
                  <c:v>2024.666666667</c:v>
                </c:pt>
                <c:pt idx="103">
                  <c:v>2024.75</c:v>
                </c:pt>
                <c:pt idx="104">
                  <c:v>2024.833333333</c:v>
                </c:pt>
                <c:pt idx="105">
                  <c:v>2024.916666667</c:v>
                </c:pt>
                <c:pt idx="106">
                  <c:v>2025</c:v>
                </c:pt>
                <c:pt idx="107">
                  <c:v>2025.083333333</c:v>
                </c:pt>
                <c:pt idx="108">
                  <c:v>2025.166666667</c:v>
                </c:pt>
                <c:pt idx="109">
                  <c:v>2025.25</c:v>
                </c:pt>
                <c:pt idx="110">
                  <c:v>2025.333333333</c:v>
                </c:pt>
                <c:pt idx="111">
                  <c:v>2025.416666667</c:v>
                </c:pt>
                <c:pt idx="112">
                  <c:v>2025.5</c:v>
                </c:pt>
                <c:pt idx="113">
                  <c:v>2025.583333333</c:v>
                </c:pt>
                <c:pt idx="114">
                  <c:v>2025.666666667</c:v>
                </c:pt>
                <c:pt idx="115">
                  <c:v>2025.75</c:v>
                </c:pt>
                <c:pt idx="116">
                  <c:v>2025.833333333</c:v>
                </c:pt>
                <c:pt idx="117">
                  <c:v>2025.916666667</c:v>
                </c:pt>
              </c:numCache>
            </c:numRef>
          </c:xVal>
          <c:yVal>
            <c:numRef>
              <c:f>'Chart Data'!$D$2:$D$119</c:f>
              <c:numCache>
                <c:formatCode>0.0</c:formatCode>
                <c:ptCount val="118"/>
                <c:pt idx="0">
                  <c:v>-0.332297702</c:v>
                </c:pt>
                <c:pt idx="1">
                  <c:v>-0.365838965</c:v>
                </c:pt>
                <c:pt idx="2">
                  <c:v>-0.301977477</c:v>
                </c:pt>
                <c:pt idx="3">
                  <c:v>-0.279977496</c:v>
                </c:pt>
                <c:pt idx="4">
                  <c:v>-0.286170924</c:v>
                </c:pt>
                <c:pt idx="5">
                  <c:v>-0.313026325</c:v>
                </c:pt>
                <c:pt idx="6">
                  <c:v>-0.313133976</c:v>
                </c:pt>
                <c:pt idx="7">
                  <c:v>-0.318014469</c:v>
                </c:pt>
                <c:pt idx="8">
                  <c:v>-0.333215642</c:v>
                </c:pt>
                <c:pt idx="9">
                  <c:v>-0.336619546</c:v>
                </c:pt>
                <c:pt idx="10">
                  <c:v>-0.32538553</c:v>
                </c:pt>
                <c:pt idx="11">
                  <c:v>-0.325879265</c:v>
                </c:pt>
                <c:pt idx="12">
                  <c:v>-0.333525131</c:v>
                </c:pt>
                <c:pt idx="13">
                  <c:v>-0.34041811</c:v>
                </c:pt>
                <c:pt idx="14">
                  <c:v>-0.337514249</c:v>
                </c:pt>
                <c:pt idx="15">
                  <c:v>-0.336070528</c:v>
                </c:pt>
                <c:pt idx="16">
                  <c:v>-0.339688829</c:v>
                </c:pt>
                <c:pt idx="17">
                  <c:v>-0.3421151</c:v>
                </c:pt>
                <c:pt idx="18">
                  <c:v>-0.342689037</c:v>
                </c:pt>
                <c:pt idx="19">
                  <c:v>-0.341731871</c:v>
                </c:pt>
                <c:pt idx="20">
                  <c:v>-0.33944128</c:v>
                </c:pt>
                <c:pt idx="21">
                  <c:v>-0.32159741</c:v>
                </c:pt>
                <c:pt idx="22">
                  <c:v>-0.335648799</c:v>
                </c:pt>
                <c:pt idx="23">
                  <c:v>-0.346795741</c:v>
                </c:pt>
                <c:pt idx="24">
                  <c:v>-0.366229933</c:v>
                </c:pt>
                <c:pt idx="25">
                  <c:v>-0.370547478</c:v>
                </c:pt>
                <c:pt idx="26">
                  <c:v>-0.360807135</c:v>
                </c:pt>
                <c:pt idx="27">
                  <c:v>-0.358602764</c:v>
                </c:pt>
                <c:pt idx="28">
                  <c:v>-0.356074944</c:v>
                </c:pt>
                <c:pt idx="29">
                  <c:v>-0.355044054</c:v>
                </c:pt>
                <c:pt idx="30">
                  <c:v>-0.351577455</c:v>
                </c:pt>
                <c:pt idx="31">
                  <c:v>-0.360213172</c:v>
                </c:pt>
                <c:pt idx="32">
                  <c:v>-0.395913823</c:v>
                </c:pt>
                <c:pt idx="33">
                  <c:v>-0.401829436</c:v>
                </c:pt>
                <c:pt idx="34">
                  <c:v>-0.406607811</c:v>
                </c:pt>
                <c:pt idx="35">
                  <c:v>-0.396795557</c:v>
                </c:pt>
                <c:pt idx="36">
                  <c:v>-0.468725301</c:v>
                </c:pt>
                <c:pt idx="37">
                  <c:v>-0.460831671</c:v>
                </c:pt>
                <c:pt idx="38">
                  <c:v>-0.457931825</c:v>
                </c:pt>
                <c:pt idx="39">
                  <c:v>-0.47080195</c:v>
                </c:pt>
                <c:pt idx="40">
                  <c:v>-0.468221254</c:v>
                </c:pt>
                <c:pt idx="41">
                  <c:v>-0.46836803</c:v>
                </c:pt>
                <c:pt idx="42">
                  <c:v>-0.485056105</c:v>
                </c:pt>
                <c:pt idx="43">
                  <c:v>-0.4795293</c:v>
                </c:pt>
                <c:pt idx="44">
                  <c:v>-0.465850865</c:v>
                </c:pt>
                <c:pt idx="45">
                  <c:v>-0.438888839</c:v>
                </c:pt>
                <c:pt idx="46">
                  <c:v>-0.403660003</c:v>
                </c:pt>
                <c:pt idx="47">
                  <c:v>-0.376287103</c:v>
                </c:pt>
                <c:pt idx="48">
                  <c:v>-0.483217106</c:v>
                </c:pt>
                <c:pt idx="49">
                  <c:v>-0.486614069</c:v>
                </c:pt>
                <c:pt idx="50">
                  <c:v>-0.47244279</c:v>
                </c:pt>
                <c:pt idx="51">
                  <c:v>-0.466363056</c:v>
                </c:pt>
                <c:pt idx="52">
                  <c:v>-0.48414889</c:v>
                </c:pt>
                <c:pt idx="53">
                  <c:v>-0.479243639</c:v>
                </c:pt>
                <c:pt idx="54">
                  <c:v>-0.482040723</c:v>
                </c:pt>
                <c:pt idx="55">
                  <c:v>-0.484839113</c:v>
                </c:pt>
                <c:pt idx="56">
                  <c:v>-0.484087317</c:v>
                </c:pt>
                <c:pt idx="57">
                  <c:v>-0.465013842</c:v>
                </c:pt>
                <c:pt idx="58">
                  <c:v>-0.457306125</c:v>
                </c:pt>
                <c:pt idx="59">
                  <c:v>-0.462398833</c:v>
                </c:pt>
                <c:pt idx="60">
                  <c:v>-0.365669044</c:v>
                </c:pt>
                <c:pt idx="61">
                  <c:v>-0.384871505</c:v>
                </c:pt>
                <c:pt idx="62">
                  <c:v>-0.370665399</c:v>
                </c:pt>
                <c:pt idx="63">
                  <c:v>-0.378552171</c:v>
                </c:pt>
                <c:pt idx="64">
                  <c:v>-0.367127327</c:v>
                </c:pt>
                <c:pt idx="65">
                  <c:v>-0.362022077</c:v>
                </c:pt>
                <c:pt idx="66">
                  <c:v>-0.361618761</c:v>
                </c:pt>
                <c:pt idx="67">
                  <c:v>-0.34805277</c:v>
                </c:pt>
                <c:pt idx="68">
                  <c:v>-0.333268646</c:v>
                </c:pt>
                <c:pt idx="69">
                  <c:v>-0.327837296</c:v>
                </c:pt>
                <c:pt idx="70">
                  <c:v>-0.334236978</c:v>
                </c:pt>
                <c:pt idx="71">
                  <c:v>-0.336797461</c:v>
                </c:pt>
                <c:pt idx="72">
                  <c:v>-0.331459247</c:v>
                </c:pt>
                <c:pt idx="73">
                  <c:v>-0.323535606</c:v>
                </c:pt>
                <c:pt idx="74">
                  <c:v>-0.324893899</c:v>
                </c:pt>
                <c:pt idx="75">
                  <c:v>-0.324267903</c:v>
                </c:pt>
                <c:pt idx="76">
                  <c:v>-0.311766941</c:v>
                </c:pt>
                <c:pt idx="77">
                  <c:v>-0.298952352</c:v>
                </c:pt>
                <c:pt idx="78">
                  <c:v>-0.294477694</c:v>
                </c:pt>
                <c:pt idx="79">
                  <c:v>-0.294868501</c:v>
                </c:pt>
                <c:pt idx="80">
                  <c:v>-0.29558899</c:v>
                </c:pt>
                <c:pt idx="81">
                  <c:v>-0.293573347</c:v>
                </c:pt>
                <c:pt idx="82">
                  <c:v>-0.290145621</c:v>
                </c:pt>
                <c:pt idx="83">
                  <c:v>-0.291901178</c:v>
                </c:pt>
                <c:pt idx="84">
                  <c:v>-0.27387306</c:v>
                </c:pt>
                <c:pt idx="85">
                  <c:v>-0.276743141</c:v>
                </c:pt>
                <c:pt idx="86">
                  <c:v>-0.286518369</c:v>
                </c:pt>
                <c:pt idx="87">
                  <c:v>-0.287430066</c:v>
                </c:pt>
                <c:pt idx="88">
                  <c:v>-0.289514956</c:v>
                </c:pt>
                <c:pt idx="89">
                  <c:v>-0.290529154</c:v>
                </c:pt>
                <c:pt idx="90">
                  <c:v>-0.287891621</c:v>
                </c:pt>
                <c:pt idx="91">
                  <c:v>-0.288733398</c:v>
                </c:pt>
                <c:pt idx="92">
                  <c:v>-0.2967543</c:v>
                </c:pt>
                <c:pt idx="93">
                  <c:v>-0.295527307</c:v>
                </c:pt>
                <c:pt idx="94">
                  <c:v>-0.300839457</c:v>
                </c:pt>
                <c:pt idx="95">
                  <c:v>-0.296322297</c:v>
                </c:pt>
                <c:pt idx="96">
                  <c:v>-0.308854198</c:v>
                </c:pt>
                <c:pt idx="97">
                  <c:v>-0.299465406</c:v>
                </c:pt>
                <c:pt idx="98">
                  <c:v>-0.318302439</c:v>
                </c:pt>
                <c:pt idx="99">
                  <c:v>-0.319860125</c:v>
                </c:pt>
                <c:pt idx="100">
                  <c:v>-0.314184278</c:v>
                </c:pt>
                <c:pt idx="101">
                  <c:v>-0.308577743</c:v>
                </c:pt>
                <c:pt idx="102">
                  <c:v>-0.28348005</c:v>
                </c:pt>
                <c:pt idx="103">
                  <c:v>-0.296607465</c:v>
                </c:pt>
                <c:pt idx="104">
                  <c:v>-0.312268602</c:v>
                </c:pt>
                <c:pt idx="105">
                  <c:v>-0.327782109</c:v>
                </c:pt>
                <c:pt idx="106">
                  <c:v>-0.36935506</c:v>
                </c:pt>
                <c:pt idx="107">
                  <c:v>-0.373155368</c:v>
                </c:pt>
                <c:pt idx="108">
                  <c:v>-0.427745372</c:v>
                </c:pt>
                <c:pt idx="109">
                  <c:v>-0.389551358</c:v>
                </c:pt>
                <c:pt idx="110">
                  <c:v>-0.294112618</c:v>
                </c:pt>
                <c:pt idx="111">
                  <c:v>-0.393576762</c:v>
                </c:pt>
                <c:pt idx="112">
                  <c:v>-0.37998873</c:v>
                </c:pt>
                <c:pt idx="113">
                  <c:v>-0.374908926</c:v>
                </c:pt>
                <c:pt idx="114">
                  <c:v>-0.382603468</c:v>
                </c:pt>
                <c:pt idx="115">
                  <c:v>-0.39264389</c:v>
                </c:pt>
                <c:pt idx="116">
                  <c:v>-0.389728657</c:v>
                </c:pt>
                <c:pt idx="117">
                  <c:v>-0.375888914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Coefficient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 sourceLinked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midCat"/>
        <c:majorUnit val="0.2"/>
      </c:valAx>
      <c:valAx>
        <c:axId val="48650112"/>
        <c:scaling>
          <c:orientation val="minMax"/>
          <c:max val="2026"/>
          <c:min val="2016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crossBetween val="midCat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Retail sales coefficient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title>
    <c:autoTitleDeleted val="0"/>
    <c:plotArea>
      <c:scatterChart>
        <c:scatterStyle val="lineMarker"/>
        <c:varyColors val="0"/>
        <c:ser>
          <c:idx val="0"/>
          <c:order val="0"/>
          <c:tx>
            <c:v>Retail sales MA3</c:v>
          </c:tx>
          <c:spPr>
            <a:ln xmlns:a="http://schemas.openxmlformats.org/drawingml/2006/main" w="22860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Data'!$A$2:$A$119</c:f>
              <c:numCache>
                <c:formatCode>General</c:formatCode>
                <c:ptCount val="118"/>
                <c:pt idx="0">
                  <c:v>2016.166666667</c:v>
                </c:pt>
                <c:pt idx="1">
                  <c:v>2016.25</c:v>
                </c:pt>
                <c:pt idx="2">
                  <c:v>2016.333333333</c:v>
                </c:pt>
                <c:pt idx="3">
                  <c:v>2016.416666667</c:v>
                </c:pt>
                <c:pt idx="4">
                  <c:v>2016.5</c:v>
                </c:pt>
                <c:pt idx="5">
                  <c:v>2016.583333333</c:v>
                </c:pt>
                <c:pt idx="6">
                  <c:v>2016.666666667</c:v>
                </c:pt>
                <c:pt idx="7">
                  <c:v>2016.75</c:v>
                </c:pt>
                <c:pt idx="8">
                  <c:v>2016.833333333</c:v>
                </c:pt>
                <c:pt idx="9">
                  <c:v>2016.916666667</c:v>
                </c:pt>
                <c:pt idx="10">
                  <c:v>2017</c:v>
                </c:pt>
                <c:pt idx="11">
                  <c:v>2017.083333333</c:v>
                </c:pt>
                <c:pt idx="12">
                  <c:v>2017.166666667</c:v>
                </c:pt>
                <c:pt idx="13">
                  <c:v>2017.25</c:v>
                </c:pt>
                <c:pt idx="14">
                  <c:v>2017.333333333</c:v>
                </c:pt>
                <c:pt idx="15">
                  <c:v>2017.416666667</c:v>
                </c:pt>
                <c:pt idx="16">
                  <c:v>2017.5</c:v>
                </c:pt>
                <c:pt idx="17">
                  <c:v>2017.583333333</c:v>
                </c:pt>
                <c:pt idx="18">
                  <c:v>2017.666666667</c:v>
                </c:pt>
                <c:pt idx="19">
                  <c:v>2017.75</c:v>
                </c:pt>
                <c:pt idx="20">
                  <c:v>2017.833333333</c:v>
                </c:pt>
                <c:pt idx="21">
                  <c:v>2017.916666667</c:v>
                </c:pt>
                <c:pt idx="22">
                  <c:v>2018</c:v>
                </c:pt>
                <c:pt idx="23">
                  <c:v>2018.083333333</c:v>
                </c:pt>
                <c:pt idx="24">
                  <c:v>2018.166666667</c:v>
                </c:pt>
                <c:pt idx="25">
                  <c:v>2018.25</c:v>
                </c:pt>
                <c:pt idx="26">
                  <c:v>2018.333333333</c:v>
                </c:pt>
                <c:pt idx="27">
                  <c:v>2018.416666667</c:v>
                </c:pt>
                <c:pt idx="28">
                  <c:v>2018.5</c:v>
                </c:pt>
                <c:pt idx="29">
                  <c:v>2018.583333333</c:v>
                </c:pt>
                <c:pt idx="30">
                  <c:v>2018.666666667</c:v>
                </c:pt>
                <c:pt idx="31">
                  <c:v>2018.75</c:v>
                </c:pt>
                <c:pt idx="32">
                  <c:v>2018.833333333</c:v>
                </c:pt>
                <c:pt idx="33">
                  <c:v>2018.916666667</c:v>
                </c:pt>
                <c:pt idx="34">
                  <c:v>2019</c:v>
                </c:pt>
                <c:pt idx="35">
                  <c:v>2019.083333333</c:v>
                </c:pt>
                <c:pt idx="36">
                  <c:v>2019.166666667</c:v>
                </c:pt>
                <c:pt idx="37">
                  <c:v>2019.25</c:v>
                </c:pt>
                <c:pt idx="38">
                  <c:v>2019.333333333</c:v>
                </c:pt>
                <c:pt idx="39">
                  <c:v>2019.416666667</c:v>
                </c:pt>
                <c:pt idx="40">
                  <c:v>2019.5</c:v>
                </c:pt>
                <c:pt idx="41">
                  <c:v>2019.583333333</c:v>
                </c:pt>
                <c:pt idx="42">
                  <c:v>2019.666666667</c:v>
                </c:pt>
                <c:pt idx="43">
                  <c:v>2019.75</c:v>
                </c:pt>
                <c:pt idx="44">
                  <c:v>2019.833333333</c:v>
                </c:pt>
                <c:pt idx="45">
                  <c:v>2019.916666667</c:v>
                </c:pt>
                <c:pt idx="46">
                  <c:v>2020</c:v>
                </c:pt>
                <c:pt idx="47">
                  <c:v>2020.083333333</c:v>
                </c:pt>
                <c:pt idx="48">
                  <c:v>2020.166666667</c:v>
                </c:pt>
                <c:pt idx="49">
                  <c:v>2020.25</c:v>
                </c:pt>
                <c:pt idx="50">
                  <c:v>2020.333333333</c:v>
                </c:pt>
                <c:pt idx="51">
                  <c:v>2020.416666667</c:v>
                </c:pt>
                <c:pt idx="52">
                  <c:v>2020.5</c:v>
                </c:pt>
                <c:pt idx="53">
                  <c:v>2020.583333333</c:v>
                </c:pt>
                <c:pt idx="54">
                  <c:v>2020.666666667</c:v>
                </c:pt>
                <c:pt idx="55">
                  <c:v>2020.75</c:v>
                </c:pt>
                <c:pt idx="56">
                  <c:v>2020.833333333</c:v>
                </c:pt>
                <c:pt idx="57">
                  <c:v>2020.916666667</c:v>
                </c:pt>
                <c:pt idx="58">
                  <c:v>2021</c:v>
                </c:pt>
                <c:pt idx="59">
                  <c:v>2021.083333333</c:v>
                </c:pt>
                <c:pt idx="60">
                  <c:v>2021.166666667</c:v>
                </c:pt>
                <c:pt idx="61">
                  <c:v>2021.25</c:v>
                </c:pt>
                <c:pt idx="62">
                  <c:v>2021.333333333</c:v>
                </c:pt>
                <c:pt idx="63">
                  <c:v>2021.416666667</c:v>
                </c:pt>
                <c:pt idx="64">
                  <c:v>2021.5</c:v>
                </c:pt>
                <c:pt idx="65">
                  <c:v>2021.583333333</c:v>
                </c:pt>
                <c:pt idx="66">
                  <c:v>2021.666666667</c:v>
                </c:pt>
                <c:pt idx="67">
                  <c:v>2021.75</c:v>
                </c:pt>
                <c:pt idx="68">
                  <c:v>2021.833333333</c:v>
                </c:pt>
                <c:pt idx="69">
                  <c:v>2021.916666667</c:v>
                </c:pt>
                <c:pt idx="70">
                  <c:v>2022</c:v>
                </c:pt>
                <c:pt idx="71">
                  <c:v>2022.083333333</c:v>
                </c:pt>
                <c:pt idx="72">
                  <c:v>2022.166666667</c:v>
                </c:pt>
                <c:pt idx="73">
                  <c:v>2022.25</c:v>
                </c:pt>
                <c:pt idx="74">
                  <c:v>2022.333333333</c:v>
                </c:pt>
                <c:pt idx="75">
                  <c:v>2022.416666667</c:v>
                </c:pt>
                <c:pt idx="76">
                  <c:v>2022.5</c:v>
                </c:pt>
                <c:pt idx="77">
                  <c:v>2022.583333333</c:v>
                </c:pt>
                <c:pt idx="78">
                  <c:v>2022.666666667</c:v>
                </c:pt>
                <c:pt idx="79">
                  <c:v>2022.75</c:v>
                </c:pt>
                <c:pt idx="80">
                  <c:v>2022.833333333</c:v>
                </c:pt>
                <c:pt idx="81">
                  <c:v>2022.916666667</c:v>
                </c:pt>
                <c:pt idx="82">
                  <c:v>2023</c:v>
                </c:pt>
                <c:pt idx="83">
                  <c:v>2023.083333333</c:v>
                </c:pt>
                <c:pt idx="84">
                  <c:v>2023.166666667</c:v>
                </c:pt>
                <c:pt idx="85">
                  <c:v>2023.25</c:v>
                </c:pt>
                <c:pt idx="86">
                  <c:v>2023.333333333</c:v>
                </c:pt>
                <c:pt idx="87">
                  <c:v>2023.416666667</c:v>
                </c:pt>
                <c:pt idx="88">
                  <c:v>2023.5</c:v>
                </c:pt>
                <c:pt idx="89">
                  <c:v>2023.583333333</c:v>
                </c:pt>
                <c:pt idx="90">
                  <c:v>2023.666666667</c:v>
                </c:pt>
                <c:pt idx="91">
                  <c:v>2023.75</c:v>
                </c:pt>
                <c:pt idx="92">
                  <c:v>2023.833333333</c:v>
                </c:pt>
                <c:pt idx="93">
                  <c:v>2023.916666667</c:v>
                </c:pt>
                <c:pt idx="94">
                  <c:v>2024</c:v>
                </c:pt>
                <c:pt idx="95">
                  <c:v>2024.083333333</c:v>
                </c:pt>
                <c:pt idx="96">
                  <c:v>2024.166666667</c:v>
                </c:pt>
                <c:pt idx="97">
                  <c:v>2024.25</c:v>
                </c:pt>
                <c:pt idx="98">
                  <c:v>2024.333333333</c:v>
                </c:pt>
                <c:pt idx="99">
                  <c:v>2024.416666667</c:v>
                </c:pt>
                <c:pt idx="100">
                  <c:v>2024.5</c:v>
                </c:pt>
                <c:pt idx="101">
                  <c:v>2024.583333333</c:v>
                </c:pt>
                <c:pt idx="102">
                  <c:v>2024.666666667</c:v>
                </c:pt>
                <c:pt idx="103">
                  <c:v>2024.75</c:v>
                </c:pt>
                <c:pt idx="104">
                  <c:v>2024.833333333</c:v>
                </c:pt>
                <c:pt idx="105">
                  <c:v>2024.916666667</c:v>
                </c:pt>
                <c:pt idx="106">
                  <c:v>2025</c:v>
                </c:pt>
                <c:pt idx="107">
                  <c:v>2025.083333333</c:v>
                </c:pt>
                <c:pt idx="108">
                  <c:v>2025.166666667</c:v>
                </c:pt>
                <c:pt idx="109">
                  <c:v>2025.25</c:v>
                </c:pt>
                <c:pt idx="110">
                  <c:v>2025.333333333</c:v>
                </c:pt>
                <c:pt idx="111">
                  <c:v>2025.416666667</c:v>
                </c:pt>
                <c:pt idx="112">
                  <c:v>2025.5</c:v>
                </c:pt>
                <c:pt idx="113">
                  <c:v>2025.583333333</c:v>
                </c:pt>
                <c:pt idx="114">
                  <c:v>2025.666666667</c:v>
                </c:pt>
                <c:pt idx="115">
                  <c:v>2025.75</c:v>
                </c:pt>
                <c:pt idx="116">
                  <c:v>2025.833333333</c:v>
                </c:pt>
                <c:pt idx="117">
                  <c:v>2025.916666667</c:v>
                </c:pt>
              </c:numCache>
            </c:numRef>
          </c:xVal>
          <c:yVal>
            <c:numRef>
              <c:f>'Chart Data'!$B$2:$B$119</c:f>
              <c:numCache>
                <c:formatCode>0.0</c:formatCode>
                <c:ptCount val="118"/>
                <c:pt idx="0">
                  <c:v>3.026033402</c:v>
                </c:pt>
                <c:pt idx="1">
                  <c:v>2.186836849</c:v>
                </c:pt>
                <c:pt idx="2">
                  <c:v>2.712817773</c:v>
                </c:pt>
                <c:pt idx="3">
                  <c:v>2.464758248</c:v>
                </c:pt>
                <c:pt idx="4">
                  <c:v>2.293462255</c:v>
                </c:pt>
                <c:pt idx="5">
                  <c:v>2.239162175</c:v>
                </c:pt>
                <c:pt idx="6">
                  <c:v>2.421478104</c:v>
                </c:pt>
                <c:pt idx="7">
                  <c:v>2.623464287</c:v>
                </c:pt>
                <c:pt idx="8">
                  <c:v>2.463678609</c:v>
                </c:pt>
                <c:pt idx="9">
                  <c:v>2.287250164</c:v>
                </c:pt>
                <c:pt idx="10">
                  <c:v>3.061059786</c:v>
                </c:pt>
                <c:pt idx="11">
                  <c:v>2.773357595</c:v>
                </c:pt>
                <c:pt idx="12">
                  <c:v>2.607572006</c:v>
                </c:pt>
                <c:pt idx="13">
                  <c:v>2.507042428</c:v>
                </c:pt>
                <c:pt idx="14">
                  <c:v>2.15861682</c:v>
                </c:pt>
                <c:pt idx="15">
                  <c:v>1.995167397</c:v>
                </c:pt>
                <c:pt idx="16">
                  <c:v>1.627676679</c:v>
                </c:pt>
                <c:pt idx="17">
                  <c:v>1.595732935</c:v>
                </c:pt>
                <c:pt idx="18">
                  <c:v>1.724966665</c:v>
                </c:pt>
                <c:pt idx="19">
                  <c:v>1.605999774</c:v>
                </c:pt>
                <c:pt idx="20">
                  <c:v>1.514727058</c:v>
                </c:pt>
                <c:pt idx="21">
                  <c:v>1.079155203</c:v>
                </c:pt>
                <c:pt idx="22">
                  <c:v>1.489478519</c:v>
                </c:pt>
                <c:pt idx="23">
                  <c:v>2.173782727</c:v>
                </c:pt>
                <c:pt idx="24">
                  <c:v>1.770719726</c:v>
                </c:pt>
                <c:pt idx="25">
                  <c:v>2.273074598</c:v>
                </c:pt>
                <c:pt idx="26">
                  <c:v>3.795005592</c:v>
                </c:pt>
                <c:pt idx="27">
                  <c:v>3.806865061</c:v>
                </c:pt>
                <c:pt idx="28">
                  <c:v>4.132681889</c:v>
                </c:pt>
                <c:pt idx="29">
                  <c:v>4.406589184</c:v>
                </c:pt>
                <c:pt idx="30">
                  <c:v>3.851896379</c:v>
                </c:pt>
                <c:pt idx="31">
                  <c:v>3.515129522</c:v>
                </c:pt>
                <c:pt idx="32">
                  <c:v>3.248802243</c:v>
                </c:pt>
                <c:pt idx="33">
                  <c:v>3.757293835</c:v>
                </c:pt>
                <c:pt idx="34">
                  <c:v>3.306062781</c:v>
                </c:pt>
                <c:pt idx="35">
                  <c:v>5.185931737</c:v>
                </c:pt>
                <c:pt idx="36">
                  <c:v>5.877816074</c:v>
                </c:pt>
                <c:pt idx="37">
                  <c:v>3.398978208</c:v>
                </c:pt>
                <c:pt idx="38">
                  <c:v>3.928333992</c:v>
                </c:pt>
                <c:pt idx="39">
                  <c:v>3.766304959</c:v>
                </c:pt>
                <c:pt idx="40">
                  <c:v>3.829179643</c:v>
                </c:pt>
                <c:pt idx="41">
                  <c:v>4.275014498</c:v>
                </c:pt>
                <c:pt idx="42">
                  <c:v>4.743602573</c:v>
                </c:pt>
                <c:pt idx="43">
                  <c:v>4.35794295</c:v>
                </c:pt>
                <c:pt idx="44">
                  <c:v>4.373087385</c:v>
                </c:pt>
                <c:pt idx="45">
                  <c:v>4.987983132</c:v>
                </c:pt>
                <c:pt idx="46">
                  <c:v>4.676268661</c:v>
                </c:pt>
                <c:pt idx="47">
                  <c:v>2.990082833</c:v>
                </c:pt>
                <c:pt idx="48">
                  <c:v>3.168496151</c:v>
                </c:pt>
                <c:pt idx="49">
                  <c:v>3.52147307</c:v>
                </c:pt>
                <c:pt idx="50">
                  <c:v>3.638628415</c:v>
                </c:pt>
                <c:pt idx="51">
                  <c:v>2.966208844</c:v>
                </c:pt>
                <c:pt idx="52">
                  <c:v>2.377511128</c:v>
                </c:pt>
                <c:pt idx="53">
                  <c:v>2.334899277</c:v>
                </c:pt>
                <c:pt idx="54">
                  <c:v>2.335674969</c:v>
                </c:pt>
                <c:pt idx="55">
                  <c:v>2.298724748</c:v>
                </c:pt>
                <c:pt idx="56">
                  <c:v>2.27894368</c:v>
                </c:pt>
                <c:pt idx="57">
                  <c:v>2.281140363</c:v>
                </c:pt>
                <c:pt idx="58">
                  <c:v>2.316501878</c:v>
                </c:pt>
                <c:pt idx="59">
                  <c:v>2.305509284</c:v>
                </c:pt>
                <c:pt idx="60">
                  <c:v>2.367563511</c:v>
                </c:pt>
                <c:pt idx="61">
                  <c:v>2.540089856</c:v>
                </c:pt>
                <c:pt idx="62">
                  <c:v>2.621255898</c:v>
                </c:pt>
                <c:pt idx="63">
                  <c:v>2.605265647</c:v>
                </c:pt>
                <c:pt idx="64">
                  <c:v>2.577180544</c:v>
                </c:pt>
                <c:pt idx="65">
                  <c:v>2.578809764</c:v>
                </c:pt>
                <c:pt idx="66">
                  <c:v>2.575469694</c:v>
                </c:pt>
                <c:pt idx="67">
                  <c:v>2.541854959</c:v>
                </c:pt>
                <c:pt idx="68">
                  <c:v>2.549115792</c:v>
                </c:pt>
                <c:pt idx="69">
                  <c:v>2.544970979</c:v>
                </c:pt>
                <c:pt idx="70">
                  <c:v>2.544342822</c:v>
                </c:pt>
                <c:pt idx="71">
                  <c:v>2.570413101</c:v>
                </c:pt>
                <c:pt idx="72">
                  <c:v>2.568537831</c:v>
                </c:pt>
                <c:pt idx="73">
                  <c:v>2.581848619</c:v>
                </c:pt>
                <c:pt idx="74">
                  <c:v>2.646461902</c:v>
                </c:pt>
                <c:pt idx="75">
                  <c:v>2.664334641</c:v>
                </c:pt>
                <c:pt idx="76">
                  <c:v>2.659026016</c:v>
                </c:pt>
                <c:pt idx="77">
                  <c:v>2.673206264</c:v>
                </c:pt>
                <c:pt idx="78">
                  <c:v>2.691315198</c:v>
                </c:pt>
                <c:pt idx="79">
                  <c:v>2.689388069</c:v>
                </c:pt>
                <c:pt idx="80">
                  <c:v>2.666588706</c:v>
                </c:pt>
                <c:pt idx="81">
                  <c:v>2.670740686</c:v>
                </c:pt>
                <c:pt idx="82">
                  <c:v>2.670223974</c:v>
                </c:pt>
                <c:pt idx="83">
                  <c:v>2.632922131</c:v>
                </c:pt>
                <c:pt idx="84">
                  <c:v>2.64875993</c:v>
                </c:pt>
                <c:pt idx="85">
                  <c:v>2.602797851</c:v>
                </c:pt>
                <c:pt idx="86">
                  <c:v>2.588677563</c:v>
                </c:pt>
                <c:pt idx="87">
                  <c:v>2.598861769</c:v>
                </c:pt>
                <c:pt idx="88">
                  <c:v>2.603277713</c:v>
                </c:pt>
                <c:pt idx="89">
                  <c:v>2.576367112</c:v>
                </c:pt>
                <c:pt idx="90">
                  <c:v>2.578715477</c:v>
                </c:pt>
                <c:pt idx="91">
                  <c:v>2.579003327</c:v>
                </c:pt>
                <c:pt idx="92">
                  <c:v>2.5677178</c:v>
                </c:pt>
                <c:pt idx="93">
                  <c:v>2.574330725</c:v>
                </c:pt>
                <c:pt idx="94">
                  <c:v>2.605337516</c:v>
                </c:pt>
                <c:pt idx="95">
                  <c:v>2.515011047</c:v>
                </c:pt>
                <c:pt idx="96">
                  <c:v>2.492807044</c:v>
                </c:pt>
                <c:pt idx="97">
                  <c:v>2.48567247</c:v>
                </c:pt>
                <c:pt idx="98">
                  <c:v>2.478540696</c:v>
                </c:pt>
                <c:pt idx="99">
                  <c:v>2.493885744</c:v>
                </c:pt>
                <c:pt idx="100">
                  <c:v>2.489248843</c:v>
                </c:pt>
                <c:pt idx="101">
                  <c:v>2.503580169</c:v>
                </c:pt>
                <c:pt idx="102">
                  <c:v>2.425793635</c:v>
                </c:pt>
                <c:pt idx="103">
                  <c:v>2.443978896</c:v>
                </c:pt>
                <c:pt idx="104">
                  <c:v>2.389116745</c:v>
                </c:pt>
                <c:pt idx="105">
                  <c:v>2.358056409</c:v>
                </c:pt>
                <c:pt idx="106">
                  <c:v>2.330932623</c:v>
                </c:pt>
                <c:pt idx="107">
                  <c:v>2.322300934</c:v>
                </c:pt>
                <c:pt idx="108">
                  <c:v>2.084780118</c:v>
                </c:pt>
                <c:pt idx="109">
                  <c:v>1.744152912</c:v>
                </c:pt>
                <c:pt idx="110">
                  <c:v>1.55737853</c:v>
                </c:pt>
                <c:pt idx="111">
                  <c:v>2.173986891</c:v>
                </c:pt>
                <c:pt idx="112">
                  <c:v>2.570780383</c:v>
                </c:pt>
                <c:pt idx="113">
                  <c:v>2.996071546</c:v>
                </c:pt>
                <c:pt idx="114">
                  <c:v>2.9770234</c:v>
                </c:pt>
                <c:pt idx="115">
                  <c:v>2.91790752</c:v>
                </c:pt>
                <c:pt idx="116">
                  <c:v>2.948677961</c:v>
                </c:pt>
                <c:pt idx="117">
                  <c:v>2.942510671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Coefficient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 sourceLinked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2026"/>
          <c:min val="2016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crossBetween val="midCat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Monthly debit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Data'!$B$2:$B$13</c:f>
              <c:numCache>
                <c:formatCode>#,##0</c:formatCode>
                <c:ptCount val="12"/>
                <c:pt idx="0">
                  <c:v>696</c:v>
                </c:pt>
                <c:pt idx="1">
                  <c:v>846</c:v>
                </c:pt>
                <c:pt idx="2">
                  <c:v>1506</c:v>
                </c:pt>
                <c:pt idx="3">
                  <c:v>986</c:v>
                </c:pt>
                <c:pt idx="4">
                  <c:v>1095</c:v>
                </c:pt>
                <c:pt idx="5">
                  <c:v>1504</c:v>
                </c:pt>
                <c:pt idx="6">
                  <c:v>1105</c:v>
                </c:pt>
                <c:pt idx="7">
                  <c:v>1075</c:v>
                </c:pt>
                <c:pt idx="8">
                  <c:v>1133</c:v>
                </c:pt>
                <c:pt idx="9">
                  <c:v>1069</c:v>
                </c:pt>
                <c:pt idx="10">
                  <c:v>1238</c:v>
                </c:pt>
                <c:pt idx="11">
                  <c:v>1020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600"/>
          <c:min val="6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0"/>
      </c:valAx>
      <c:valAx>
        <c:axId val="48650112"/>
        <c:scaling>
          <c:orientation val="minMax"/>
          <c:max val="12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 of 2014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Adjusted quarterly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Data'!$A$2:$A$57</c:f>
              <c:numCache>
                <c:formatCode>General</c:formatCode>
                <c:ptCount val="56"/>
                <c:pt idx="0">
                  <c:v>2012.166666667</c:v>
                </c:pt>
                <c:pt idx="1">
                  <c:v>2012.416666667</c:v>
                </c:pt>
                <c:pt idx="2">
                  <c:v>2012.666666667</c:v>
                </c:pt>
                <c:pt idx="3">
                  <c:v>2012.916666667</c:v>
                </c:pt>
                <c:pt idx="4">
                  <c:v>2013.166666667</c:v>
                </c:pt>
                <c:pt idx="5">
                  <c:v>2013.416666667</c:v>
                </c:pt>
                <c:pt idx="6">
                  <c:v>2013.666666667</c:v>
                </c:pt>
                <c:pt idx="7">
                  <c:v>2013.916666667</c:v>
                </c:pt>
                <c:pt idx="8">
                  <c:v>2014.166666667</c:v>
                </c:pt>
                <c:pt idx="9">
                  <c:v>2014.416666667</c:v>
                </c:pt>
                <c:pt idx="10">
                  <c:v>2014.666666667</c:v>
                </c:pt>
                <c:pt idx="11">
                  <c:v>2014.916666667</c:v>
                </c:pt>
                <c:pt idx="12">
                  <c:v>2015.166666667</c:v>
                </c:pt>
                <c:pt idx="13">
                  <c:v>2015.416666667</c:v>
                </c:pt>
                <c:pt idx="14">
                  <c:v>2015.666666667</c:v>
                </c:pt>
                <c:pt idx="15">
                  <c:v>2015.916666667</c:v>
                </c:pt>
                <c:pt idx="16">
                  <c:v>2016.166666667</c:v>
                </c:pt>
                <c:pt idx="17">
                  <c:v>2016.416666667</c:v>
                </c:pt>
                <c:pt idx="18">
                  <c:v>2016.666666667</c:v>
                </c:pt>
                <c:pt idx="19">
                  <c:v>2016.916666667</c:v>
                </c:pt>
                <c:pt idx="20">
                  <c:v>2017.166666667</c:v>
                </c:pt>
                <c:pt idx="21">
                  <c:v>2017.416666667</c:v>
                </c:pt>
                <c:pt idx="22">
                  <c:v>2017.666666667</c:v>
                </c:pt>
                <c:pt idx="23">
                  <c:v>2017.916666667</c:v>
                </c:pt>
                <c:pt idx="24">
                  <c:v>2018.166666667</c:v>
                </c:pt>
                <c:pt idx="25">
                  <c:v>2018.416666667</c:v>
                </c:pt>
                <c:pt idx="26">
                  <c:v>2018.666666667</c:v>
                </c:pt>
                <c:pt idx="27">
                  <c:v>2018.916666667</c:v>
                </c:pt>
                <c:pt idx="28">
                  <c:v>2019.166666667</c:v>
                </c:pt>
                <c:pt idx="29">
                  <c:v>2019.416666667</c:v>
                </c:pt>
                <c:pt idx="30">
                  <c:v>2019.666666667</c:v>
                </c:pt>
                <c:pt idx="31">
                  <c:v>2019.916666667</c:v>
                </c:pt>
                <c:pt idx="32">
                  <c:v>2020.166666667</c:v>
                </c:pt>
                <c:pt idx="33">
                  <c:v>2020.416666667</c:v>
                </c:pt>
                <c:pt idx="34">
                  <c:v>2020.666666667</c:v>
                </c:pt>
                <c:pt idx="35">
                  <c:v>2020.916666667</c:v>
                </c:pt>
                <c:pt idx="36">
                  <c:v>2021.166666667</c:v>
                </c:pt>
                <c:pt idx="37">
                  <c:v>2021.416666667</c:v>
                </c:pt>
                <c:pt idx="38">
                  <c:v>2021.666666667</c:v>
                </c:pt>
                <c:pt idx="39">
                  <c:v>2021.916666667</c:v>
                </c:pt>
                <c:pt idx="40">
                  <c:v>2022.166666667</c:v>
                </c:pt>
                <c:pt idx="41">
                  <c:v>2022.416666667</c:v>
                </c:pt>
                <c:pt idx="42">
                  <c:v>2022.666666667</c:v>
                </c:pt>
                <c:pt idx="43">
                  <c:v>2022.916666667</c:v>
                </c:pt>
                <c:pt idx="44">
                  <c:v>2023.166666667</c:v>
                </c:pt>
                <c:pt idx="45">
                  <c:v>2023.416666667</c:v>
                </c:pt>
                <c:pt idx="46">
                  <c:v>2023.666666667</c:v>
                </c:pt>
                <c:pt idx="47">
                  <c:v>2023.916666667</c:v>
                </c:pt>
                <c:pt idx="48">
                  <c:v>2024.166666667</c:v>
                </c:pt>
                <c:pt idx="49">
                  <c:v>2024.416666667</c:v>
                </c:pt>
                <c:pt idx="50">
                  <c:v>2024.666666667</c:v>
                </c:pt>
                <c:pt idx="51">
                  <c:v>2024.916666667</c:v>
                </c:pt>
                <c:pt idx="52">
                  <c:v>2025.166666667</c:v>
                </c:pt>
                <c:pt idx="53">
                  <c:v>2025.416666667</c:v>
                </c:pt>
                <c:pt idx="54">
                  <c:v>2025.666666667</c:v>
                </c:pt>
                <c:pt idx="55">
                  <c:v>2025.916666667</c:v>
                </c:pt>
              </c:numCache>
            </c:numRef>
          </c:xVal>
          <c:yVal>
            <c:numRef>
              <c:f>'Chart Data'!$B$2:$B$57</c:f>
              <c:numCache>
                <c:formatCode>#,##0</c:formatCode>
                <c:ptCount val="56"/>
                <c:pt idx="0">
                  <c:v>2197.5</c:v>
                </c:pt>
                <c:pt idx="1">
                  <c:v>3080</c:v>
                </c:pt>
                <c:pt idx="2">
                  <c:v>2818</c:v>
                </c:pt>
                <c:pt idx="3">
                  <c:v>2654.5</c:v>
                </c:pt>
                <c:pt idx="4">
                  <c:v>2288</c:v>
                </c:pt>
                <c:pt idx="5">
                  <c:v>2933</c:v>
                </c:pt>
                <c:pt idx="6">
                  <c:v>2806</c:v>
                </c:pt>
                <c:pt idx="7">
                  <c:v>2978</c:v>
                </c:pt>
                <c:pt idx="8">
                  <c:v>3048</c:v>
                </c:pt>
                <c:pt idx="9">
                  <c:v>3585</c:v>
                </c:pt>
                <c:pt idx="10">
                  <c:v>3313</c:v>
                </c:pt>
                <c:pt idx="11">
                  <c:v>3327</c:v>
                </c:pt>
                <c:pt idx="12">
                  <c:v>3970</c:v>
                </c:pt>
                <c:pt idx="13">
                  <c:v>4251</c:v>
                </c:pt>
                <c:pt idx="14">
                  <c:v>4178</c:v>
                </c:pt>
                <c:pt idx="15">
                  <c:v>4283</c:v>
                </c:pt>
                <c:pt idx="16">
                  <c:v>4190</c:v>
                </c:pt>
                <c:pt idx="17">
                  <c:v>4353</c:v>
                </c:pt>
                <c:pt idx="18">
                  <c:v>4285</c:v>
                </c:pt>
                <c:pt idx="19">
                  <c:v>4302</c:v>
                </c:pt>
                <c:pt idx="20">
                  <c:v>4210</c:v>
                </c:pt>
                <c:pt idx="21">
                  <c:v>4403</c:v>
                </c:pt>
                <c:pt idx="22">
                  <c:v>4273</c:v>
                </c:pt>
                <c:pt idx="23">
                  <c:v>4352</c:v>
                </c:pt>
                <c:pt idx="24">
                  <c:v>4365</c:v>
                </c:pt>
                <c:pt idx="25">
                  <c:v>4531</c:v>
                </c:pt>
                <c:pt idx="26">
                  <c:v>4460</c:v>
                </c:pt>
                <c:pt idx="27">
                  <c:v>4578</c:v>
                </c:pt>
                <c:pt idx="28">
                  <c:v>4430</c:v>
                </c:pt>
                <c:pt idx="29">
                  <c:v>5147</c:v>
                </c:pt>
                <c:pt idx="30">
                  <c:v>4279</c:v>
                </c:pt>
                <c:pt idx="31">
                  <c:v>4213</c:v>
                </c:pt>
                <c:pt idx="32">
                  <c:v>4097</c:v>
                </c:pt>
                <c:pt idx="33">
                  <c:v>3954</c:v>
                </c:pt>
                <c:pt idx="34">
                  <c:v>4294</c:v>
                </c:pt>
                <c:pt idx="35">
                  <c:v>4399</c:v>
                </c:pt>
                <c:pt idx="36">
                  <c:v>4656</c:v>
                </c:pt>
                <c:pt idx="37">
                  <c:v>4850</c:v>
                </c:pt>
                <c:pt idx="38">
                  <c:v>4600</c:v>
                </c:pt>
                <c:pt idx="39">
                  <c:v>4166</c:v>
                </c:pt>
                <c:pt idx="40">
                  <c:v>5536</c:v>
                </c:pt>
                <c:pt idx="41">
                  <c:v>5173</c:v>
                </c:pt>
                <c:pt idx="42">
                  <c:v>4677</c:v>
                </c:pt>
                <c:pt idx="43">
                  <c:v>4853</c:v>
                </c:pt>
                <c:pt idx="44">
                  <c:v>4890</c:v>
                </c:pt>
                <c:pt idx="45">
                  <c:v>5004</c:v>
                </c:pt>
                <c:pt idx="46">
                  <c:v>5028</c:v>
                </c:pt>
                <c:pt idx="47">
                  <c:v>5125</c:v>
                </c:pt>
                <c:pt idx="48">
                  <c:v>4148</c:v>
                </c:pt>
                <c:pt idx="49">
                  <c:v>4873</c:v>
                </c:pt>
                <c:pt idx="50">
                  <c:v>4691</c:v>
                </c:pt>
                <c:pt idx="51">
                  <c:v>4949</c:v>
                </c:pt>
                <c:pt idx="52">
                  <c:v>4600</c:v>
                </c:pt>
                <c:pt idx="53">
                  <c:v>4869</c:v>
                </c:pt>
                <c:pt idx="54">
                  <c:v>4988</c:v>
                </c:pt>
                <c:pt idx="55">
                  <c:v>4863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0"/>
          <c:min val="1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Quarterly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0"/>
      </c:valAx>
      <c:valAx>
        <c:axId val="48650112"/>
        <c:scaling>
          <c:orientation val="minMax"/>
          <c:max val="2026"/>
          <c:min val="2012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Actual quarterly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Data'!$A$2:$A$45</c:f>
              <c:numCache>
                <c:formatCode>General</c:formatCode>
                <c:ptCount val="44"/>
                <c:pt idx="0">
                  <c:v>2015.166666667</c:v>
                </c:pt>
                <c:pt idx="1">
                  <c:v>2015.416666667</c:v>
                </c:pt>
                <c:pt idx="2">
                  <c:v>2015.666666667</c:v>
                </c:pt>
                <c:pt idx="3">
                  <c:v>2015.916666667</c:v>
                </c:pt>
                <c:pt idx="4">
                  <c:v>2016.166666667</c:v>
                </c:pt>
                <c:pt idx="5">
                  <c:v>2016.416666667</c:v>
                </c:pt>
                <c:pt idx="6">
                  <c:v>2016.666666667</c:v>
                </c:pt>
                <c:pt idx="7">
                  <c:v>2016.916666667</c:v>
                </c:pt>
                <c:pt idx="8">
                  <c:v>2017.166666667</c:v>
                </c:pt>
                <c:pt idx="9">
                  <c:v>2017.416666667</c:v>
                </c:pt>
                <c:pt idx="10">
                  <c:v>2017.666666667</c:v>
                </c:pt>
                <c:pt idx="11">
                  <c:v>2017.916666667</c:v>
                </c:pt>
                <c:pt idx="12">
                  <c:v>2018.166666667</c:v>
                </c:pt>
                <c:pt idx="13">
                  <c:v>2018.416666667</c:v>
                </c:pt>
                <c:pt idx="14">
                  <c:v>2018.666666667</c:v>
                </c:pt>
                <c:pt idx="15">
                  <c:v>2018.916666667</c:v>
                </c:pt>
                <c:pt idx="16">
                  <c:v>2019.166666667</c:v>
                </c:pt>
                <c:pt idx="17">
                  <c:v>2019.416666667</c:v>
                </c:pt>
                <c:pt idx="18">
                  <c:v>2019.666666667</c:v>
                </c:pt>
                <c:pt idx="19">
                  <c:v>2019.916666667</c:v>
                </c:pt>
                <c:pt idx="20">
                  <c:v>2020.166666667</c:v>
                </c:pt>
                <c:pt idx="21">
                  <c:v>2020.416666667</c:v>
                </c:pt>
                <c:pt idx="22">
                  <c:v>2020.666666667</c:v>
                </c:pt>
                <c:pt idx="23">
                  <c:v>2020.916666667</c:v>
                </c:pt>
                <c:pt idx="24">
                  <c:v>2021.166666667</c:v>
                </c:pt>
                <c:pt idx="25">
                  <c:v>2021.416666667</c:v>
                </c:pt>
                <c:pt idx="26">
                  <c:v>2021.666666667</c:v>
                </c:pt>
                <c:pt idx="27">
                  <c:v>2021.916666667</c:v>
                </c:pt>
                <c:pt idx="28">
                  <c:v>2022.166666667</c:v>
                </c:pt>
                <c:pt idx="29">
                  <c:v>2022.416666667</c:v>
                </c:pt>
                <c:pt idx="30">
                  <c:v>2022.666666667</c:v>
                </c:pt>
                <c:pt idx="31">
                  <c:v>2022.916666667</c:v>
                </c:pt>
                <c:pt idx="32">
                  <c:v>2023.166666667</c:v>
                </c:pt>
                <c:pt idx="33">
                  <c:v>2023.416666667</c:v>
                </c:pt>
                <c:pt idx="34">
                  <c:v>2023.666666667</c:v>
                </c:pt>
                <c:pt idx="35">
                  <c:v>2023.916666667</c:v>
                </c:pt>
                <c:pt idx="36">
                  <c:v>2024.166666667</c:v>
                </c:pt>
                <c:pt idx="37">
                  <c:v>2024.416666667</c:v>
                </c:pt>
                <c:pt idx="38">
                  <c:v>2024.666666667</c:v>
                </c:pt>
                <c:pt idx="39">
                  <c:v>2024.916666667</c:v>
                </c:pt>
                <c:pt idx="40">
                  <c:v>2025.166666667</c:v>
                </c:pt>
                <c:pt idx="41">
                  <c:v>2025.416666667</c:v>
                </c:pt>
                <c:pt idx="42">
                  <c:v>2025.666666667</c:v>
                </c:pt>
                <c:pt idx="43">
                  <c:v>2025.916666667</c:v>
                </c:pt>
              </c:numCache>
            </c:numRef>
          </c:xVal>
          <c:yVal>
            <c:numRef>
              <c:f>'Chart Data'!$B$2:$B$45</c:f>
              <c:numCache>
                <c:formatCode>#,##0</c:formatCode>
                <c:ptCount val="44"/>
                <c:pt idx="0">
                  <c:v>3970</c:v>
                </c:pt>
                <c:pt idx="1">
                  <c:v>4251</c:v>
                </c:pt>
                <c:pt idx="2">
                  <c:v>4178</c:v>
                </c:pt>
                <c:pt idx="3">
                  <c:v>4283</c:v>
                </c:pt>
                <c:pt idx="4">
                  <c:v>4190</c:v>
                </c:pt>
                <c:pt idx="5">
                  <c:v>4353</c:v>
                </c:pt>
                <c:pt idx="6">
                  <c:v>4285</c:v>
                </c:pt>
                <c:pt idx="7">
                  <c:v>4302</c:v>
                </c:pt>
                <c:pt idx="8">
                  <c:v>4210</c:v>
                </c:pt>
                <c:pt idx="9">
                  <c:v>4403</c:v>
                </c:pt>
                <c:pt idx="10">
                  <c:v>4273</c:v>
                </c:pt>
                <c:pt idx="11">
                  <c:v>4352</c:v>
                </c:pt>
                <c:pt idx="12">
                  <c:v>4365</c:v>
                </c:pt>
                <c:pt idx="13">
                  <c:v>4531</c:v>
                </c:pt>
                <c:pt idx="14">
                  <c:v>4460</c:v>
                </c:pt>
                <c:pt idx="15">
                  <c:v>4578</c:v>
                </c:pt>
                <c:pt idx="16">
                  <c:v>4430</c:v>
                </c:pt>
                <c:pt idx="17">
                  <c:v>5147</c:v>
                </c:pt>
                <c:pt idx="18">
                  <c:v>4279</c:v>
                </c:pt>
                <c:pt idx="19">
                  <c:v>4213</c:v>
                </c:pt>
                <c:pt idx="20">
                  <c:v>4097</c:v>
                </c:pt>
                <c:pt idx="21">
                  <c:v>3954</c:v>
                </c:pt>
                <c:pt idx="22">
                  <c:v>4294</c:v>
                </c:pt>
                <c:pt idx="23">
                  <c:v>4399</c:v>
                </c:pt>
                <c:pt idx="24">
                  <c:v>4656</c:v>
                </c:pt>
                <c:pt idx="25">
                  <c:v>4850</c:v>
                </c:pt>
                <c:pt idx="26">
                  <c:v>4600</c:v>
                </c:pt>
                <c:pt idx="27">
                  <c:v>4166</c:v>
                </c:pt>
                <c:pt idx="28">
                  <c:v>5536</c:v>
                </c:pt>
                <c:pt idx="29">
                  <c:v>5173</c:v>
                </c:pt>
                <c:pt idx="30">
                  <c:v>4677</c:v>
                </c:pt>
                <c:pt idx="31">
                  <c:v>4853</c:v>
                </c:pt>
                <c:pt idx="32">
                  <c:v>4890</c:v>
                </c:pt>
                <c:pt idx="33">
                  <c:v>5004</c:v>
                </c:pt>
                <c:pt idx="34">
                  <c:v>5028</c:v>
                </c:pt>
                <c:pt idx="35">
                  <c:v>5125</c:v>
                </c:pt>
                <c:pt idx="36">
                  <c:v>4148</c:v>
                </c:pt>
                <c:pt idx="37">
                  <c:v>4873</c:v>
                </c:pt>
                <c:pt idx="38">
                  <c:v>4691</c:v>
                </c:pt>
                <c:pt idx="39">
                  <c:v>4949</c:v>
                </c:pt>
                <c:pt idx="40">
                  <c:v>4600</c:v>
                </c:pt>
                <c:pt idx="41">
                  <c:v>4869</c:v>
                </c:pt>
                <c:pt idx="42">
                  <c:v>4988</c:v>
                </c:pt>
                <c:pt idx="43">
                  <c:v>4863</c:v>
                </c:pt>
              </c:numCache>
            </c:numRef>
          </c:yVal>
          <c:smooth val="0"/>
        </c:ser>
        <c:ser>
          <c:idx val="1"/>
          <c:order val="1"/>
          <c:tx>
            <c:v>Baseline: 4,747.6</c:v>
          </c:tx>
          <c:spPr>
            <a:ln xmlns:a="http://schemas.openxmlformats.org/drawingml/2006/main" w="2381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Data'!$C$2:$C$45</c:f>
              <c:numCache>
                <c:formatCode>General</c:formatCode>
                <c:ptCount val="44"/>
                <c:pt idx="0">
                  <c:v>2015.166666667</c:v>
                </c:pt>
                <c:pt idx="1">
                  <c:v>2015.416666667</c:v>
                </c:pt>
                <c:pt idx="2">
                  <c:v>2015.666666667</c:v>
                </c:pt>
                <c:pt idx="3">
                  <c:v>2015.916666667</c:v>
                </c:pt>
                <c:pt idx="4">
                  <c:v>2016.166666667</c:v>
                </c:pt>
                <c:pt idx="5">
                  <c:v>2016.416666667</c:v>
                </c:pt>
                <c:pt idx="6">
                  <c:v>2016.666666667</c:v>
                </c:pt>
                <c:pt idx="7">
                  <c:v>2016.916666667</c:v>
                </c:pt>
                <c:pt idx="8">
                  <c:v>2017.166666667</c:v>
                </c:pt>
                <c:pt idx="9">
                  <c:v>2017.416666667</c:v>
                </c:pt>
                <c:pt idx="10">
                  <c:v>2017.666666667</c:v>
                </c:pt>
                <c:pt idx="11">
                  <c:v>2017.916666667</c:v>
                </c:pt>
                <c:pt idx="12">
                  <c:v>2018.166666667</c:v>
                </c:pt>
                <c:pt idx="13">
                  <c:v>2018.416666667</c:v>
                </c:pt>
                <c:pt idx="14">
                  <c:v>2018.666666667</c:v>
                </c:pt>
                <c:pt idx="15">
                  <c:v>2018.916666667</c:v>
                </c:pt>
                <c:pt idx="16">
                  <c:v>2019.166666667</c:v>
                </c:pt>
                <c:pt idx="17">
                  <c:v>2019.416666667</c:v>
                </c:pt>
                <c:pt idx="18">
                  <c:v>2019.666666667</c:v>
                </c:pt>
                <c:pt idx="19">
                  <c:v>2019.916666667</c:v>
                </c:pt>
                <c:pt idx="20">
                  <c:v>2020.166666667</c:v>
                </c:pt>
                <c:pt idx="21">
                  <c:v>2020.416666667</c:v>
                </c:pt>
                <c:pt idx="22">
                  <c:v>2020.666666667</c:v>
                </c:pt>
                <c:pt idx="23">
                  <c:v>2020.916666667</c:v>
                </c:pt>
                <c:pt idx="24">
                  <c:v>2021.166666667</c:v>
                </c:pt>
                <c:pt idx="25">
                  <c:v>2021.416666667</c:v>
                </c:pt>
                <c:pt idx="26">
                  <c:v>2021.666666667</c:v>
                </c:pt>
                <c:pt idx="27">
                  <c:v>2021.916666667</c:v>
                </c:pt>
                <c:pt idx="28">
                  <c:v>2022.166666667</c:v>
                </c:pt>
                <c:pt idx="29">
                  <c:v>2022.416666667</c:v>
                </c:pt>
                <c:pt idx="30">
                  <c:v>2022.666666667</c:v>
                </c:pt>
                <c:pt idx="31">
                  <c:v>2022.916666667</c:v>
                </c:pt>
                <c:pt idx="32">
                  <c:v>2023.166666667</c:v>
                </c:pt>
                <c:pt idx="33">
                  <c:v>2023.416666667</c:v>
                </c:pt>
                <c:pt idx="34">
                  <c:v>2023.666666667</c:v>
                </c:pt>
                <c:pt idx="35">
                  <c:v>2023.916666667</c:v>
                </c:pt>
                <c:pt idx="36">
                  <c:v>2024.166666667</c:v>
                </c:pt>
                <c:pt idx="37">
                  <c:v>2024.416666667</c:v>
                </c:pt>
                <c:pt idx="38">
                  <c:v>2024.666666667</c:v>
                </c:pt>
                <c:pt idx="39">
                  <c:v>2024.916666667</c:v>
                </c:pt>
                <c:pt idx="40">
                  <c:v>2025.166666667</c:v>
                </c:pt>
                <c:pt idx="41">
                  <c:v>2025.416666667</c:v>
                </c:pt>
                <c:pt idx="42">
                  <c:v>2025.666666667</c:v>
                </c:pt>
                <c:pt idx="43">
                  <c:v>2025.916666667</c:v>
                </c:pt>
              </c:numCache>
            </c:numRef>
          </c:xVal>
          <c:yVal>
            <c:numRef>
              <c:f>'Chart Data'!$D$2:$D$45</c:f>
              <c:numCache>
                <c:formatCode>#,##0</c:formatCode>
                <c:ptCount val="44"/>
                <c:pt idx="0">
                  <c:v>4747.6</c:v>
                </c:pt>
                <c:pt idx="1">
                  <c:v>4747.6</c:v>
                </c:pt>
                <c:pt idx="2">
                  <c:v>4747.6</c:v>
                </c:pt>
                <c:pt idx="3">
                  <c:v>4747.6</c:v>
                </c:pt>
                <c:pt idx="4">
                  <c:v>4747.6</c:v>
                </c:pt>
                <c:pt idx="5">
                  <c:v>4747.6</c:v>
                </c:pt>
                <c:pt idx="6">
                  <c:v>4747.6</c:v>
                </c:pt>
                <c:pt idx="7">
                  <c:v>4747.6</c:v>
                </c:pt>
                <c:pt idx="8">
                  <c:v>4747.6</c:v>
                </c:pt>
                <c:pt idx="9">
                  <c:v>4747.6</c:v>
                </c:pt>
                <c:pt idx="10">
                  <c:v>4747.6</c:v>
                </c:pt>
                <c:pt idx="11">
                  <c:v>4747.6</c:v>
                </c:pt>
                <c:pt idx="12">
                  <c:v>4747.6</c:v>
                </c:pt>
                <c:pt idx="13">
                  <c:v>4747.6</c:v>
                </c:pt>
                <c:pt idx="14">
                  <c:v>4747.6</c:v>
                </c:pt>
                <c:pt idx="15">
                  <c:v>4747.6</c:v>
                </c:pt>
                <c:pt idx="16">
                  <c:v>4747.6</c:v>
                </c:pt>
                <c:pt idx="17">
                  <c:v>4747.6</c:v>
                </c:pt>
                <c:pt idx="18">
                  <c:v>4747.6</c:v>
                </c:pt>
                <c:pt idx="19">
                  <c:v>4747.6</c:v>
                </c:pt>
                <c:pt idx="20">
                  <c:v>4747.6</c:v>
                </c:pt>
                <c:pt idx="21">
                  <c:v>4747.6</c:v>
                </c:pt>
                <c:pt idx="22">
                  <c:v>4747.6</c:v>
                </c:pt>
                <c:pt idx="23">
                  <c:v>4747.6</c:v>
                </c:pt>
                <c:pt idx="24">
                  <c:v>4747.6</c:v>
                </c:pt>
                <c:pt idx="25">
                  <c:v>4747.6</c:v>
                </c:pt>
                <c:pt idx="26">
                  <c:v>4747.6</c:v>
                </c:pt>
                <c:pt idx="27">
                  <c:v>4747.6</c:v>
                </c:pt>
                <c:pt idx="28">
                  <c:v>4747.6</c:v>
                </c:pt>
                <c:pt idx="29">
                  <c:v>4747.6</c:v>
                </c:pt>
                <c:pt idx="30">
                  <c:v>4747.6</c:v>
                </c:pt>
                <c:pt idx="31">
                  <c:v>4747.6</c:v>
                </c:pt>
                <c:pt idx="32">
                  <c:v>4747.6</c:v>
                </c:pt>
                <c:pt idx="33">
                  <c:v>4747.6</c:v>
                </c:pt>
                <c:pt idx="34">
                  <c:v>4747.6</c:v>
                </c:pt>
                <c:pt idx="35">
                  <c:v>4747.6</c:v>
                </c:pt>
                <c:pt idx="36">
                  <c:v>4747.6</c:v>
                </c:pt>
                <c:pt idx="37">
                  <c:v>4747.6</c:v>
                </c:pt>
                <c:pt idx="38">
                  <c:v>4747.6</c:v>
                </c:pt>
                <c:pt idx="39">
                  <c:v>4747.6</c:v>
                </c:pt>
                <c:pt idx="40">
                  <c:v>4747.6</c:v>
                </c:pt>
                <c:pt idx="41">
                  <c:v>4747.6</c:v>
                </c:pt>
                <c:pt idx="42">
                  <c:v>4747.6</c:v>
                </c:pt>
                <c:pt idx="43">
                  <c:v>4747.6</c:v>
                </c:pt>
              </c:numCache>
            </c:numRef>
          </c:yVal>
          <c:smooth val="0"/>
        </c:ser>
        <c:ser>
          <c:idx val="2"/>
          <c:order val="2"/>
          <c:tx>
            <c:v>Stress floor: 3,815.9</c:v>
          </c:tx>
          <c:spPr>
            <a:ln xmlns:a="http://schemas.openxmlformats.org/drawingml/2006/main" w="23813">
              <a:solidFill>
                <a:srgbClr val="A5483C"/>
              </a:solidFill>
              <a:prstDash val="dash"/>
            </a:ln>
          </c:spPr>
          <c:marker>
            <c:symbol val="none"/>
          </c:marker>
          <c:xVal>
            <c:numRef>
              <c:f>'Chart Data'!$E$2:$E$45</c:f>
              <c:numCache>
                <c:formatCode>General</c:formatCode>
                <c:ptCount val="44"/>
                <c:pt idx="0">
                  <c:v>2015.166666667</c:v>
                </c:pt>
                <c:pt idx="1">
                  <c:v>2015.416666667</c:v>
                </c:pt>
                <c:pt idx="2">
                  <c:v>2015.666666667</c:v>
                </c:pt>
                <c:pt idx="3">
                  <c:v>2015.916666667</c:v>
                </c:pt>
                <c:pt idx="4">
                  <c:v>2016.166666667</c:v>
                </c:pt>
                <c:pt idx="5">
                  <c:v>2016.416666667</c:v>
                </c:pt>
                <c:pt idx="6">
                  <c:v>2016.666666667</c:v>
                </c:pt>
                <c:pt idx="7">
                  <c:v>2016.916666667</c:v>
                </c:pt>
                <c:pt idx="8">
                  <c:v>2017.166666667</c:v>
                </c:pt>
                <c:pt idx="9">
                  <c:v>2017.416666667</c:v>
                </c:pt>
                <c:pt idx="10">
                  <c:v>2017.666666667</c:v>
                </c:pt>
                <c:pt idx="11">
                  <c:v>2017.916666667</c:v>
                </c:pt>
                <c:pt idx="12">
                  <c:v>2018.166666667</c:v>
                </c:pt>
                <c:pt idx="13">
                  <c:v>2018.416666667</c:v>
                </c:pt>
                <c:pt idx="14">
                  <c:v>2018.666666667</c:v>
                </c:pt>
                <c:pt idx="15">
                  <c:v>2018.916666667</c:v>
                </c:pt>
                <c:pt idx="16">
                  <c:v>2019.166666667</c:v>
                </c:pt>
                <c:pt idx="17">
                  <c:v>2019.416666667</c:v>
                </c:pt>
                <c:pt idx="18">
                  <c:v>2019.666666667</c:v>
                </c:pt>
                <c:pt idx="19">
                  <c:v>2019.916666667</c:v>
                </c:pt>
                <c:pt idx="20">
                  <c:v>2020.166666667</c:v>
                </c:pt>
                <c:pt idx="21">
                  <c:v>2020.416666667</c:v>
                </c:pt>
                <c:pt idx="22">
                  <c:v>2020.666666667</c:v>
                </c:pt>
                <c:pt idx="23">
                  <c:v>2020.916666667</c:v>
                </c:pt>
                <c:pt idx="24">
                  <c:v>2021.166666667</c:v>
                </c:pt>
                <c:pt idx="25">
                  <c:v>2021.416666667</c:v>
                </c:pt>
                <c:pt idx="26">
                  <c:v>2021.666666667</c:v>
                </c:pt>
                <c:pt idx="27">
                  <c:v>2021.916666667</c:v>
                </c:pt>
                <c:pt idx="28">
                  <c:v>2022.166666667</c:v>
                </c:pt>
                <c:pt idx="29">
                  <c:v>2022.416666667</c:v>
                </c:pt>
                <c:pt idx="30">
                  <c:v>2022.666666667</c:v>
                </c:pt>
                <c:pt idx="31">
                  <c:v>2022.916666667</c:v>
                </c:pt>
                <c:pt idx="32">
                  <c:v>2023.166666667</c:v>
                </c:pt>
                <c:pt idx="33">
                  <c:v>2023.416666667</c:v>
                </c:pt>
                <c:pt idx="34">
                  <c:v>2023.666666667</c:v>
                </c:pt>
                <c:pt idx="35">
                  <c:v>2023.916666667</c:v>
                </c:pt>
                <c:pt idx="36">
                  <c:v>2024.166666667</c:v>
                </c:pt>
                <c:pt idx="37">
                  <c:v>2024.416666667</c:v>
                </c:pt>
                <c:pt idx="38">
                  <c:v>2024.666666667</c:v>
                </c:pt>
                <c:pt idx="39">
                  <c:v>2024.916666667</c:v>
                </c:pt>
                <c:pt idx="40">
                  <c:v>2025.166666667</c:v>
                </c:pt>
                <c:pt idx="41">
                  <c:v>2025.416666667</c:v>
                </c:pt>
                <c:pt idx="42">
                  <c:v>2025.666666667</c:v>
                </c:pt>
                <c:pt idx="43">
                  <c:v>2025.916666667</c:v>
                </c:pt>
              </c:numCache>
            </c:numRef>
          </c:xVal>
          <c:yVal>
            <c:numRef>
              <c:f>'Chart Data'!$F$2:$F$45</c:f>
              <c:numCache>
                <c:formatCode>#,##0</c:formatCode>
                <c:ptCount val="44"/>
                <c:pt idx="0">
                  <c:v>3815.9</c:v>
                </c:pt>
                <c:pt idx="1">
                  <c:v>3815.9</c:v>
                </c:pt>
                <c:pt idx="2">
                  <c:v>3815.9</c:v>
                </c:pt>
                <c:pt idx="3">
                  <c:v>3815.9</c:v>
                </c:pt>
                <c:pt idx="4">
                  <c:v>3815.9</c:v>
                </c:pt>
                <c:pt idx="5">
                  <c:v>3815.9</c:v>
                </c:pt>
                <c:pt idx="6">
                  <c:v>3815.9</c:v>
                </c:pt>
                <c:pt idx="7">
                  <c:v>3815.9</c:v>
                </c:pt>
                <c:pt idx="8">
                  <c:v>3815.9</c:v>
                </c:pt>
                <c:pt idx="9">
                  <c:v>3815.9</c:v>
                </c:pt>
                <c:pt idx="10">
                  <c:v>3815.9</c:v>
                </c:pt>
                <c:pt idx="11">
                  <c:v>3815.9</c:v>
                </c:pt>
                <c:pt idx="12">
                  <c:v>3815.9</c:v>
                </c:pt>
                <c:pt idx="13">
                  <c:v>3815.9</c:v>
                </c:pt>
                <c:pt idx="14">
                  <c:v>3815.9</c:v>
                </c:pt>
                <c:pt idx="15">
                  <c:v>3815.9</c:v>
                </c:pt>
                <c:pt idx="16">
                  <c:v>3815.9</c:v>
                </c:pt>
                <c:pt idx="17">
                  <c:v>3815.9</c:v>
                </c:pt>
                <c:pt idx="18">
                  <c:v>3815.9</c:v>
                </c:pt>
                <c:pt idx="19">
                  <c:v>3815.9</c:v>
                </c:pt>
                <c:pt idx="20">
                  <c:v>3815.9</c:v>
                </c:pt>
                <c:pt idx="21">
                  <c:v>3815.9</c:v>
                </c:pt>
                <c:pt idx="22">
                  <c:v>3815.9</c:v>
                </c:pt>
                <c:pt idx="23">
                  <c:v>3815.9</c:v>
                </c:pt>
                <c:pt idx="24">
                  <c:v>3815.9</c:v>
                </c:pt>
                <c:pt idx="25">
                  <c:v>3815.9</c:v>
                </c:pt>
                <c:pt idx="26">
                  <c:v>3815.9</c:v>
                </c:pt>
                <c:pt idx="27">
                  <c:v>3815.9</c:v>
                </c:pt>
                <c:pt idx="28">
                  <c:v>3815.9</c:v>
                </c:pt>
                <c:pt idx="29">
                  <c:v>3815.9</c:v>
                </c:pt>
                <c:pt idx="30">
                  <c:v>3815.9</c:v>
                </c:pt>
                <c:pt idx="31">
                  <c:v>3815.9</c:v>
                </c:pt>
                <c:pt idx="32">
                  <c:v>3815.9</c:v>
                </c:pt>
                <c:pt idx="33">
                  <c:v>3815.9</c:v>
                </c:pt>
                <c:pt idx="34">
                  <c:v>3815.9</c:v>
                </c:pt>
                <c:pt idx="35">
                  <c:v>3815.9</c:v>
                </c:pt>
                <c:pt idx="36">
                  <c:v>3815.9</c:v>
                </c:pt>
                <c:pt idx="37">
                  <c:v>3815.9</c:v>
                </c:pt>
                <c:pt idx="38">
                  <c:v>3815.9</c:v>
                </c:pt>
                <c:pt idx="39">
                  <c:v>3815.9</c:v>
                </c:pt>
                <c:pt idx="40">
                  <c:v>3815.9</c:v>
                </c:pt>
                <c:pt idx="41">
                  <c:v>3815.9</c:v>
                </c:pt>
                <c:pt idx="42">
                  <c:v>3815.9</c:v>
                </c:pt>
                <c:pt idx="43">
                  <c:v>3815.9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0"/>
          <c:min val="3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Quarterly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2026"/>
          <c:min val="2015"/>
        </c:scaling>
        <c:delete val="0"/>
        <c:axPos val="b"/>
        <c:numFmt formatCode="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Non-Interest Income">
            <a:extLst xmlns:a="http://schemas.openxmlformats.org/drawingml/2006/main">
              <a:ext uri="{FF2B5EF4-FFF2-40B4-BE49-F238E27FC236}">
                <a16:creationId xmlns:a16="http://schemas.microsoft.com/office/drawing/2014/main" id="{EB96CD7F-DDE9-4EE8-AB10-F92DC897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4" name="Commercial Card&#10;Fee Revenue Modeling">
            <a:extLst xmlns:a="http://schemas.openxmlformats.org/drawingml/2006/main">
              <a:ext uri="{FF2B5EF4-FFF2-40B4-BE49-F238E27FC236}">
                <a16:creationId xmlns:a16="http://schemas.microsoft.com/office/drawing/2014/main" id="{2B2941FA-FEA4-4756-8BE5-AEB8DE75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066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Card Fee</a:t>
            </a:r>
          </a:p>
          <a:p xmlns:a="http://schemas.openxmlformats.org/drawingml/2006/main"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Modeling Methodology</a:t>
            </a:r>
          </a:p>
        </p:txBody>
      </p:sp>
      <p:sp>
        <p:nvSpPr>
          <p:cNvPr id="5" name="Small Business + Commercial Card">
            <a:extLst xmlns:a="http://schemas.openxmlformats.org/drawingml/2006/main">
              <a:ext uri="{FF2B5EF4-FFF2-40B4-BE49-F238E27FC236}">
                <a16:creationId xmlns:a16="http://schemas.microsoft.com/office/drawing/2014/main" id="{D07C77B4-83A1-471B-B1E5-C9B0BCD4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Commercial, Consumer and Debit</a:t>
            </a:r>
          </a:p>
        </p:txBody>
      </p:sp>
      <p:sp>
        <p:nvSpPr>
          <p:cNvPr id="6" name="PPNR / CCAR Model Development Review&#10;September 24, 2026">
            <a:extLst xmlns:a="http://schemas.openxmlformats.org/drawingml/2006/main">
              <a:ext uri="{FF2B5EF4-FFF2-40B4-BE49-F238E27FC236}">
                <a16:creationId xmlns:a16="http://schemas.microsoft.com/office/drawing/2014/main" id="{015241B9-DB50-4CF5-9750-4C009605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191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Model construction, estimation and forecasting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Actual history through December 2025</a:t>
            </a:r>
          </a:p>
        </p:txBody>
      </p:sp>
    </p:spTree>
    <p:extLst>
      <p:ext uri="{BB962C8B-B14F-4D97-AF65-F5344CB8AC3E}">
        <p14:creationId xmlns:p14="http://schemas.microsoft.com/office/powerpoint/2010/main" val="1609394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Card Fee Modeling Overview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Model each core component using its own fee dynamics, then c">
            <a:extLst xmlns:a="http://schemas.openxmlformats.org/drawingml/2006/main">
              <a:ext uri="{FF2B5EF4-FFF2-40B4-BE49-F238E27FC236}">
                <a16:creationId xmlns:a16="http://schemas.microsoft.com/office/drawing/2014/main" id="{94C37322-7A98-4142-A451-1E24480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Model each core component using its own fee dynamics, then combine the forecasts in quarterly amounts.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95800"/>
                <a:gridCol w="3619500"/>
              </a:tblGrid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 output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 + Small Business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Long-run fee levels followed by short-run annual growth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Restore monthly fee levels from predicted YoY growth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log change with target lags, month indicators and retail sales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Restore monthly fee levels using the exponential transformation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Regression screening followed by historical calibration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Quarterly baseline and stress amount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Monthly Commercial and Consumer forecasts combine with the q">
            <a:extLst xmlns:a="http://schemas.openxmlformats.org/drawingml/2006/main">
              <a:ext uri="{FF2B5EF4-FFF2-40B4-BE49-F238E27FC236}">
                <a16:creationId xmlns:a16="http://schemas.microsoft.com/office/drawing/2014/main" id="{2A95069D-9685-4BCD-B1AC-E303CDAC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Monthly Commercial and Consumer forecasts combine with the quarterly Debit amount to form Core Card Fee.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Card Fee Scope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86225"/>
                <a:gridCol w="6886575"/>
              </a:tblGrid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category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Integrated treatment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 Card + Small Business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Combine as the Commercial component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 Card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 the independent Consumer model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 Card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Quarterly baseline and stress calibration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QualPay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 from forward modeling after sale. Preserve historical actuals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Sponsorship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Near zero from January 2021. Reconciliation item only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4428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Other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Reconciliation item only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re Card Fee = Commercial including Small Business + Consum">
            <a:extLst xmlns:a="http://schemas.openxmlformats.org/drawingml/2006/main">
              <a:ext uri="{FF2B5EF4-FFF2-40B4-BE49-F238E27FC236}">
                <a16:creationId xmlns:a16="http://schemas.microsoft.com/office/drawing/2014/main" id="{99CE6EB9-BB0C-49B3-9DE1-10320AE9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Core Card Fee = Commercial including Small Business + Consumer + Debit. No category enters twice.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2025 Revenue Reconciliation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Full-year historical amounts. The source workbook still incl">
            <a:extLst xmlns:a="http://schemas.openxmlformats.org/drawingml/2006/main">
              <a:ext uri="{FF2B5EF4-FFF2-40B4-BE49-F238E27FC236}">
                <a16:creationId xmlns:a16="http://schemas.microsoft.com/office/drawing/2014/main" id="{AE7E1315-58B2-41F4-8D5E-C696388F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Full-year historical amounts. The source workbook still includes QualPay revenue in 2025.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67056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0450"/>
                <a:gridCol w="1704975"/>
                <a:gridCol w="1400175"/>
              </a:tblGrid>
              <a:tr h="63627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Core component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 revenue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Core share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63627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 + Small Business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25,882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47.9%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63627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8,872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16.4%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19,320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35.7%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63627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 Card Fee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54,074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7639050" y="2047875"/>
          <a:ext xmlns:a="http://schemas.openxmlformats.org/drawingml/2006/main" cx="394335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81275"/>
                <a:gridCol w="1362075"/>
              </a:tblGrid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Reconciliation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 amount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 Card Fee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54,074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Sponsorship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−299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Other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623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Total excluding QualPay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54,398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Historical QualPay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14,954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</a:tr>
              <a:tr h="45447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source categories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69,352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he forward model perimeter differs from historical reported">
            <a:extLst xmlns:a="http://schemas.openxmlformats.org/drawingml/2006/main">
              <a:ext uri="{FF2B5EF4-FFF2-40B4-BE49-F238E27FC236}">
                <a16:creationId xmlns:a16="http://schemas.microsoft.com/office/drawing/2014/main" id="{70108899-11B7-4713-A1C1-C71956E2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forward model perimeter differs from historical reported categories because QualPay has been sold.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Historical Core Card Fee Components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Monthly source amounts, January 2011 through December 2025">
            <a:extLst xmlns:a="http://schemas.openxmlformats.org/drawingml/2006/main">
              <a:ext uri="{FF2B5EF4-FFF2-40B4-BE49-F238E27FC236}">
                <a16:creationId xmlns:a16="http://schemas.microsoft.com/office/drawing/2014/main" id="{A8EDFDB3-E95B-45F6-A71B-8B019F22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Monthly source amounts, January 2011 through December 2025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109728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a0df88e1e14858"/>
          </a:graphicData>
        </a:graphic>
      </p:graphicFrame>
      <p:sp>
        <p:nvSpPr>
          <p:cNvPr id="8" name="Historical totals retain raw fees. The Debit model separatel">
            <a:extLst xmlns:a="http://schemas.openxmlformats.org/drawingml/2006/main">
              <a:ext uri="{FF2B5EF4-FFF2-40B4-BE49-F238E27FC236}">
                <a16:creationId xmlns:a16="http://schemas.microsoft.com/office/drawing/2014/main" id="{2983CD74-62BE-4536-99BE-5345653C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Historical totals retain raw fees. The Debit model separately applies the documented 2011 and 2012 adjustments.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Sponsorship History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Monthly actuals show a step down from January 2021, followed">
            <a:extLst xmlns:a="http://schemas.openxmlformats.org/drawingml/2006/main">
              <a:ext uri="{FF2B5EF4-FFF2-40B4-BE49-F238E27FC236}">
                <a16:creationId xmlns:a16="http://schemas.microsoft.com/office/drawing/2014/main" id="{5F5BD004-ED48-4962-B467-FC8D237F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Monthly actuals show a step down from January 2021, followed by small positive and negative balances.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a8b7ff0f8548f3"/>
          </a:graphicData>
        </a:graphic>
      </p:graphicFrame>
      <p:sp>
        <p:nvSpPr>
          <p:cNvPr id="8" name="2020 total: 7,994.  January 2021 onward: monthly average −20">
            <a:extLst xmlns:a="http://schemas.openxmlformats.org/drawingml/2006/main">
              <a:ext uri="{FF2B5EF4-FFF2-40B4-BE49-F238E27FC236}">
                <a16:creationId xmlns:a16="http://schemas.microsoft.com/office/drawing/2014/main" id="{778FDD12-2085-4CB2-94DE-4BF5F6B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2020 total: 7,994.  January 2021 onward: monthly average −20.2.  2025 total: −299.</a:t>
            </a:r>
          </a:p>
        </p:txBody>
      </p:sp>
      <p:sp>
        <p:nvSpPr>
          <p:cNvPr id="9" name="Sponsorship stays outside the model perimeter. Retain the ac">
            <a:extLst xmlns:a="http://schemas.openxmlformats.org/drawingml/2006/main">
              <a:ext uri="{FF2B5EF4-FFF2-40B4-BE49-F238E27FC236}">
                <a16:creationId xmlns:a16="http://schemas.microsoft.com/office/drawing/2014/main" id="{C7DDEB40-C9E2-4A62-B9B9-30C352F8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Sponsorship stays outside the model perimeter. Retain the actual residual when reconciling total fees.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Component Modeling Framework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9775"/>
                <a:gridCol w="4552950"/>
                <a:gridCol w="4410075"/>
              </a:tblGrid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and model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Estimation / calibration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fee level plus YoY growth ECM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Long run: Jan 2011 – Sep 2023</a:t>
                      </a:r>
                    </a:p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 run: Jul 2012 – Sep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log change with two lags, seasonality and retail growth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Apr 2011 – Sep 2023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Quarterly baseline and stress floor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Baseline: 2024 Q1 – 2025 Q4</a:t>
                      </a:r>
                    </a:p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Stress history: 2015 Q1 – 2025 Q4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7" name="Commercial and Consumer assess Oct 2023 – Dec 2025 OOT. Debi">
            <a:extLst xmlns:a="http://schemas.openxmlformats.org/drawingml/2006/main">
              <a:ext uri="{FF2B5EF4-FFF2-40B4-BE49-F238E27FC236}">
                <a16:creationId xmlns:a16="http://schemas.microsoft.com/office/drawing/2014/main" id="{40F6D0D5-5EEF-42E6-A763-81E88AF7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Commercial and Consumer assess Oct 2023 – Dec 2025 OOT. Debit uses later actuals to calibrate its reported assumptions.</a:t>
            </a:r>
          </a:p>
        </p:txBody>
      </p:sp>
      <p:sp>
        <p:nvSpPr>
          <p:cNvPr id="8" name="Different targets, windows and forecast protocols require se">
            <a:extLst xmlns:a="http://schemas.openxmlformats.org/drawingml/2006/main">
              <a:ext uri="{FF2B5EF4-FFF2-40B4-BE49-F238E27FC236}">
                <a16:creationId xmlns:a16="http://schemas.microsoft.com/office/drawing/2014/main" id="{E178122A-7072-4F11-A97F-DD2F9705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Each component has its own estimation procedure. Convert the outputs to fee amounts before quarterly aggregation.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BDF0BA8-81E5-414F-963F-5D4A5004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Target and Study Windows</a:t>
            </a:r>
          </a:p>
        </p:txBody>
      </p:sp>
      <p:sp>
        <p:nvSpPr>
          <p:cNvPr id="5" name="4">
            <a:extLst xmlns:a="http://schemas.openxmlformats.org/drawingml/2006/main">
              <a:ext uri="{FF2B5EF4-FFF2-40B4-BE49-F238E27FC236}">
                <a16:creationId xmlns:a16="http://schemas.microsoft.com/office/drawing/2014/main" id="{2CE2D929-FC26-4CFA-A6BB-A17F71A9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Fₜ = Commercial Cardₜ + Small Businessₜ">
            <a:extLst xmlns:a="http://schemas.openxmlformats.org/drawingml/2006/main">
              <a:ext uri="{FF2B5EF4-FFF2-40B4-BE49-F238E27FC236}">
                <a16:creationId xmlns:a16="http://schemas.microsoft.com/office/drawing/2014/main" id="{87367FE4-A57F-48DC-B70F-F5163752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382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Fₜ = Commercial Cardₜ + Small Businessₜ</a:t>
            </a:r>
          </a:p>
        </p:txBody>
      </p:sp>
      <p:sp>
        <p:nvSpPr>
          <p:cNvPr id="8" name="gₜ = 100 × (Fₜ / Fₜ₋₁₂ − 1)">
            <a:extLst xmlns:a="http://schemas.openxmlformats.org/drawingml/2006/main">
              <a:ext uri="{FF2B5EF4-FFF2-40B4-BE49-F238E27FC236}">
                <a16:creationId xmlns:a16="http://schemas.microsoft.com/office/drawing/2014/main" id="{23477880-8249-4223-BF90-66F05C3D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476B"/>
                </a:solidFill>
                <a:latin typeface="Arial"/>
                <a:ea typeface="Arial"/>
                <a:cs typeface="Arial"/>
              </a:rPr>
              <a:t>gₜ = 100 × (Fₜ / Fₜ₋₁₂ − 1)</a:t>
            </a:r>
          </a:p>
        </p:txBody>
      </p:sp>
      <p:graphicFrame>
        <p:nvGraphicFramePr>
          <p:cNvPr id="18" name="表格 23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4191000"/>
                <a:gridCol w="2590800"/>
              </a:tblGrid>
              <a:tr h="4648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Observations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Long-run estimation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2011 – Sep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153 months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final estimation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 2012 – Sep 2023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135 months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Historical OOT evaluation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 2023 – Dec 2025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 months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Complete fee history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2011 – Dec 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180 months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Annual transformations use data from Jan 2011 onward. F">
            <a:extLst xmlns:a="http://schemas.openxmlformats.org/drawingml/2006/main">
              <a:ext uri="{FF2B5EF4-FFF2-40B4-BE49-F238E27FC236}">
                <a16:creationId xmlns:a16="http://schemas.microsoft.com/office/drawing/2014/main" id="{FD9BE0A3-3005-46D1-ADE8-2A41FF18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97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YoY growth and its six-month lag shift the short-run start to July 2012.</a:t>
            </a:r>
          </a:p>
        </p:txBody>
      </p:sp>
      <p:sp>
        <p:nvSpPr>
          <p:cNvPr id="12" name="The modeled target is year-over-year percentage growth,">
            <a:extLst xmlns:a="http://schemas.openxmlformats.org/drawingml/2006/main">
              <a:ext uri="{FF2B5EF4-FFF2-40B4-BE49-F238E27FC236}">
                <a16:creationId xmlns:a16="http://schemas.microsoft.com/office/drawing/2014/main" id="{5CF6321C-0FD7-4E6B-B623-B5A4E120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modeled target is year-over-year percentage growth, while forecast errors use restored fee levels.</a:t>
            </a:r>
          </a:p>
        </p:txBody>
      </p:sp>
    </p:spTree>
    <p:extLst>
      <p:ext uri="{BB962C8B-B14F-4D97-AF65-F5344CB8AC3E}">
        <p14:creationId xmlns:p14="http://schemas.microsoft.com/office/powerpoint/2010/main" val="1239750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Two-Step Framework</a:t>
            </a:r>
          </a:p>
        </p:txBody>
      </p:sp>
      <p:sp>
        <p:nvSpPr>
          <p:cNvPr id="5" name="6">
            <a:extLst xmlns:a="http://schemas.openxmlformats.org/drawingml/2006/main"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1   Long-run level relationship">
            <a:extLst xmlns:a="http://schemas.openxmlformats.org/drawingml/2006/main">
              <a:ext uri="{FF2B5EF4-FFF2-40B4-BE49-F238E27FC236}">
                <a16:creationId xmlns:a16="http://schemas.microsoft.com/office/drawing/2014/main" id="{A3DD59D4-62B0-4540-8551-A5FB5FDC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192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Step 1   Long-run level relationship and residual test</a:t>
            </a:r>
          </a:p>
        </p:txBody>
      </p:sp>
      <p:sp>
        <p:nvSpPr>
          <p:cNvPr id="8" name="Estimate Fₜ from macro levels. Define the equilibrium g">
            <a:extLst xmlns:a="http://schemas.openxmlformats.org/drawingml/2006/main">
              <a:ext uri="{FF2B5EF4-FFF2-40B4-BE49-F238E27FC236}">
                <a16:creationId xmlns:a16="http://schemas.microsoft.com/office/drawing/2014/main" id="{6C429247-0757-4C24-81AA-728CFB0B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Estimate Fₜ from macro levels. Test the fitted residual for cointegration and define ECₜ = actual Fₜ − fitted long-run Fₜ.</a:t>
            </a:r>
          </a:p>
        </p:txBody>
      </p:sp>
      <p:sp>
        <p:nvSpPr>
          <p:cNvPr id="9" name="2   Short-run annual growth">
            <a:extLst xmlns:a="http://schemas.openxmlformats.org/drawingml/2006/main">
              <a:ext uri="{FF2B5EF4-FFF2-40B4-BE49-F238E27FC236}">
                <a16:creationId xmlns:a16="http://schemas.microsoft.com/office/drawing/2014/main" id="{7BF4DCAA-7A60-44A0-8D43-A157E650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Step 2   Short-run annual growth</a:t>
            </a:r>
          </a:p>
        </p:txBody>
      </p:sp>
      <p:sp>
        <p:nvSpPr>
          <p:cNvPr id="10" name="Explain gₜ using ECₜ₋₁₂, lagged g, and annual macro cha">
            <a:extLst xmlns:a="http://schemas.openxmlformats.org/drawingml/2006/main">
              <a:ext uri="{FF2B5EF4-FFF2-40B4-BE49-F238E27FC236}">
                <a16:creationId xmlns:a16="http://schemas.microsoft.com/office/drawing/2014/main" id="{9777B6D2-8D6B-4B65-BB94-E5D71155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32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Explain gₜ using ECₜ₋₁₂, lagged g, and annual macro changes. The EC term remains in original fee units.</a:t>
            </a:r>
          </a:p>
        </p:txBody>
      </p:sp>
      <p:sp>
        <p:nvSpPr>
          <p:cNvPr id="11" name="Forecast restoration">
            <a:extLst xmlns:a="http://schemas.openxmlformats.org/drawingml/2006/main">
              <a:ext uri="{FF2B5EF4-FFF2-40B4-BE49-F238E27FC236}">
                <a16:creationId xmlns:a16="http://schemas.microsoft.com/office/drawing/2014/main" id="{A2CBB187-EA39-4234-A4E2-C133D4E8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Forecast restoration</a:t>
            </a:r>
          </a:p>
        </p:txBody>
      </p:sp>
      <p:sp>
        <p:nvSpPr>
          <p:cNvPr id="12" name="F̂ₜ = Fₜ₋₁₂ × (1 + ĝₜ / 100). Recursive forecasts repla">
            <a:extLst xmlns:a="http://schemas.openxmlformats.org/drawingml/2006/main">
              <a:ext uri="{FF2B5EF4-FFF2-40B4-BE49-F238E27FC236}">
                <a16:creationId xmlns:a16="http://schemas.microsoft.com/office/drawing/2014/main" id="{34EDE2D3-FAC2-4614-8A56-B487318D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F̂ₜ = Fₜ₋₁₂ × (1 + ĝₜ / 100). Recursive forecasts replace unavailable fee history with prior predictions.</a:t>
            </a:r>
          </a:p>
        </p:txBody>
      </p:sp>
      <p:sp>
        <p:nvSpPr>
          <p:cNvPr id="14" name="The 12-month error-correction lag matches the annual gr">
            <a:extLst xmlns:a="http://schemas.openxmlformats.org/drawingml/2006/main">
              <a:ext uri="{FF2B5EF4-FFF2-40B4-BE49-F238E27FC236}">
                <a16:creationId xmlns:a16="http://schemas.microsoft.com/office/drawing/2014/main" id="{6D50FFDD-6559-4DF9-B314-C9950F2B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Estimate the long-run equation first, then carry its level residual into the short-run annual-growth equation.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Long-Run Variable Selection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Screen macro levels using ADF p ≥ 0.05 and KPSS p &lt; 0.05, th">
            <a:extLst xmlns:a="http://schemas.openxmlformats.org/drawingml/2006/main">
              <a:ext uri="{FF2B5EF4-FFF2-40B4-BE49-F238E27FC236}">
                <a16:creationId xmlns:a16="http://schemas.microsoft.com/office/drawing/2014/main" id="{0498570F-B8D4-4F14-88EE-13DA08D4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Screen macro levels using ADF p ≥ 0.05 and KPSS p &lt; 0.05, then fit combined fee revenue by OLS.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rule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 addition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Try each remaining macro in the current OLS equation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Eligibility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Added-term p &lt; 0.05, maximum slope VIF &lt; 10 and ordinary residual ADF p &lt; 0.05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Choose the eligible addition with the highest adjusted R²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Selected equation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 and Small Business Optimism (SBOpt)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Residual construction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ECₜ = actual combined feeₜ − fitted long-run feeₜ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The formal Engle–Granger test follows estimation and provide">
            <a:extLst xmlns:a="http://schemas.openxmlformats.org/drawingml/2006/main">
              <a:ext uri="{FF2B5EF4-FFF2-40B4-BE49-F238E27FC236}">
                <a16:creationId xmlns:a16="http://schemas.microsoft.com/office/drawing/2014/main" id="{088131E8-C68C-4E68-9CEA-DAA88921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formal Engle–Granger test follows estimation and provides a separate residual-based cointegration result.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A6C28DE-6F6A-489B-BE84-B5010111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Long-Run Equation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5BD6D01F-AFE8-4F33-A913-C03A394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F̂ₜ = −3,766.52 + 19.4359 CPIₜ + 3.8722 SBOptₜ">
            <a:extLst xmlns:a="http://schemas.openxmlformats.org/drawingml/2006/main">
              <a:ext uri="{FF2B5EF4-FFF2-40B4-BE49-F238E27FC236}">
                <a16:creationId xmlns:a16="http://schemas.microsoft.com/office/drawing/2014/main" id="{3BD702A4-C4DA-4D31-827A-3CDB227A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F̂ₜ = −3,766.52 + 19.4359 CPIₜ + 3.8722 SBOptₜ</a:t>
            </a:r>
          </a:p>
        </p:txBody>
      </p:sp>
      <p:graphicFrame>
        <p:nvGraphicFramePr>
          <p:cNvPr id="17" name="表格 22"/>
          <p:cNvGraphicFramePr/>
          <p:nvPr/>
        </p:nvGraphicFramePr>
        <p:xfrm>
          <a:off xmlns:a="http://schemas.openxmlformats.org/drawingml/2006/main" x="609600" y="2409825"/>
          <a:ext xmlns:a="http://schemas.openxmlformats.org/drawingml/2006/main" cx="10972800" cy="21907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381250"/>
                <a:gridCol w="2381250"/>
                <a:gridCol w="2495550"/>
              </a:tblGrid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t-stat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-3766.5151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-18.41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19.4359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44.43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SBOpt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3.8722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9" name="R² 92.95%     Adjusted R² 92.85%     n = 153     Maximu">
            <a:extLst xmlns:a="http://schemas.openxmlformats.org/drawingml/2006/main">
              <a:ext uri="{FF2B5EF4-FFF2-40B4-BE49-F238E27FC236}">
                <a16:creationId xmlns:a16="http://schemas.microsoft.com/office/drawing/2014/main" id="{38399AAB-CD07-492D-BD51-76603BDB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R² 92.95%     Adjusted R² 92.85%     n = 153     Maximum VIF 1.0003</a:t>
            </a:r>
          </a:p>
        </p:txBody>
      </p:sp>
      <p:sp>
        <p:nvSpPr>
          <p:cNvPr id="10" name="CPI and optimism capture an estimated nominal-revenue r">
            <a:extLst xmlns:a="http://schemas.openxmlformats.org/drawingml/2006/main">
              <a:ext uri="{FF2B5EF4-FFF2-40B4-BE49-F238E27FC236}">
                <a16:creationId xmlns:a16="http://schemas.microsoft.com/office/drawing/2014/main" id="{31EB0ED6-B35B-4012-9C3F-D22D38C6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CPI and optimism capture an estimated nominal-revenue relationship within the historical sample.</a:t>
            </a:r>
          </a:p>
        </p:txBody>
      </p:sp>
      <p:sp>
        <p:nvSpPr>
          <p:cNvPr id="12" name="Positive IS coefficients do not establish a stable long">
            <a:extLst xmlns:a="http://schemas.openxmlformats.org/drawingml/2006/main">
              <a:ext uri="{FF2B5EF4-FFF2-40B4-BE49-F238E27FC236}">
                <a16:creationId xmlns:a16="http://schemas.microsoft.com/office/drawing/2014/main" id="{DAE17A43-DA3C-449D-A346-22A84D93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CPI and SBOpt enter in levels. The residual from this equation defines the error-correction term.</a:t>
            </a:r>
          </a:p>
        </p:txBody>
      </p:sp>
    </p:spTree>
    <p:extLst>
      <p:ext uri="{BB962C8B-B14F-4D97-AF65-F5344CB8AC3E}">
        <p14:creationId xmlns:p14="http://schemas.microsoft.com/office/powerpoint/2010/main" val="1566395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Cointegration Tests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Nominal p-values are conditional on the selected specif">
            <a:extLst xmlns:a="http://schemas.openxmlformats.org/drawingml/2006/main">
              <a:ext uri="{FF2B5EF4-FFF2-40B4-BE49-F238E27FC236}">
                <a16:creationId xmlns:a16="http://schemas.microsoft.com/office/drawing/2014/main" id="{4410BD07-5CB7-4D9D-822D-00CE8A96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ordinary residual ADF is the implemented selection gate. The formal Engle–Granger test accounts for the estimated long-run regression.</a:t>
            </a:r>
          </a:p>
        </p:txBody>
      </p:sp>
      <p:sp>
        <p:nvSpPr>
          <p:cNvPr id="10" name="Residual diagnostics are favorable, while formal cointe">
            <a:extLst xmlns:a="http://schemas.openxmlformats.org/drawingml/2006/main">
              <a:ext uri="{FF2B5EF4-FFF2-40B4-BE49-F238E27FC236}">
                <a16:creationId xmlns:a16="http://schemas.microsoft.com/office/drawing/2014/main" id="{8F1857F6-63BE-462B-99CA-A2F33165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ordinary ADF and formal Engle–Granger tests use different reference distributions. The formal test does not reject at 5%.</a:t>
            </a:r>
          </a:p>
        </p:txBody>
      </p:sp>
      <p:graphicFrame>
        <p:nvGraphicFramePr>
          <p:cNvPr id="16" name="表格 22"/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809750"/>
                <a:gridCol w="4210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Ordinary long-run residual ADF p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Passes the implemented gate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Formal Engle–Granger 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0.087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Does not reject at 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1700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BE5A248-4371-435F-9075-1F7A6895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Historical Fit and OOT Drift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D0C6B3AC-E260-41D2-9C19-4F7FD50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Frozen September 2023 long-run fit versus actual fee; O">
            <a:extLst xmlns:a="http://schemas.openxmlformats.org/drawingml/2006/main">
              <a:ext uri="{FF2B5EF4-FFF2-40B4-BE49-F238E27FC236}">
                <a16:creationId xmlns:a16="http://schemas.microsoft.com/office/drawing/2014/main" id="{E138ADA1-8FE8-4CD1-81B4-71B0AB7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Frozen September 2023 long-run fit versus actual fee; OOT begins October 2023.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931c1a27804b84"/>
          </a:graphicData>
        </a:graphic>
      </p:graphicFrame>
      <p:sp>
        <p:nvSpPr>
          <p:cNvPr id="10" name="The mean long-run gap falls from approximately zero in ">
            <a:extLst xmlns:a="http://schemas.openxmlformats.org/drawingml/2006/main">
              <a:ext uri="{FF2B5EF4-FFF2-40B4-BE49-F238E27FC236}">
                <a16:creationId xmlns:a16="http://schemas.microsoft.com/office/drawing/2014/main" id="{4415AE64-502A-4449-AF11-84EC3CDC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mean long-run gap falls from approximately zero in IS to −510.05 source units in OOT.</a:t>
            </a:r>
          </a:p>
        </p:txBody>
      </p:sp>
    </p:spTree>
    <p:extLst>
      <p:ext uri="{BB962C8B-B14F-4D97-AF65-F5344CB8AC3E}">
        <p14:creationId xmlns:p14="http://schemas.microsoft.com/office/powerpoint/2010/main" val="19510978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A91DD84-C589-4064-AD62-D95E741C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Structural Change Tests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CUSUM uses ddof = 3. Chow evaluates the fixed CPI + SBO">
            <a:extLst xmlns:a="http://schemas.openxmlformats.org/drawingml/2006/main">
              <a:ext uri="{FF2B5EF4-FFF2-40B4-BE49-F238E27FC236}">
                <a16:creationId xmlns:a16="http://schemas.microsoft.com/office/drawing/2014/main" id="{546AD5F7-D706-4EFE-A596-0B5286B1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3877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CUSUM uses ddof = 3. Chow evaluates the fixed CPI + SBOpt specification on both sides of the break.</a:t>
            </a:r>
          </a:p>
        </p:txBody>
      </p:sp>
      <p:sp>
        <p:nvSpPr>
          <p:cNvPr id="10" name="The later sample provides evidence of parameter instabi">
            <a:extLst xmlns:a="http://schemas.openxmlformats.org/drawingml/2006/main">
              <a:ext uri="{FF2B5EF4-FFF2-40B4-BE49-F238E27FC236}">
                <a16:creationId xmlns:a16="http://schemas.microsoft.com/office/drawing/2014/main" id="{97FC4CDF-CFDA-4AE6-B025-9D5665D2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full-history CUSUM and October 2023 Chow tests detect a change relative to the in-sample relationship.</a:t>
            </a:r>
          </a:p>
        </p:txBody>
      </p:sp>
      <p:sp>
        <p:nvSpPr>
          <p:cNvPr id="11" name="CUSUM test">
            <a:extLst xmlns:a="http://schemas.openxmlformats.org/drawingml/2006/main">
              <a:ext uri="{FF2B5EF4-FFF2-40B4-BE49-F238E27FC236}">
                <a16:creationId xmlns:a16="http://schemas.microsoft.com/office/drawing/2014/main" id="{EB1D0171-DE62-48F9-A671-F8E1F2DF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CUSUM test</a:t>
            </a:r>
          </a:p>
        </p:txBody>
      </p:sp>
      <p:sp>
        <p:nvSpPr>
          <p:cNvPr id="12" name="Chow test">
            <a:extLst xmlns:a="http://schemas.openxmlformats.org/drawingml/2006/main">
              <a:ext uri="{FF2B5EF4-FFF2-40B4-BE49-F238E27FC236}">
                <a16:creationId xmlns:a16="http://schemas.microsoft.com/office/drawing/2014/main" id="{2FEABD9C-575F-42D1-B5B7-47293AB6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Chow test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527685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428750"/>
                <a:gridCol w="1371600"/>
              </a:tblGrid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Statistic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IS long-run residuals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0.951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0.327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Full history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2.173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"/>
          <p:cNvGraphicFramePr/>
          <p:nvPr/>
        </p:nvGraphicFramePr>
        <p:xfrm>
          <a:off xmlns:a="http://schemas.openxmlformats.org/drawingml/2006/main" x="6305550" y="2019300"/>
          <a:ext xmlns:a="http://schemas.openxmlformats.org/drawingml/2006/main" cx="527685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428750"/>
                <a:gridCol w="1371600"/>
              </a:tblGrid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Break date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F-statistic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October 2023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85.391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15" name="Mean error-correction residual">
            <a:extLst xmlns:a="http://schemas.openxmlformats.org/drawingml/2006/main">
              <a:ext uri="{FF2B5EF4-FFF2-40B4-BE49-F238E27FC236}">
                <a16:creationId xmlns:a16="http://schemas.microsoft.com/office/drawing/2014/main" id="{C34421DE-E447-47B9-98F8-E4D36BEA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Mean error-correction residual</a:t>
            </a:r>
          </a:p>
        </p:txBody>
      </p:sp>
      <p:sp>
        <p:nvSpPr>
          <p:cNvPr id="16" name="October–December 2023: −101.88     2024: −399.31     2025: −">
            <a:extLst xmlns:a="http://schemas.openxmlformats.org/drawingml/2006/main">
              <a:ext uri="{FF2B5EF4-FFF2-40B4-BE49-F238E27FC236}">
                <a16:creationId xmlns:a16="http://schemas.microsoft.com/office/drawing/2014/main" id="{5521383F-FF8E-4591-95AD-1C983733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October–December 2023: −101.88     2024: −399.31     2025: −722.83</a:t>
            </a:r>
          </a:p>
        </p:txBody>
      </p:sp>
    </p:spTree>
    <p:extLst>
      <p:ext uri="{BB962C8B-B14F-4D97-AF65-F5344CB8AC3E}">
        <p14:creationId xmlns:p14="http://schemas.microsoft.com/office/powerpoint/2010/main" val="2829121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Short-Run Variable Selection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Begin with EC lag 12. Screen annual macro changes and then a">
            <a:extLst xmlns:a="http://schemas.openxmlformats.org/drawingml/2006/main">
              <a:ext uri="{FF2B5EF4-FFF2-40B4-BE49-F238E27FC236}">
                <a16:creationId xmlns:a16="http://schemas.microsoft.com/office/drawing/2014/main" id="{D2DCB48A-3313-42F2-B99D-BB214CA9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Begin with EC lag 12. Screen annual macro changes and then add fee-growth dynamics.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rule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Transformation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12-month percentage changes. Unemployment uses a 12-month percentage-point difference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Stationarity screen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In-sample ADF p &lt; 0.05 OR KPSS p &gt; 0.05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Macro lag screen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Lags 0–12. Residual-Pearson p &lt; 0.20 in IS and OOT, with the same correlation sign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 pool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Up to two lags per macro family ranked by |OOT correlation|, plus fee-growth lags 1–12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Forward selection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Added p &lt; 0.05 and maximum slope VIF &lt; 10. Highest adjusted R² wins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Selection retains EC lag 12, fee-growth lags 1 and 6, and co">
            <a:extLst xmlns:a="http://schemas.openxmlformats.org/drawingml/2006/main">
              <a:ext uri="{FF2B5EF4-FFF2-40B4-BE49-F238E27FC236}">
                <a16:creationId xmlns:a16="http://schemas.microsoft.com/office/drawing/2014/main" id="{053753F1-568E-47B3-AB43-EAB1A1D9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Selection retains EC lag 12, fee-growth lags 1 and 6, and corporate-profits growth lag 3.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FDBBD05-8780-480E-A9D7-3E199E2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Short-Run Equation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5EFE8EE1-B894-4D20-B3F2-98D2CBE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ĝₜ = 2.5139 − 0.05461 ECₜ₋₁₂ + 0.36593 gₜ₋₁&#10;       + 0.">
            <a:extLst xmlns:a="http://schemas.openxmlformats.org/drawingml/2006/main">
              <a:ext uri="{FF2B5EF4-FFF2-40B4-BE49-F238E27FC236}">
                <a16:creationId xmlns:a16="http://schemas.microsoft.com/office/drawing/2014/main" id="{CC425C28-D3B4-4B15-A2BD-2EC16CBD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ĝₜ = 2.5139 − 0.05461 ECₜ₋₁₂ + 0.36593 gₜ₋₁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    + 0.22025 gₜ₋₆ + 0.21348 CorpProfits_YoYₜ₋₃</a:t>
            </a:r>
          </a:p>
        </p:txBody>
      </p:sp>
      <p:graphicFrame>
        <p:nvGraphicFramePr>
          <p:cNvPr id="16" name="表格 21"/>
          <p:cNvGraphicFramePr/>
          <p:nvPr/>
        </p:nvGraphicFramePr>
        <p:xfrm>
          <a:off xmlns:a="http://schemas.openxmlformats.org/drawingml/2006/main" x="609600" y="2581275"/>
          <a:ext xmlns:a="http://schemas.openxmlformats.org/drawingml/2006/main" cx="10972800" cy="26003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171700"/>
                <a:gridCol w="2171700"/>
                <a:gridCol w="2343150"/>
              </a:tblGrid>
              <a:tr h="4333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t-stat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Constant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2.51386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2.84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 lag 12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-0.05461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-8.80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growth lag 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0.36593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5.22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growth lag 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Corp. profits growth lag 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0.21348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9" name="Adjusted R² 71.31%     n = 135     Ordinary OLS coeffic">
            <a:extLst xmlns:a="http://schemas.openxmlformats.org/drawingml/2006/main">
              <a:ext uri="{FF2B5EF4-FFF2-40B4-BE49-F238E27FC236}">
                <a16:creationId xmlns:a16="http://schemas.microsoft.com/office/drawing/2014/main" id="{F12DB2EB-B96A-48C6-AD76-B1AA1297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Adjusted R² 71.31%     n = 135     Ordinary OLS coefficient inference</a:t>
            </a:r>
          </a:p>
        </p:txBody>
      </p:sp>
      <p:sp>
        <p:nvSpPr>
          <p:cNvPr id="11" name="The negative EC coefficient offsets prior deviations, c">
            <a:extLst xmlns:a="http://schemas.openxmlformats.org/drawingml/2006/main">
              <a:ext uri="{FF2B5EF4-FFF2-40B4-BE49-F238E27FC236}">
                <a16:creationId xmlns:a16="http://schemas.microsoft.com/office/drawing/2014/main" id="{721150AE-2FCB-4CEB-A26C-E6A82B88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negative EC coefficient offsets prior deviations, conditional on growth dynamics and corporate profits.</a:t>
            </a:r>
          </a:p>
        </p:txBody>
      </p:sp>
    </p:spTree>
    <p:extLst>
      <p:ext uri="{BB962C8B-B14F-4D97-AF65-F5344CB8AC3E}">
        <p14:creationId xmlns:p14="http://schemas.microsoft.com/office/powerpoint/2010/main" val="1899410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Short-Run Diagnostics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Nominal p-values are conditional on the selected specif">
            <a:extLst xmlns:a="http://schemas.openxmlformats.org/drawingml/2006/main">
              <a:ext uri="{FF2B5EF4-FFF2-40B4-BE49-F238E27FC236}">
                <a16:creationId xmlns:a16="http://schemas.microsoft.com/office/drawing/2014/main" id="{4410BD07-5CB7-4D9D-822D-00CE8A96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These diagnostics describe the residuals and regressors of the selected short-run OLS equation.</a:t>
            </a:r>
          </a:p>
        </p:txBody>
      </p:sp>
      <p:sp>
        <p:nvSpPr>
          <p:cNvPr id="10" name="Residual diagnostics are favorable, while formal cointe">
            <a:extLst xmlns:a="http://schemas.openxmlformats.org/drawingml/2006/main">
              <a:ext uri="{FF2B5EF4-FFF2-40B4-BE49-F238E27FC236}">
                <a16:creationId xmlns:a16="http://schemas.microsoft.com/office/drawing/2014/main" id="{8F1857F6-63BE-462B-99CA-A2F33165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Short-run residual diagnostics are favorable within the selected specification.</a:t>
            </a:r>
          </a:p>
        </p:txBody>
      </p:sp>
      <p:graphicFrame>
        <p:nvGraphicFramePr>
          <p:cNvPr id="16" name="表格 22"/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809750"/>
                <a:gridCol w="421005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Durbin–Watson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2.075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Near 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Jarque–Bera 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0.935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normality rejection at 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maximum VIF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2.291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Below the study limit of 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1700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Forecast Calculation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Freeze the long-run and short-run coefficients at September ">
            <a:extLst xmlns:a="http://schemas.openxmlformats.org/drawingml/2006/main">
              <a:ext uri="{FF2B5EF4-FFF2-40B4-BE49-F238E27FC236}">
                <a16:creationId xmlns:a16="http://schemas.microsoft.com/office/drawing/2014/main" id="{6F06CB9A-EA94-4F9E-AFAD-1E49F934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Freeze the long-run and short-run coefficients at September 2023. Apply the supplied macro paths.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000500"/>
                <a:gridCol w="4400550"/>
              </a:tblGrid>
              <a:tr h="77390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 input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Static evaluation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Fully recursive evaluation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77390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Lagged fee and growth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Observed historical values at each forecast date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Prior predictions replace post-cutoff fee and growth values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77390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Error-correction term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Observed fee minus frozen long-run fit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Recursive fee minus frozen long-run fit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Annual fee base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Observed Fₜ₋₁₂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Observed pre-cutoff base, then previously predicted Fₜ₋₁₂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F̂ₜ = fee baseₜ₋₁₂ × (1 + ĝₜ / 100)">
            <a:extLst xmlns:a="http://schemas.openxmlformats.org/drawingml/2006/main">
              <a:ext uri="{FF2B5EF4-FFF2-40B4-BE49-F238E27FC236}">
                <a16:creationId xmlns:a16="http://schemas.microsoft.com/office/drawing/2014/main" id="{2EB79532-1D27-42CF-9F36-0866BDDC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F̂ₜ = fee baseₜ₋₁₂ × (1 + ĝₜ / 100)</a:t>
            </a:r>
          </a:p>
        </p:txBody>
      </p:sp>
      <p:sp>
        <p:nvSpPr>
          <p:cNvPr id="9" name="Updating the fee path also updates its annual growth and EC ">
            <a:extLst xmlns:a="http://schemas.openxmlformats.org/drawingml/2006/main">
              <a:ext uri="{FF2B5EF4-FFF2-40B4-BE49-F238E27FC236}">
                <a16:creationId xmlns:a16="http://schemas.microsoft.com/office/drawing/2014/main" id="{2F547AB7-E40A-46CD-BA6A-ABA50063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Updating the fee path also updates its annual growth and EC terms for later recursive predictions.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B2D256-661A-413A-B067-26C62FBC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Commercial: OOT Forecasts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B18967CE-514E-4B63-BFA2-12BFFAA6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27 months, October 2023 – December 2025. Both use froze">
            <a:extLst xmlns:a="http://schemas.openxmlformats.org/drawingml/2006/main">
              <a:ext uri="{FF2B5EF4-FFF2-40B4-BE49-F238E27FC236}">
                <a16:creationId xmlns:a16="http://schemas.microsoft.com/office/drawing/2014/main" id="{5D519A26-3DDF-42C2-BDD4-2911214D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27 months, October 2023 – December 2025. Both use frozen IS coefficients.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9f83db5d7c49ad"/>
          </a:graphicData>
        </a:graphic>
      </p:graphicFrame>
      <p:graphicFrame>
        <p:nvGraphicFramePr>
          <p:cNvPr id="18" name="表格 23"/>
          <p:cNvGraphicFramePr/>
          <p:nvPr/>
        </p:nvGraphicFramePr>
        <p:xfrm>
          <a:off xmlns:a="http://schemas.openxmlformats.org/drawingml/2006/main" x="609600" y="4552950"/>
          <a:ext xmlns:a="http://schemas.openxmlformats.org/drawingml/2006/main" cx="109728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95900"/>
                <a:gridCol w="3105150"/>
                <a:gridCol w="2571750"/>
              </a:tblGrid>
              <a:tr h="3810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 mode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 (source units)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Static, observed lag history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485.81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19.15%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Fully recursive fee / growth / EC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628.18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25.62%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tatic forecasts use observed lagged fees. Recursive fo">
            <a:extLst xmlns:a="http://schemas.openxmlformats.org/drawingml/2006/main">
              <a:ext uri="{FF2B5EF4-FFF2-40B4-BE49-F238E27FC236}">
                <a16:creationId xmlns:a16="http://schemas.microsoft.com/office/drawing/2014/main" id="{1F3E50BE-5273-4502-9962-C9084BE9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Static forecasts use observed lagged fees. Recursive forecasts update the fee path without future actuals.</a:t>
            </a:r>
          </a:p>
        </p:txBody>
      </p:sp>
    </p:spTree>
    <p:extLst>
      <p:ext uri="{BB962C8B-B14F-4D97-AF65-F5344CB8AC3E}">
        <p14:creationId xmlns:p14="http://schemas.microsoft.com/office/powerpoint/2010/main" val="768487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Target Construction</a:t>
            </a:r>
          </a:p>
        </p:txBody>
      </p:sp>
      <p:sp>
        <p:nvSpPr>
          <p:cNvPr id="5" name="6">
            <a:extLst xmlns:a="http://schemas.openxmlformats.org/drawingml/2006/main"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yₜ = 100 × [ln(Fₜ) − ln(Fₜ₋₁)]">
            <a:extLst xmlns:a="http://schemas.openxmlformats.org/drawingml/2006/main">
              <a:ext uri="{FF2B5EF4-FFF2-40B4-BE49-F238E27FC236}">
                <a16:creationId xmlns:a16="http://schemas.microsoft.com/office/drawing/2014/main" id="{8B3B2CD3-9906-42E9-8A21-5B101D22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yₜ = 100 × [ln(Fₜ) − ln(Fₜ₋₁)]</a:t>
            </a:r>
          </a:p>
        </p:txBody>
      </p:sp>
      <p:sp>
        <p:nvSpPr>
          <p:cNvPr id="7" name="Fₜ is monthly Consumer Card fee revenue. The target measures">
            <a:extLst xmlns:a="http://schemas.openxmlformats.org/drawingml/2006/main">
              <a:ext uri="{FF2B5EF4-FFF2-40B4-BE49-F238E27FC236}">
                <a16:creationId xmlns:a16="http://schemas.microsoft.com/office/drawing/2014/main" id="{C8401970-8B75-4DAC-8BB5-F1A9EFFF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Fₜ is monthly Consumer Card fee revenue. The target measures monthly log change in percentage points.</a:t>
            </a:r>
          </a:p>
        </p:txBody>
      </p:sp>
      <p:sp>
        <p:nvSpPr>
          <p:cNvPr id="8" name="Macro transformations">
            <a:extLst xmlns:a="http://schemas.openxmlformats.org/drawingml/2006/main">
              <a:ext uri="{FF2B5EF4-FFF2-40B4-BE49-F238E27FC236}">
                <a16:creationId xmlns:a16="http://schemas.microsoft.com/office/drawing/2014/main" id="{B5BC888D-6E0B-4208-8764-2F462BDA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Macro transformations</a:t>
            </a:r>
          </a:p>
        </p:txBody>
      </p:sp>
      <p:sp>
        <p:nvSpPr>
          <p:cNvPr id="9" name="Unemployment: monthly percentage-point difference&#10;Other macr">
            <a:extLst xmlns:a="http://schemas.openxmlformats.org/drawingml/2006/main">
              <a:ext uri="{FF2B5EF4-FFF2-40B4-BE49-F238E27FC236}">
                <a16:creationId xmlns:a16="http://schemas.microsoft.com/office/drawing/2014/main" id="{885ABF9E-3832-4F74-A354-1189294A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Unemployment: monthly percentage-point difference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Other macros: 100 × (Xₜ / Xₜ₋₁ − 1)</a:t>
            </a:r>
          </a:p>
        </p:txBody>
      </p:sp>
      <p:sp>
        <p:nvSpPr>
          <p:cNvPr id="10" name="MA3ₜ = (changeₜ + changeₜ₋₁ + changeₜ₋₂) / 3">
            <a:extLst xmlns:a="http://schemas.openxmlformats.org/drawingml/2006/main">
              <a:ext uri="{FF2B5EF4-FFF2-40B4-BE49-F238E27FC236}">
                <a16:creationId xmlns:a16="http://schemas.microsoft.com/office/drawing/2014/main" id="{8175D2FA-A702-48B0-A8E9-5ED0350B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476B"/>
                </a:solidFill>
                <a:latin typeface="Arial"/>
                <a:ea typeface="Arial"/>
                <a:cs typeface="Arial"/>
              </a:rPr>
              <a:t>MA3ₜ = (changeₜ + changeₜ₋₁ + changeₜ₋₂) / 3</a:t>
            </a:r>
          </a:p>
        </p:txBody>
      </p:sp>
      <p:sp>
        <p:nvSpPr>
          <p:cNvPr id="11" name="All three-month averages include the current month and the t">
            <a:extLst xmlns:a="http://schemas.openxmlformats.org/drawingml/2006/main">
              <a:ext uri="{FF2B5EF4-FFF2-40B4-BE49-F238E27FC236}">
                <a16:creationId xmlns:a16="http://schemas.microsoft.com/office/drawing/2014/main" id="{93B91B9D-207D-4B08-9AD3-B26C1D0E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All three-month averages include the current month and the two preceding months.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E11BCAC-5587-4C0E-A24E-AAFC1ABD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Variable Selection</a:t>
            </a:r>
          </a:p>
        </p:txBody>
      </p:sp>
      <p:sp>
        <p:nvSpPr>
          <p:cNvPr id="5" name="7">
            <a:extLst xmlns:a="http://schemas.openxmlformats.org/drawingml/2006/main">
              <a:ext uri="{FF2B5EF4-FFF2-40B4-BE49-F238E27FC236}">
                <a16:creationId xmlns:a16="http://schemas.microsoft.com/office/drawing/2014/main" id="{49FD2A59-1653-44BB-98CD-5AA95890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Base equation: y(t−1), y(t−2), January and December">
            <a:extLst xmlns:a="http://schemas.openxmlformats.org/drawingml/2006/main">
              <a:ext uri="{FF2B5EF4-FFF2-40B4-BE49-F238E27FC236}">
                <a16:creationId xmlns:a16="http://schemas.microsoft.com/office/drawing/2014/main" id="{21731B2D-85A8-4DA0-8242-845ED8CE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Base equation: y(t−1), y(t−2), January and December</a:t>
            </a:r>
          </a:p>
        </p:txBody>
      </p:sp>
      <p:graphicFrame>
        <p:nvGraphicFramePr>
          <p:cNvPr id="14" name="表格 12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371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72250"/>
                <a:gridCol w="4400550"/>
              </a:tblGrid>
              <a:tr h="47434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Added candidate significance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 &lt; 0.05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Maximum VIF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 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Durbin–Watson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1.5 to 2.5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Jarque–Bera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 &gt; 0.05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At each round, choose the smallest candidate p-value among e">
            <a:extLst xmlns:a="http://schemas.openxmlformats.org/drawingml/2006/main">
              <a:ext uri="{FF2B5EF4-FFF2-40B4-BE49-F238E27FC236}">
                <a16:creationId xmlns:a16="http://schemas.microsoft.com/office/drawing/2014/main" id="{2792D147-9E3E-4205-A987-32385988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At each round, choose the smallest candidate p-value among equations passing all gates. Retail sales MA3 enters first. No additional macro passes significance in round two.</a:t>
            </a:r>
          </a:p>
        </p:txBody>
      </p:sp>
      <p:sp>
        <p:nvSpPr>
          <p:cNvPr id="9" name="DW serves as a descriptive diagnostic and selection heuristi">
            <a:extLst xmlns:a="http://schemas.openxmlformats.org/drawingml/2006/main">
              <a:ext uri="{FF2B5EF4-FFF2-40B4-BE49-F238E27FC236}">
                <a16:creationId xmlns:a16="http://schemas.microsoft.com/office/drawing/2014/main" id="{0B948422-BF83-437B-B302-E52BD97E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DW serves as a descriptive diagnostic and selection heuristic for this autoregressive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19964388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Model Equation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ŷₜ = −1.9831 − 0.6217 yₜ₋₁ − 0.3388 yₜ₋₂&#10;       − 11.1531 Ja">
            <a:extLst xmlns:a="http://schemas.openxmlformats.org/drawingml/2006/main">
              <a:ext uri="{FF2B5EF4-FFF2-40B4-BE49-F238E27FC236}">
                <a16:creationId xmlns:a16="http://schemas.microsoft.com/office/drawing/2014/main" id="{A0763C91-558B-464B-8FC1-24229F3D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57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ŷₜ = −1.9831 − 0.6217 yₜ₋₁ − 0.3388 yₜ₋₂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    − 11.1531 Janₜ + 19.6583 Decₜ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    + 2.5753 RetailMA3ₜ</a:t>
            </a:r>
          </a:p>
        </p:txBody>
      </p:sp>
      <p:sp>
        <p:nvSpPr>
          <p:cNvPr id="7" name="Estimation">
            <a:extLst xmlns:a="http://schemas.openxmlformats.org/drawingml/2006/main">
              <a:ext uri="{FF2B5EF4-FFF2-40B4-BE49-F238E27FC236}">
                <a16:creationId xmlns:a16="http://schemas.microsoft.com/office/drawing/2014/main" id="{30D13B16-3658-48C0-B61D-0CEF4383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Estimation</a:t>
            </a:r>
          </a:p>
        </p:txBody>
      </p:sp>
      <p:sp>
        <p:nvSpPr>
          <p:cNvPr id="8" name="Ordinary least squares on 150 months from April 2011 to Sept">
            <a:extLst xmlns:a="http://schemas.openxmlformats.org/drawingml/2006/main">
              <a:ext uri="{FF2B5EF4-FFF2-40B4-BE49-F238E27FC236}">
                <a16:creationId xmlns:a16="http://schemas.microsoft.com/office/drawing/2014/main" id="{ACFFD54F-8931-4FDD-ADCC-349F60DB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Ordinary least squares on 150 months from April 2011 to September 2023.</a:t>
            </a:r>
          </a:p>
        </p:txBody>
      </p:sp>
      <p:sp>
        <p:nvSpPr>
          <p:cNvPr id="9" name="Jan and Dec are month indicators. RetailMA3 is the trailing ">
            <a:extLst xmlns:a="http://schemas.openxmlformats.org/drawingml/2006/main">
              <a:ext uri="{FF2B5EF4-FFF2-40B4-BE49-F238E27FC236}">
                <a16:creationId xmlns:a16="http://schemas.microsoft.com/office/drawing/2014/main" id="{DBA09082-90CA-43F3-8B0F-396F66D8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Jan and Dec are month indicators. RetailMA3 is the trailing three-month arithmetic average of retail sales percentage growth.</a:t>
            </a:r>
          </a:p>
        </p:txBody>
      </p:sp>
      <p:sp>
        <p:nvSpPr>
          <p:cNvPr id="10" name="Model results">
            <a:extLst xmlns:a="http://schemas.openxmlformats.org/drawingml/2006/main">
              <a:ext uri="{FF2B5EF4-FFF2-40B4-BE49-F238E27FC236}">
                <a16:creationId xmlns:a16="http://schemas.microsoft.com/office/drawing/2014/main" id="{D72D1982-27A1-4319-ACAB-390AE336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All in-sample coefficients have p &lt; 0.05.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A91DD84-C589-4064-AD62-D95E741C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Fit and Residual Diagnostics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Jarque–Bera does not reject residual normality at 5%. Maximu">
            <a:extLst xmlns:a="http://schemas.openxmlformats.org/drawingml/2006/main">
              <a:ext uri="{FF2B5EF4-FFF2-40B4-BE49-F238E27FC236}">
                <a16:creationId xmlns:a16="http://schemas.microsoft.com/office/drawing/2014/main" id="{8A31708D-304F-4092-A3D6-A72CD2AF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Jarque–Bera does not reject residual normality at 5%. Maximum VIF indicates limited collinearity in the selected equation.</a:t>
            </a:r>
          </a:p>
        </p:txBody>
      </p:sp>
      <p:sp>
        <p:nvSpPr>
          <p:cNvPr id="8" name="The diagnostics support the report’s main assessment, but th">
            <a:extLst xmlns:a="http://schemas.openxmlformats.org/drawingml/2006/main">
              <a:ext uri="{FF2B5EF4-FFF2-40B4-BE49-F238E27FC236}">
                <a16:creationId xmlns:a16="http://schemas.microsoft.com/office/drawing/2014/main" id="{E7496D35-D8AE-41A5-B928-AB671AB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These diagnostics describe the selected monthly log-change equation.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248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4686300"/>
              </a:tblGrid>
              <a:tr h="5413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5413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0.624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5413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Adjusted R²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0.611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5413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Durbin–Watson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2.356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5413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Jarque–Bera p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0.532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5413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Maximum VIF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1.70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121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61F9A7A-634F-46EC-8F7E-85A47A5B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Conditional Backtest</a:t>
            </a:r>
          </a:p>
        </p:txBody>
      </p:sp>
      <p:sp>
        <p:nvSpPr>
          <p:cNvPr id="5" name="9">
            <a:extLst xmlns:a="http://schemas.openxmlformats.org/drawingml/2006/main">
              <a:ext uri="{FF2B5EF4-FFF2-40B4-BE49-F238E27FC236}">
                <a16:creationId xmlns:a16="http://schemas.microsoft.com/office/drawing/2014/main" id="{D3720EAC-6718-4C60-82E6-2E4D0967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F̂ₜ = observed Fₜ₋₁ × exp(ŷₜ / 100)">
            <a:extLst xmlns:a="http://schemas.openxmlformats.org/drawingml/2006/main">
              <a:ext uri="{FF2B5EF4-FFF2-40B4-BE49-F238E27FC236}">
                <a16:creationId xmlns:a16="http://schemas.microsoft.com/office/drawing/2014/main" id="{C2BAE125-A5B3-401C-BD75-8771867E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F̂ₜ = observed Fₜ₋₁ × exp(ŷₜ / 100)</a:t>
            </a:r>
          </a:p>
        </p:txBody>
      </p:sp>
      <p:sp>
        <p:nvSpPr>
          <p:cNvPr id="7" name="Fixed IS coefficients apply throughout OOT. Each month uses ">
            <a:extLst xmlns:a="http://schemas.openxmlformats.org/drawingml/2006/main">
              <a:ext uri="{FF2B5EF4-FFF2-40B4-BE49-F238E27FC236}">
                <a16:creationId xmlns:a16="http://schemas.microsoft.com/office/drawing/2014/main" id="{BCB54A36-93B7-4CFE-9A1A-F63D5304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Fixed IS coefficients apply throughout OOT. Each month uses observed target lags, the observed prior fee level and the supplied macro path.</a:t>
            </a:r>
          </a:p>
        </p:txBody>
      </p:sp>
      <p:sp>
        <p:nvSpPr>
          <p:cNvPr id="9" name="This evaluation comprises 27 monthly one-step predictions. I">
            <a:extLst xmlns:a="http://schemas.openxmlformats.org/drawingml/2006/main">
              <a:ext uri="{FF2B5EF4-FFF2-40B4-BE49-F238E27FC236}">
                <a16:creationId xmlns:a16="http://schemas.microsoft.com/office/drawing/2014/main" id="{2F347EAC-4E1F-4C76-A253-BAC40B70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OOT exercise comprises 27 monthly one-step predictions, with observed lag history refreshed each 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2628900"/>
                <a:gridCol w="2628900"/>
              </a:tblGrid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Window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 sample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6.66%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55.77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Out of time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5.05%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45.89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5164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9B26093-50CE-4B85-945C-5FB5D233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OOT Results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C3315CA4-23AC-4745-BE84-A3F4E0F5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38275"/>
          <a:ext xmlns:a="http://schemas.openxmlformats.org/drawingml/2006/main" cx="10982325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3315cdf43c4c6d"/>
          </a:graphicData>
        </a:graphic>
      </p:graphicFrame>
      <p:graphicFrame>
        <p:nvGraphicFramePr>
          <p:cNvPr id="14" name="表格 11"/>
          <p:cNvGraphicFramePr/>
          <p:nvPr/>
        </p:nvGraphicFramePr>
        <p:xfrm>
          <a:off xmlns:a="http://schemas.openxmlformats.org/drawingml/2006/main" x="609600" y="4381500"/>
          <a:ext xmlns:a="http://schemas.openxmlformats.org/drawingml/2006/main" cx="10972800" cy="1304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009650"/>
                <a:gridCol w="1619250"/>
                <a:gridCol w="1857375"/>
                <a:gridCol w="1724025"/>
                <a:gridCol w="1714500"/>
              </a:tblGrid>
              <a:tr h="4349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Log-change residuals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Std. dev.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DW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JB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 sample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8.414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2.356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0.532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Out of time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0.656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6.099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1.759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0.460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Model results">
            <a:extLst xmlns:a="http://schemas.openxmlformats.org/drawingml/2006/main">
              <a:ext uri="{FF2B5EF4-FFF2-40B4-BE49-F238E27FC236}">
                <a16:creationId xmlns:a16="http://schemas.microsoft.com/office/drawing/2014/main" id="{0A2A2EA7-8571-43C0-8352-AD9CCE74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OOT residual dispersion is lower than in sample. OOT Durbin–Watson is 1.759.</a:t>
            </a:r>
          </a:p>
        </p:txBody>
      </p:sp>
    </p:spTree>
    <p:extLst>
      <p:ext uri="{BB962C8B-B14F-4D97-AF65-F5344CB8AC3E}">
        <p14:creationId xmlns:p14="http://schemas.microsoft.com/office/powerpoint/2010/main" val="12344720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E4FD2C8-4507-4351-9B83-8EE15173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Rolling 60-Month Coefficients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81A532AC-267C-43BA-806B-3824C676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118 windows ending March 2016 to December 2025">
            <a:extLst xmlns:a="http://schemas.openxmlformats.org/drawingml/2006/main">
              <a:ext uri="{FF2B5EF4-FFF2-40B4-BE49-F238E27FC236}">
                <a16:creationId xmlns:a16="http://schemas.microsoft.com/office/drawing/2014/main" id="{C43703F8-A756-4D7B-B72F-597EB097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118 windows ending March 2016 to December 2025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90550" y="1885950"/>
          <a:ext xmlns:a="http://schemas.openxmlformats.org/drawingml/2006/main" cx="5305425" cy="3514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c5e5450856430f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219825" y="1885950"/>
          <a:ext xmlns:a="http://schemas.openxmlformats.org/drawingml/2006/main" cx="5324475" cy="3514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b9a87fcf87417e"/>
          </a:graphicData>
        </a:graphic>
      </p:graphicFrame>
      <p:sp>
        <p:nvSpPr>
          <p:cNvPr id="9" name="Both lag coefficients remain negative. Retail sales stays po">
            <a:extLst xmlns:a="http://schemas.openxmlformats.org/drawingml/2006/main">
              <a:ext uri="{FF2B5EF4-FFF2-40B4-BE49-F238E27FC236}">
                <a16:creationId xmlns:a16="http://schemas.microsoft.com/office/drawing/2014/main" id="{8FC20E43-0CA4-4C99-B52D-D340EF12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Both lag coefficients remain negative. Retail sales stays positive, ranging from 1.08 to 5.88.</a:t>
            </a:r>
          </a:p>
        </p:txBody>
      </p:sp>
    </p:spTree>
    <p:extLst>
      <p:ext uri="{BB962C8B-B14F-4D97-AF65-F5344CB8AC3E}">
        <p14:creationId xmlns:p14="http://schemas.microsoft.com/office/powerpoint/2010/main" val="15578119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Structural Stability Tests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Model results">
            <a:extLst xmlns:a="http://schemas.openxmlformats.org/drawingml/2006/main">
              <a:ext uri="{FF2B5EF4-FFF2-40B4-BE49-F238E27FC236}">
                <a16:creationId xmlns:a16="http://schemas.microsoft.com/office/drawing/2014/main" id="{D21CA6F6-98AF-49D8-A06C-D643CDE5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CUSUM assesses stability over each sample. Chow tests assess the specified break dates.</a:t>
            </a:r>
          </a:p>
        </p:txBody>
      </p:sp>
      <p:sp>
        <p:nvSpPr>
          <p:cNvPr id="8" name="These tests provide no significant evidence of instability a">
            <a:extLst xmlns:a="http://schemas.openxmlformats.org/drawingml/2006/main">
              <a:ext uri="{FF2B5EF4-FFF2-40B4-BE49-F238E27FC236}">
                <a16:creationId xmlns:a16="http://schemas.microsoft.com/office/drawing/2014/main" id="{80EACB5F-E590-4582-93B9-7C0A80D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None of the listed CUSUM or Chow tests rejects stability at the 5% level.</a:t>
            </a:r>
          </a:p>
        </p:txBody>
      </p:sp>
      <p:sp>
        <p:nvSpPr>
          <p:cNvPr id="9" name="CUSUM test">
            <a:extLst xmlns:a="http://schemas.openxmlformats.org/drawingml/2006/main">
              <a:ext uri="{FF2B5EF4-FFF2-40B4-BE49-F238E27FC236}">
                <a16:creationId xmlns:a16="http://schemas.microsoft.com/office/drawing/2014/main" id="{FF59F4C3-DA81-47EC-83D8-36B4B18D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CUSUM test</a:t>
            </a:r>
          </a:p>
        </p:txBody>
      </p:sp>
      <p:sp>
        <p:nvSpPr>
          <p:cNvPr id="10" name="Chow test">
            <a:extLst xmlns:a="http://schemas.openxmlformats.org/drawingml/2006/main">
              <a:ext uri="{FF2B5EF4-FFF2-40B4-BE49-F238E27FC236}">
                <a16:creationId xmlns:a16="http://schemas.microsoft.com/office/drawing/2014/main" id="{A6AD7351-BFAE-4C6F-8756-3F1E4FD5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Chow test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527685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1238250"/>
                <a:gridCol w="1895475"/>
              </a:tblGrid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 sample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0.486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Full sample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0.493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6305550" y="2476500"/>
          <a:ext xmlns:a="http://schemas.openxmlformats.org/drawingml/2006/main" cx="52768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1238250"/>
                <a:gridCol w="1895475"/>
              </a:tblGrid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Break date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October 2023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0.755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January 2024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0.773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July 2024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0.820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rejection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B2D256-661A-413A-B067-26C62FBC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Consumer: OOT Reestimation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B18967CE-514E-4B63-BFA2-12BFFAA6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27 observations and six parameters. This diagnostic does not">
            <a:extLst xmlns:a="http://schemas.openxmlformats.org/drawingml/2006/main">
              <a:ext uri="{FF2B5EF4-FFF2-40B4-BE49-F238E27FC236}">
                <a16:creationId xmlns:a16="http://schemas.microsoft.com/office/drawing/2014/main" id="{9DA2ED84-B9E3-4A96-AD7E-243F8F73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Refit the equation on 27 OOT months for comparison. The backtest keeps the IS coefficients.</a:t>
            </a:r>
          </a:p>
        </p:txBody>
      </p:sp>
      <p:sp>
        <p:nvSpPr>
          <p:cNvPr id="8" name="Retail sales remains negative and insignificant. The first t">
            <a:extLst xmlns:a="http://schemas.openxmlformats.org/drawingml/2006/main">
              <a:ext uri="{FF2B5EF4-FFF2-40B4-BE49-F238E27FC236}">
                <a16:creationId xmlns:a16="http://schemas.microsoft.com/office/drawing/2014/main" id="{62C0CA06-5448-4721-BB70-D822282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OOT retail sales coefficient is negative with p = 0.713. The first target lag has p = 0.053.</a:t>
            </a:r>
          </a:p>
        </p:txBody>
      </p:sp>
      <p:sp>
        <p:nvSpPr>
          <p:cNvPr id="9" name="A short sample spanning roughly two holiday cycles limits in">
            <a:extLst xmlns:a="http://schemas.openxmlformats.org/drawingml/2006/main">
              <a:ext uri="{FF2B5EF4-FFF2-40B4-BE49-F238E27FC236}">
                <a16:creationId xmlns:a16="http://schemas.microsoft.com/office/drawing/2014/main" id="{54D26082-A4B9-4327-9307-92B75CF9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OOT refit separates coefficient behavior in the later sample from the fixed-coefficient forecast evaluation.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429000"/>
                <a:gridCol w="27813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OOT coefficient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y(t−1)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-0.327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0.053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y(t−2)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-0.395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0.026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January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-17.566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0.002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December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14.997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sales MA3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-1.524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0.713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487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36B9294-8BBE-4B0D-B520-648277F9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Data Scope and Adjustments</a:t>
            </a:r>
          </a:p>
        </p:txBody>
      </p:sp>
      <p:sp>
        <p:nvSpPr>
          <p:cNvPr id="5" name="3">
            <a:extLst xmlns:a="http://schemas.openxmlformats.org/drawingml/2006/main">
              <a:ext uri="{FF2B5EF4-FFF2-40B4-BE49-F238E27FC236}">
                <a16:creationId xmlns:a16="http://schemas.microsoft.com/office/drawing/2014/main" id="{B72CF65C-219A-492B-884C-18DFC282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6175"/>
                <a:gridCol w="7286625"/>
              </a:tblGrid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 Card fee revenue; monthly observations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Calendar 2011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 the full year; October fee revenue fell about 59%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March and December 2012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Replace two confirmed one-off spikes with adjacent-month means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2014 anomalies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 in the data; business explanation remains unconfirmed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Regression screening cutoff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September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Reported calibration cutoff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December 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he report associates the 2011 disruption with the October 2">
            <a:extLst xmlns:a="http://schemas.openxmlformats.org/drawingml/2006/main">
              <a:ext uri="{FF2B5EF4-FFF2-40B4-BE49-F238E27FC236}">
                <a16:creationId xmlns:a16="http://schemas.microsoft.com/office/drawing/2014/main" id="{5D2DBDBA-7993-4F2B-964A-831CA89A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report associates the 2011 disruption with the October 2011 interchange-cap implementation.</a:t>
            </a:r>
          </a:p>
        </p:txBody>
      </p:sp>
      <p:sp>
        <p:nvSpPr>
          <p:cNvPr id="8" name="Only business-confirmed 2012 events are adjusted. The later ">
            <a:extLst xmlns:a="http://schemas.openxmlformats.org/drawingml/2006/main">
              <a:ext uri="{FF2B5EF4-FFF2-40B4-BE49-F238E27FC236}">
                <a16:creationId xmlns:a16="http://schemas.microsoft.com/office/drawing/2014/main" id="{36E4038B-6CC2-49A6-B9F7-71B1567B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Only business-confirmed 2012 events are adjusted. The later anomalies and level shift remain visible.</a:t>
            </a:r>
          </a:p>
        </p:txBody>
      </p:sp>
    </p:spTree>
    <p:extLst>
      <p:ext uri="{BB962C8B-B14F-4D97-AF65-F5344CB8AC3E}">
        <p14:creationId xmlns:p14="http://schemas.microsoft.com/office/powerpoint/2010/main" val="8220542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Regression Screening Design</a:t>
            </a:r>
          </a:p>
        </p:txBody>
      </p:sp>
      <p:sp>
        <p:nvSpPr>
          <p:cNvPr id="5" name="6">
            <a:extLst xmlns:a="http://schemas.openxmlformats.org/drawingml/2006/main"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Fresh forward selection begins with an intercept-only model;">
            <a:extLst xmlns:a="http://schemas.openxmlformats.org/drawingml/2006/main">
              <a:ext uri="{FF2B5EF4-FFF2-40B4-BE49-F238E27FC236}">
                <a16:creationId xmlns:a16="http://schemas.microsoft.com/office/drawing/2014/main" id="{44B41CB9-C250-423F-9E4F-89058B6F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Fresh forward selection begins with an intercept-only model; each first-step trial adds one term.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24425"/>
                <a:gridCol w="6048375"/>
              </a:tblGrid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Search setting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Macro universe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 series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/ quarterly lag limits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Up to 12 monthly lags / 4 quarterly lags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Added-term significance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Ordinary OLS p &lt; 0.05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Residual serial-correlation gate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Durbin–Watson between 1.5 and 2.5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Residual-normality gate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Jarque–Bera p &gt; 0.05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Collinearity gate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nonconstant VIFs &lt; 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very gate must pass jointly before a candidate can enter. T">
            <a:extLst xmlns:a="http://schemas.openxmlformats.org/drawingml/2006/main">
              <a:ext uri="{FF2B5EF4-FFF2-40B4-BE49-F238E27FC236}">
                <a16:creationId xmlns:a16="http://schemas.microsoft.com/office/drawing/2014/main" id="{8FBB00D5-1356-45E6-BC09-5A09A5C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Every gate must pass jointly before a candidate can enter. Training data end in September 2023.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E11BCAC-5587-4C0E-A24E-AAFC1ABD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Four Regression Frameworks</a:t>
            </a:r>
          </a:p>
        </p:txBody>
      </p:sp>
      <p:sp>
        <p:nvSpPr>
          <p:cNvPr id="5" name="7">
            <a:extLst xmlns:a="http://schemas.openxmlformats.org/drawingml/2006/main">
              <a:ext uri="{FF2B5EF4-FFF2-40B4-BE49-F238E27FC236}">
                <a16:creationId xmlns:a16="http://schemas.microsoft.com/office/drawing/2014/main" id="{49FD2A59-1653-44BB-98CD-5AA95890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29050"/>
                <a:gridCol w="3619500"/>
                <a:gridCol w="3524250"/>
              </a:tblGrid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Framework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Updated first-step 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Screening outcome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Level direct ARDL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194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only DW-pass trial fails JB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YoY route toward EG / ECM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14 static macro candidates eligible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JB; EG / ECM not reached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MoM ARDL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194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QoQ ARDL: quarterly totals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74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QoQ sensitivity: monthly 3-month growth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194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7" name="Earlier fixed / fallback formulas remain context in the repo">
            <a:extLst xmlns:a="http://schemas.openxmlformats.org/drawingml/2006/main">
              <a:ext uri="{FF2B5EF4-FFF2-40B4-BE49-F238E27FC236}">
                <a16:creationId xmlns:a16="http://schemas.microsoft.com/office/drawing/2014/main" id="{CA200FAE-ECAD-4D41-94D9-B7CA61A8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These counts describe the updated first-step search, beginning from an intercept-only equation.</a:t>
            </a:r>
          </a:p>
        </p:txBody>
      </p:sp>
      <p:sp>
        <p:nvSpPr>
          <p:cNvPr id="8" name="Zero eligible first additions does not prove that every poss">
            <a:extLst xmlns:a="http://schemas.openxmlformats.org/drawingml/2006/main">
              <a:ext uri="{FF2B5EF4-FFF2-40B4-BE49-F238E27FC236}">
                <a16:creationId xmlns:a16="http://schemas.microsoft.com/office/drawing/2014/main" id="{96D9FCE3-C0C6-4F8C-98E7-9D7D12E9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No first-step candidate passes all gates. The reported forecast treatment therefore uses a baseline and a stress calibration.</a:t>
            </a:r>
          </a:p>
        </p:txBody>
      </p:sp>
    </p:spTree>
    <p:extLst>
      <p:ext uri="{BB962C8B-B14F-4D97-AF65-F5344CB8AC3E}">
        <p14:creationId xmlns:p14="http://schemas.microsoft.com/office/powerpoint/2010/main" val="199643889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2014 Anomalies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0075" y="1590675"/>
          <a:ext xmlns:a="http://schemas.openxmlformats.org/drawingml/2006/main" cx="6829425" cy="3867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1fbd0d8903402f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7724775" y="1828800"/>
          <a:ext xmlns:a="http://schemas.openxmlformats.org/drawingml/2006/main" cx="37909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981200"/>
              </a:tblGrid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 / change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March spike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1,506 / +78%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April reversal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−34.5%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June spike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1,504 / +37%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July reversal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−26.5%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Both spikes remain unadjusted pending business confirmation.">
            <a:extLst xmlns:a="http://schemas.openxmlformats.org/drawingml/2006/main">
              <a:ext uri="{FF2B5EF4-FFF2-40B4-BE49-F238E27FC236}">
                <a16:creationId xmlns:a16="http://schemas.microsoft.com/office/drawing/2014/main" id="{561FFF59-CBFB-46FF-BC86-6840F801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33950"/>
            <a:ext cx="3676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Both spikes remain in the adjusted modeling series.</a:t>
            </a:r>
          </a:p>
        </p:txBody>
      </p:sp>
      <p:sp>
        <p:nvSpPr>
          <p:cNvPr id="9" name="The report links these suspected events to growth-model tail">
            <a:extLst xmlns:a="http://schemas.openxmlformats.org/drawingml/2006/main">
              <a:ext uri="{FF2B5EF4-FFF2-40B4-BE49-F238E27FC236}">
                <a16:creationId xmlns:a16="http://schemas.microsoft.com/office/drawing/2014/main" id="{0F3D5885-DDA6-4128-9B03-DE3CEFEF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spikes and subsequent reversals enter the monthly growth transformations. No business-confirmed adjustment applies to 2014.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BE5A248-4371-435F-9075-1F7A6895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Q1 2015 Level Shift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D0C6B3AC-E260-41D2-9C19-4F7FD50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0075" y="1676400"/>
          <a:ext xmlns:a="http://schemas.openxmlformats.org/drawingml/2006/main" cx="6934200" cy="3914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e5028b67674487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7781925" y="1819275"/>
          <a:ext xmlns:a="http://schemas.openxmlformats.org/drawingml/2006/main" cx="3752850" cy="2924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1695450"/>
              </a:tblGrid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mean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2012–2014</a:t>
                      </a:r>
                    </a:p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12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2,919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2015–2023 Q3</a:t>
                      </a:r>
                    </a:p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35 quarters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4,493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2015–2025</a:t>
                      </a:r>
                    </a:p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4,554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The report finds no tested macro driver that explains the st">
            <a:extLst xmlns:a="http://schemas.openxmlformats.org/drawingml/2006/main">
              <a:ext uri="{FF2B5EF4-FFF2-40B4-BE49-F238E27FC236}">
                <a16:creationId xmlns:a16="http://schemas.microsoft.com/office/drawing/2014/main" id="{12A29355-02DE-4021-AFD4-7BA4E43E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057775"/>
            <a:ext cx="3667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report finds no tested macro driver that explains the step.</a:t>
            </a:r>
          </a:p>
        </p:txBody>
      </p:sp>
      <p:sp>
        <p:nvSpPr>
          <p:cNvPr id="9" name="The higher level persists through 2025. The reported calibrat">
            <a:extLst xmlns:a="http://schemas.openxmlformats.org/drawingml/2006/main">
              <a:ext uri="{FF2B5EF4-FFF2-40B4-BE49-F238E27FC236}">
                <a16:creationId xmlns:a16="http://schemas.microsoft.com/office/drawing/2014/main" id="{991E4F27-235F-4A9B-8C91-9AF002E5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higher level persists through 2025. The reported calibration therefore uses only the post-2015 regime.</a:t>
            </a:r>
          </a:p>
        </p:txBody>
      </p:sp>
    </p:spTree>
    <p:extLst>
      <p:ext uri="{BB962C8B-B14F-4D97-AF65-F5344CB8AC3E}">
        <p14:creationId xmlns:p14="http://schemas.microsoft.com/office/powerpoint/2010/main" val="195109787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A91DD84-C589-4064-AD62-D95E741C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Baseline and Stress Treatment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2219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9300"/>
                <a:gridCol w="3324225"/>
                <a:gridCol w="3190875"/>
                <a:gridCol w="2438400"/>
              </a:tblGrid>
              <a:tr h="739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Calibration window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Construction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Quarterly 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739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Q1 – 2025 Q4</a:t>
                      </a:r>
                    </a:p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Recent arithmetic mean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4,747.6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739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Stress floor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2015 Q1 – 2025 Q4</a:t>
                      </a:r>
                    </a:p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minus 2 standard deviations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3,815.9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wo windows, two purposes">
            <a:extLst xmlns:a="http://schemas.openxmlformats.org/drawingml/2006/main">
              <a:ext uri="{FF2B5EF4-FFF2-40B4-BE49-F238E27FC236}">
                <a16:creationId xmlns:a16="http://schemas.microsoft.com/office/drawing/2014/main" id="{4535CD30-0808-4990-8F04-B487367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Two windows, two purposes</a:t>
            </a:r>
          </a:p>
        </p:txBody>
      </p:sp>
      <p:sp>
        <p:nvSpPr>
          <p:cNvPr id="8" name="The baseline reflects current earnings capacity. The longer ">
            <a:extLst xmlns:a="http://schemas.openxmlformats.org/drawingml/2006/main">
              <a:ext uri="{FF2B5EF4-FFF2-40B4-BE49-F238E27FC236}">
                <a16:creationId xmlns:a16="http://schemas.microsoft.com/office/drawing/2014/main" id="{7BC88AEE-E352-4C17-AD4C-33793A4D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baseline reflects current earnings capacity. The longer post-break window captures historical dispersion for downside calibration.</a:t>
            </a:r>
          </a:p>
        </p:txBody>
      </p:sp>
      <p:sp>
        <p:nvSpPr>
          <p:cNvPr id="9" name="These are baseline and stress assumptions. Neither is an est">
            <a:extLst xmlns:a="http://schemas.openxmlformats.org/drawingml/2006/main">
              <a:ext uri="{FF2B5EF4-FFF2-40B4-BE49-F238E27FC236}">
                <a16:creationId xmlns:a16="http://schemas.microsoft.com/office/drawing/2014/main" id="{1C7219B6-B41D-489A-9483-C02DCE9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recent mean sets the baseline. Post-2015 dispersion sets the historical stress floor.</a:t>
            </a:r>
          </a:p>
        </p:txBody>
      </p:sp>
    </p:spTree>
    <p:extLst>
      <p:ext uri="{BB962C8B-B14F-4D97-AF65-F5344CB8AC3E}">
        <p14:creationId xmlns:p14="http://schemas.microsoft.com/office/powerpoint/2010/main" val="28291219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8D5A779-8687-4DFC-8C29-FE37619E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Stress Floor Calculation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A5B212A1-C77F-44D3-BFF6-A885385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19125" y="1638300"/>
          <a:ext xmlns:a="http://schemas.openxmlformats.org/drawingml/2006/main" cx="6372225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24325"/>
                <a:gridCol w="2247900"/>
              </a:tblGrid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Post-2015 statistic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Observation count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4,553.9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Standard deviation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369.0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Skewness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Shapiro–Wilk p-value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Minimum observed quarter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3,954 in 2020 Q2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tress floor = mean − 2 × SD">
            <a:extLst xmlns:a="http://schemas.openxmlformats.org/drawingml/2006/main">
              <a:ext uri="{FF2B5EF4-FFF2-40B4-BE49-F238E27FC236}">
                <a16:creationId xmlns:a16="http://schemas.microsoft.com/office/drawing/2014/main" id="{BBB1D895-0D8D-4E94-99EC-1B47400B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098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Stress floor = mean − 2 × SD</a:t>
            </a:r>
          </a:p>
        </p:txBody>
      </p:sp>
      <p:sp>
        <p:nvSpPr>
          <p:cNvPr id="8" name="4,553.9 − 2 × 369.0&#10;= 3,815.9 per quarter">
            <a:extLst xmlns:a="http://schemas.openxmlformats.org/drawingml/2006/main">
              <a:ext uri="{FF2B5EF4-FFF2-40B4-BE49-F238E27FC236}">
                <a16:creationId xmlns:a16="http://schemas.microsoft.com/office/drawing/2014/main" id="{017E9F1A-3651-460C-87AC-343F66DC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7660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4,553.9 − 2 × 369.0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= 3,815.9 per quarter</a:t>
            </a:r>
          </a:p>
        </p:txBody>
      </p:sp>
      <p:sp>
        <p:nvSpPr>
          <p:cNvPr id="9" name="About 1,272.0 per month">
            <a:extLst xmlns:a="http://schemas.openxmlformats.org/drawingml/2006/main">
              <a:ext uri="{FF2B5EF4-FFF2-40B4-BE49-F238E27FC236}">
                <a16:creationId xmlns:a16="http://schemas.microsoft.com/office/drawing/2014/main" id="{AF80BEC6-1413-4491-9AF9-662B566C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6672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About 1,272.0 per month</a:t>
            </a:r>
          </a:p>
        </p:txBody>
      </p:sp>
      <p:sp>
        <p:nvSpPr>
          <p:cNvPr id="10" name="The floor is a chosen downside calibration, not a guaranteed">
            <a:extLst xmlns:a="http://schemas.openxmlformats.org/drawingml/2006/main">
              <a:ext uri="{FF2B5EF4-FFF2-40B4-BE49-F238E27FC236}">
                <a16:creationId xmlns:a16="http://schemas.microsoft.com/office/drawing/2014/main" id="{3E7BC73F-AA98-464A-BBA8-7170CBDF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Mean minus two standard deviations defines the historical downside assumption, with no assigned tail probability.</a:t>
            </a:r>
          </a:p>
        </p:txBody>
      </p:sp>
    </p:spTree>
    <p:extLst>
      <p:ext uri="{BB962C8B-B14F-4D97-AF65-F5344CB8AC3E}">
        <p14:creationId xmlns:p14="http://schemas.microsoft.com/office/powerpoint/2010/main" val="3789807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9B26093-50CE-4B85-945C-5FB5D233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Stress Floor and Actual History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C3315CA4-23AC-4745-BE84-A3F4E0F5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6" name="Post-break quarterly fee revenue: 2015 Q1 through 2025 Q4">
            <a:extLst xmlns:a="http://schemas.openxmlformats.org/drawingml/2006/main">
              <a:ext uri="{FF2B5EF4-FFF2-40B4-BE49-F238E27FC236}">
                <a16:creationId xmlns:a16="http://schemas.microsoft.com/office/drawing/2014/main" id="{3EDC882A-6070-412A-83C8-FE75A357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Post-break quarterly fee revenue: 2015 Q1 through 2025 Q4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81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7dc9a4e5c24d48"/>
          </a:graphicData>
        </a:graphic>
      </p:graphicFrame>
      <p:sp>
        <p:nvSpPr>
          <p:cNvPr id="8" name="None of the 44 observed quarters falls below the reported flo">
            <a:extLst xmlns:a="http://schemas.openxmlformats.org/drawingml/2006/main">
              <a:ext uri="{FF2B5EF4-FFF2-40B4-BE49-F238E27FC236}">
                <a16:creationId xmlns:a16="http://schemas.microsoft.com/office/drawing/2014/main" id="{1F077F4A-EFF4-4D9D-BEF7-2722C484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None of the 44 observed quarters falls below the reported floor, including the COVID-period low of 3,954.</a:t>
            </a:r>
          </a:p>
        </p:txBody>
      </p:sp>
    </p:spTree>
    <p:extLst>
      <p:ext uri="{BB962C8B-B14F-4D97-AF65-F5344CB8AC3E}">
        <p14:creationId xmlns:p14="http://schemas.microsoft.com/office/powerpoint/2010/main" val="12344720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FDBBD05-8780-480E-A9D7-3E199E2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Debit: COVID Comparison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5EFE8EE1-B894-4D20-B3F2-98D2CBE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6" name="Comparison uses the reported calibration values and two diff">
            <a:extLst xmlns:a="http://schemas.openxmlformats.org/drawingml/2006/main">
              <a:ext uri="{FF2B5EF4-FFF2-40B4-BE49-F238E27FC236}">
                <a16:creationId xmlns:a16="http://schemas.microsoft.com/office/drawing/2014/main" id="{22467E60-79C1-4216-B72D-F6CAAB79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Comparison uses the reported calibration values and two different starting levels.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1971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143250"/>
                <a:gridCol w="3048000"/>
                <a:gridCol w="2066925"/>
              </a:tblGrid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Starting level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Downside level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Decline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Reported stress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Baseline: 4,747.6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Floor: 3,815.9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19.6%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COVID reference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2019 H2 mean: 4,264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2020 Q2: 3,954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7.3%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19.6% ÷ 7.3% ≈ 2.7×">
            <a:extLst xmlns:a="http://schemas.openxmlformats.org/drawingml/2006/main">
              <a:ext uri="{FF2B5EF4-FFF2-40B4-BE49-F238E27FC236}">
                <a16:creationId xmlns:a16="http://schemas.microsoft.com/office/drawing/2014/main" id="{32CD0FB6-F8D7-4B03-BF85-FF454094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862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19.6% ÷ 7.3% ≈ 2.7×</a:t>
            </a:r>
          </a:p>
        </p:txBody>
      </p:sp>
      <p:sp>
        <p:nvSpPr>
          <p:cNvPr id="9" name="The percentage decline is about 2.7 times the reported COVID">
            <a:extLst xmlns:a="http://schemas.openxmlformats.org/drawingml/2006/main">
              <a:ext uri="{FF2B5EF4-FFF2-40B4-BE49-F238E27FC236}">
                <a16:creationId xmlns:a16="http://schemas.microsoft.com/office/drawing/2014/main" id="{F8BBC785-47C0-4FFA-B650-9FC57284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percentage decline is about 2.7 times the reported COVID comparison, providing a historical severity check.</a:t>
            </a:r>
          </a:p>
        </p:txBody>
      </p:sp>
      <p:sp>
        <p:nvSpPr>
          <p:cNvPr id="10" name="This is a comparison of percentage declines from different b">
            <a:extLst xmlns:a="http://schemas.openxmlformats.org/drawingml/2006/main">
              <a:ext uri="{FF2B5EF4-FFF2-40B4-BE49-F238E27FC236}">
                <a16:creationId xmlns:a16="http://schemas.microsoft.com/office/drawing/2014/main" id="{859E638F-B5B9-4D3B-8C75-1FEFE9F9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2.7× comparison uses percentage declines measured from different starting levels.</a:t>
            </a:r>
          </a:p>
        </p:txBody>
      </p:sp>
    </p:spTree>
    <p:extLst>
      <p:ext uri="{BB962C8B-B14F-4D97-AF65-F5344CB8AC3E}">
        <p14:creationId xmlns:p14="http://schemas.microsoft.com/office/powerpoint/2010/main" val="18994103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Quarterly Card Fee Aggregation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6" name="Core Card Fee forecast for quarter q">
            <a:extLst xmlns:a="http://schemas.openxmlformats.org/drawingml/2006/main">
              <a:ext uri="{FF2B5EF4-FFF2-40B4-BE49-F238E27FC236}">
                <a16:creationId xmlns:a16="http://schemas.microsoft.com/office/drawing/2014/main" id="{3D7A8C49-B454-4475-9554-1EA5AA6E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Core Card Fee forecast for quarter q</a:t>
            </a:r>
          </a:p>
        </p:txBody>
      </p:sp>
      <p:sp>
        <p:nvSpPr>
          <p:cNvPr id="7" name="= Σ monthly Commercial forecasts&#10;   + Σ monthly Consumer for">
            <a:extLst xmlns:a="http://schemas.openxmlformats.org/drawingml/2006/main">
              <a:ext uri="{FF2B5EF4-FFF2-40B4-BE49-F238E27FC236}">
                <a16:creationId xmlns:a16="http://schemas.microsoft.com/office/drawing/2014/main" id="{2F764DA7-21A1-4977-855A-730E42EE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= Σ monthly Commercial forecasts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+ Σ monthly Consumer forecasts + quarterly Debit amount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3333750"/>
          <a:ext xmlns:a="http://schemas.openxmlformats.org/drawingml/2006/main" cx="10972800" cy="1743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6286500"/>
                <a:gridCol w="2819400"/>
              </a:tblGrid>
              <a:tr h="5810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Commercial and Consumer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Debit quarterly amount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810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Restore each monthly fee level, then sum the three months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4,747.6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810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Stress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Use aligned stress assumptions for each component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3,815.9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Keep QualPay excluded. Reconcile Sponsorship and Other separ">
            <a:extLst xmlns:a="http://schemas.openxmlformats.org/drawingml/2006/main">
              <a:ext uri="{FF2B5EF4-FFF2-40B4-BE49-F238E27FC236}">
                <a16:creationId xmlns:a16="http://schemas.microsoft.com/office/drawing/2014/main" id="{E05065D1-543A-4488-8103-4B0C1F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Keep QualPay excluded. Reconcile Sponsorship and Other separately. Sum fee amounts, not growth rates or model R² values.</a:t>
            </a:r>
          </a:p>
        </p:txBody>
      </p:sp>
      <p:sp>
        <p:nvSpPr>
          <p:cNvPr id="10" name="The aggregate forecast and its backtest still require aligne">
            <a:extLst xmlns:a="http://schemas.openxmlformats.org/drawingml/2006/main">
              <a:ext uri="{FF2B5EF4-FFF2-40B4-BE49-F238E27FC236}">
                <a16:creationId xmlns:a16="http://schemas.microsoft.com/office/drawing/2014/main" id="{E5EB02DF-FAC5-4979-B7A5-72097BDF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Aggregate the monthly Commercial and Consumer fee paths with the quarterly Debit amount under the corresponding scenario.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Card Fee Methodology Summary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6" name="The combined forecast preserves the method and frequency of ">
            <a:extLst xmlns:a="http://schemas.openxmlformats.org/drawingml/2006/main">
              <a:ext uri="{FF2B5EF4-FFF2-40B4-BE49-F238E27FC236}">
                <a16:creationId xmlns:a16="http://schemas.microsoft.com/office/drawing/2014/main" id="{7B4FAFD2-FA89-4330-AAD8-DE8CA79B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combined forecast preserves the method and frequency of each component.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 sequence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 + Small Business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Estimate long-run levels, calculate EC, estimate annual growth, restore monthly fees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Construct monthly log changes, add lags and seasonality, select retail MA3, restore monthly fees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Adjust confirmed events, screen regression candidates, calculate recent baseline and historical stress floor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 Card Fee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Sum three monthly Commercial and Consumer values, then add the quarterly Debit amount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QualPay remains outside forward modeling. Sponsorship and Ot">
            <a:extLst xmlns:a="http://schemas.openxmlformats.org/drawingml/2006/main">
              <a:ext uri="{FF2B5EF4-FFF2-40B4-BE49-F238E27FC236}">
                <a16:creationId xmlns:a16="http://schemas.microsoft.com/office/drawing/2014/main" id="{09B01B35-1E47-4531-BF00-55131928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QualPay remains outside forward modeling. Sponsorship and Other remain separate reconciliation items.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2026-09-28T14:54:31.8430000Z</dcterms:created>
  <dcterms:modified xsi:type="dcterms:W3CDTF">2026-09-28T14:54:31.8430000Z</dcterms:modified>
</coreProperties>
</file>