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8.xml" ContentType="application/vnd.openxmlformats-officedocument.presentationml.notesSlide+xml"/>
  <Override PartName="/ppt/charts/chart8.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74"/>
  </p:normalViewPr>
  <p:slideViewPr>
    <p:cSldViewPr snapToGrid="0">
      <p:cViewPr varScale="1">
        <p:scale>
          <a:sx n="102" d="100"/>
          <a:sy n="102"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IS actual (Jan 2011–Sep 2023)</c:v>
          </c:tx>
          <c:spPr>
            <a:ln w="28575">
              <a:solidFill>
                <a:srgbClr val="006C98"/>
              </a:solidFill>
              <a:prstDash val="solid"/>
            </a:ln>
          </c:spPr>
          <c:marker>
            <c:symbol val="none"/>
          </c:marker>
          <c:xVal>
            <c:numLit>
              <c:formatCode>General</c:formatCode>
              <c:ptCount val="153"/>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numLit>
          </c:xVal>
          <c:yVal>
            <c:numLit>
              <c:formatCode>#,##0</c:formatCode>
              <c:ptCount val="153"/>
              <c:pt idx="0">
                <c:v>771</c:v>
              </c:pt>
              <c:pt idx="1">
                <c:v>842</c:v>
              </c:pt>
              <c:pt idx="2">
                <c:v>1119</c:v>
              </c:pt>
              <c:pt idx="3">
                <c:v>948</c:v>
              </c:pt>
              <c:pt idx="4">
                <c:v>1047</c:v>
              </c:pt>
              <c:pt idx="5">
                <c:v>971</c:v>
              </c:pt>
              <c:pt idx="6">
                <c:v>868</c:v>
              </c:pt>
              <c:pt idx="7">
                <c:v>1063</c:v>
              </c:pt>
              <c:pt idx="8">
                <c:v>974</c:v>
              </c:pt>
              <c:pt idx="9">
                <c:v>949</c:v>
              </c:pt>
              <c:pt idx="10">
                <c:v>941</c:v>
              </c:pt>
              <c:pt idx="11">
                <c:v>985</c:v>
              </c:pt>
              <c:pt idx="12">
                <c:v>1009</c:v>
              </c:pt>
              <c:pt idx="13">
                <c:v>957</c:v>
              </c:pt>
              <c:pt idx="14">
                <c:v>1067</c:v>
              </c:pt>
              <c:pt idx="15">
                <c:v>1089</c:v>
              </c:pt>
              <c:pt idx="16">
                <c:v>1160</c:v>
              </c:pt>
              <c:pt idx="17">
                <c:v>1079</c:v>
              </c:pt>
              <c:pt idx="18">
                <c:v>1132</c:v>
              </c:pt>
              <c:pt idx="19">
                <c:v>1134</c:v>
              </c:pt>
              <c:pt idx="20">
                <c:v>983</c:v>
              </c:pt>
              <c:pt idx="21">
                <c:v>1150</c:v>
              </c:pt>
              <c:pt idx="22">
                <c:v>978</c:v>
              </c:pt>
              <c:pt idx="23">
                <c:v>1025</c:v>
              </c:pt>
              <c:pt idx="24">
                <c:v>989</c:v>
              </c:pt>
              <c:pt idx="25">
                <c:v>943</c:v>
              </c:pt>
              <c:pt idx="26">
                <c:v>1089</c:v>
              </c:pt>
              <c:pt idx="27">
                <c:v>1128</c:v>
              </c:pt>
              <c:pt idx="28">
                <c:v>1063</c:v>
              </c:pt>
              <c:pt idx="29">
                <c:v>999</c:v>
              </c:pt>
              <c:pt idx="30">
                <c:v>1160</c:v>
              </c:pt>
              <c:pt idx="31">
                <c:v>1032</c:v>
              </c:pt>
              <c:pt idx="32">
                <c:v>1022</c:v>
              </c:pt>
              <c:pt idx="33">
                <c:v>1280</c:v>
              </c:pt>
              <c:pt idx="34">
                <c:v>1090</c:v>
              </c:pt>
              <c:pt idx="35">
                <c:v>1184</c:v>
              </c:pt>
              <c:pt idx="36">
                <c:v>1121</c:v>
              </c:pt>
              <c:pt idx="37">
                <c:v>1059</c:v>
              </c:pt>
              <c:pt idx="38">
                <c:v>1158</c:v>
              </c:pt>
              <c:pt idx="39">
                <c:v>1264</c:v>
              </c:pt>
              <c:pt idx="40">
                <c:v>1231</c:v>
              </c:pt>
              <c:pt idx="41">
                <c:v>1226</c:v>
              </c:pt>
              <c:pt idx="42">
                <c:v>1277</c:v>
              </c:pt>
              <c:pt idx="43">
                <c:v>1188</c:v>
              </c:pt>
              <c:pt idx="44">
                <c:v>1206</c:v>
              </c:pt>
              <c:pt idx="45">
                <c:v>1305</c:v>
              </c:pt>
              <c:pt idx="46">
                <c:v>1166</c:v>
              </c:pt>
              <c:pt idx="47">
                <c:v>1362</c:v>
              </c:pt>
              <c:pt idx="48">
                <c:v>1140</c:v>
              </c:pt>
              <c:pt idx="49">
                <c:v>1111</c:v>
              </c:pt>
              <c:pt idx="50">
                <c:v>1455</c:v>
              </c:pt>
              <c:pt idx="51">
                <c:v>1409</c:v>
              </c:pt>
              <c:pt idx="52">
                <c:v>1294</c:v>
              </c:pt>
              <c:pt idx="53">
                <c:v>1472</c:v>
              </c:pt>
              <c:pt idx="54">
                <c:v>1360</c:v>
              </c:pt>
              <c:pt idx="55">
                <c:v>1279</c:v>
              </c:pt>
              <c:pt idx="56">
                <c:v>1336</c:v>
              </c:pt>
              <c:pt idx="57">
                <c:v>1316</c:v>
              </c:pt>
              <c:pt idx="58">
                <c:v>1233</c:v>
              </c:pt>
              <c:pt idx="59">
                <c:v>1233</c:v>
              </c:pt>
              <c:pt idx="60">
                <c:v>1151</c:v>
              </c:pt>
              <c:pt idx="61">
                <c:v>1236</c:v>
              </c:pt>
              <c:pt idx="62">
                <c:v>1539</c:v>
              </c:pt>
              <c:pt idx="63">
                <c:v>1249</c:v>
              </c:pt>
              <c:pt idx="64">
                <c:v>1388</c:v>
              </c:pt>
              <c:pt idx="65">
                <c:v>1280</c:v>
              </c:pt>
              <c:pt idx="66">
                <c:v>1184</c:v>
              </c:pt>
              <c:pt idx="67">
                <c:v>1418</c:v>
              </c:pt>
              <c:pt idx="68">
                <c:v>1310</c:v>
              </c:pt>
              <c:pt idx="69">
                <c:v>1226</c:v>
              </c:pt>
              <c:pt idx="70">
                <c:v>1166</c:v>
              </c:pt>
              <c:pt idx="71">
                <c:v>1253</c:v>
              </c:pt>
              <c:pt idx="72">
                <c:v>1278</c:v>
              </c:pt>
              <c:pt idx="73">
                <c:v>1198</c:v>
              </c:pt>
              <c:pt idx="74">
                <c:v>1373</c:v>
              </c:pt>
              <c:pt idx="75">
                <c:v>1202</c:v>
              </c:pt>
              <c:pt idx="76">
                <c:v>1409</c:v>
              </c:pt>
              <c:pt idx="77">
                <c:v>1331</c:v>
              </c:pt>
              <c:pt idx="78">
                <c:v>1245</c:v>
              </c:pt>
              <c:pt idx="79">
                <c:v>1434</c:v>
              </c:pt>
              <c:pt idx="80">
                <c:v>1245</c:v>
              </c:pt>
              <c:pt idx="81">
                <c:v>1456</c:v>
              </c:pt>
              <c:pt idx="82">
                <c:v>1298</c:v>
              </c:pt>
              <c:pt idx="83">
                <c:v>1400</c:v>
              </c:pt>
              <c:pt idx="84">
                <c:v>1441</c:v>
              </c:pt>
              <c:pt idx="85">
                <c:v>1349</c:v>
              </c:pt>
              <c:pt idx="86">
                <c:v>1673</c:v>
              </c:pt>
              <c:pt idx="87">
                <c:v>1466</c:v>
              </c:pt>
              <c:pt idx="88">
                <c:v>1667</c:v>
              </c:pt>
              <c:pt idx="89">
                <c:v>1545</c:v>
              </c:pt>
              <c:pt idx="90">
                <c:v>1512</c:v>
              </c:pt>
              <c:pt idx="91">
                <c:v>1739</c:v>
              </c:pt>
              <c:pt idx="92">
                <c:v>1656</c:v>
              </c:pt>
              <c:pt idx="93">
                <c:v>1600</c:v>
              </c:pt>
              <c:pt idx="94">
                <c:v>1516</c:v>
              </c:pt>
              <c:pt idx="95">
                <c:v>1673</c:v>
              </c:pt>
              <c:pt idx="96">
                <c:v>1565</c:v>
              </c:pt>
              <c:pt idx="97">
                <c:v>1545</c:v>
              </c:pt>
              <c:pt idx="98">
                <c:v>1856</c:v>
              </c:pt>
              <c:pt idx="99">
                <c:v>1508</c:v>
              </c:pt>
              <c:pt idx="100">
                <c:v>1672</c:v>
              </c:pt>
              <c:pt idx="101">
                <c:v>1762</c:v>
              </c:pt>
              <c:pt idx="102">
                <c:v>1606</c:v>
              </c:pt>
              <c:pt idx="103">
                <c:v>1835</c:v>
              </c:pt>
              <c:pt idx="104">
                <c:v>1697</c:v>
              </c:pt>
              <c:pt idx="105">
                <c:v>1680</c:v>
              </c:pt>
              <c:pt idx="106">
                <c:v>1668</c:v>
              </c:pt>
              <c:pt idx="107">
                <c:v>1523</c:v>
              </c:pt>
              <c:pt idx="108">
                <c:v>1745</c:v>
              </c:pt>
              <c:pt idx="109">
                <c:v>1671</c:v>
              </c:pt>
              <c:pt idx="110">
                <c:v>1497</c:v>
              </c:pt>
              <c:pt idx="111">
                <c:v>1167</c:v>
              </c:pt>
              <c:pt idx="112">
                <c:v>1265</c:v>
              </c:pt>
              <c:pt idx="113">
                <c:v>1336</c:v>
              </c:pt>
              <c:pt idx="114">
                <c:v>1450</c:v>
              </c:pt>
              <c:pt idx="115">
                <c:v>1494</c:v>
              </c:pt>
              <c:pt idx="116">
                <c:v>1691</c:v>
              </c:pt>
              <c:pt idx="117">
                <c:v>1638</c:v>
              </c:pt>
              <c:pt idx="118">
                <c:v>1673</c:v>
              </c:pt>
              <c:pt idx="119">
                <c:v>1471</c:v>
              </c:pt>
              <c:pt idx="120">
                <c:v>1597</c:v>
              </c:pt>
              <c:pt idx="121">
                <c:v>1481</c:v>
              </c:pt>
              <c:pt idx="122">
                <c:v>1780</c:v>
              </c:pt>
              <c:pt idx="123">
                <c:v>1752</c:v>
              </c:pt>
              <c:pt idx="124">
                <c:v>1892</c:v>
              </c:pt>
              <c:pt idx="125">
                <c:v>1904</c:v>
              </c:pt>
              <c:pt idx="126">
                <c:v>2006</c:v>
              </c:pt>
              <c:pt idx="127">
                <c:v>2013</c:v>
              </c:pt>
              <c:pt idx="128">
                <c:v>1968</c:v>
              </c:pt>
              <c:pt idx="129">
                <c:v>2065</c:v>
              </c:pt>
              <c:pt idx="130">
                <c:v>1860</c:v>
              </c:pt>
              <c:pt idx="131">
                <c:v>2195</c:v>
              </c:pt>
              <c:pt idx="132">
                <c:v>2135</c:v>
              </c:pt>
              <c:pt idx="133">
                <c:v>2146</c:v>
              </c:pt>
              <c:pt idx="134">
                <c:v>2349</c:v>
              </c:pt>
              <c:pt idx="135">
                <c:v>2351</c:v>
              </c:pt>
              <c:pt idx="136">
                <c:v>2432</c:v>
              </c:pt>
              <c:pt idx="137">
                <c:v>2282</c:v>
              </c:pt>
              <c:pt idx="138">
                <c:v>2334</c:v>
              </c:pt>
              <c:pt idx="139">
                <c:v>2444</c:v>
              </c:pt>
              <c:pt idx="140">
                <c:v>2416</c:v>
              </c:pt>
              <c:pt idx="141">
                <c:v>2633</c:v>
              </c:pt>
              <c:pt idx="142">
                <c:v>2274</c:v>
              </c:pt>
              <c:pt idx="143">
                <c:v>2475</c:v>
              </c:pt>
              <c:pt idx="144">
                <c:v>2322</c:v>
              </c:pt>
              <c:pt idx="145">
                <c:v>2236</c:v>
              </c:pt>
              <c:pt idx="146">
                <c:v>2631</c:v>
              </c:pt>
              <c:pt idx="147">
                <c:v>2535</c:v>
              </c:pt>
              <c:pt idx="148">
                <c:v>2525</c:v>
              </c:pt>
              <c:pt idx="149">
                <c:v>2417</c:v>
              </c:pt>
              <c:pt idx="150">
                <c:v>2426</c:v>
              </c:pt>
              <c:pt idx="151">
                <c:v>2413</c:v>
              </c:pt>
              <c:pt idx="152">
                <c:v>2414</c:v>
              </c:pt>
            </c:numLit>
          </c:yVal>
          <c:smooth val="1"/>
          <c:extLst>
            <c:ext xmlns:c16="http://schemas.microsoft.com/office/drawing/2014/chart" uri="{C3380CC4-5D6E-409C-BE32-E72D297353CC}">
              <c16:uniqueId val="{00000000-F2B1-014E-BB44-5E98BF9F6E27}"/>
            </c:ext>
          </c:extLst>
        </c:ser>
        <c:ser>
          <c:idx val="1"/>
          <c:order val="1"/>
          <c:tx>
            <c:v>OOT actual (Oct 2023–Dec 2025)</c:v>
          </c:tx>
          <c:spPr>
            <a:ln w="28575">
              <a:solidFill>
                <a:srgbClr val="A5483C"/>
              </a:solidFill>
              <a:prstDash val="solid"/>
            </a:ln>
          </c:spPr>
          <c:marker>
            <c:symbol val="none"/>
          </c:marker>
          <c:xVal>
            <c:numLit>
              <c:formatCode>General</c:formatCode>
              <c:ptCount val="28"/>
              <c:pt idx="0">
                <c:v>2023.6666666666667</c:v>
              </c:pt>
              <c:pt idx="1">
                <c:v>2023.75</c:v>
              </c:pt>
              <c:pt idx="2">
                <c:v>2023.8333333333333</c:v>
              </c:pt>
              <c:pt idx="3">
                <c:v>2023.9166666666667</c:v>
              </c:pt>
              <c:pt idx="4">
                <c:v>2024</c:v>
              </c:pt>
              <c:pt idx="5">
                <c:v>2024.0833333333333</c:v>
              </c:pt>
              <c:pt idx="6">
                <c:v>2024.1666666666667</c:v>
              </c:pt>
              <c:pt idx="7">
                <c:v>2024.25</c:v>
              </c:pt>
              <c:pt idx="8">
                <c:v>2024.3333333333333</c:v>
              </c:pt>
              <c:pt idx="9">
                <c:v>2024.4166666666667</c:v>
              </c:pt>
              <c:pt idx="10">
                <c:v>2024.5</c:v>
              </c:pt>
              <c:pt idx="11">
                <c:v>2024.5833333333333</c:v>
              </c:pt>
              <c:pt idx="12">
                <c:v>2024.6666666666667</c:v>
              </c:pt>
              <c:pt idx="13">
                <c:v>2024.75</c:v>
              </c:pt>
              <c:pt idx="14">
                <c:v>2024.8333333333333</c:v>
              </c:pt>
              <c:pt idx="15">
                <c:v>2024.9166666666667</c:v>
              </c:pt>
              <c:pt idx="16">
                <c:v>2025</c:v>
              </c:pt>
              <c:pt idx="17">
                <c:v>2025.0833333333333</c:v>
              </c:pt>
              <c:pt idx="18">
                <c:v>2025.1666666666667</c:v>
              </c:pt>
              <c:pt idx="19">
                <c:v>2025.25</c:v>
              </c:pt>
              <c:pt idx="20">
                <c:v>2025.3333333333333</c:v>
              </c:pt>
              <c:pt idx="21">
                <c:v>2025.4166666666667</c:v>
              </c:pt>
              <c:pt idx="22">
                <c:v>2025.5</c:v>
              </c:pt>
              <c:pt idx="23">
                <c:v>2025.5833333333333</c:v>
              </c:pt>
              <c:pt idx="24">
                <c:v>2025.6666666666667</c:v>
              </c:pt>
              <c:pt idx="25">
                <c:v>2025.75</c:v>
              </c:pt>
              <c:pt idx="26">
                <c:v>2025.8333333333333</c:v>
              </c:pt>
              <c:pt idx="27">
                <c:v>2025.9166666666667</c:v>
              </c:pt>
            </c:numLit>
          </c:xVal>
          <c:yVal>
            <c:numLit>
              <c:formatCode>#,##0</c:formatCode>
              <c:ptCount val="28"/>
              <c:pt idx="0">
                <c:v>2414</c:v>
              </c:pt>
              <c:pt idx="1">
                <c:v>2520</c:v>
              </c:pt>
              <c:pt idx="2">
                <c:v>2328</c:v>
              </c:pt>
              <c:pt idx="3">
                <c:v>2575</c:v>
              </c:pt>
              <c:pt idx="4">
                <c:v>2196</c:v>
              </c:pt>
              <c:pt idx="5">
                <c:v>2351</c:v>
              </c:pt>
              <c:pt idx="6">
                <c:v>2556</c:v>
              </c:pt>
              <c:pt idx="7">
                <c:v>2273</c:v>
              </c:pt>
              <c:pt idx="8">
                <c:v>2370</c:v>
              </c:pt>
              <c:pt idx="9">
                <c:v>2256</c:v>
              </c:pt>
              <c:pt idx="10">
                <c:v>2333</c:v>
              </c:pt>
              <c:pt idx="11">
                <c:v>2325</c:v>
              </c:pt>
              <c:pt idx="12">
                <c:v>2237</c:v>
              </c:pt>
              <c:pt idx="13">
                <c:v>2310</c:v>
              </c:pt>
              <c:pt idx="14">
                <c:v>2326</c:v>
              </c:pt>
              <c:pt idx="15">
                <c:v>1964</c:v>
              </c:pt>
              <c:pt idx="16">
                <c:v>2150</c:v>
              </c:pt>
              <c:pt idx="17">
                <c:v>2087</c:v>
              </c:pt>
              <c:pt idx="18">
                <c:v>2316</c:v>
              </c:pt>
              <c:pt idx="19">
                <c:v>2209</c:v>
              </c:pt>
              <c:pt idx="20">
                <c:v>2270</c:v>
              </c:pt>
              <c:pt idx="21">
                <c:v>2201</c:v>
              </c:pt>
              <c:pt idx="22">
                <c:v>2086</c:v>
              </c:pt>
              <c:pt idx="23">
                <c:v>2260</c:v>
              </c:pt>
              <c:pt idx="24">
                <c:v>2004</c:v>
              </c:pt>
              <c:pt idx="25">
                <c:v>2296</c:v>
              </c:pt>
              <c:pt idx="26">
                <c:v>2116</c:v>
              </c:pt>
              <c:pt idx="27">
                <c:v>1887</c:v>
              </c:pt>
            </c:numLit>
          </c:yVal>
          <c:smooth val="1"/>
          <c:extLst>
            <c:ext xmlns:c16="http://schemas.microsoft.com/office/drawing/2014/chart" uri="{C3380CC4-5D6E-409C-BE32-E72D297353CC}">
              <c16:uniqueId val="{00000001-F2B1-014E-BB44-5E98BF9F6E27}"/>
            </c:ext>
          </c:extLst>
        </c:ser>
        <c:ser>
          <c:idx val="2"/>
          <c:order val="2"/>
          <c:tx>
            <c:v>OOT begins Oct 2023</c:v>
          </c:tx>
          <c:spPr>
            <a:ln w="14288">
              <a:solidFill>
                <a:srgbClr val="7A858D"/>
              </a:solidFill>
              <a:prstDash val="dash"/>
            </a:ln>
          </c:spPr>
          <c:marker>
            <c:symbol val="none"/>
          </c:marker>
          <c:xVal>
            <c:numLit>
              <c:formatCode>General</c:formatCode>
              <c:ptCount val="2"/>
              <c:pt idx="0">
                <c:v>2023.75</c:v>
              </c:pt>
              <c:pt idx="1">
                <c:v>2023.75</c:v>
              </c:pt>
            </c:numLit>
          </c:xVal>
          <c:yVal>
            <c:numLit>
              <c:formatCode>#,##0</c:formatCode>
              <c:ptCount val="2"/>
              <c:pt idx="0">
                <c:v>500</c:v>
              </c:pt>
              <c:pt idx="1">
                <c:v>3000</c:v>
              </c:pt>
            </c:numLit>
          </c:yVal>
          <c:smooth val="1"/>
          <c:extLst>
            <c:ext xmlns:c16="http://schemas.microsoft.com/office/drawing/2014/chart" uri="{C3380CC4-5D6E-409C-BE32-E72D297353CC}">
              <c16:uniqueId val="{00000002-F2B1-014E-BB44-5E98BF9F6E27}"/>
            </c:ext>
          </c:extLst>
        </c:ser>
        <c:dLbls>
          <c:showLegendKey val="0"/>
          <c:showVal val="0"/>
          <c:showCatName val="0"/>
          <c:showSerName val="0"/>
          <c:showPercent val="0"/>
          <c:showBubbleSize val="0"/>
        </c:dLbls>
        <c:axId val="48650112"/>
        <c:axId val="48672768"/>
      </c:scatterChart>
      <c:valAx>
        <c:axId val="48672768"/>
        <c:scaling>
          <c:orientation val="minMax"/>
          <c:max val="3000"/>
          <c:min val="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5D6B75"/>
                </a:solidFill>
                <a:latin typeface="Arial"/>
                <a:ea typeface="Arial"/>
                <a:cs typeface="Arial"/>
              </a:defRPr>
            </a:pPr>
            <a:endParaRPr lang="zh-CN"/>
          </a:p>
        </c:txPr>
        <c:crossAx val="48650112"/>
        <c:crosses val="autoZero"/>
        <c:crossBetween val="midCat"/>
        <c:majorUnit val="500"/>
      </c:valAx>
      <c:valAx>
        <c:axId val="48650112"/>
        <c:scaling>
          <c:orientation val="minMax"/>
          <c:max val="2026"/>
          <c:min val="2011"/>
        </c:scaling>
        <c:delete val="0"/>
        <c:axPos val="b"/>
        <c:numFmt formatCode="General" sourceLinked="1"/>
        <c:majorTickMark val="none"/>
        <c:minorTickMark val="none"/>
        <c:tickLblPos val="nextTo"/>
        <c:spPr>
          <a:ln w="9525">
            <a:solidFill>
              <a:srgbClr val="D5DDE2"/>
            </a:solidFill>
          </a:ln>
        </c:spPr>
        <c:txPr>
          <a:bodyPr anchorCtr="1"/>
          <a:lstStyle/>
          <a:p>
            <a:pPr>
              <a:defRPr sz="1275">
                <a:solidFill>
                  <a:srgbClr val="5D6B75"/>
                </a:solidFill>
                <a:latin typeface="Arial"/>
                <a:ea typeface="Arial"/>
                <a:cs typeface="Arial"/>
              </a:defRPr>
            </a:pPr>
            <a:endParaRPr lang="zh-CN"/>
          </a:p>
        </c:txPr>
        <c:crossAx val="48672768"/>
        <c:crosses val="autoZero"/>
        <c:crossBetween val="midCat"/>
        <c:majorUnit val="3"/>
      </c:valAx>
      <c:spPr>
        <a:ln w="0">
          <a:noFill/>
        </a:ln>
      </c:spPr>
    </c:plotArea>
    <c:legend>
      <c:legendPos val="b"/>
      <c:legendEntry>
        <c:idx val="2"/>
        <c:delete val="1"/>
      </c:legendEntry>
      <c:overlay val="0"/>
      <c:txPr>
        <a:bodyPr anchorCtr="1"/>
        <a:lstStyle/>
        <a:p>
          <a:pPr>
            <a:defRPr sz="1275">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Actual fee</c:v>
          </c:tx>
          <c:spPr>
            <a:ln w="28575">
              <a:solidFill>
                <a:srgbClr val="006C98"/>
              </a:solidFill>
              <a:prstDash val="solid"/>
            </a:ln>
          </c:spPr>
          <c:marker>
            <c:symbol val="none"/>
          </c:marker>
          <c:xVal>
            <c:numLit>
              <c:formatCode>General</c:formatCode>
              <c:ptCount val="180"/>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pt idx="153">
                <c:v>2023.75</c:v>
              </c:pt>
              <c:pt idx="154">
                <c:v>2023.8333333333333</c:v>
              </c:pt>
              <c:pt idx="155">
                <c:v>2023.9166666666667</c:v>
              </c:pt>
              <c:pt idx="156">
                <c:v>2024</c:v>
              </c:pt>
              <c:pt idx="157">
                <c:v>2024.0833333333333</c:v>
              </c:pt>
              <c:pt idx="158">
                <c:v>2024.1666666666667</c:v>
              </c:pt>
              <c:pt idx="159">
                <c:v>2024.25</c:v>
              </c:pt>
              <c:pt idx="160">
                <c:v>2024.3333333333333</c:v>
              </c:pt>
              <c:pt idx="161">
                <c:v>2024.4166666666667</c:v>
              </c:pt>
              <c:pt idx="162">
                <c:v>2024.5</c:v>
              </c:pt>
              <c:pt idx="163">
                <c:v>2024.5833333333333</c:v>
              </c:pt>
              <c:pt idx="164">
                <c:v>2024.6666666666667</c:v>
              </c:pt>
              <c:pt idx="165">
                <c:v>2024.75</c:v>
              </c:pt>
              <c:pt idx="166">
                <c:v>2024.8333333333333</c:v>
              </c:pt>
              <c:pt idx="167">
                <c:v>2024.9166666666667</c:v>
              </c:pt>
              <c:pt idx="168">
                <c:v>2025</c:v>
              </c:pt>
              <c:pt idx="169">
                <c:v>2025.0833333333333</c:v>
              </c:pt>
              <c:pt idx="170">
                <c:v>2025.1666666666667</c:v>
              </c:pt>
              <c:pt idx="171">
                <c:v>2025.25</c:v>
              </c:pt>
              <c:pt idx="172">
                <c:v>2025.3333333333333</c:v>
              </c:pt>
              <c:pt idx="173">
                <c:v>2025.4166666666667</c:v>
              </c:pt>
              <c:pt idx="174">
                <c:v>2025.5</c:v>
              </c:pt>
              <c:pt idx="175">
                <c:v>2025.5833333333333</c:v>
              </c:pt>
              <c:pt idx="176">
                <c:v>2025.6666666666667</c:v>
              </c:pt>
              <c:pt idx="177">
                <c:v>2025.75</c:v>
              </c:pt>
              <c:pt idx="178">
                <c:v>2025.8333333333333</c:v>
              </c:pt>
              <c:pt idx="179">
                <c:v>2025.9166666666667</c:v>
              </c:pt>
            </c:numLit>
          </c:xVal>
          <c:yVal>
            <c:numLit>
              <c:formatCode>#,##0</c:formatCode>
              <c:ptCount val="180"/>
              <c:pt idx="0">
                <c:v>771</c:v>
              </c:pt>
              <c:pt idx="1">
                <c:v>842</c:v>
              </c:pt>
              <c:pt idx="2">
                <c:v>1119</c:v>
              </c:pt>
              <c:pt idx="3">
                <c:v>948</c:v>
              </c:pt>
              <c:pt idx="4">
                <c:v>1047</c:v>
              </c:pt>
              <c:pt idx="5">
                <c:v>971</c:v>
              </c:pt>
              <c:pt idx="6">
                <c:v>868</c:v>
              </c:pt>
              <c:pt idx="7">
                <c:v>1063</c:v>
              </c:pt>
              <c:pt idx="8">
                <c:v>974</c:v>
              </c:pt>
              <c:pt idx="9">
                <c:v>949</c:v>
              </c:pt>
              <c:pt idx="10">
                <c:v>941</c:v>
              </c:pt>
              <c:pt idx="11">
                <c:v>985</c:v>
              </c:pt>
              <c:pt idx="12">
                <c:v>1009</c:v>
              </c:pt>
              <c:pt idx="13">
                <c:v>957</c:v>
              </c:pt>
              <c:pt idx="14">
                <c:v>1067</c:v>
              </c:pt>
              <c:pt idx="15">
                <c:v>1089</c:v>
              </c:pt>
              <c:pt idx="16">
                <c:v>1160</c:v>
              </c:pt>
              <c:pt idx="17">
                <c:v>1079</c:v>
              </c:pt>
              <c:pt idx="18">
                <c:v>1132</c:v>
              </c:pt>
              <c:pt idx="19">
                <c:v>1134</c:v>
              </c:pt>
              <c:pt idx="20">
                <c:v>983</c:v>
              </c:pt>
              <c:pt idx="21">
                <c:v>1150</c:v>
              </c:pt>
              <c:pt idx="22">
                <c:v>978</c:v>
              </c:pt>
              <c:pt idx="23">
                <c:v>1025</c:v>
              </c:pt>
              <c:pt idx="24">
                <c:v>989</c:v>
              </c:pt>
              <c:pt idx="25">
                <c:v>943</c:v>
              </c:pt>
              <c:pt idx="26">
                <c:v>1089</c:v>
              </c:pt>
              <c:pt idx="27">
                <c:v>1128</c:v>
              </c:pt>
              <c:pt idx="28">
                <c:v>1063</c:v>
              </c:pt>
              <c:pt idx="29">
                <c:v>999</c:v>
              </c:pt>
              <c:pt idx="30">
                <c:v>1160</c:v>
              </c:pt>
              <c:pt idx="31">
                <c:v>1032</c:v>
              </c:pt>
              <c:pt idx="32">
                <c:v>1022</c:v>
              </c:pt>
              <c:pt idx="33">
                <c:v>1280</c:v>
              </c:pt>
              <c:pt idx="34">
                <c:v>1090</c:v>
              </c:pt>
              <c:pt idx="35">
                <c:v>1184</c:v>
              </c:pt>
              <c:pt idx="36">
                <c:v>1121</c:v>
              </c:pt>
              <c:pt idx="37">
                <c:v>1059</c:v>
              </c:pt>
              <c:pt idx="38">
                <c:v>1158</c:v>
              </c:pt>
              <c:pt idx="39">
                <c:v>1264</c:v>
              </c:pt>
              <c:pt idx="40">
                <c:v>1231</c:v>
              </c:pt>
              <c:pt idx="41">
                <c:v>1226</c:v>
              </c:pt>
              <c:pt idx="42">
                <c:v>1277</c:v>
              </c:pt>
              <c:pt idx="43">
                <c:v>1188</c:v>
              </c:pt>
              <c:pt idx="44">
                <c:v>1206</c:v>
              </c:pt>
              <c:pt idx="45">
                <c:v>1305</c:v>
              </c:pt>
              <c:pt idx="46">
                <c:v>1166</c:v>
              </c:pt>
              <c:pt idx="47">
                <c:v>1362</c:v>
              </c:pt>
              <c:pt idx="48">
                <c:v>1140</c:v>
              </c:pt>
              <c:pt idx="49">
                <c:v>1111</c:v>
              </c:pt>
              <c:pt idx="50">
                <c:v>1455</c:v>
              </c:pt>
              <c:pt idx="51">
                <c:v>1409</c:v>
              </c:pt>
              <c:pt idx="52">
                <c:v>1294</c:v>
              </c:pt>
              <c:pt idx="53">
                <c:v>1472</c:v>
              </c:pt>
              <c:pt idx="54">
                <c:v>1360</c:v>
              </c:pt>
              <c:pt idx="55">
                <c:v>1279</c:v>
              </c:pt>
              <c:pt idx="56">
                <c:v>1336</c:v>
              </c:pt>
              <c:pt idx="57">
                <c:v>1316</c:v>
              </c:pt>
              <c:pt idx="58">
                <c:v>1233</c:v>
              </c:pt>
              <c:pt idx="59">
                <c:v>1233</c:v>
              </c:pt>
              <c:pt idx="60">
                <c:v>1151</c:v>
              </c:pt>
              <c:pt idx="61">
                <c:v>1236</c:v>
              </c:pt>
              <c:pt idx="62">
                <c:v>1539</c:v>
              </c:pt>
              <c:pt idx="63">
                <c:v>1249</c:v>
              </c:pt>
              <c:pt idx="64">
                <c:v>1388</c:v>
              </c:pt>
              <c:pt idx="65">
                <c:v>1280</c:v>
              </c:pt>
              <c:pt idx="66">
                <c:v>1184</c:v>
              </c:pt>
              <c:pt idx="67">
                <c:v>1418</c:v>
              </c:pt>
              <c:pt idx="68">
                <c:v>1310</c:v>
              </c:pt>
              <c:pt idx="69">
                <c:v>1226</c:v>
              </c:pt>
              <c:pt idx="70">
                <c:v>1166</c:v>
              </c:pt>
              <c:pt idx="71">
                <c:v>1253</c:v>
              </c:pt>
              <c:pt idx="72">
                <c:v>1278</c:v>
              </c:pt>
              <c:pt idx="73">
                <c:v>1198</c:v>
              </c:pt>
              <c:pt idx="74">
                <c:v>1373</c:v>
              </c:pt>
              <c:pt idx="75">
                <c:v>1202</c:v>
              </c:pt>
              <c:pt idx="76">
                <c:v>1409</c:v>
              </c:pt>
              <c:pt idx="77">
                <c:v>1331</c:v>
              </c:pt>
              <c:pt idx="78">
                <c:v>1245</c:v>
              </c:pt>
              <c:pt idx="79">
                <c:v>1434</c:v>
              </c:pt>
              <c:pt idx="80">
                <c:v>1245</c:v>
              </c:pt>
              <c:pt idx="81">
                <c:v>1456</c:v>
              </c:pt>
              <c:pt idx="82">
                <c:v>1298</c:v>
              </c:pt>
              <c:pt idx="83">
                <c:v>1400</c:v>
              </c:pt>
              <c:pt idx="84">
                <c:v>1441</c:v>
              </c:pt>
              <c:pt idx="85">
                <c:v>1349</c:v>
              </c:pt>
              <c:pt idx="86">
                <c:v>1673</c:v>
              </c:pt>
              <c:pt idx="87">
                <c:v>1466</c:v>
              </c:pt>
              <c:pt idx="88">
                <c:v>1667</c:v>
              </c:pt>
              <c:pt idx="89">
                <c:v>1545</c:v>
              </c:pt>
              <c:pt idx="90">
                <c:v>1512</c:v>
              </c:pt>
              <c:pt idx="91">
                <c:v>1739</c:v>
              </c:pt>
              <c:pt idx="92">
                <c:v>1656</c:v>
              </c:pt>
              <c:pt idx="93">
                <c:v>1600</c:v>
              </c:pt>
              <c:pt idx="94">
                <c:v>1516</c:v>
              </c:pt>
              <c:pt idx="95">
                <c:v>1673</c:v>
              </c:pt>
              <c:pt idx="96">
                <c:v>1565</c:v>
              </c:pt>
              <c:pt idx="97">
                <c:v>1545</c:v>
              </c:pt>
              <c:pt idx="98">
                <c:v>1856</c:v>
              </c:pt>
              <c:pt idx="99">
                <c:v>1508</c:v>
              </c:pt>
              <c:pt idx="100">
                <c:v>1672</c:v>
              </c:pt>
              <c:pt idx="101">
                <c:v>1762</c:v>
              </c:pt>
              <c:pt idx="102">
                <c:v>1606</c:v>
              </c:pt>
              <c:pt idx="103">
                <c:v>1835</c:v>
              </c:pt>
              <c:pt idx="104">
                <c:v>1697</c:v>
              </c:pt>
              <c:pt idx="105">
                <c:v>1680</c:v>
              </c:pt>
              <c:pt idx="106">
                <c:v>1668</c:v>
              </c:pt>
              <c:pt idx="107">
                <c:v>1523</c:v>
              </c:pt>
              <c:pt idx="108">
                <c:v>1745</c:v>
              </c:pt>
              <c:pt idx="109">
                <c:v>1671</c:v>
              </c:pt>
              <c:pt idx="110">
                <c:v>1497</c:v>
              </c:pt>
              <c:pt idx="111">
                <c:v>1167</c:v>
              </c:pt>
              <c:pt idx="112">
                <c:v>1265</c:v>
              </c:pt>
              <c:pt idx="113">
                <c:v>1336</c:v>
              </c:pt>
              <c:pt idx="114">
                <c:v>1450</c:v>
              </c:pt>
              <c:pt idx="115">
                <c:v>1494</c:v>
              </c:pt>
              <c:pt idx="116">
                <c:v>1691</c:v>
              </c:pt>
              <c:pt idx="117">
                <c:v>1638</c:v>
              </c:pt>
              <c:pt idx="118">
                <c:v>1673</c:v>
              </c:pt>
              <c:pt idx="119">
                <c:v>1471</c:v>
              </c:pt>
              <c:pt idx="120">
                <c:v>1597</c:v>
              </c:pt>
              <c:pt idx="121">
                <c:v>1481</c:v>
              </c:pt>
              <c:pt idx="122">
                <c:v>1780</c:v>
              </c:pt>
              <c:pt idx="123">
                <c:v>1752</c:v>
              </c:pt>
              <c:pt idx="124">
                <c:v>1892</c:v>
              </c:pt>
              <c:pt idx="125">
                <c:v>1904</c:v>
              </c:pt>
              <c:pt idx="126">
                <c:v>2006</c:v>
              </c:pt>
              <c:pt idx="127">
                <c:v>2013</c:v>
              </c:pt>
              <c:pt idx="128">
                <c:v>1968</c:v>
              </c:pt>
              <c:pt idx="129">
                <c:v>2065</c:v>
              </c:pt>
              <c:pt idx="130">
                <c:v>1860</c:v>
              </c:pt>
              <c:pt idx="131">
                <c:v>2195</c:v>
              </c:pt>
              <c:pt idx="132">
                <c:v>2135</c:v>
              </c:pt>
              <c:pt idx="133">
                <c:v>2146</c:v>
              </c:pt>
              <c:pt idx="134">
                <c:v>2349</c:v>
              </c:pt>
              <c:pt idx="135">
                <c:v>2351</c:v>
              </c:pt>
              <c:pt idx="136">
                <c:v>2432</c:v>
              </c:pt>
              <c:pt idx="137">
                <c:v>2282</c:v>
              </c:pt>
              <c:pt idx="138">
                <c:v>2334</c:v>
              </c:pt>
              <c:pt idx="139">
                <c:v>2444</c:v>
              </c:pt>
              <c:pt idx="140">
                <c:v>2416</c:v>
              </c:pt>
              <c:pt idx="141">
                <c:v>2633</c:v>
              </c:pt>
              <c:pt idx="142">
                <c:v>2274</c:v>
              </c:pt>
              <c:pt idx="143">
                <c:v>2475</c:v>
              </c:pt>
              <c:pt idx="144">
                <c:v>2322</c:v>
              </c:pt>
              <c:pt idx="145">
                <c:v>2236</c:v>
              </c:pt>
              <c:pt idx="146">
                <c:v>2631</c:v>
              </c:pt>
              <c:pt idx="147">
                <c:v>2535</c:v>
              </c:pt>
              <c:pt idx="148">
                <c:v>2525</c:v>
              </c:pt>
              <c:pt idx="149">
                <c:v>2417</c:v>
              </c:pt>
              <c:pt idx="150">
                <c:v>2426</c:v>
              </c:pt>
              <c:pt idx="151">
                <c:v>2413</c:v>
              </c:pt>
              <c:pt idx="152">
                <c:v>2414</c:v>
              </c:pt>
              <c:pt idx="153">
                <c:v>2520</c:v>
              </c:pt>
              <c:pt idx="154">
                <c:v>2328</c:v>
              </c:pt>
              <c:pt idx="155">
                <c:v>2575</c:v>
              </c:pt>
              <c:pt idx="156">
                <c:v>2196</c:v>
              </c:pt>
              <c:pt idx="157">
                <c:v>2351</c:v>
              </c:pt>
              <c:pt idx="158">
                <c:v>2556</c:v>
              </c:pt>
              <c:pt idx="159">
                <c:v>2273</c:v>
              </c:pt>
              <c:pt idx="160">
                <c:v>2370</c:v>
              </c:pt>
              <c:pt idx="161">
                <c:v>2256</c:v>
              </c:pt>
              <c:pt idx="162">
                <c:v>2333</c:v>
              </c:pt>
              <c:pt idx="163">
                <c:v>2325</c:v>
              </c:pt>
              <c:pt idx="164">
                <c:v>2237</c:v>
              </c:pt>
              <c:pt idx="165">
                <c:v>2310</c:v>
              </c:pt>
              <c:pt idx="166">
                <c:v>2326</c:v>
              </c:pt>
              <c:pt idx="167">
                <c:v>1964</c:v>
              </c:pt>
              <c:pt idx="168">
                <c:v>2150</c:v>
              </c:pt>
              <c:pt idx="169">
                <c:v>2087</c:v>
              </c:pt>
              <c:pt idx="170">
                <c:v>2316</c:v>
              </c:pt>
              <c:pt idx="171">
                <c:v>2209</c:v>
              </c:pt>
              <c:pt idx="172">
                <c:v>2270</c:v>
              </c:pt>
              <c:pt idx="173">
                <c:v>2201</c:v>
              </c:pt>
              <c:pt idx="174">
                <c:v>2086</c:v>
              </c:pt>
              <c:pt idx="175">
                <c:v>2260</c:v>
              </c:pt>
              <c:pt idx="176">
                <c:v>2004</c:v>
              </c:pt>
              <c:pt idx="177">
                <c:v>2296</c:v>
              </c:pt>
              <c:pt idx="178">
                <c:v>2116</c:v>
              </c:pt>
              <c:pt idx="179">
                <c:v>1887</c:v>
              </c:pt>
            </c:numLit>
          </c:yVal>
          <c:smooth val="1"/>
          <c:extLst>
            <c:ext xmlns:c16="http://schemas.microsoft.com/office/drawing/2014/chart" uri="{C3380CC4-5D6E-409C-BE32-E72D297353CC}">
              <c16:uniqueId val="{00000000-A299-274C-94B7-7B396C69E55A}"/>
            </c:ext>
          </c:extLst>
        </c:ser>
        <c:ser>
          <c:idx val="1"/>
          <c:order val="1"/>
          <c:tx>
            <c:v>Frozen long-run fitted level</c:v>
          </c:tx>
          <c:spPr>
            <a:ln w="28575">
              <a:solidFill>
                <a:srgbClr val="C77933"/>
              </a:solidFill>
              <a:prstDash val="solid"/>
            </a:ln>
          </c:spPr>
          <c:marker>
            <c:symbol val="none"/>
          </c:marker>
          <c:xVal>
            <c:numLit>
              <c:formatCode>General</c:formatCode>
              <c:ptCount val="180"/>
              <c:pt idx="0">
                <c:v>2011</c:v>
              </c:pt>
              <c:pt idx="1">
                <c:v>2011.0833333333333</c:v>
              </c:pt>
              <c:pt idx="2">
                <c:v>2011.1666666666667</c:v>
              </c:pt>
              <c:pt idx="3">
                <c:v>2011.25</c:v>
              </c:pt>
              <c:pt idx="4">
                <c:v>2011.3333333333333</c:v>
              </c:pt>
              <c:pt idx="5">
                <c:v>2011.4166666666667</c:v>
              </c:pt>
              <c:pt idx="6">
                <c:v>2011.5</c:v>
              </c:pt>
              <c:pt idx="7">
                <c:v>2011.5833333333333</c:v>
              </c:pt>
              <c:pt idx="8">
                <c:v>2011.6666666666667</c:v>
              </c:pt>
              <c:pt idx="9">
                <c:v>2011.75</c:v>
              </c:pt>
              <c:pt idx="10">
                <c:v>2011.8333333333333</c:v>
              </c:pt>
              <c:pt idx="11">
                <c:v>2011.9166666666667</c:v>
              </c:pt>
              <c:pt idx="12">
                <c:v>2012</c:v>
              </c:pt>
              <c:pt idx="13">
                <c:v>2012.0833333333333</c:v>
              </c:pt>
              <c:pt idx="14">
                <c:v>2012.1666666666667</c:v>
              </c:pt>
              <c:pt idx="15">
                <c:v>2012.25</c:v>
              </c:pt>
              <c:pt idx="16">
                <c:v>2012.3333333333333</c:v>
              </c:pt>
              <c:pt idx="17">
                <c:v>2012.4166666666667</c:v>
              </c:pt>
              <c:pt idx="18">
                <c:v>2012.5</c:v>
              </c:pt>
              <c:pt idx="19">
                <c:v>2012.5833333333333</c:v>
              </c:pt>
              <c:pt idx="20">
                <c:v>2012.6666666666667</c:v>
              </c:pt>
              <c:pt idx="21">
                <c:v>2012.75</c:v>
              </c:pt>
              <c:pt idx="22">
                <c:v>2012.8333333333333</c:v>
              </c:pt>
              <c:pt idx="23">
                <c:v>2012.9166666666667</c:v>
              </c:pt>
              <c:pt idx="24">
                <c:v>2013</c:v>
              </c:pt>
              <c:pt idx="25">
                <c:v>2013.0833333333333</c:v>
              </c:pt>
              <c:pt idx="26">
                <c:v>2013.1666666666667</c:v>
              </c:pt>
              <c:pt idx="27">
                <c:v>2013.25</c:v>
              </c:pt>
              <c:pt idx="28">
                <c:v>2013.3333333333333</c:v>
              </c:pt>
              <c:pt idx="29">
                <c:v>2013.4166666666667</c:v>
              </c:pt>
              <c:pt idx="30">
                <c:v>2013.5</c:v>
              </c:pt>
              <c:pt idx="31">
                <c:v>2013.5833333333333</c:v>
              </c:pt>
              <c:pt idx="32">
                <c:v>2013.6666666666667</c:v>
              </c:pt>
              <c:pt idx="33">
                <c:v>2013.75</c:v>
              </c:pt>
              <c:pt idx="34">
                <c:v>2013.8333333333333</c:v>
              </c:pt>
              <c:pt idx="35">
                <c:v>2013.9166666666667</c:v>
              </c:pt>
              <c:pt idx="36">
                <c:v>2014</c:v>
              </c:pt>
              <c:pt idx="37">
                <c:v>2014.0833333333333</c:v>
              </c:pt>
              <c:pt idx="38">
                <c:v>2014.1666666666667</c:v>
              </c:pt>
              <c:pt idx="39">
                <c:v>2014.25</c:v>
              </c:pt>
              <c:pt idx="40">
                <c:v>2014.3333333333333</c:v>
              </c:pt>
              <c:pt idx="41">
                <c:v>2014.4166666666667</c:v>
              </c:pt>
              <c:pt idx="42">
                <c:v>2014.5</c:v>
              </c:pt>
              <c:pt idx="43">
                <c:v>2014.5833333333333</c:v>
              </c:pt>
              <c:pt idx="44">
                <c:v>2014.6666666666667</c:v>
              </c:pt>
              <c:pt idx="45">
                <c:v>2014.75</c:v>
              </c:pt>
              <c:pt idx="46">
                <c:v>2014.8333333333333</c:v>
              </c:pt>
              <c:pt idx="47">
                <c:v>2014.9166666666667</c:v>
              </c:pt>
              <c:pt idx="48">
                <c:v>2015</c:v>
              </c:pt>
              <c:pt idx="49">
                <c:v>2015.0833333333333</c:v>
              </c:pt>
              <c:pt idx="50">
                <c:v>2015.1666666666667</c:v>
              </c:pt>
              <c:pt idx="51">
                <c:v>2015.25</c:v>
              </c:pt>
              <c:pt idx="52">
                <c:v>2015.3333333333333</c:v>
              </c:pt>
              <c:pt idx="53">
                <c:v>2015.4166666666667</c:v>
              </c:pt>
              <c:pt idx="54">
                <c:v>2015.5</c:v>
              </c:pt>
              <c:pt idx="55">
                <c:v>2015.5833333333333</c:v>
              </c:pt>
              <c:pt idx="56">
                <c:v>2015.6666666666667</c:v>
              </c:pt>
              <c:pt idx="57">
                <c:v>2015.75</c:v>
              </c:pt>
              <c:pt idx="58">
                <c:v>2015.8333333333333</c:v>
              </c:pt>
              <c:pt idx="59">
                <c:v>2015.9166666666667</c:v>
              </c:pt>
              <c:pt idx="60">
                <c:v>2016</c:v>
              </c:pt>
              <c:pt idx="61">
                <c:v>2016.0833333333333</c:v>
              </c:pt>
              <c:pt idx="62">
                <c:v>2016.1666666666667</c:v>
              </c:pt>
              <c:pt idx="63">
                <c:v>2016.25</c:v>
              </c:pt>
              <c:pt idx="64">
                <c:v>2016.3333333333333</c:v>
              </c:pt>
              <c:pt idx="65">
                <c:v>2016.4166666666667</c:v>
              </c:pt>
              <c:pt idx="66">
                <c:v>2016.5</c:v>
              </c:pt>
              <c:pt idx="67">
                <c:v>2016.5833333333333</c:v>
              </c:pt>
              <c:pt idx="68">
                <c:v>2016.6666666666667</c:v>
              </c:pt>
              <c:pt idx="69">
                <c:v>2016.75</c:v>
              </c:pt>
              <c:pt idx="70">
                <c:v>2016.8333333333333</c:v>
              </c:pt>
              <c:pt idx="71">
                <c:v>2016.9166666666667</c:v>
              </c:pt>
              <c:pt idx="72">
                <c:v>2017</c:v>
              </c:pt>
              <c:pt idx="73">
                <c:v>2017.0833333333333</c:v>
              </c:pt>
              <c:pt idx="74">
                <c:v>2017.1666666666667</c:v>
              </c:pt>
              <c:pt idx="75">
                <c:v>2017.25</c:v>
              </c:pt>
              <c:pt idx="76">
                <c:v>2017.3333333333333</c:v>
              </c:pt>
              <c:pt idx="77">
                <c:v>2017.4166666666667</c:v>
              </c:pt>
              <c:pt idx="78">
                <c:v>2017.5</c:v>
              </c:pt>
              <c:pt idx="79">
                <c:v>2017.5833333333333</c:v>
              </c:pt>
              <c:pt idx="80">
                <c:v>2017.6666666666667</c:v>
              </c:pt>
              <c:pt idx="81">
                <c:v>2017.75</c:v>
              </c:pt>
              <c:pt idx="82">
                <c:v>2017.8333333333333</c:v>
              </c:pt>
              <c:pt idx="83">
                <c:v>2017.9166666666667</c:v>
              </c:pt>
              <c:pt idx="84">
                <c:v>2018</c:v>
              </c:pt>
              <c:pt idx="85">
                <c:v>2018.0833333333333</c:v>
              </c:pt>
              <c:pt idx="86">
                <c:v>2018.1666666666667</c:v>
              </c:pt>
              <c:pt idx="87">
                <c:v>2018.25</c:v>
              </c:pt>
              <c:pt idx="88">
                <c:v>2018.3333333333333</c:v>
              </c:pt>
              <c:pt idx="89">
                <c:v>2018.4166666666667</c:v>
              </c:pt>
              <c:pt idx="90">
                <c:v>2018.5</c:v>
              </c:pt>
              <c:pt idx="91">
                <c:v>2018.5833333333333</c:v>
              </c:pt>
              <c:pt idx="92">
                <c:v>2018.6666666666667</c:v>
              </c:pt>
              <c:pt idx="93">
                <c:v>2018.75</c:v>
              </c:pt>
              <c:pt idx="94">
                <c:v>2018.8333333333333</c:v>
              </c:pt>
              <c:pt idx="95">
                <c:v>2018.9166666666667</c:v>
              </c:pt>
              <c:pt idx="96">
                <c:v>2019</c:v>
              </c:pt>
              <c:pt idx="97">
                <c:v>2019.0833333333333</c:v>
              </c:pt>
              <c:pt idx="98">
                <c:v>2019.1666666666667</c:v>
              </c:pt>
              <c:pt idx="99">
                <c:v>2019.25</c:v>
              </c:pt>
              <c:pt idx="100">
                <c:v>2019.3333333333333</c:v>
              </c:pt>
              <c:pt idx="101">
                <c:v>2019.4166666666667</c:v>
              </c:pt>
              <c:pt idx="102">
                <c:v>2019.5</c:v>
              </c:pt>
              <c:pt idx="103">
                <c:v>2019.5833333333333</c:v>
              </c:pt>
              <c:pt idx="104">
                <c:v>2019.6666666666667</c:v>
              </c:pt>
              <c:pt idx="105">
                <c:v>2019.75</c:v>
              </c:pt>
              <c:pt idx="106">
                <c:v>2019.8333333333333</c:v>
              </c:pt>
              <c:pt idx="107">
                <c:v>2019.9166666666667</c:v>
              </c:pt>
              <c:pt idx="108">
                <c:v>2020</c:v>
              </c:pt>
              <c:pt idx="109">
                <c:v>2020.0833333333333</c:v>
              </c:pt>
              <c:pt idx="110">
                <c:v>2020.1666666666667</c:v>
              </c:pt>
              <c:pt idx="111">
                <c:v>2020.25</c:v>
              </c:pt>
              <c:pt idx="112">
                <c:v>2020.3333333333333</c:v>
              </c:pt>
              <c:pt idx="113">
                <c:v>2020.4166666666667</c:v>
              </c:pt>
              <c:pt idx="114">
                <c:v>2020.5</c:v>
              </c:pt>
              <c:pt idx="115">
                <c:v>2020.5833333333333</c:v>
              </c:pt>
              <c:pt idx="116">
                <c:v>2020.6666666666667</c:v>
              </c:pt>
              <c:pt idx="117">
                <c:v>2020.75</c:v>
              </c:pt>
              <c:pt idx="118">
                <c:v>2020.8333333333333</c:v>
              </c:pt>
              <c:pt idx="119">
                <c:v>2020.9166666666667</c:v>
              </c:pt>
              <c:pt idx="120">
                <c:v>2021</c:v>
              </c:pt>
              <c:pt idx="121">
                <c:v>2021.0833333333333</c:v>
              </c:pt>
              <c:pt idx="122">
                <c:v>2021.1666666666667</c:v>
              </c:pt>
              <c:pt idx="123">
                <c:v>2021.25</c:v>
              </c:pt>
              <c:pt idx="124">
                <c:v>2021.3333333333333</c:v>
              </c:pt>
              <c:pt idx="125">
                <c:v>2021.4166666666667</c:v>
              </c:pt>
              <c:pt idx="126">
                <c:v>2021.5</c:v>
              </c:pt>
              <c:pt idx="127">
                <c:v>2021.5833333333333</c:v>
              </c:pt>
              <c:pt idx="128">
                <c:v>2021.6666666666667</c:v>
              </c:pt>
              <c:pt idx="129">
                <c:v>2021.75</c:v>
              </c:pt>
              <c:pt idx="130">
                <c:v>2021.8333333333333</c:v>
              </c:pt>
              <c:pt idx="131">
                <c:v>2021.9166666666667</c:v>
              </c:pt>
              <c:pt idx="132">
                <c:v>2022</c:v>
              </c:pt>
              <c:pt idx="133">
                <c:v>2022.0833333333333</c:v>
              </c:pt>
              <c:pt idx="134">
                <c:v>2022.1666666666667</c:v>
              </c:pt>
              <c:pt idx="135">
                <c:v>2022.25</c:v>
              </c:pt>
              <c:pt idx="136">
                <c:v>2022.3333333333333</c:v>
              </c:pt>
              <c:pt idx="137">
                <c:v>2022.4166666666667</c:v>
              </c:pt>
              <c:pt idx="138">
                <c:v>2022.5</c:v>
              </c:pt>
              <c:pt idx="139">
                <c:v>2022.5833333333333</c:v>
              </c:pt>
              <c:pt idx="140">
                <c:v>2022.6666666666667</c:v>
              </c:pt>
              <c:pt idx="141">
                <c:v>2022.75</c:v>
              </c:pt>
              <c:pt idx="142">
                <c:v>2022.8333333333333</c:v>
              </c:pt>
              <c:pt idx="143">
                <c:v>2022.9166666666667</c:v>
              </c:pt>
              <c:pt idx="144">
                <c:v>2023</c:v>
              </c:pt>
              <c:pt idx="145">
                <c:v>2023.0833333333333</c:v>
              </c:pt>
              <c:pt idx="146">
                <c:v>2023.1666666666667</c:v>
              </c:pt>
              <c:pt idx="147">
                <c:v>2023.25</c:v>
              </c:pt>
              <c:pt idx="148">
                <c:v>2023.3333333333333</c:v>
              </c:pt>
              <c:pt idx="149">
                <c:v>2023.4166666666667</c:v>
              </c:pt>
              <c:pt idx="150">
                <c:v>2023.5</c:v>
              </c:pt>
              <c:pt idx="151">
                <c:v>2023.5833333333333</c:v>
              </c:pt>
              <c:pt idx="152">
                <c:v>2023.6666666666667</c:v>
              </c:pt>
              <c:pt idx="153">
                <c:v>2023.75</c:v>
              </c:pt>
              <c:pt idx="154">
                <c:v>2023.8333333333333</c:v>
              </c:pt>
              <c:pt idx="155">
                <c:v>2023.9166666666667</c:v>
              </c:pt>
              <c:pt idx="156">
                <c:v>2024</c:v>
              </c:pt>
              <c:pt idx="157">
                <c:v>2024.0833333333333</c:v>
              </c:pt>
              <c:pt idx="158">
                <c:v>2024.1666666666667</c:v>
              </c:pt>
              <c:pt idx="159">
                <c:v>2024.25</c:v>
              </c:pt>
              <c:pt idx="160">
                <c:v>2024.3333333333333</c:v>
              </c:pt>
              <c:pt idx="161">
                <c:v>2024.4166666666667</c:v>
              </c:pt>
              <c:pt idx="162">
                <c:v>2024.5</c:v>
              </c:pt>
              <c:pt idx="163">
                <c:v>2024.5833333333333</c:v>
              </c:pt>
              <c:pt idx="164">
                <c:v>2024.6666666666667</c:v>
              </c:pt>
              <c:pt idx="165">
                <c:v>2024.75</c:v>
              </c:pt>
              <c:pt idx="166">
                <c:v>2024.8333333333333</c:v>
              </c:pt>
              <c:pt idx="167">
                <c:v>2024.9166666666667</c:v>
              </c:pt>
              <c:pt idx="168">
                <c:v>2025</c:v>
              </c:pt>
              <c:pt idx="169">
                <c:v>2025.0833333333333</c:v>
              </c:pt>
              <c:pt idx="170">
                <c:v>2025.1666666666667</c:v>
              </c:pt>
              <c:pt idx="171">
                <c:v>2025.25</c:v>
              </c:pt>
              <c:pt idx="172">
                <c:v>2025.3333333333333</c:v>
              </c:pt>
              <c:pt idx="173">
                <c:v>2025.4166666666667</c:v>
              </c:pt>
              <c:pt idx="174">
                <c:v>2025.5</c:v>
              </c:pt>
              <c:pt idx="175">
                <c:v>2025.5833333333333</c:v>
              </c:pt>
              <c:pt idx="176">
                <c:v>2025.6666666666667</c:v>
              </c:pt>
              <c:pt idx="177">
                <c:v>2025.75</c:v>
              </c:pt>
              <c:pt idx="178">
                <c:v>2025.8333333333333</c:v>
              </c:pt>
              <c:pt idx="179">
                <c:v>2025.9166666666667</c:v>
              </c:pt>
            </c:numLit>
          </c:xVal>
          <c:yVal>
            <c:numLit>
              <c:formatCode>#,##0</c:formatCode>
              <c:ptCount val="180"/>
              <c:pt idx="0">
                <c:v>908.44936009174626</c:v>
              </c:pt>
              <c:pt idx="1">
                <c:v>922.23723999018739</c:v>
              </c:pt>
              <c:pt idx="2">
                <c:v>944.56972151583022</c:v>
              </c:pt>
              <c:pt idx="3">
                <c:v>964.76605263467309</c:v>
              </c:pt>
              <c:pt idx="4">
                <c:v>978.74812802464066</c:v>
              </c:pt>
              <c:pt idx="5">
                <c:v>978.74812802464066</c:v>
              </c:pt>
              <c:pt idx="6">
                <c:v>990.20566202475356</c:v>
              </c:pt>
              <c:pt idx="7">
                <c:v>1003.9935419231947</c:v>
              </c:pt>
              <c:pt idx="8">
                <c:v>1013.5091210080332</c:v>
              </c:pt>
              <c:pt idx="9">
                <c:v>1016.4220533809435</c:v>
              </c:pt>
              <c:pt idx="10">
                <c:v>1024.5782640250914</c:v>
              </c:pt>
              <c:pt idx="11">
                <c:v>1025.5492414827281</c:v>
              </c:pt>
              <c:pt idx="12">
                <c:v>1037.5893619574231</c:v>
              </c:pt>
              <c:pt idx="13">
                <c:v>1047.1049410422625</c:v>
              </c:pt>
              <c:pt idx="14">
                <c:v>1056.4263246355745</c:v>
              </c:pt>
              <c:pt idx="15">
                <c:v>1063.805753313613</c:v>
              </c:pt>
              <c:pt idx="16">
                <c:v>1054.4843697203009</c:v>
              </c:pt>
              <c:pt idx="17">
                <c:v>1050.7946553812822</c:v>
              </c:pt>
              <c:pt idx="18">
                <c:v>1052.1540238219727</c:v>
              </c:pt>
              <c:pt idx="19">
                <c:v>1077.9820241951079</c:v>
              </c:pt>
              <c:pt idx="20">
                <c:v>1099.3435282631149</c:v>
              </c:pt>
              <c:pt idx="21">
                <c:v>1111.3836487378089</c:v>
              </c:pt>
              <c:pt idx="22">
                <c:v>1103.810024568244</c:v>
              </c:pt>
              <c:pt idx="23">
                <c:v>1103.2274380936619</c:v>
              </c:pt>
              <c:pt idx="24">
                <c:v>1112.1604307039192</c:v>
              </c:pt>
              <c:pt idx="25">
                <c:v>1136.629062636363</c:v>
              </c:pt>
              <c:pt idx="26">
                <c:v>1123.8121601955586</c:v>
              </c:pt>
              <c:pt idx="27">
                <c:v>1114.4907766022475</c:v>
              </c:pt>
              <c:pt idx="28">
                <c:v>1116.2385360259927</c:v>
              </c:pt>
              <c:pt idx="29">
                <c:v>1127.1134835515236</c:v>
              </c:pt>
              <c:pt idx="30">
                <c:v>1135.8522806702535</c:v>
              </c:pt>
              <c:pt idx="31">
                <c:v>1146.7272281957844</c:v>
              </c:pt>
              <c:pt idx="32">
                <c:v>1148.2807921280032</c:v>
              </c:pt>
              <c:pt idx="33">
                <c:v>1150.8053335178579</c:v>
              </c:pt>
              <c:pt idx="34">
                <c:v>1159.1557396535331</c:v>
              </c:pt>
              <c:pt idx="35">
                <c:v>1171.1958601282281</c:v>
              </c:pt>
              <c:pt idx="36">
                <c:v>1182.2650031452863</c:v>
              </c:pt>
              <c:pt idx="37">
                <c:v>1187.3140859249975</c:v>
              </c:pt>
              <c:pt idx="38">
                <c:v>1196.6354695183086</c:v>
              </c:pt>
              <c:pt idx="39">
                <c:v>1205.1800711455112</c:v>
              </c:pt>
              <c:pt idx="40">
                <c:v>1213.9188682642412</c:v>
              </c:pt>
              <c:pt idx="41">
                <c:v>1219.9389285015891</c:v>
              </c:pt>
              <c:pt idx="42">
                <c:v>1225.1822067728267</c:v>
              </c:pt>
              <c:pt idx="43">
                <c:v>1224.4054248067182</c:v>
              </c:pt>
              <c:pt idx="44">
                <c:v>1224.793815789772</c:v>
              </c:pt>
              <c:pt idx="45">
                <c:v>1223.8228383321361</c:v>
              </c:pt>
              <c:pt idx="46">
                <c:v>1215.0840412134053</c:v>
              </c:pt>
              <c:pt idx="47">
                <c:v>1200.9077703319103</c:v>
              </c:pt>
              <c:pt idx="48">
                <c:v>1171.7784466028102</c:v>
              </c:pt>
              <c:pt idx="49">
                <c:v>1183.2359806029231</c:v>
              </c:pt>
              <c:pt idx="50">
                <c:v>1195.6644920606718</c:v>
              </c:pt>
              <c:pt idx="51">
                <c:v>1200.3251838573283</c:v>
              </c:pt>
              <c:pt idx="52">
                <c:v>1215.47243219646</c:v>
              </c:pt>
              <c:pt idx="53">
                <c:v>1228.2893346372643</c:v>
              </c:pt>
              <c:pt idx="54">
                <c:v>1235.4745678237755</c:v>
              </c:pt>
              <c:pt idx="55">
                <c:v>1235.4745678237755</c:v>
              </c:pt>
              <c:pt idx="56">
                <c:v>1225.1822067728267</c:v>
              </c:pt>
              <c:pt idx="57">
                <c:v>1229.6487030779558</c:v>
              </c:pt>
              <c:pt idx="58">
                <c:v>1235.2803723322481</c:v>
              </c:pt>
              <c:pt idx="59">
                <c:v>1230.2312895525379</c:v>
              </c:pt>
              <c:pt idx="60">
                <c:v>1228.095139145737</c:v>
              </c:pt>
              <c:pt idx="61">
                <c:v>1222.07507890839</c:v>
              </c:pt>
              <c:pt idx="62">
                <c:v>1236.4455452814123</c:v>
              </c:pt>
              <c:pt idx="63">
                <c:v>1254.1173350103995</c:v>
              </c:pt>
              <c:pt idx="64">
                <c:v>1265.1864780274577</c:v>
              </c:pt>
              <c:pt idx="65">
                <c:v>1278.0033804682621</c:v>
              </c:pt>
              <c:pt idx="66">
                <c:v>1275.6730345699339</c:v>
              </c:pt>
              <c:pt idx="67">
                <c:v>1284.4118316886638</c:v>
              </c:pt>
              <c:pt idx="68">
                <c:v>1296.6461476548861</c:v>
              </c:pt>
              <c:pt idx="69">
                <c:v>1307.5210951804161</c:v>
              </c:pt>
              <c:pt idx="70">
                <c:v>1313.1527644347093</c:v>
              </c:pt>
              <c:pt idx="71">
                <c:v>1324.998689417876</c:v>
              </c:pt>
              <c:pt idx="72">
                <c:v>1344.0298475875547</c:v>
              </c:pt>
              <c:pt idx="73">
                <c:v>1351.6034717571206</c:v>
              </c:pt>
              <c:pt idx="74">
                <c:v>1349.2731258587924</c:v>
              </c:pt>
              <c:pt idx="75">
                <c:v>1355.0989906046129</c:v>
              </c:pt>
              <c:pt idx="76">
                <c:v>1351.4092762655941</c:v>
              </c:pt>
              <c:pt idx="77">
                <c:v>1354.5164041300309</c:v>
              </c:pt>
              <c:pt idx="78">
                <c:v>1356.0699680622497</c:v>
              </c:pt>
              <c:pt idx="79">
                <c:v>1374.324344265819</c:v>
              </c:pt>
              <c:pt idx="80">
                <c:v>1398.7929761982627</c:v>
              </c:pt>
              <c:pt idx="81">
                <c:v>1402.4826905372825</c:v>
              </c:pt>
              <c:pt idx="82">
                <c:v>1415.1053974865595</c:v>
              </c:pt>
              <c:pt idx="83">
                <c:v>1425.3977585375073</c:v>
              </c:pt>
              <c:pt idx="84">
                <c:v>1445.7882851478776</c:v>
              </c:pt>
              <c:pt idx="85">
                <c:v>1458.7993830802093</c:v>
              </c:pt>
              <c:pt idx="86">
                <c:v>1459.770360537846</c:v>
              </c:pt>
              <c:pt idx="87">
                <c:v>1472.3930674871222</c:v>
              </c:pt>
              <c:pt idx="88">
                <c:v>1483.268015012653</c:v>
              </c:pt>
              <c:pt idx="89">
                <c:v>1487.7345113177821</c:v>
              </c:pt>
              <c:pt idx="90">
                <c:v>1491.4242256568009</c:v>
              </c:pt>
              <c:pt idx="91">
                <c:v>1500.1630227755309</c:v>
              </c:pt>
              <c:pt idx="92">
                <c:v>1510.2611883349523</c:v>
              </c:pt>
              <c:pt idx="93">
                <c:v>1521.7187223350652</c:v>
              </c:pt>
              <c:pt idx="94">
                <c:v>1518.2232034875728</c:v>
              </c:pt>
              <c:pt idx="95">
                <c:v>1521.7187223350652</c:v>
              </c:pt>
              <c:pt idx="96">
                <c:v>1517.6406170129908</c:v>
              </c:pt>
              <c:pt idx="97">
                <c:v>1532.3994743690687</c:v>
              </c:pt>
              <c:pt idx="98">
                <c:v>1551.0422415556927</c:v>
              </c:pt>
              <c:pt idx="99">
                <c:v>1569.4908132507885</c:v>
              </c:pt>
              <c:pt idx="100">
                <c:v>1570.8501816914809</c:v>
              </c:pt>
              <c:pt idx="101">
                <c:v>1569.1024222677347</c:v>
              </c:pt>
              <c:pt idx="102">
                <c:v>1580.5599562678476</c:v>
              </c:pt>
              <c:pt idx="103">
                <c:v>1585.2206480645032</c:v>
              </c:pt>
              <c:pt idx="104">
                <c:v>1592.794272234069</c:v>
              </c:pt>
              <c:pt idx="105">
                <c:v>1606.9705431155649</c:v>
              </c:pt>
              <c:pt idx="106">
                <c:v>1620.9526185055324</c:v>
              </c:pt>
              <c:pt idx="107">
                <c:v>1635.5172803700821</c:v>
              </c:pt>
              <c:pt idx="108">
                <c:v>1645.2270549464488</c:v>
              </c:pt>
              <c:pt idx="109">
                <c:v>1647.557400844777</c:v>
              </c:pt>
              <c:pt idx="110">
                <c:v>1624.8365283360786</c:v>
              </c:pt>
              <c:pt idx="111">
                <c:v>1585.0264525729749</c:v>
              </c:pt>
              <c:pt idx="112">
                <c:v>1580.5599562678476</c:v>
              </c:pt>
              <c:pt idx="113">
                <c:v>1604.6401972172366</c:v>
              </c:pt>
              <c:pt idx="114">
                <c:v>1630.0798066073171</c:v>
              </c:pt>
              <c:pt idx="115">
                <c:v>1648.9167692854685</c:v>
              </c:pt>
              <c:pt idx="116">
                <c:v>1662.1220627093276</c:v>
              </c:pt>
              <c:pt idx="117">
                <c:v>1668.3363184382019</c:v>
              </c:pt>
              <c:pt idx="118">
                <c:v>1679.7938524383148</c:v>
              </c:pt>
              <c:pt idx="119">
                <c:v>1701.9321384724303</c:v>
              </c:pt>
              <c:pt idx="120">
                <c:v>1714.36064993018</c:v>
              </c:pt>
              <c:pt idx="121">
                <c:v>1731.6440486761126</c:v>
              </c:pt>
              <c:pt idx="122">
                <c:v>1758.4430265068845</c:v>
              </c:pt>
              <c:pt idx="123">
                <c:v>1790.485282608895</c:v>
              </c:pt>
              <c:pt idx="124">
                <c:v>1824.8578846092328</c:v>
              </c:pt>
              <c:pt idx="125">
                <c:v>1868.9402611859364</c:v>
              </c:pt>
              <c:pt idx="126">
                <c:v>1893.2146976268536</c:v>
              </c:pt>
              <c:pt idx="127">
                <c:v>1908.3619459659863</c:v>
              </c:pt>
              <c:pt idx="128">
                <c:v>1932.2479914238479</c:v>
              </c:pt>
              <c:pt idx="129">
                <c:v>1983.5156011870645</c:v>
              </c:pt>
              <c:pt idx="130">
                <c:v>2029.5399326790425</c:v>
              </c:pt>
              <c:pt idx="131">
                <c:v>2067.019662543818</c:v>
              </c:pt>
              <c:pt idx="132">
                <c:v>2099.8387006119369</c:v>
              </c:pt>
              <c:pt idx="133">
                <c:v>2137.9010169512935</c:v>
              </c:pt>
              <c:pt idx="134">
                <c:v>2199.4609877654589</c:v>
              </c:pt>
              <c:pt idx="135">
                <c:v>2216.7443865113914</c:v>
              </c:pt>
              <c:pt idx="136">
                <c:v>2269.9539511898806</c:v>
              </c:pt>
              <c:pt idx="137">
                <c:v>2341.0295010888844</c:v>
              </c:pt>
              <c:pt idx="138">
                <c:v>2340.0585236312486</c:v>
              </c:pt>
              <c:pt idx="139">
                <c:v>2343.7482379702674</c:v>
              </c:pt>
              <c:pt idx="140">
                <c:v>2368.0226744111847</c:v>
              </c:pt>
              <c:pt idx="141">
                <c:v>2400.2591260047216</c:v>
              </c:pt>
              <c:pt idx="142">
                <c:v>2415.4063743438542</c:v>
              </c:pt>
              <c:pt idx="143">
                <c:v>2416.1831563099627</c:v>
              </c:pt>
              <c:pt idx="144">
                <c:v>2447.060239462809</c:v>
              </c:pt>
              <c:pt idx="145">
                <c:v>2467.0623750901236</c:v>
              </c:pt>
              <c:pt idx="146">
                <c:v>2474.2476082766348</c:v>
              </c:pt>
              <c:pt idx="147">
                <c:v>2494.2497439039512</c:v>
              </c:pt>
              <c:pt idx="148">
                <c:v>2503.5711274972623</c:v>
              </c:pt>
              <c:pt idx="149">
                <c:v>2516.7764209211214</c:v>
              </c:pt>
              <c:pt idx="150">
                <c:v>2528.4281504127616</c:v>
              </c:pt>
              <c:pt idx="151">
                <c:v>2556.9748876672788</c:v>
              </c:pt>
              <c:pt idx="152">
                <c:v>2580.2783466505584</c:v>
              </c:pt>
              <c:pt idx="153">
                <c:v>2588.4345572947072</c:v>
              </c:pt>
              <c:pt idx="154">
                <c:v>2597.1733544134372</c:v>
              </c:pt>
              <c:pt idx="155">
                <c:v>2608.6308884135501</c:v>
              </c:pt>
              <c:pt idx="156">
                <c:v>2627.2736556001742</c:v>
              </c:pt>
              <c:pt idx="157">
                <c:v>2651.9364830241461</c:v>
              </c:pt>
              <c:pt idx="158">
                <c:v>2678.7354608549181</c:v>
              </c:pt>
              <c:pt idx="159">
                <c:v>2691.746558787248</c:v>
              </c:pt>
              <c:pt idx="160">
                <c:v>2694.8536866516865</c:v>
              </c:pt>
              <c:pt idx="161">
                <c:v>2692.1349497703036</c:v>
              </c:pt>
              <c:pt idx="162">
                <c:v>2702.4273108212524</c:v>
              </c:pt>
              <c:pt idx="163">
                <c:v>2711.9428899060918</c:v>
              </c:pt>
              <c:pt idx="164">
                <c:v>2724.9539878384235</c:v>
              </c:pt>
              <c:pt idx="165">
                <c:v>2742.4315820758825</c:v>
              </c:pt>
              <c:pt idx="166">
                <c:v>2759.9091763133424</c:v>
              </c:pt>
              <c:pt idx="167">
                <c:v>2780.6880939067682</c:v>
              </c:pt>
              <c:pt idx="168">
                <c:v>2807.0986807544846</c:v>
              </c:pt>
              <c:pt idx="169">
                <c:v>2821.0807561444531</c:v>
              </c:pt>
              <c:pt idx="170">
                <c:v>2823.2169065512539</c:v>
              </c:pt>
              <c:pt idx="171">
                <c:v>2833.120876619148</c:v>
              </c:pt>
              <c:pt idx="172">
                <c:v>2839.3351323480224</c:v>
              </c:pt>
              <c:pt idx="173">
                <c:v>2855.2591626532635</c:v>
              </c:pt>
              <c:pt idx="174">
                <c:v>2869.4354335347593</c:v>
              </c:pt>
              <c:pt idx="175">
                <c:v>2891.1853285858201</c:v>
              </c:pt>
              <c:pt idx="176">
                <c:v>2909.8280957724442</c:v>
              </c:pt>
              <c:pt idx="177">
                <c:v>2917.7901109250656</c:v>
              </c:pt>
              <c:pt idx="178">
                <c:v>2925.5579305861579</c:v>
              </c:pt>
              <c:pt idx="179">
                <c:v>2944.3948932643093</c:v>
              </c:pt>
            </c:numLit>
          </c:yVal>
          <c:smooth val="1"/>
          <c:extLst>
            <c:ext xmlns:c16="http://schemas.microsoft.com/office/drawing/2014/chart" uri="{C3380CC4-5D6E-409C-BE32-E72D297353CC}">
              <c16:uniqueId val="{00000001-A299-274C-94B7-7B396C69E55A}"/>
            </c:ext>
          </c:extLst>
        </c:ser>
        <c:ser>
          <c:idx val="2"/>
          <c:order val="2"/>
          <c:tx>
            <c:v>OOT begins Oct 2023</c:v>
          </c:tx>
          <c:spPr>
            <a:ln w="14288">
              <a:solidFill>
                <a:srgbClr val="7A858D"/>
              </a:solidFill>
              <a:prstDash val="dash"/>
            </a:ln>
          </c:spPr>
          <c:marker>
            <c:symbol val="none"/>
          </c:marker>
          <c:xVal>
            <c:numLit>
              <c:formatCode>General</c:formatCode>
              <c:ptCount val="2"/>
              <c:pt idx="0">
                <c:v>2023.75</c:v>
              </c:pt>
              <c:pt idx="1">
                <c:v>2023.75</c:v>
              </c:pt>
            </c:numLit>
          </c:xVal>
          <c:yVal>
            <c:numLit>
              <c:formatCode>#,##0</c:formatCode>
              <c:ptCount val="2"/>
              <c:pt idx="0">
                <c:v>0</c:v>
              </c:pt>
              <c:pt idx="1">
                <c:v>3000</c:v>
              </c:pt>
            </c:numLit>
          </c:yVal>
          <c:smooth val="1"/>
          <c:extLst>
            <c:ext xmlns:c16="http://schemas.microsoft.com/office/drawing/2014/chart" uri="{C3380CC4-5D6E-409C-BE32-E72D297353CC}">
              <c16:uniqueId val="{00000002-A299-274C-94B7-7B396C69E55A}"/>
            </c:ext>
          </c:extLst>
        </c:ser>
        <c:dLbls>
          <c:showLegendKey val="0"/>
          <c:showVal val="0"/>
          <c:showCatName val="0"/>
          <c:showSerName val="0"/>
          <c:showPercent val="0"/>
          <c:showBubbleSize val="0"/>
        </c:dLbls>
        <c:axId val="48650112"/>
        <c:axId val="48672768"/>
      </c:scatterChart>
      <c:valAx>
        <c:axId val="48672768"/>
        <c:scaling>
          <c:orientation val="minMax"/>
          <c:max val="3000"/>
          <c:min val="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midCat"/>
        <c:majorUnit val="500"/>
      </c:valAx>
      <c:valAx>
        <c:axId val="48650112"/>
        <c:scaling>
          <c:orientation val="minMax"/>
          <c:max val="2026"/>
          <c:min val="2011"/>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crossBetween val="midCat"/>
        <c:majorUnit val="2"/>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Overlay</c:v>
          </c:tx>
          <c:spPr>
            <a:ln w="28575">
              <a:solidFill>
                <a:srgbClr val="006C98"/>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0.0</c:formatCode>
              <c:ptCount val="27"/>
              <c:pt idx="0">
                <c:v>-6.5022293226879997</c:v>
              </c:pt>
              <c:pt idx="1">
                <c:v>-7.4114832803360002</c:v>
              </c:pt>
              <c:pt idx="2">
                <c:v>-8.3207372379839999</c:v>
              </c:pt>
              <c:pt idx="3">
                <c:v>-9.2299911956319995</c:v>
              </c:pt>
              <c:pt idx="4">
                <c:v>-10.139245153280001</c:v>
              </c:pt>
              <c:pt idx="5">
                <c:v>-11.048499110927999</c:v>
              </c:pt>
              <c:pt idx="6">
                <c:v>-11.957753068576</c:v>
              </c:pt>
              <c:pt idx="7">
                <c:v>-12.867007026224</c:v>
              </c:pt>
              <c:pt idx="8">
                <c:v>-13.776260983872</c:v>
              </c:pt>
              <c:pt idx="9">
                <c:v>-14.685514941520001</c:v>
              </c:pt>
              <c:pt idx="10">
                <c:v>-15.594768899167999</c:v>
              </c:pt>
              <c:pt idx="11">
                <c:v>-16.504022856816</c:v>
              </c:pt>
              <c:pt idx="12">
                <c:v>-17.413276814463998</c:v>
              </c:pt>
              <c:pt idx="13">
                <c:v>-18.322530772112</c:v>
              </c:pt>
              <c:pt idx="14">
                <c:v>-19.231784729760001</c:v>
              </c:pt>
              <c:pt idx="15">
                <c:v>-20.141038687407999</c:v>
              </c:pt>
              <c:pt idx="16">
                <c:v>-21.050292645056</c:v>
              </c:pt>
              <c:pt idx="17">
                <c:v>-21.959546602704002</c:v>
              </c:pt>
              <c:pt idx="18">
                <c:v>-22.868800560352</c:v>
              </c:pt>
              <c:pt idx="19">
                <c:v>-23.778054518000001</c:v>
              </c:pt>
              <c:pt idx="20">
                <c:v>-24.687308475647999</c:v>
              </c:pt>
              <c:pt idx="21">
                <c:v>-25.596562433296</c:v>
              </c:pt>
              <c:pt idx="22">
                <c:v>-26.505816390944002</c:v>
              </c:pt>
              <c:pt idx="23">
                <c:v>-27.415070348592</c:v>
              </c:pt>
              <c:pt idx="24">
                <c:v>-28.324324306240001</c:v>
              </c:pt>
              <c:pt idx="25">
                <c:v>-29.233578263887999</c:v>
              </c:pt>
              <c:pt idx="26">
                <c:v>-30.142832221536001</c:v>
              </c:pt>
            </c:numLit>
          </c:val>
          <c:smooth val="0"/>
          <c:extLst>
            <c:ext xmlns:c16="http://schemas.microsoft.com/office/drawing/2014/chart" uri="{C3380CC4-5D6E-409C-BE32-E72D297353CC}">
              <c16:uniqueId val="{00000000-4E9A-C24B-9A68-8CC1C18A058B}"/>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6"/>
        <c:noMultiLvlLbl val="1"/>
      </c:catAx>
      <c:valAx>
        <c:axId val="48672768"/>
        <c:scaling>
          <c:orientation val="minMax"/>
          <c:max val="-4"/>
          <c:min val="-32"/>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Scaled EC (%)</a:t>
                </a:r>
              </a:p>
            </c:rich>
          </c:tx>
          <c:overlay val="0"/>
        </c:title>
        <c:numFmt formatCode="0.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4"/>
      </c:valAx>
      <c:spPr>
        <a:solidFill>
          <a:srgbClr val="FFFFFF"/>
        </a:solidFill>
        <a:ln w="0">
          <a:noFill/>
        </a:ln>
      </c:spPr>
    </c:plotArea>
    <c:plotVisOnly val="1"/>
    <c:dispBlanksAs val="zero"/>
    <c:showDLblsOverMax val="1"/>
  </c:chart>
  <c:spPr>
    <a:solidFill>
      <a:srgbClr val="FFFFFF"/>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Actual fee</c:v>
          </c:tx>
          <c:spPr>
            <a:ln w="28575">
              <a:solidFill>
                <a:srgbClr val="006C98"/>
              </a:solidFill>
              <a:prstDash val="solid"/>
            </a:ln>
          </c:spPr>
          <c:marker>
            <c:symbol val="none"/>
          </c:marker>
          <c:cat>
            <c:strLit>
              <c:ptCount val="135"/>
              <c:pt idx="0">
                <c:v>Jul 2012</c:v>
              </c:pt>
              <c:pt idx="1">
                <c:v>Aug 2012</c:v>
              </c:pt>
              <c:pt idx="2">
                <c:v>Sep 2012</c:v>
              </c:pt>
              <c:pt idx="3">
                <c:v>Oct 2012</c:v>
              </c:pt>
              <c:pt idx="4">
                <c:v>Nov 2012</c:v>
              </c:pt>
              <c:pt idx="5">
                <c:v>Dec 2012</c:v>
              </c:pt>
              <c:pt idx="6">
                <c:v>Jan 2013</c:v>
              </c:pt>
              <c:pt idx="7">
                <c:v>Feb 2013</c:v>
              </c:pt>
              <c:pt idx="8">
                <c:v>Mar 2013</c:v>
              </c:pt>
              <c:pt idx="9">
                <c:v>Apr 2013</c:v>
              </c:pt>
              <c:pt idx="10">
                <c:v>May 2013</c:v>
              </c:pt>
              <c:pt idx="11">
                <c:v>Jun 2013</c:v>
              </c:pt>
              <c:pt idx="12">
                <c:v>Jul 2013</c:v>
              </c:pt>
              <c:pt idx="13">
                <c:v>Aug 2013</c:v>
              </c:pt>
              <c:pt idx="14">
                <c:v>Sep 2013</c:v>
              </c:pt>
              <c:pt idx="15">
                <c:v>Oct 2013</c:v>
              </c:pt>
              <c:pt idx="16">
                <c:v>Nov 2013</c:v>
              </c:pt>
              <c:pt idx="17">
                <c:v>Dec 2013</c:v>
              </c:pt>
              <c:pt idx="18">
                <c:v>Jan 2014</c:v>
              </c:pt>
              <c:pt idx="19">
                <c:v>Feb 2014</c:v>
              </c:pt>
              <c:pt idx="20">
                <c:v>Mar 2014</c:v>
              </c:pt>
              <c:pt idx="21">
                <c:v>Apr 2014</c:v>
              </c:pt>
              <c:pt idx="22">
                <c:v>May 2014</c:v>
              </c:pt>
              <c:pt idx="23">
                <c:v>Jun 2014</c:v>
              </c:pt>
              <c:pt idx="24">
                <c:v>Jul 2014</c:v>
              </c:pt>
              <c:pt idx="25">
                <c:v>Aug 2014</c:v>
              </c:pt>
              <c:pt idx="26">
                <c:v>Sep 2014</c:v>
              </c:pt>
              <c:pt idx="27">
                <c:v>Oct 2014</c:v>
              </c:pt>
              <c:pt idx="28">
                <c:v>Nov 2014</c:v>
              </c:pt>
              <c:pt idx="29">
                <c:v>Dec 2014</c:v>
              </c:pt>
              <c:pt idx="30">
                <c:v>Jan 2015</c:v>
              </c:pt>
              <c:pt idx="31">
                <c:v>Feb 2015</c:v>
              </c:pt>
              <c:pt idx="32">
                <c:v>Mar 2015</c:v>
              </c:pt>
              <c:pt idx="33">
                <c:v>Apr 2015</c:v>
              </c:pt>
              <c:pt idx="34">
                <c:v>May 2015</c:v>
              </c:pt>
              <c:pt idx="35">
                <c:v>Jun 2015</c:v>
              </c:pt>
              <c:pt idx="36">
                <c:v>Jul 2015</c:v>
              </c:pt>
              <c:pt idx="37">
                <c:v>Aug 2015</c:v>
              </c:pt>
              <c:pt idx="38">
                <c:v>Sep 2015</c:v>
              </c:pt>
              <c:pt idx="39">
                <c:v>Oct 2015</c:v>
              </c:pt>
              <c:pt idx="40">
                <c:v>Nov 2015</c:v>
              </c:pt>
              <c:pt idx="41">
                <c:v>Dec 2015</c:v>
              </c:pt>
              <c:pt idx="42">
                <c:v>Jan 2016</c:v>
              </c:pt>
              <c:pt idx="43">
                <c:v>Feb 2016</c:v>
              </c:pt>
              <c:pt idx="44">
                <c:v>Mar 2016</c:v>
              </c:pt>
              <c:pt idx="45">
                <c:v>Apr 2016</c:v>
              </c:pt>
              <c:pt idx="46">
                <c:v>May 2016</c:v>
              </c:pt>
              <c:pt idx="47">
                <c:v>Jun 2016</c:v>
              </c:pt>
              <c:pt idx="48">
                <c:v>Jul 2016</c:v>
              </c:pt>
              <c:pt idx="49">
                <c:v>Aug 2016</c:v>
              </c:pt>
              <c:pt idx="50">
                <c:v>Sep 2016</c:v>
              </c:pt>
              <c:pt idx="51">
                <c:v>Oct 2016</c:v>
              </c:pt>
              <c:pt idx="52">
                <c:v>Nov 2016</c:v>
              </c:pt>
              <c:pt idx="53">
                <c:v>Dec 2016</c:v>
              </c:pt>
              <c:pt idx="54">
                <c:v>Jan 2017</c:v>
              </c:pt>
              <c:pt idx="55">
                <c:v>Feb 2017</c:v>
              </c:pt>
              <c:pt idx="56">
                <c:v>Mar 2017</c:v>
              </c:pt>
              <c:pt idx="57">
                <c:v>Apr 2017</c:v>
              </c:pt>
              <c:pt idx="58">
                <c:v>May 2017</c:v>
              </c:pt>
              <c:pt idx="59">
                <c:v>Jun 2017</c:v>
              </c:pt>
              <c:pt idx="60">
                <c:v>Jul 2017</c:v>
              </c:pt>
              <c:pt idx="61">
                <c:v>Aug 2017</c:v>
              </c:pt>
              <c:pt idx="62">
                <c:v>Sep 2017</c:v>
              </c:pt>
              <c:pt idx="63">
                <c:v>Oct 2017</c:v>
              </c:pt>
              <c:pt idx="64">
                <c:v>Nov 2017</c:v>
              </c:pt>
              <c:pt idx="65">
                <c:v>Dec 2017</c:v>
              </c:pt>
              <c:pt idx="66">
                <c:v>Jan 2018</c:v>
              </c:pt>
              <c:pt idx="67">
                <c:v>Feb 2018</c:v>
              </c:pt>
              <c:pt idx="68">
                <c:v>Mar 2018</c:v>
              </c:pt>
              <c:pt idx="69">
                <c:v>Apr 2018</c:v>
              </c:pt>
              <c:pt idx="70">
                <c:v>May 2018</c:v>
              </c:pt>
              <c:pt idx="71">
                <c:v>Jun 2018</c:v>
              </c:pt>
              <c:pt idx="72">
                <c:v>Jul 2018</c:v>
              </c:pt>
              <c:pt idx="73">
                <c:v>Aug 2018</c:v>
              </c:pt>
              <c:pt idx="74">
                <c:v>Sep 2018</c:v>
              </c:pt>
              <c:pt idx="75">
                <c:v>Oct 2018</c:v>
              </c:pt>
              <c:pt idx="76">
                <c:v>Nov 2018</c:v>
              </c:pt>
              <c:pt idx="77">
                <c:v>Dec 2018</c:v>
              </c:pt>
              <c:pt idx="78">
                <c:v>Jan 2019</c:v>
              </c:pt>
              <c:pt idx="79">
                <c:v>Feb 2019</c:v>
              </c:pt>
              <c:pt idx="80">
                <c:v>Mar 2019</c:v>
              </c:pt>
              <c:pt idx="81">
                <c:v>Apr 2019</c:v>
              </c:pt>
              <c:pt idx="82">
                <c:v>May 2019</c:v>
              </c:pt>
              <c:pt idx="83">
                <c:v>Jun 2019</c:v>
              </c:pt>
              <c:pt idx="84">
                <c:v>Jul 2019</c:v>
              </c:pt>
              <c:pt idx="85">
                <c:v>Aug 2019</c:v>
              </c:pt>
              <c:pt idx="86">
                <c:v>Sep 2019</c:v>
              </c:pt>
              <c:pt idx="87">
                <c:v>Oct 2019</c:v>
              </c:pt>
              <c:pt idx="88">
                <c:v>Nov 2019</c:v>
              </c:pt>
              <c:pt idx="89">
                <c:v>Dec 2019</c:v>
              </c:pt>
              <c:pt idx="90">
                <c:v>Jan 2020</c:v>
              </c:pt>
              <c:pt idx="91">
                <c:v>Feb 2020</c:v>
              </c:pt>
              <c:pt idx="92">
                <c:v>Mar 2020</c:v>
              </c:pt>
              <c:pt idx="93">
                <c:v>Apr 2020</c:v>
              </c:pt>
              <c:pt idx="94">
                <c:v>May 2020</c:v>
              </c:pt>
              <c:pt idx="95">
                <c:v>Jun 2020</c:v>
              </c:pt>
              <c:pt idx="96">
                <c:v>Jul 2020</c:v>
              </c:pt>
              <c:pt idx="97">
                <c:v>Aug 2020</c:v>
              </c:pt>
              <c:pt idx="98">
                <c:v>Sep 2020</c:v>
              </c:pt>
              <c:pt idx="99">
                <c:v>Oct 2020</c:v>
              </c:pt>
              <c:pt idx="100">
                <c:v>Nov 2020</c:v>
              </c:pt>
              <c:pt idx="101">
                <c:v>Dec 2020</c:v>
              </c:pt>
              <c:pt idx="102">
                <c:v>Jan 2021</c:v>
              </c:pt>
              <c:pt idx="103">
                <c:v>Feb 2021</c:v>
              </c:pt>
              <c:pt idx="104">
                <c:v>Mar 2021</c:v>
              </c:pt>
              <c:pt idx="105">
                <c:v>Apr 2021</c:v>
              </c:pt>
              <c:pt idx="106">
                <c:v>May 2021</c:v>
              </c:pt>
              <c:pt idx="107">
                <c:v>Jun 2021</c:v>
              </c:pt>
              <c:pt idx="108">
                <c:v>Jul 2021</c:v>
              </c:pt>
              <c:pt idx="109">
                <c:v>Aug 2021</c:v>
              </c:pt>
              <c:pt idx="110">
                <c:v>Sep 2021</c:v>
              </c:pt>
              <c:pt idx="111">
                <c:v>Oct 2021</c:v>
              </c:pt>
              <c:pt idx="112">
                <c:v>Nov 2021</c:v>
              </c:pt>
              <c:pt idx="113">
                <c:v>Dec 2021</c:v>
              </c:pt>
              <c:pt idx="114">
                <c:v>Jan 2022</c:v>
              </c:pt>
              <c:pt idx="115">
                <c:v>Feb 2022</c:v>
              </c:pt>
              <c:pt idx="116">
                <c:v>Mar 2022</c:v>
              </c:pt>
              <c:pt idx="117">
                <c:v>Apr 2022</c:v>
              </c:pt>
              <c:pt idx="118">
                <c:v>May 2022</c:v>
              </c:pt>
              <c:pt idx="119">
                <c:v>Jun 2022</c:v>
              </c:pt>
              <c:pt idx="120">
                <c:v>Jul 2022</c:v>
              </c:pt>
              <c:pt idx="121">
                <c:v>Aug 2022</c:v>
              </c:pt>
              <c:pt idx="122">
                <c:v>Sep 2022</c:v>
              </c:pt>
              <c:pt idx="123">
                <c:v>Oct 2022</c:v>
              </c:pt>
              <c:pt idx="124">
                <c:v>Nov 2022</c:v>
              </c:pt>
              <c:pt idx="125">
                <c:v>Dec 2022</c:v>
              </c:pt>
              <c:pt idx="126">
                <c:v>Jan 2023</c:v>
              </c:pt>
              <c:pt idx="127">
                <c:v>Feb 2023</c:v>
              </c:pt>
              <c:pt idx="128">
                <c:v>Mar 2023</c:v>
              </c:pt>
              <c:pt idx="129">
                <c:v>Apr 2023</c:v>
              </c:pt>
              <c:pt idx="130">
                <c:v>May 2023</c:v>
              </c:pt>
              <c:pt idx="131">
                <c:v>Jun 2023</c:v>
              </c:pt>
              <c:pt idx="132">
                <c:v>Jul 2023</c:v>
              </c:pt>
              <c:pt idx="133">
                <c:v>Aug 2023</c:v>
              </c:pt>
              <c:pt idx="134">
                <c:v>Sep 2023</c:v>
              </c:pt>
            </c:strLit>
          </c:cat>
          <c:val>
            <c:numLit>
              <c:formatCode>#,##0</c:formatCode>
              <c:ptCount val="135"/>
              <c:pt idx="0">
                <c:v>1132</c:v>
              </c:pt>
              <c:pt idx="1">
                <c:v>1134</c:v>
              </c:pt>
              <c:pt idx="2">
                <c:v>983</c:v>
              </c:pt>
              <c:pt idx="3">
                <c:v>1150</c:v>
              </c:pt>
              <c:pt idx="4">
                <c:v>978</c:v>
              </c:pt>
              <c:pt idx="5">
                <c:v>1025</c:v>
              </c:pt>
              <c:pt idx="6">
                <c:v>989</c:v>
              </c:pt>
              <c:pt idx="7">
                <c:v>943</c:v>
              </c:pt>
              <c:pt idx="8">
                <c:v>1089</c:v>
              </c:pt>
              <c:pt idx="9">
                <c:v>1128</c:v>
              </c:pt>
              <c:pt idx="10">
                <c:v>1063</c:v>
              </c:pt>
              <c:pt idx="11">
                <c:v>999</c:v>
              </c:pt>
              <c:pt idx="12">
                <c:v>1160</c:v>
              </c:pt>
              <c:pt idx="13">
                <c:v>1032</c:v>
              </c:pt>
              <c:pt idx="14">
                <c:v>1022</c:v>
              </c:pt>
              <c:pt idx="15">
                <c:v>1280</c:v>
              </c:pt>
              <c:pt idx="16">
                <c:v>1090</c:v>
              </c:pt>
              <c:pt idx="17">
                <c:v>1184</c:v>
              </c:pt>
              <c:pt idx="18">
                <c:v>1121</c:v>
              </c:pt>
              <c:pt idx="19">
                <c:v>1059</c:v>
              </c:pt>
              <c:pt idx="20">
                <c:v>1158</c:v>
              </c:pt>
              <c:pt idx="21">
                <c:v>1264</c:v>
              </c:pt>
              <c:pt idx="22">
                <c:v>1231</c:v>
              </c:pt>
              <c:pt idx="23">
                <c:v>1226</c:v>
              </c:pt>
              <c:pt idx="24">
                <c:v>1277</c:v>
              </c:pt>
              <c:pt idx="25">
                <c:v>1188</c:v>
              </c:pt>
              <c:pt idx="26">
                <c:v>1206</c:v>
              </c:pt>
              <c:pt idx="27">
                <c:v>1305</c:v>
              </c:pt>
              <c:pt idx="28">
                <c:v>1166</c:v>
              </c:pt>
              <c:pt idx="29">
                <c:v>1362</c:v>
              </c:pt>
              <c:pt idx="30">
                <c:v>1140</c:v>
              </c:pt>
              <c:pt idx="31">
                <c:v>1111</c:v>
              </c:pt>
              <c:pt idx="32">
                <c:v>1455</c:v>
              </c:pt>
              <c:pt idx="33">
                <c:v>1409</c:v>
              </c:pt>
              <c:pt idx="34">
                <c:v>1294</c:v>
              </c:pt>
              <c:pt idx="35">
                <c:v>1472</c:v>
              </c:pt>
              <c:pt idx="36">
                <c:v>1360</c:v>
              </c:pt>
              <c:pt idx="37">
                <c:v>1279</c:v>
              </c:pt>
              <c:pt idx="38">
                <c:v>1336</c:v>
              </c:pt>
              <c:pt idx="39">
                <c:v>1316</c:v>
              </c:pt>
              <c:pt idx="40">
                <c:v>1233</c:v>
              </c:pt>
              <c:pt idx="41">
                <c:v>1233</c:v>
              </c:pt>
              <c:pt idx="42">
                <c:v>1151</c:v>
              </c:pt>
              <c:pt idx="43">
                <c:v>1236</c:v>
              </c:pt>
              <c:pt idx="44">
                <c:v>1539</c:v>
              </c:pt>
              <c:pt idx="45">
                <c:v>1249</c:v>
              </c:pt>
              <c:pt idx="46">
                <c:v>1388</c:v>
              </c:pt>
              <c:pt idx="47">
                <c:v>1280</c:v>
              </c:pt>
              <c:pt idx="48">
                <c:v>1184</c:v>
              </c:pt>
              <c:pt idx="49">
                <c:v>1418</c:v>
              </c:pt>
              <c:pt idx="50">
                <c:v>1310</c:v>
              </c:pt>
              <c:pt idx="51">
                <c:v>1226</c:v>
              </c:pt>
              <c:pt idx="52">
                <c:v>1166</c:v>
              </c:pt>
              <c:pt idx="53">
                <c:v>1253</c:v>
              </c:pt>
              <c:pt idx="54">
                <c:v>1278</c:v>
              </c:pt>
              <c:pt idx="55">
                <c:v>1198</c:v>
              </c:pt>
              <c:pt idx="56">
                <c:v>1373</c:v>
              </c:pt>
              <c:pt idx="57">
                <c:v>1202</c:v>
              </c:pt>
              <c:pt idx="58">
                <c:v>1409</c:v>
              </c:pt>
              <c:pt idx="59">
                <c:v>1331</c:v>
              </c:pt>
              <c:pt idx="60">
                <c:v>1245</c:v>
              </c:pt>
              <c:pt idx="61">
                <c:v>1434</c:v>
              </c:pt>
              <c:pt idx="62">
                <c:v>1245</c:v>
              </c:pt>
              <c:pt idx="63">
                <c:v>1456</c:v>
              </c:pt>
              <c:pt idx="64">
                <c:v>1298</c:v>
              </c:pt>
              <c:pt idx="65">
                <c:v>1400</c:v>
              </c:pt>
              <c:pt idx="66">
                <c:v>1441</c:v>
              </c:pt>
              <c:pt idx="67">
                <c:v>1349</c:v>
              </c:pt>
              <c:pt idx="68">
                <c:v>1673</c:v>
              </c:pt>
              <c:pt idx="69">
                <c:v>1466</c:v>
              </c:pt>
              <c:pt idx="70">
                <c:v>1667</c:v>
              </c:pt>
              <c:pt idx="71">
                <c:v>1545</c:v>
              </c:pt>
              <c:pt idx="72">
                <c:v>1512</c:v>
              </c:pt>
              <c:pt idx="73">
                <c:v>1739</c:v>
              </c:pt>
              <c:pt idx="74">
                <c:v>1656</c:v>
              </c:pt>
              <c:pt idx="75">
                <c:v>1600</c:v>
              </c:pt>
              <c:pt idx="76">
                <c:v>1516</c:v>
              </c:pt>
              <c:pt idx="77">
                <c:v>1673</c:v>
              </c:pt>
              <c:pt idx="78">
                <c:v>1565</c:v>
              </c:pt>
              <c:pt idx="79">
                <c:v>1545</c:v>
              </c:pt>
              <c:pt idx="80">
                <c:v>1856</c:v>
              </c:pt>
              <c:pt idx="81">
                <c:v>1508</c:v>
              </c:pt>
              <c:pt idx="82">
                <c:v>1672</c:v>
              </c:pt>
              <c:pt idx="83">
                <c:v>1762</c:v>
              </c:pt>
              <c:pt idx="84">
                <c:v>1606</c:v>
              </c:pt>
              <c:pt idx="85">
                <c:v>1835</c:v>
              </c:pt>
              <c:pt idx="86">
                <c:v>1697</c:v>
              </c:pt>
              <c:pt idx="87">
                <c:v>1680</c:v>
              </c:pt>
              <c:pt idx="88">
                <c:v>1668</c:v>
              </c:pt>
              <c:pt idx="89">
                <c:v>1523</c:v>
              </c:pt>
              <c:pt idx="90">
                <c:v>1745</c:v>
              </c:pt>
              <c:pt idx="91">
                <c:v>1671</c:v>
              </c:pt>
              <c:pt idx="92">
                <c:v>1497</c:v>
              </c:pt>
              <c:pt idx="93">
                <c:v>1167</c:v>
              </c:pt>
              <c:pt idx="94">
                <c:v>1265</c:v>
              </c:pt>
              <c:pt idx="95">
                <c:v>1336</c:v>
              </c:pt>
              <c:pt idx="96">
                <c:v>1450</c:v>
              </c:pt>
              <c:pt idx="97">
                <c:v>1494</c:v>
              </c:pt>
              <c:pt idx="98">
                <c:v>1691</c:v>
              </c:pt>
              <c:pt idx="99">
                <c:v>1638</c:v>
              </c:pt>
              <c:pt idx="100">
                <c:v>1673</c:v>
              </c:pt>
              <c:pt idx="101">
                <c:v>1471</c:v>
              </c:pt>
              <c:pt idx="102">
                <c:v>1597</c:v>
              </c:pt>
              <c:pt idx="103">
                <c:v>1481</c:v>
              </c:pt>
              <c:pt idx="104">
                <c:v>1780</c:v>
              </c:pt>
              <c:pt idx="105">
                <c:v>1752</c:v>
              </c:pt>
              <c:pt idx="106">
                <c:v>1892</c:v>
              </c:pt>
              <c:pt idx="107">
                <c:v>1904</c:v>
              </c:pt>
              <c:pt idx="108">
                <c:v>2006</c:v>
              </c:pt>
              <c:pt idx="109">
                <c:v>2013</c:v>
              </c:pt>
              <c:pt idx="110">
                <c:v>1968</c:v>
              </c:pt>
              <c:pt idx="111">
                <c:v>2065</c:v>
              </c:pt>
              <c:pt idx="112">
                <c:v>1860</c:v>
              </c:pt>
              <c:pt idx="113">
                <c:v>2195</c:v>
              </c:pt>
              <c:pt idx="114">
                <c:v>2135</c:v>
              </c:pt>
              <c:pt idx="115">
                <c:v>2146</c:v>
              </c:pt>
              <c:pt idx="116">
                <c:v>2349</c:v>
              </c:pt>
              <c:pt idx="117">
                <c:v>2351</c:v>
              </c:pt>
              <c:pt idx="118">
                <c:v>2432</c:v>
              </c:pt>
              <c:pt idx="119">
                <c:v>2282</c:v>
              </c:pt>
              <c:pt idx="120">
                <c:v>2334</c:v>
              </c:pt>
              <c:pt idx="121">
                <c:v>2444</c:v>
              </c:pt>
              <c:pt idx="122">
                <c:v>2416</c:v>
              </c:pt>
              <c:pt idx="123">
                <c:v>2633</c:v>
              </c:pt>
              <c:pt idx="124">
                <c:v>2274</c:v>
              </c:pt>
              <c:pt idx="125">
                <c:v>2475</c:v>
              </c:pt>
              <c:pt idx="126">
                <c:v>2322</c:v>
              </c:pt>
              <c:pt idx="127">
                <c:v>2236</c:v>
              </c:pt>
              <c:pt idx="128">
                <c:v>2631</c:v>
              </c:pt>
              <c:pt idx="129">
                <c:v>2535</c:v>
              </c:pt>
              <c:pt idx="130">
                <c:v>2525</c:v>
              </c:pt>
              <c:pt idx="131">
                <c:v>2417</c:v>
              </c:pt>
              <c:pt idx="132">
                <c:v>2426</c:v>
              </c:pt>
              <c:pt idx="133">
                <c:v>2413</c:v>
              </c:pt>
              <c:pt idx="134">
                <c:v>2414</c:v>
              </c:pt>
            </c:numLit>
          </c:val>
          <c:smooth val="0"/>
          <c:extLst>
            <c:ext xmlns:c16="http://schemas.microsoft.com/office/drawing/2014/chart" uri="{C3380CC4-5D6E-409C-BE32-E72D297353CC}">
              <c16:uniqueId val="{00000000-DB71-4846-9594-7946DE3CD0F6}"/>
            </c:ext>
          </c:extLst>
        </c:ser>
        <c:ser>
          <c:idx val="1"/>
          <c:order val="1"/>
          <c:tx>
            <c:v>IS fitted fee</c:v>
          </c:tx>
          <c:spPr>
            <a:ln w="28575">
              <a:solidFill>
                <a:srgbClr val="C77933"/>
              </a:solidFill>
              <a:prstDash val="solid"/>
            </a:ln>
          </c:spPr>
          <c:marker>
            <c:symbol val="none"/>
          </c:marker>
          <c:cat>
            <c:strLit>
              <c:ptCount val="135"/>
              <c:pt idx="0">
                <c:v>Jul 2012</c:v>
              </c:pt>
              <c:pt idx="1">
                <c:v>Aug 2012</c:v>
              </c:pt>
              <c:pt idx="2">
                <c:v>Sep 2012</c:v>
              </c:pt>
              <c:pt idx="3">
                <c:v>Oct 2012</c:v>
              </c:pt>
              <c:pt idx="4">
                <c:v>Nov 2012</c:v>
              </c:pt>
              <c:pt idx="5">
                <c:v>Dec 2012</c:v>
              </c:pt>
              <c:pt idx="6">
                <c:v>Jan 2013</c:v>
              </c:pt>
              <c:pt idx="7">
                <c:v>Feb 2013</c:v>
              </c:pt>
              <c:pt idx="8">
                <c:v>Mar 2013</c:v>
              </c:pt>
              <c:pt idx="9">
                <c:v>Apr 2013</c:v>
              </c:pt>
              <c:pt idx="10">
                <c:v>May 2013</c:v>
              </c:pt>
              <c:pt idx="11">
                <c:v>Jun 2013</c:v>
              </c:pt>
              <c:pt idx="12">
                <c:v>Jul 2013</c:v>
              </c:pt>
              <c:pt idx="13">
                <c:v>Aug 2013</c:v>
              </c:pt>
              <c:pt idx="14">
                <c:v>Sep 2013</c:v>
              </c:pt>
              <c:pt idx="15">
                <c:v>Oct 2013</c:v>
              </c:pt>
              <c:pt idx="16">
                <c:v>Nov 2013</c:v>
              </c:pt>
              <c:pt idx="17">
                <c:v>Dec 2013</c:v>
              </c:pt>
              <c:pt idx="18">
                <c:v>Jan 2014</c:v>
              </c:pt>
              <c:pt idx="19">
                <c:v>Feb 2014</c:v>
              </c:pt>
              <c:pt idx="20">
                <c:v>Mar 2014</c:v>
              </c:pt>
              <c:pt idx="21">
                <c:v>Apr 2014</c:v>
              </c:pt>
              <c:pt idx="22">
                <c:v>May 2014</c:v>
              </c:pt>
              <c:pt idx="23">
                <c:v>Jun 2014</c:v>
              </c:pt>
              <c:pt idx="24">
                <c:v>Jul 2014</c:v>
              </c:pt>
              <c:pt idx="25">
                <c:v>Aug 2014</c:v>
              </c:pt>
              <c:pt idx="26">
                <c:v>Sep 2014</c:v>
              </c:pt>
              <c:pt idx="27">
                <c:v>Oct 2014</c:v>
              </c:pt>
              <c:pt idx="28">
                <c:v>Nov 2014</c:v>
              </c:pt>
              <c:pt idx="29">
                <c:v>Dec 2014</c:v>
              </c:pt>
              <c:pt idx="30">
                <c:v>Jan 2015</c:v>
              </c:pt>
              <c:pt idx="31">
                <c:v>Feb 2015</c:v>
              </c:pt>
              <c:pt idx="32">
                <c:v>Mar 2015</c:v>
              </c:pt>
              <c:pt idx="33">
                <c:v>Apr 2015</c:v>
              </c:pt>
              <c:pt idx="34">
                <c:v>May 2015</c:v>
              </c:pt>
              <c:pt idx="35">
                <c:v>Jun 2015</c:v>
              </c:pt>
              <c:pt idx="36">
                <c:v>Jul 2015</c:v>
              </c:pt>
              <c:pt idx="37">
                <c:v>Aug 2015</c:v>
              </c:pt>
              <c:pt idx="38">
                <c:v>Sep 2015</c:v>
              </c:pt>
              <c:pt idx="39">
                <c:v>Oct 2015</c:v>
              </c:pt>
              <c:pt idx="40">
                <c:v>Nov 2015</c:v>
              </c:pt>
              <c:pt idx="41">
                <c:v>Dec 2015</c:v>
              </c:pt>
              <c:pt idx="42">
                <c:v>Jan 2016</c:v>
              </c:pt>
              <c:pt idx="43">
                <c:v>Feb 2016</c:v>
              </c:pt>
              <c:pt idx="44">
                <c:v>Mar 2016</c:v>
              </c:pt>
              <c:pt idx="45">
                <c:v>Apr 2016</c:v>
              </c:pt>
              <c:pt idx="46">
                <c:v>May 2016</c:v>
              </c:pt>
              <c:pt idx="47">
                <c:v>Jun 2016</c:v>
              </c:pt>
              <c:pt idx="48">
                <c:v>Jul 2016</c:v>
              </c:pt>
              <c:pt idx="49">
                <c:v>Aug 2016</c:v>
              </c:pt>
              <c:pt idx="50">
                <c:v>Sep 2016</c:v>
              </c:pt>
              <c:pt idx="51">
                <c:v>Oct 2016</c:v>
              </c:pt>
              <c:pt idx="52">
                <c:v>Nov 2016</c:v>
              </c:pt>
              <c:pt idx="53">
                <c:v>Dec 2016</c:v>
              </c:pt>
              <c:pt idx="54">
                <c:v>Jan 2017</c:v>
              </c:pt>
              <c:pt idx="55">
                <c:v>Feb 2017</c:v>
              </c:pt>
              <c:pt idx="56">
                <c:v>Mar 2017</c:v>
              </c:pt>
              <c:pt idx="57">
                <c:v>Apr 2017</c:v>
              </c:pt>
              <c:pt idx="58">
                <c:v>May 2017</c:v>
              </c:pt>
              <c:pt idx="59">
                <c:v>Jun 2017</c:v>
              </c:pt>
              <c:pt idx="60">
                <c:v>Jul 2017</c:v>
              </c:pt>
              <c:pt idx="61">
                <c:v>Aug 2017</c:v>
              </c:pt>
              <c:pt idx="62">
                <c:v>Sep 2017</c:v>
              </c:pt>
              <c:pt idx="63">
                <c:v>Oct 2017</c:v>
              </c:pt>
              <c:pt idx="64">
                <c:v>Nov 2017</c:v>
              </c:pt>
              <c:pt idx="65">
                <c:v>Dec 2017</c:v>
              </c:pt>
              <c:pt idx="66">
                <c:v>Jan 2018</c:v>
              </c:pt>
              <c:pt idx="67">
                <c:v>Feb 2018</c:v>
              </c:pt>
              <c:pt idx="68">
                <c:v>Mar 2018</c:v>
              </c:pt>
              <c:pt idx="69">
                <c:v>Apr 2018</c:v>
              </c:pt>
              <c:pt idx="70">
                <c:v>May 2018</c:v>
              </c:pt>
              <c:pt idx="71">
                <c:v>Jun 2018</c:v>
              </c:pt>
              <c:pt idx="72">
                <c:v>Jul 2018</c:v>
              </c:pt>
              <c:pt idx="73">
                <c:v>Aug 2018</c:v>
              </c:pt>
              <c:pt idx="74">
                <c:v>Sep 2018</c:v>
              </c:pt>
              <c:pt idx="75">
                <c:v>Oct 2018</c:v>
              </c:pt>
              <c:pt idx="76">
                <c:v>Nov 2018</c:v>
              </c:pt>
              <c:pt idx="77">
                <c:v>Dec 2018</c:v>
              </c:pt>
              <c:pt idx="78">
                <c:v>Jan 2019</c:v>
              </c:pt>
              <c:pt idx="79">
                <c:v>Feb 2019</c:v>
              </c:pt>
              <c:pt idx="80">
                <c:v>Mar 2019</c:v>
              </c:pt>
              <c:pt idx="81">
                <c:v>Apr 2019</c:v>
              </c:pt>
              <c:pt idx="82">
                <c:v>May 2019</c:v>
              </c:pt>
              <c:pt idx="83">
                <c:v>Jun 2019</c:v>
              </c:pt>
              <c:pt idx="84">
                <c:v>Jul 2019</c:v>
              </c:pt>
              <c:pt idx="85">
                <c:v>Aug 2019</c:v>
              </c:pt>
              <c:pt idx="86">
                <c:v>Sep 2019</c:v>
              </c:pt>
              <c:pt idx="87">
                <c:v>Oct 2019</c:v>
              </c:pt>
              <c:pt idx="88">
                <c:v>Nov 2019</c:v>
              </c:pt>
              <c:pt idx="89">
                <c:v>Dec 2019</c:v>
              </c:pt>
              <c:pt idx="90">
                <c:v>Jan 2020</c:v>
              </c:pt>
              <c:pt idx="91">
                <c:v>Feb 2020</c:v>
              </c:pt>
              <c:pt idx="92">
                <c:v>Mar 2020</c:v>
              </c:pt>
              <c:pt idx="93">
                <c:v>Apr 2020</c:v>
              </c:pt>
              <c:pt idx="94">
                <c:v>May 2020</c:v>
              </c:pt>
              <c:pt idx="95">
                <c:v>Jun 2020</c:v>
              </c:pt>
              <c:pt idx="96">
                <c:v>Jul 2020</c:v>
              </c:pt>
              <c:pt idx="97">
                <c:v>Aug 2020</c:v>
              </c:pt>
              <c:pt idx="98">
                <c:v>Sep 2020</c:v>
              </c:pt>
              <c:pt idx="99">
                <c:v>Oct 2020</c:v>
              </c:pt>
              <c:pt idx="100">
                <c:v>Nov 2020</c:v>
              </c:pt>
              <c:pt idx="101">
                <c:v>Dec 2020</c:v>
              </c:pt>
              <c:pt idx="102">
                <c:v>Jan 2021</c:v>
              </c:pt>
              <c:pt idx="103">
                <c:v>Feb 2021</c:v>
              </c:pt>
              <c:pt idx="104">
                <c:v>Mar 2021</c:v>
              </c:pt>
              <c:pt idx="105">
                <c:v>Apr 2021</c:v>
              </c:pt>
              <c:pt idx="106">
                <c:v>May 2021</c:v>
              </c:pt>
              <c:pt idx="107">
                <c:v>Jun 2021</c:v>
              </c:pt>
              <c:pt idx="108">
                <c:v>Jul 2021</c:v>
              </c:pt>
              <c:pt idx="109">
                <c:v>Aug 2021</c:v>
              </c:pt>
              <c:pt idx="110">
                <c:v>Sep 2021</c:v>
              </c:pt>
              <c:pt idx="111">
                <c:v>Oct 2021</c:v>
              </c:pt>
              <c:pt idx="112">
                <c:v>Nov 2021</c:v>
              </c:pt>
              <c:pt idx="113">
                <c:v>Dec 2021</c:v>
              </c:pt>
              <c:pt idx="114">
                <c:v>Jan 2022</c:v>
              </c:pt>
              <c:pt idx="115">
                <c:v>Feb 2022</c:v>
              </c:pt>
              <c:pt idx="116">
                <c:v>Mar 2022</c:v>
              </c:pt>
              <c:pt idx="117">
                <c:v>Apr 2022</c:v>
              </c:pt>
              <c:pt idx="118">
                <c:v>May 2022</c:v>
              </c:pt>
              <c:pt idx="119">
                <c:v>Jun 2022</c:v>
              </c:pt>
              <c:pt idx="120">
                <c:v>Jul 2022</c:v>
              </c:pt>
              <c:pt idx="121">
                <c:v>Aug 2022</c:v>
              </c:pt>
              <c:pt idx="122">
                <c:v>Sep 2022</c:v>
              </c:pt>
              <c:pt idx="123">
                <c:v>Oct 2022</c:v>
              </c:pt>
              <c:pt idx="124">
                <c:v>Nov 2022</c:v>
              </c:pt>
              <c:pt idx="125">
                <c:v>Dec 2022</c:v>
              </c:pt>
              <c:pt idx="126">
                <c:v>Jan 2023</c:v>
              </c:pt>
              <c:pt idx="127">
                <c:v>Feb 2023</c:v>
              </c:pt>
              <c:pt idx="128">
                <c:v>Mar 2023</c:v>
              </c:pt>
              <c:pt idx="129">
                <c:v>Apr 2023</c:v>
              </c:pt>
              <c:pt idx="130">
                <c:v>May 2023</c:v>
              </c:pt>
              <c:pt idx="131">
                <c:v>Jun 2023</c:v>
              </c:pt>
              <c:pt idx="132">
                <c:v>Jul 2023</c:v>
              </c:pt>
              <c:pt idx="133">
                <c:v>Aug 2023</c:v>
              </c:pt>
              <c:pt idx="134">
                <c:v>Sep 2023</c:v>
              </c:pt>
            </c:strLit>
          </c:cat>
          <c:val>
            <c:numLit>
              <c:formatCode>#,##0</c:formatCode>
              <c:ptCount val="135"/>
              <c:pt idx="0">
                <c:v>1086.3243447899999</c:v>
              </c:pt>
              <c:pt idx="1">
                <c:v>1207.3958235299999</c:v>
              </c:pt>
              <c:pt idx="2">
                <c:v>1052.2015699599999</c:v>
              </c:pt>
              <c:pt idx="3">
                <c:v>1068.8266894000001</c:v>
              </c:pt>
              <c:pt idx="4">
                <c:v>1107.7449600299999</c:v>
              </c:pt>
              <c:pt idx="5">
                <c:v>1071.4329060099999</c:v>
              </c:pt>
              <c:pt idx="6">
                <c:v>1128.218901</c:v>
              </c:pt>
              <c:pt idx="7">
                <c:v>1026.43508544</c:v>
              </c:pt>
              <c:pt idx="8">
                <c:v>1060.7155424499999</c:v>
              </c:pt>
              <c:pt idx="9">
                <c:v>1139.6920704199999</c:v>
              </c:pt>
              <c:pt idx="10">
                <c:v>1114.1163594499999</c:v>
              </c:pt>
              <c:pt idx="11">
                <c:v>1053.8805863</c:v>
              </c:pt>
              <c:pt idx="12">
                <c:v>1058.8377521</c:v>
              </c:pt>
              <c:pt idx="13">
                <c:v>1115.12840843</c:v>
              </c:pt>
              <c:pt idx="14">
                <c:v>1045.28141061</c:v>
              </c:pt>
              <c:pt idx="15">
                <c:v>1171.3000007200001</c:v>
              </c:pt>
              <c:pt idx="16">
                <c:v>1091.0794889599999</c:v>
              </c:pt>
              <c:pt idx="17">
                <c:v>1124.39069546</c:v>
              </c:pt>
              <c:pt idx="18">
                <c:v>1146.12916025</c:v>
              </c:pt>
              <c:pt idx="19">
                <c:v>1085.6581137600001</c:v>
              </c:pt>
              <c:pt idx="20">
                <c:v>1170.5067900399999</c:v>
              </c:pt>
              <c:pt idx="21">
                <c:v>1173.8779162799999</c:v>
              </c:pt>
              <c:pt idx="22">
                <c:v>1173.86325457</c:v>
              </c:pt>
              <c:pt idx="23">
                <c:v>1184.4685219</c:v>
              </c:pt>
              <c:pt idx="24">
                <c:v>1311.83469427</c:v>
              </c:pt>
              <c:pt idx="25">
                <c:v>1220.83956373</c:v>
              </c:pt>
              <c:pt idx="26">
                <c:v>1221.4380830699999</c:v>
              </c:pt>
              <c:pt idx="27">
                <c:v>1371.18609141</c:v>
              </c:pt>
              <c:pt idx="28">
                <c:v>1240.73315824</c:v>
              </c:pt>
              <c:pt idx="29">
                <c:v>1322.7860894200001</c:v>
              </c:pt>
              <c:pt idx="30">
                <c:v>1288.5773899599999</c:v>
              </c:pt>
              <c:pt idx="31">
                <c:v>1236.45260067</c:v>
              </c:pt>
              <c:pt idx="32">
                <c:v>1326.90533233</c:v>
              </c:pt>
              <c:pt idx="33">
                <c:v>1411.16333134</c:v>
              </c:pt>
              <c:pt idx="34">
                <c:v>1349.85943972</c:v>
              </c:pt>
              <c:pt idx="35">
                <c:v>1327.1374343099999</c:v>
              </c:pt>
              <c:pt idx="36">
                <c:v>1341.9052227499999</c:v>
              </c:pt>
              <c:pt idx="37">
                <c:v>1254.7566592200001</c:v>
              </c:pt>
              <c:pt idx="38">
                <c:v>1323.5761183300001</c:v>
              </c:pt>
              <c:pt idx="39">
                <c:v>1320.8937246200001</c:v>
              </c:pt>
              <c:pt idx="40">
                <c:v>1197.3613773300001</c:v>
              </c:pt>
              <c:pt idx="41">
                <c:v>1301.4263870100001</c:v>
              </c:pt>
              <c:pt idx="42">
                <c:v>1117.0601389999999</c:v>
              </c:pt>
              <c:pt idx="43">
                <c:v>1161.1378527700001</c:v>
              </c:pt>
              <c:pt idx="44">
                <c:v>1334.09200581</c:v>
              </c:pt>
              <c:pt idx="45">
                <c:v>1289.6407657699999</c:v>
              </c:pt>
              <c:pt idx="46">
                <c:v>1229.3538443800001</c:v>
              </c:pt>
              <c:pt idx="47">
                <c:v>1287.7699114300001</c:v>
              </c:pt>
              <c:pt idx="48">
                <c:v>1222.3530753</c:v>
              </c:pt>
              <c:pt idx="49">
                <c:v>1235.41869176</c:v>
              </c:pt>
              <c:pt idx="50">
                <c:v>1322.59531485</c:v>
              </c:pt>
              <c:pt idx="51">
                <c:v>1224.5238313</c:v>
              </c:pt>
              <c:pt idx="52">
                <c:v>1259.90243493</c:v>
              </c:pt>
              <c:pt idx="53">
                <c:v>1215.6767371000001</c:v>
              </c:pt>
              <c:pt idx="54">
                <c:v>1219.9032470100001</c:v>
              </c:pt>
              <c:pt idx="55">
                <c:v>1362.57726239</c:v>
              </c:pt>
              <c:pt idx="56">
                <c:v>1347.2035894999999</c:v>
              </c:pt>
              <c:pt idx="57">
                <c:v>1251.76134398</c:v>
              </c:pt>
              <c:pt idx="58">
                <c:v>1336.33601462</c:v>
              </c:pt>
              <c:pt idx="59">
                <c:v>1360.21687623</c:v>
              </c:pt>
              <c:pt idx="60">
                <c:v>1355.6446945099999</c:v>
              </c:pt>
              <c:pt idx="61">
                <c:v>1416.6447177</c:v>
              </c:pt>
              <c:pt idx="62">
                <c:v>1347.1882039</c:v>
              </c:pt>
              <c:pt idx="63">
                <c:v>1318.35155338</c:v>
              </c:pt>
              <c:pt idx="64">
                <c:v>1390.91439457</c:v>
              </c:pt>
              <c:pt idx="65">
                <c:v>1428.90335693</c:v>
              </c:pt>
              <c:pt idx="66">
                <c:v>1455.2865963700001</c:v>
              </c:pt>
              <c:pt idx="67">
                <c:v>1397.8943894199999</c:v>
              </c:pt>
              <c:pt idx="68">
                <c:v>1452.39495816</c:v>
              </c:pt>
              <c:pt idx="69">
                <c:v>1474.79301061</c:v>
              </c:pt>
              <c:pt idx="70">
                <c:v>1565.1210262899999</c:v>
              </c:pt>
              <c:pt idx="71">
                <c:v>1527.65849284</c:v>
              </c:pt>
              <c:pt idx="72">
                <c:v>1483.5510145200001</c:v>
              </c:pt>
              <c:pt idx="73">
                <c:v>1613.3957849200001</c:v>
              </c:pt>
              <c:pt idx="74">
                <c:v>1548.2244034299999</c:v>
              </c:pt>
              <c:pt idx="75">
                <c:v>1713.3973706300001</c:v>
              </c:pt>
              <c:pt idx="76">
                <c:v>1525.3022357299999</c:v>
              </c:pt>
              <c:pt idx="77">
                <c:v>1604.80301224</c:v>
              </c:pt>
              <c:pt idx="78">
                <c:v>1668.2034850699999</c:v>
              </c:pt>
              <c:pt idx="79">
                <c:v>1579.9438993599999</c:v>
              </c:pt>
              <c:pt idx="80">
                <c:v>1793.6622767199999</c:v>
              </c:pt>
              <c:pt idx="81">
                <c:v>1612.4254390000001</c:v>
              </c:pt>
              <c:pt idx="82">
                <c:v>1678.3178307400001</c:v>
              </c:pt>
              <c:pt idx="83">
                <c:v>1637.10630683</c:v>
              </c:pt>
              <c:pt idx="84">
                <c:v>1646.9976844600001</c:v>
              </c:pt>
              <c:pt idx="85">
                <c:v>1719.6437456399999</c:v>
              </c:pt>
              <c:pt idx="86">
                <c:v>1694.3732156200001</c:v>
              </c:pt>
              <c:pt idx="87">
                <c:v>1642.8381838099999</c:v>
              </c:pt>
              <c:pt idx="88">
                <c:v>1611.22605626</c:v>
              </c:pt>
              <c:pt idx="89">
                <c:v>1745.8675629700001</c:v>
              </c:pt>
              <c:pt idx="90">
                <c:v>1576.15966454</c:v>
              </c:pt>
              <c:pt idx="91">
                <c:v>1657.69275167</c:v>
              </c:pt>
              <c:pt idx="92">
                <c:v>1702.9842712899999</c:v>
              </c:pt>
              <c:pt idx="93">
                <c:v>1465.79626267</c:v>
              </c:pt>
              <c:pt idx="94">
                <c:v>1460.71260517</c:v>
              </c:pt>
              <c:pt idx="95">
                <c:v>1332.7070793299999</c:v>
              </c:pt>
              <c:pt idx="96">
                <c:v>1416.1675799300001</c:v>
              </c:pt>
              <c:pt idx="97">
                <c:v>1592.25981566</c:v>
              </c:pt>
              <c:pt idx="98">
                <c:v>1511.7833773100001</c:v>
              </c:pt>
              <c:pt idx="99">
                <c:v>1655.56869525</c:v>
              </c:pt>
              <c:pt idx="100">
                <c:v>1628.4373942300001</c:v>
              </c:pt>
              <c:pt idx="101">
                <c:v>1547.1519613299999</c:v>
              </c:pt>
              <c:pt idx="102">
                <c:v>1627.4853059100001</c:v>
              </c:pt>
              <c:pt idx="103">
                <c:v>1563.6300068600001</c:v>
              </c:pt>
              <c:pt idx="104">
                <c:v>1609.47452789</c:v>
              </c:pt>
              <c:pt idx="105">
                <c:v>1565.64334882</c:v>
              </c:pt>
              <c:pt idx="106">
                <c:v>1863.82586788</c:v>
              </c:pt>
              <c:pt idx="107">
                <c:v>2008.1392296199999</c:v>
              </c:pt>
              <c:pt idx="108">
                <c:v>2069.8206507</c:v>
              </c:pt>
              <c:pt idx="109">
                <c:v>1967.56572226</c:v>
              </c:pt>
              <c:pt idx="110">
                <c:v>2075.0041497000002</c:v>
              </c:pt>
              <c:pt idx="111">
                <c:v>2020.5331664600001</c:v>
              </c:pt>
              <c:pt idx="112">
                <c:v>2111.4694992499999</c:v>
              </c:pt>
              <c:pt idx="113">
                <c:v>1949.8269384800001</c:v>
              </c:pt>
              <c:pt idx="114">
                <c:v>2258.3540288700001</c:v>
              </c:pt>
              <c:pt idx="115">
                <c:v>2063.0209508100002</c:v>
              </c:pt>
              <c:pt idx="116">
                <c:v>2196.2661060800001</c:v>
              </c:pt>
              <c:pt idx="117">
                <c:v>2113.7676981599998</c:v>
              </c:pt>
              <c:pt idx="118">
                <c:v>2126.7225359600002</c:v>
              </c:pt>
              <c:pt idx="119">
                <c:v>2316.7418439399999</c:v>
              </c:pt>
              <c:pt idx="120">
                <c:v>2279.1314329500001</c:v>
              </c:pt>
              <c:pt idx="121">
                <c:v>2352.4876215999998</c:v>
              </c:pt>
              <c:pt idx="122">
                <c:v>2328.3754141300001</c:v>
              </c:pt>
              <c:pt idx="123">
                <c:v>2432.8905830099998</c:v>
              </c:pt>
              <c:pt idx="124">
                <c:v>2326.2385573299998</c:v>
              </c:pt>
              <c:pt idx="125">
                <c:v>2432.60063747</c:v>
              </c:pt>
              <c:pt idx="126">
                <c:v>2347.5835108800002</c:v>
              </c:pt>
              <c:pt idx="127">
                <c:v>2408.16250795</c:v>
              </c:pt>
              <c:pt idx="128">
                <c:v>2560.7461950799998</c:v>
              </c:pt>
              <c:pt idx="129">
                <c:v>2684.4444540700001</c:v>
              </c:pt>
              <c:pt idx="130">
                <c:v>2684.9629328400001</c:v>
              </c:pt>
              <c:pt idx="131">
                <c:v>2544.8171526699998</c:v>
              </c:pt>
              <c:pt idx="132">
                <c:v>2521.44029086</c:v>
              </c:pt>
              <c:pt idx="133">
                <c:v>2504.6162771700001</c:v>
              </c:pt>
              <c:pt idx="134">
                <c:v>2521.7630543099999</c:v>
              </c:pt>
            </c:numLit>
          </c:val>
          <c:smooth val="0"/>
          <c:extLst>
            <c:ext xmlns:c16="http://schemas.microsoft.com/office/drawing/2014/chart" uri="{C3380CC4-5D6E-409C-BE32-E72D297353CC}">
              <c16:uniqueId val="{00000001-DB71-4846-9594-7946DE3CD0F6}"/>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18"/>
        <c:noMultiLvlLbl val="1"/>
      </c:catAx>
      <c:valAx>
        <c:axId val="48672768"/>
        <c:scaling>
          <c:orientation val="minMax"/>
          <c:max val="3000"/>
          <c:min val="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Actual fee</c:v>
          </c:tx>
          <c:spPr>
            <a:ln w="28575">
              <a:solidFill>
                <a:srgbClr val="006C98"/>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2520</c:v>
              </c:pt>
              <c:pt idx="1">
                <c:v>2328</c:v>
              </c:pt>
              <c:pt idx="2">
                <c:v>2575</c:v>
              </c:pt>
              <c:pt idx="3">
                <c:v>2196</c:v>
              </c:pt>
              <c:pt idx="4">
                <c:v>2351</c:v>
              </c:pt>
              <c:pt idx="5">
                <c:v>2556</c:v>
              </c:pt>
              <c:pt idx="6">
                <c:v>2273</c:v>
              </c:pt>
              <c:pt idx="7">
                <c:v>2370</c:v>
              </c:pt>
              <c:pt idx="8">
                <c:v>2256</c:v>
              </c:pt>
              <c:pt idx="9">
                <c:v>2333</c:v>
              </c:pt>
              <c:pt idx="10">
                <c:v>2325</c:v>
              </c:pt>
              <c:pt idx="11">
                <c:v>2237</c:v>
              </c:pt>
              <c:pt idx="12">
                <c:v>2310</c:v>
              </c:pt>
              <c:pt idx="13">
                <c:v>2326</c:v>
              </c:pt>
              <c:pt idx="14">
                <c:v>1964</c:v>
              </c:pt>
              <c:pt idx="15">
                <c:v>2150</c:v>
              </c:pt>
              <c:pt idx="16">
                <c:v>2087</c:v>
              </c:pt>
              <c:pt idx="17">
                <c:v>2316</c:v>
              </c:pt>
              <c:pt idx="18">
                <c:v>2209</c:v>
              </c:pt>
              <c:pt idx="19">
                <c:v>2270</c:v>
              </c:pt>
              <c:pt idx="20">
                <c:v>2201</c:v>
              </c:pt>
              <c:pt idx="21">
                <c:v>2086</c:v>
              </c:pt>
              <c:pt idx="22">
                <c:v>2260</c:v>
              </c:pt>
              <c:pt idx="23">
                <c:v>2004</c:v>
              </c:pt>
              <c:pt idx="24">
                <c:v>2296</c:v>
              </c:pt>
              <c:pt idx="25">
                <c:v>2116</c:v>
              </c:pt>
              <c:pt idx="26">
                <c:v>1887</c:v>
              </c:pt>
            </c:numLit>
          </c:val>
          <c:smooth val="0"/>
          <c:extLst>
            <c:ext xmlns:c16="http://schemas.microsoft.com/office/drawing/2014/chart" uri="{C3380CC4-5D6E-409C-BE32-E72D297353CC}">
              <c16:uniqueId val="{00000000-A3A8-D24B-9C15-F17568F11C10}"/>
            </c:ext>
          </c:extLst>
        </c:ser>
        <c:ser>
          <c:idx val="1"/>
          <c:order val="1"/>
          <c:tx>
            <c:v>Static fit</c:v>
          </c:tx>
          <c:spPr>
            <a:ln w="28575">
              <a:solidFill>
                <a:srgbClr val="C77933"/>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2620.56022558</c:v>
              </c:pt>
              <c:pt idx="1">
                <c:v>2477.2709100400002</c:v>
              </c:pt>
              <c:pt idx="2">
                <c:v>2659.1811307799999</c:v>
              </c:pt>
              <c:pt idx="3">
                <c:v>2617.5948987400002</c:v>
              </c:pt>
              <c:pt idx="4">
                <c:v>2462.9850896299999</c:v>
              </c:pt>
              <c:pt idx="5">
                <c:v>2668.2876240999999</c:v>
              </c:pt>
              <c:pt idx="6">
                <c:v>2533.0656719399999</c:v>
              </c:pt>
              <c:pt idx="7">
                <c:v>2528.3299080900001</c:v>
              </c:pt>
              <c:pt idx="8">
                <c:v>2560.3186813299999</c:v>
              </c:pt>
              <c:pt idx="9">
                <c:v>2524.4523818299999</c:v>
              </c:pt>
              <c:pt idx="10">
                <c:v>2606.5110901200001</c:v>
              </c:pt>
              <c:pt idx="11">
                <c:v>2544.6249304399998</c:v>
              </c:pt>
              <c:pt idx="12">
                <c:v>2388.7345302499998</c:v>
              </c:pt>
              <c:pt idx="13">
                <c:v>2327.4331118800001</c:v>
              </c:pt>
              <c:pt idx="14">
                <c:v>2483.02519467</c:v>
              </c:pt>
              <c:pt idx="15">
                <c:v>2203.9306850299999</c:v>
              </c:pt>
              <c:pt idx="16">
                <c:v>2440.6382168300001</c:v>
              </c:pt>
              <c:pt idx="17">
                <c:v>2447.9401263300001</c:v>
              </c:pt>
              <c:pt idx="18">
                <c:v>2333.3287619600001</c:v>
              </c:pt>
              <c:pt idx="19">
                <c:v>2443.7414902300002</c:v>
              </c:pt>
              <c:pt idx="20">
                <c:v>2212.8964027299999</c:v>
              </c:pt>
              <c:pt idx="21">
                <c:v>2369.56110567</c:v>
              </c:pt>
              <c:pt idx="22">
                <c:v>2265.1018873899998</c:v>
              </c:pt>
              <c:pt idx="23">
                <c:v>2310.54321424</c:v>
              </c:pt>
              <c:pt idx="24">
                <c:v>2350.81892152</c:v>
              </c:pt>
              <c:pt idx="25">
                <c:v>2417.3113756500002</c:v>
              </c:pt>
              <c:pt idx="26">
                <c:v>2157.12689856</c:v>
              </c:pt>
            </c:numLit>
          </c:val>
          <c:smooth val="0"/>
          <c:extLst>
            <c:ext xmlns:c16="http://schemas.microsoft.com/office/drawing/2014/chart" uri="{C3380CC4-5D6E-409C-BE32-E72D297353CC}">
              <c16:uniqueId val="{00000001-A3A8-D24B-9C15-F17568F11C10}"/>
            </c:ext>
          </c:extLst>
        </c:ser>
        <c:ser>
          <c:idx val="2"/>
          <c:order val="2"/>
          <c:tx>
            <c:v>Dynamic fit</c:v>
          </c:tx>
          <c:spPr>
            <a:ln w="28575">
              <a:solidFill>
                <a:srgbClr val="A5483C"/>
              </a:solidFill>
              <a:prstDash val="solid"/>
            </a:ln>
          </c:spPr>
          <c:marker>
            <c:symbol val="none"/>
          </c:marker>
          <c:cat>
            <c:strLit>
              <c:ptCount val="27"/>
              <c:pt idx="0">
                <c:v>Oct 2023</c:v>
              </c:pt>
              <c:pt idx="1">
                <c:v>Nov 2023</c:v>
              </c:pt>
              <c:pt idx="2">
                <c:v>Dec 2023</c:v>
              </c:pt>
              <c:pt idx="3">
                <c:v>Jan 2024</c:v>
              </c:pt>
              <c:pt idx="4">
                <c:v>Feb 2024</c:v>
              </c:pt>
              <c:pt idx="5">
                <c:v>Mar 2024</c:v>
              </c:pt>
              <c:pt idx="6">
                <c:v>Apr 2024</c:v>
              </c:pt>
              <c:pt idx="7">
                <c:v>May 2024</c:v>
              </c:pt>
              <c:pt idx="8">
                <c:v>Jun 2024</c:v>
              </c:pt>
              <c:pt idx="9">
                <c:v>Jul 2024</c:v>
              </c:pt>
              <c:pt idx="10">
                <c:v>Aug 2024</c:v>
              </c:pt>
              <c:pt idx="11">
                <c:v>Sep 2024</c:v>
              </c:pt>
              <c:pt idx="12">
                <c:v>Oct 2024</c:v>
              </c:pt>
              <c:pt idx="13">
                <c:v>Nov 2024</c:v>
              </c:pt>
              <c:pt idx="14">
                <c:v>Dec 2024</c:v>
              </c:pt>
              <c:pt idx="15">
                <c:v>Jan 2025</c:v>
              </c:pt>
              <c:pt idx="16">
                <c:v>Feb 2025</c:v>
              </c:pt>
              <c:pt idx="17">
                <c:v>Mar 2025</c:v>
              </c:pt>
              <c:pt idx="18">
                <c:v>Apr 2025</c:v>
              </c:pt>
              <c:pt idx="19">
                <c:v>May 2025</c:v>
              </c:pt>
              <c:pt idx="20">
                <c:v>Jun 2025</c:v>
              </c:pt>
              <c:pt idx="21">
                <c:v>Jul 2025</c:v>
              </c:pt>
              <c:pt idx="22">
                <c:v>Aug 2025</c:v>
              </c:pt>
              <c:pt idx="23">
                <c:v>Sep 2025</c:v>
              </c:pt>
              <c:pt idx="24">
                <c:v>Oct 2025</c:v>
              </c:pt>
              <c:pt idx="25">
                <c:v>Nov 2025</c:v>
              </c:pt>
              <c:pt idx="26">
                <c:v>Dec 2025</c:v>
              </c:pt>
            </c:strLit>
          </c:cat>
          <c:val>
            <c:numLit>
              <c:formatCode>#,##0</c:formatCode>
              <c:ptCount val="27"/>
              <c:pt idx="0">
                <c:v>2620.56022558</c:v>
              </c:pt>
              <c:pt idx="1">
                <c:v>2503.0111852499999</c:v>
              </c:pt>
              <c:pt idx="2">
                <c:v>2715.6355436099998</c:v>
              </c:pt>
              <c:pt idx="3">
                <c:v>2656.6996433700001</c:v>
              </c:pt>
              <c:pt idx="4">
                <c:v>2594.4696642499998</c:v>
              </c:pt>
              <c:pt idx="5">
                <c:v>2753.1941852300001</c:v>
              </c:pt>
              <c:pt idx="6">
                <c:v>2613.59995703</c:v>
              </c:pt>
              <c:pt idx="7">
                <c:v>2677.4971304199998</c:v>
              </c:pt>
              <c:pt idx="8">
                <c:v>2681.9171225300001</c:v>
              </c:pt>
              <c:pt idx="9">
                <c:v>2771.5794932099998</c:v>
              </c:pt>
              <c:pt idx="10">
                <c:v>2801.5354290999999</c:v>
              </c:pt>
              <c:pt idx="11">
                <c:v>2731.1851244700001</c:v>
              </c:pt>
              <c:pt idx="12">
                <c:v>2626.3419576900001</c:v>
              </c:pt>
              <c:pt idx="13">
                <c:v>2484.9768120700001</c:v>
              </c:pt>
              <c:pt idx="14">
                <c:v>2648.6671009199999</c:v>
              </c:pt>
              <c:pt idx="15">
                <c:v>2476.3094713999999</c:v>
              </c:pt>
              <c:pt idx="16">
                <c:v>2660.3359567900002</c:v>
              </c:pt>
              <c:pt idx="17">
                <c:v>2763.59407999</c:v>
              </c:pt>
              <c:pt idx="18">
                <c:v>2522.68604241</c:v>
              </c:pt>
              <c:pt idx="19">
                <c:v>2581.1706517399998</c:v>
              </c:pt>
              <c:pt idx="20">
                <c:v>2450.7598186</c:v>
              </c:pt>
              <c:pt idx="21">
                <c:v>2532.8431773100001</c:v>
              </c:pt>
              <c:pt idx="22">
                <c:v>2538.9383792100002</c:v>
              </c:pt>
              <c:pt idx="23">
                <c:v>2488.0925356500002</c:v>
              </c:pt>
              <c:pt idx="24">
                <c:v>2578.7339156100002</c:v>
              </c:pt>
              <c:pt idx="25">
                <c:v>2578.0941354699999</c:v>
              </c:pt>
              <c:pt idx="26">
                <c:v>2327.1664660699998</c:v>
              </c:pt>
            </c:numLit>
          </c:val>
          <c:smooth val="0"/>
          <c:extLst>
            <c:ext xmlns:c16="http://schemas.microsoft.com/office/drawing/2014/chart" uri="{C3380CC4-5D6E-409C-BE32-E72D297353CC}">
              <c16:uniqueId val="{00000002-A3A8-D24B-9C15-F17568F11C1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4"/>
        <c:noMultiLvlLbl val="1"/>
      </c:catAx>
      <c:valAx>
        <c:axId val="48672768"/>
        <c:scaling>
          <c:orientation val="minMax"/>
          <c:max val="3000"/>
          <c:min val="1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c:v>
          </c:tx>
          <c:spPr>
            <a:ln w="28575">
              <a:solidFill>
                <a:srgbClr val="C77933"/>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326.58999999999997</c:v>
              </c:pt>
              <c:pt idx="1">
                <c:v>327.45999999999998</c:v>
              </c:pt>
              <c:pt idx="2">
                <c:v>330.29</c:v>
              </c:pt>
              <c:pt idx="3">
                <c:v>332.41</c:v>
              </c:pt>
              <c:pt idx="4">
                <c:v>333.98</c:v>
              </c:pt>
              <c:pt idx="5">
                <c:v>332.57</c:v>
              </c:pt>
              <c:pt idx="6">
                <c:v>334.42</c:v>
              </c:pt>
              <c:pt idx="7">
                <c:v>334.72</c:v>
              </c:pt>
              <c:pt idx="8">
                <c:v>335.28</c:v>
              </c:pt>
              <c:pt idx="9">
                <c:v>336.07</c:v>
              </c:pt>
              <c:pt idx="10">
                <c:v>336.92</c:v>
              </c:pt>
              <c:pt idx="11">
                <c:v>337.73</c:v>
              </c:pt>
              <c:pt idx="12">
                <c:v>338.5</c:v>
              </c:pt>
              <c:pt idx="13">
                <c:v>339.23</c:v>
              </c:pt>
              <c:pt idx="14">
                <c:v>339.98</c:v>
              </c:pt>
              <c:pt idx="15">
                <c:v>340.77</c:v>
              </c:pt>
              <c:pt idx="16">
                <c:v>341.54</c:v>
              </c:pt>
              <c:pt idx="17">
                <c:v>342.27</c:v>
              </c:pt>
              <c:pt idx="18">
                <c:v>342.98</c:v>
              </c:pt>
              <c:pt idx="19">
                <c:v>343.68</c:v>
              </c:pt>
              <c:pt idx="20">
                <c:v>344.34</c:v>
              </c:pt>
              <c:pt idx="21">
                <c:v>344.98</c:v>
              </c:pt>
              <c:pt idx="22">
                <c:v>345.61</c:v>
              </c:pt>
              <c:pt idx="23">
                <c:v>346.23</c:v>
              </c:pt>
              <c:pt idx="24">
                <c:v>346.86</c:v>
              </c:pt>
              <c:pt idx="25">
                <c:v>347.45</c:v>
              </c:pt>
              <c:pt idx="26">
                <c:v>348.05</c:v>
              </c:pt>
            </c:numLit>
          </c:val>
          <c:smooth val="0"/>
          <c:extLst>
            <c:ext xmlns:c16="http://schemas.microsoft.com/office/drawing/2014/chart" uri="{C3380CC4-5D6E-409C-BE32-E72D297353CC}">
              <c16:uniqueId val="{00000000-B0F4-9545-8B6D-BBC2A8FF21E8}"/>
            </c:ext>
          </c:extLst>
        </c:ser>
        <c:ser>
          <c:idx val="1"/>
          <c:order val="1"/>
          <c:tx>
            <c:v>S4</c:v>
          </c:tx>
          <c:spPr>
            <a:ln w="28575">
              <a:solidFill>
                <a:srgbClr val="A5483C"/>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326.58999999999997</c:v>
              </c:pt>
              <c:pt idx="1">
                <c:v>327.45999999999998</c:v>
              </c:pt>
              <c:pt idx="2">
                <c:v>330.29</c:v>
              </c:pt>
              <c:pt idx="3">
                <c:v>332.41</c:v>
              </c:pt>
              <c:pt idx="4">
                <c:v>332.06</c:v>
              </c:pt>
              <c:pt idx="5">
                <c:v>333.08</c:v>
              </c:pt>
              <c:pt idx="6">
                <c:v>336.53</c:v>
              </c:pt>
              <c:pt idx="7">
                <c:v>338.13</c:v>
              </c:pt>
              <c:pt idx="8">
                <c:v>338.92</c:v>
              </c:pt>
              <c:pt idx="9">
                <c:v>339.1</c:v>
              </c:pt>
              <c:pt idx="10">
                <c:v>339.01</c:v>
              </c:pt>
              <c:pt idx="11">
                <c:v>338.92</c:v>
              </c:pt>
              <c:pt idx="12">
                <c:v>338.87</c:v>
              </c:pt>
              <c:pt idx="13">
                <c:v>338.87</c:v>
              </c:pt>
              <c:pt idx="14">
                <c:v>338.9</c:v>
              </c:pt>
              <c:pt idx="15">
                <c:v>338.99</c:v>
              </c:pt>
              <c:pt idx="16">
                <c:v>339.16</c:v>
              </c:pt>
              <c:pt idx="17">
                <c:v>339.42</c:v>
              </c:pt>
              <c:pt idx="18">
                <c:v>339.76</c:v>
              </c:pt>
              <c:pt idx="19">
                <c:v>340.16</c:v>
              </c:pt>
              <c:pt idx="20">
                <c:v>340.55</c:v>
              </c:pt>
              <c:pt idx="21">
                <c:v>340.93</c:v>
              </c:pt>
              <c:pt idx="22">
                <c:v>341.27</c:v>
              </c:pt>
              <c:pt idx="23">
                <c:v>341.54</c:v>
              </c:pt>
              <c:pt idx="24">
                <c:v>341.78</c:v>
              </c:pt>
              <c:pt idx="25">
                <c:v>342.01</c:v>
              </c:pt>
              <c:pt idx="26">
                <c:v>342.25</c:v>
              </c:pt>
            </c:numLit>
          </c:val>
          <c:smooth val="0"/>
          <c:extLst>
            <c:ext xmlns:c16="http://schemas.microsoft.com/office/drawing/2014/chart" uri="{C3380CC4-5D6E-409C-BE32-E72D297353CC}">
              <c16:uniqueId val="{00000001-B0F4-9545-8B6D-BBC2A8FF21E8}"/>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9"/>
        <c:noMultiLvlLbl val="1"/>
      </c:catAx>
      <c:valAx>
        <c:axId val="48672768"/>
        <c:scaling>
          <c:orientation val="minMax"/>
          <c:max val="350"/>
          <c:min val="32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CPI index</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1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c:v>
          </c:tx>
          <c:spPr>
            <a:ln w="28575">
              <a:solidFill>
                <a:srgbClr val="C77933"/>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3604.3</c:v>
              </c:pt>
              <c:pt idx="1">
                <c:v>3608.24</c:v>
              </c:pt>
              <c:pt idx="2">
                <c:v>3658.62</c:v>
              </c:pt>
              <c:pt idx="3">
                <c:v>3738.68</c:v>
              </c:pt>
              <c:pt idx="4">
                <c:v>3812.43</c:v>
              </c:pt>
              <c:pt idx="5">
                <c:v>3855.56</c:v>
              </c:pt>
              <c:pt idx="6">
                <c:v>3877.72</c:v>
              </c:pt>
              <c:pt idx="7">
                <c:v>3900.69</c:v>
              </c:pt>
              <c:pt idx="8">
                <c:v>3938.42</c:v>
              </c:pt>
              <c:pt idx="9">
                <c:v>3986.26</c:v>
              </c:pt>
              <c:pt idx="10">
                <c:v>4032.87</c:v>
              </c:pt>
              <c:pt idx="11">
                <c:v>4069.23</c:v>
              </c:pt>
              <c:pt idx="12">
                <c:v>4094.03</c:v>
              </c:pt>
              <c:pt idx="13">
                <c:v>4107</c:v>
              </c:pt>
              <c:pt idx="14">
                <c:v>4111.49</c:v>
              </c:pt>
              <c:pt idx="15">
                <c:v>4114.13</c:v>
              </c:pt>
              <c:pt idx="16">
                <c:v>4123.07</c:v>
              </c:pt>
              <c:pt idx="17">
                <c:v>4143.68</c:v>
              </c:pt>
              <c:pt idx="18">
                <c:v>4172.3900000000003</c:v>
              </c:pt>
              <c:pt idx="19">
                <c:v>4202.95</c:v>
              </c:pt>
              <c:pt idx="20">
                <c:v>4229.37</c:v>
              </c:pt>
              <c:pt idx="21">
                <c:v>4252.17</c:v>
              </c:pt>
              <c:pt idx="22">
                <c:v>4273.05</c:v>
              </c:pt>
              <c:pt idx="23">
                <c:v>4293.41</c:v>
              </c:pt>
              <c:pt idx="24">
                <c:v>4314.21</c:v>
              </c:pt>
              <c:pt idx="25">
                <c:v>4334.76</c:v>
              </c:pt>
              <c:pt idx="26">
                <c:v>4355.79</c:v>
              </c:pt>
            </c:numLit>
          </c:val>
          <c:smooth val="0"/>
          <c:extLst>
            <c:ext xmlns:c16="http://schemas.microsoft.com/office/drawing/2014/chart" uri="{C3380CC4-5D6E-409C-BE32-E72D297353CC}">
              <c16:uniqueId val="{00000000-A9C0-8D40-96E2-182E941C2BA1}"/>
            </c:ext>
          </c:extLst>
        </c:ser>
        <c:ser>
          <c:idx val="1"/>
          <c:order val="1"/>
          <c:tx>
            <c:v>S4</c:v>
          </c:tx>
          <c:spPr>
            <a:ln w="28575">
              <a:solidFill>
                <a:srgbClr val="A5483C"/>
              </a:solidFill>
              <a:prstDash val="solid"/>
            </a:ln>
          </c:spPr>
          <c:marker>
            <c:symbol val="none"/>
          </c:marker>
          <c:cat>
            <c:strLit>
              <c:ptCount val="27"/>
              <c:pt idx="0">
                <c:v>Jan 2026</c:v>
              </c:pt>
              <c:pt idx="1">
                <c:v>Feb 2026</c:v>
              </c:pt>
              <c:pt idx="2">
                <c:v>Mar 2026</c:v>
              </c:pt>
              <c:pt idx="3">
                <c:v>Apr 2026</c:v>
              </c:pt>
              <c:pt idx="4">
                <c:v>May 2026</c:v>
              </c:pt>
              <c:pt idx="5">
                <c:v>Jun 2026</c:v>
              </c:pt>
              <c:pt idx="6">
                <c:v>Jul 2026</c:v>
              </c:pt>
              <c:pt idx="7">
                <c:v>Aug 2026</c:v>
              </c:pt>
              <c:pt idx="8">
                <c:v>Sep 2026</c:v>
              </c:pt>
              <c:pt idx="9">
                <c:v>Oct 2026</c:v>
              </c:pt>
              <c:pt idx="10">
                <c:v>Nov 2026</c:v>
              </c:pt>
              <c:pt idx="11">
                <c:v>Dec 2026</c:v>
              </c:pt>
              <c:pt idx="12">
                <c:v>Jan 2027</c:v>
              </c:pt>
              <c:pt idx="13">
                <c:v>Feb 2027</c:v>
              </c:pt>
              <c:pt idx="14">
                <c:v>Mar 2027</c:v>
              </c:pt>
              <c:pt idx="15">
                <c:v>Apr 2027</c:v>
              </c:pt>
              <c:pt idx="16">
                <c:v>May 2027</c:v>
              </c:pt>
              <c:pt idx="17">
                <c:v>Jun 2027</c:v>
              </c:pt>
              <c:pt idx="18">
                <c:v>Jul 2027</c:v>
              </c:pt>
              <c:pt idx="19">
                <c:v>Aug 2027</c:v>
              </c:pt>
              <c:pt idx="20">
                <c:v>Sep 2027</c:v>
              </c:pt>
              <c:pt idx="21">
                <c:v>Oct 2027</c:v>
              </c:pt>
              <c:pt idx="22">
                <c:v>Nov 2027</c:v>
              </c:pt>
              <c:pt idx="23">
                <c:v>Dec 2027</c:v>
              </c:pt>
              <c:pt idx="24">
                <c:v>Jan 2028</c:v>
              </c:pt>
              <c:pt idx="25">
                <c:v>Feb 2028</c:v>
              </c:pt>
              <c:pt idx="26">
                <c:v>Mar 2028</c:v>
              </c:pt>
            </c:strLit>
          </c:cat>
          <c:val>
            <c:numLit>
              <c:formatCode>#,##0</c:formatCode>
              <c:ptCount val="27"/>
              <c:pt idx="0">
                <c:v>3594.53</c:v>
              </c:pt>
              <c:pt idx="1">
                <c:v>3578.89</c:v>
              </c:pt>
              <c:pt idx="2">
                <c:v>3596.59</c:v>
              </c:pt>
              <c:pt idx="3">
                <c:v>3639.3</c:v>
              </c:pt>
              <c:pt idx="4">
                <c:v>3686.01</c:v>
              </c:pt>
              <c:pt idx="5">
                <c:v>3721.83</c:v>
              </c:pt>
              <c:pt idx="6">
                <c:v>3366.38</c:v>
              </c:pt>
              <c:pt idx="7">
                <c:v>3169.06</c:v>
              </c:pt>
              <c:pt idx="8">
                <c:v>3074.45</c:v>
              </c:pt>
              <c:pt idx="9">
                <c:v>3049.09</c:v>
              </c:pt>
              <c:pt idx="10">
                <c:v>3030.01</c:v>
              </c:pt>
              <c:pt idx="11">
                <c:v>2973</c:v>
              </c:pt>
              <c:pt idx="12">
                <c:v>2890.16</c:v>
              </c:pt>
              <c:pt idx="13">
                <c:v>2818.04</c:v>
              </c:pt>
              <c:pt idx="14">
                <c:v>2773.85</c:v>
              </c:pt>
              <c:pt idx="15">
                <c:v>2749.46</c:v>
              </c:pt>
              <c:pt idx="16">
                <c:v>2730.04</c:v>
              </c:pt>
              <c:pt idx="17">
                <c:v>2704.53</c:v>
              </c:pt>
              <c:pt idx="18">
                <c:v>2681.04</c:v>
              </c:pt>
              <c:pt idx="19">
                <c:v>2674.06</c:v>
              </c:pt>
              <c:pt idx="20">
                <c:v>2692.56</c:v>
              </c:pt>
              <c:pt idx="21">
                <c:v>2728.01</c:v>
              </c:pt>
              <c:pt idx="22">
                <c:v>2766.53</c:v>
              </c:pt>
              <c:pt idx="23">
                <c:v>2798.1</c:v>
              </c:pt>
              <c:pt idx="24">
                <c:v>2824.78</c:v>
              </c:pt>
              <c:pt idx="25">
                <c:v>2850.67</c:v>
              </c:pt>
              <c:pt idx="26">
                <c:v>2880.13</c:v>
              </c:pt>
            </c:numLit>
          </c:val>
          <c:smooth val="0"/>
          <c:extLst>
            <c:ext xmlns:c16="http://schemas.microsoft.com/office/drawing/2014/chart" uri="{C3380CC4-5D6E-409C-BE32-E72D297353CC}">
              <c16:uniqueId val="{00000001-A9C0-8D40-96E2-182E941C2BA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9"/>
        <c:noMultiLvlLbl val="1"/>
      </c:catAx>
      <c:valAx>
        <c:axId val="48672768"/>
        <c:scaling>
          <c:orientation val="minMax"/>
          <c:max val="4500"/>
          <c:min val="2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Corporate profits (input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zero"/>
    <c:showDLblsOverMax val="1"/>
  </c:chart>
  <c:spPr>
    <a:solidFill>
      <a:srgbClr val="FFFFFF"/>
    </a:solid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Baseline forecast</c:v>
          </c:tx>
          <c:spPr>
            <a:ln w="28575">
              <a:solidFill>
                <a:srgbClr val="C77933"/>
              </a:solidFill>
              <a:prstDash val="solid"/>
            </a:ln>
          </c:spPr>
          <c:marker>
            <c:symbol val="none"/>
          </c:marker>
          <c:cat>
            <c:strLit>
              <c:ptCount val="28"/>
              <c:pt idx="0">
                <c:v>Dec 2025</c:v>
              </c:pt>
              <c:pt idx="1">
                <c:v>Jan 2026</c:v>
              </c:pt>
              <c:pt idx="2">
                <c:v>Feb 2026</c:v>
              </c:pt>
              <c:pt idx="3">
                <c:v>Mar 2026</c:v>
              </c:pt>
              <c:pt idx="4">
                <c:v>Apr 2026</c:v>
              </c:pt>
              <c:pt idx="5">
                <c:v>May 2026</c:v>
              </c:pt>
              <c:pt idx="6">
                <c:v>Jun 2026</c:v>
              </c:pt>
              <c:pt idx="7">
                <c:v>Jul 2026</c:v>
              </c:pt>
              <c:pt idx="8">
                <c:v>Aug 2026</c:v>
              </c:pt>
              <c:pt idx="9">
                <c:v>Sep 2026</c:v>
              </c:pt>
              <c:pt idx="10">
                <c:v>Oct 2026</c:v>
              </c:pt>
              <c:pt idx="11">
                <c:v>Nov 2026</c:v>
              </c:pt>
              <c:pt idx="12">
                <c:v>Dec 2026</c:v>
              </c:pt>
              <c:pt idx="13">
                <c:v>Jan 2027</c:v>
              </c:pt>
              <c:pt idx="14">
                <c:v>Feb 2027</c:v>
              </c:pt>
              <c:pt idx="15">
                <c:v>Mar 2027</c:v>
              </c:pt>
              <c:pt idx="16">
                <c:v>Apr 2027</c:v>
              </c:pt>
              <c:pt idx="17">
                <c:v>May 2027</c:v>
              </c:pt>
              <c:pt idx="18">
                <c:v>Jun 2027</c:v>
              </c:pt>
              <c:pt idx="19">
                <c:v>Jul 2027</c:v>
              </c:pt>
              <c:pt idx="20">
                <c:v>Aug 2027</c:v>
              </c:pt>
              <c:pt idx="21">
                <c:v>Sep 2027</c:v>
              </c:pt>
              <c:pt idx="22">
                <c:v>Oct 2027</c:v>
              </c:pt>
              <c:pt idx="23">
                <c:v>Nov 2027</c:v>
              </c:pt>
              <c:pt idx="24">
                <c:v>Dec 2027</c:v>
              </c:pt>
              <c:pt idx="25">
                <c:v>Jan 2028</c:v>
              </c:pt>
              <c:pt idx="26">
                <c:v>Feb 2028</c:v>
              </c:pt>
              <c:pt idx="27">
                <c:v>Mar 2028</c:v>
              </c:pt>
            </c:strLit>
          </c:cat>
          <c:val>
            <c:numLit>
              <c:formatCode>#,##0</c:formatCode>
              <c:ptCount val="28"/>
              <c:pt idx="0">
                <c:v>1887</c:v>
              </c:pt>
              <c:pt idx="1">
                <c:v>2243.5526518909492</c:v>
              </c:pt>
              <c:pt idx="2">
                <c:v>2288.3554046272498</c:v>
              </c:pt>
              <c:pt idx="3">
                <c:v>2399.3236649754231</c:v>
              </c:pt>
              <c:pt idx="4">
                <c:v>2360.3303034789251</c:v>
              </c:pt>
              <c:pt idx="5">
                <c:v>2376.9257361950577</c:v>
              </c:pt>
              <c:pt idx="6">
                <c:v>2368.5724200017203</c:v>
              </c:pt>
              <c:pt idx="7">
                <c:v>2366.9452725207575</c:v>
              </c:pt>
              <c:pt idx="8">
                <c:v>2540.57118915623</c:v>
              </c:pt>
              <c:pt idx="9">
                <c:v>2317.2715765494345</c:v>
              </c:pt>
              <c:pt idx="10">
                <c:v>2518.0960174447719</c:v>
              </c:pt>
              <c:pt idx="11">
                <c:v>2331.8954530871861</c:v>
              </c:pt>
              <c:pt idx="12">
                <c:v>2176.8879147011671</c:v>
              </c:pt>
              <c:pt idx="13">
                <c:v>2480.0234337638985</c:v>
              </c:pt>
              <c:pt idx="14">
                <c:v>2484.1120224978531</c:v>
              </c:pt>
              <c:pt idx="15">
                <c:v>2586.9076911822913</c:v>
              </c:pt>
              <c:pt idx="16">
                <c:v>2542.8776853049885</c:v>
              </c:pt>
              <c:pt idx="17">
                <c:v>2552.2606416261483</c:v>
              </c:pt>
              <c:pt idx="18">
                <c:v>2541.6318025631144</c:v>
              </c:pt>
              <c:pt idx="19">
                <c:v>2506.5174573709892</c:v>
              </c:pt>
              <c:pt idx="20">
                <c:v>2569.6745028187838</c:v>
              </c:pt>
              <c:pt idx="21">
                <c:v>2420.6991036239428</c:v>
              </c:pt>
              <c:pt idx="22">
                <c:v>2557.004758531019</c:v>
              </c:pt>
              <c:pt idx="23">
                <c:v>2438.4246000907178</c:v>
              </c:pt>
              <c:pt idx="24">
                <c:v>2363.616743946478</c:v>
              </c:pt>
              <c:pt idx="25">
                <c:v>2557.0332410105607</c:v>
              </c:pt>
              <c:pt idx="26">
                <c:v>2490.2714277557575</c:v>
              </c:pt>
              <c:pt idx="27">
                <c:v>2543.3513911925288</c:v>
              </c:pt>
            </c:numLit>
          </c:val>
          <c:smooth val="0"/>
          <c:extLst>
            <c:ext xmlns:c16="http://schemas.microsoft.com/office/drawing/2014/chart" uri="{C3380CC4-5D6E-409C-BE32-E72D297353CC}">
              <c16:uniqueId val="{00000000-D2C4-3A4D-A650-7172BC2857A9}"/>
            </c:ext>
          </c:extLst>
        </c:ser>
        <c:ser>
          <c:idx val="1"/>
          <c:order val="1"/>
          <c:tx>
            <c:v>S4 forecast</c:v>
          </c:tx>
          <c:spPr>
            <a:ln w="28575">
              <a:solidFill>
                <a:srgbClr val="A5483C"/>
              </a:solidFill>
              <a:prstDash val="solid"/>
            </a:ln>
          </c:spPr>
          <c:marker>
            <c:symbol val="none"/>
          </c:marker>
          <c:cat>
            <c:strLit>
              <c:ptCount val="28"/>
              <c:pt idx="0">
                <c:v>Dec 2025</c:v>
              </c:pt>
              <c:pt idx="1">
                <c:v>Jan 2026</c:v>
              </c:pt>
              <c:pt idx="2">
                <c:v>Feb 2026</c:v>
              </c:pt>
              <c:pt idx="3">
                <c:v>Mar 2026</c:v>
              </c:pt>
              <c:pt idx="4">
                <c:v>Apr 2026</c:v>
              </c:pt>
              <c:pt idx="5">
                <c:v>May 2026</c:v>
              </c:pt>
              <c:pt idx="6">
                <c:v>Jun 2026</c:v>
              </c:pt>
              <c:pt idx="7">
                <c:v>Jul 2026</c:v>
              </c:pt>
              <c:pt idx="8">
                <c:v>Aug 2026</c:v>
              </c:pt>
              <c:pt idx="9">
                <c:v>Sep 2026</c:v>
              </c:pt>
              <c:pt idx="10">
                <c:v>Oct 2026</c:v>
              </c:pt>
              <c:pt idx="11">
                <c:v>Nov 2026</c:v>
              </c:pt>
              <c:pt idx="12">
                <c:v>Dec 2026</c:v>
              </c:pt>
              <c:pt idx="13">
                <c:v>Jan 2027</c:v>
              </c:pt>
              <c:pt idx="14">
                <c:v>Feb 2027</c:v>
              </c:pt>
              <c:pt idx="15">
                <c:v>Mar 2027</c:v>
              </c:pt>
              <c:pt idx="16">
                <c:v>Apr 2027</c:v>
              </c:pt>
              <c:pt idx="17">
                <c:v>May 2027</c:v>
              </c:pt>
              <c:pt idx="18">
                <c:v>Jun 2027</c:v>
              </c:pt>
              <c:pt idx="19">
                <c:v>Jul 2027</c:v>
              </c:pt>
              <c:pt idx="20">
                <c:v>Aug 2027</c:v>
              </c:pt>
              <c:pt idx="21">
                <c:v>Sep 2027</c:v>
              </c:pt>
              <c:pt idx="22">
                <c:v>Oct 2027</c:v>
              </c:pt>
              <c:pt idx="23">
                <c:v>Nov 2027</c:v>
              </c:pt>
              <c:pt idx="24">
                <c:v>Dec 2027</c:v>
              </c:pt>
              <c:pt idx="25">
                <c:v>Jan 2028</c:v>
              </c:pt>
              <c:pt idx="26">
                <c:v>Feb 2028</c:v>
              </c:pt>
              <c:pt idx="27">
                <c:v>Mar 2028</c:v>
              </c:pt>
            </c:strLit>
          </c:cat>
          <c:val>
            <c:numLit>
              <c:formatCode>#,##0</c:formatCode>
              <c:ptCount val="28"/>
              <c:pt idx="0">
                <c:v>1887</c:v>
              </c:pt>
              <c:pt idx="1">
                <c:v>2243.5526518909492</c:v>
              </c:pt>
              <c:pt idx="2">
                <c:v>2288.3554046272498</c:v>
              </c:pt>
              <c:pt idx="3">
                <c:v>2396.4124240117003</c:v>
              </c:pt>
              <c:pt idx="4">
                <c:v>2351.0795438576147</c:v>
              </c:pt>
              <c:pt idx="5">
                <c:v>2355.7143371400284</c:v>
              </c:pt>
              <c:pt idx="6">
                <c:v>2333.9399385706938</c:v>
              </c:pt>
              <c:pt idx="7">
                <c:v>2323.0277537559832</c:v>
              </c:pt>
              <c:pt idx="8">
                <c:v>2487.6804752773578</c:v>
              </c:pt>
              <c:pt idx="9">
                <c:v>2173.1376340852994</c:v>
              </c:pt>
              <c:pt idx="10">
                <c:v>2258.6203348276017</c:v>
              </c:pt>
              <c:pt idx="11">
                <c:v>2035.1348657218309</c:v>
              </c:pt>
              <c:pt idx="12">
                <c:v>1882.1514035299224</c:v>
              </c:pt>
              <c:pt idx="13">
                <c:v>2102.1488493924057</c:v>
              </c:pt>
              <c:pt idx="14">
                <c:v>2064.2323982095099</c:v>
              </c:pt>
              <c:pt idx="15">
                <c:v>2076.2412031733538</c:v>
              </c:pt>
              <c:pt idx="16">
                <c:v>1975.4059114661454</c:v>
              </c:pt>
              <c:pt idx="17">
                <c:v>1927.0740763576366</c:v>
              </c:pt>
              <c:pt idx="18">
                <c:v>1917.5479270268356</c:v>
              </c:pt>
              <c:pt idx="19">
                <c:v>1891.0713788228429</c:v>
              </c:pt>
              <c:pt idx="20">
                <c:v>1910.669855866664</c:v>
              </c:pt>
              <c:pt idx="21">
                <c:v>1829.1976742533084</c:v>
              </c:pt>
              <c:pt idx="22">
                <c:v>1942.4890339619951</c:v>
              </c:pt>
              <c:pt idx="23">
                <c:v>1869.9803664432607</c:v>
              </c:pt>
              <c:pt idx="24">
                <c:v>1837.3859936675751</c:v>
              </c:pt>
              <c:pt idx="25">
                <c:v>2005.3263143483512</c:v>
              </c:pt>
              <c:pt idx="26">
                <c:v>1972.2900064591242</c:v>
              </c:pt>
              <c:pt idx="27">
                <c:v>2049.7554423822203</c:v>
              </c:pt>
            </c:numLit>
          </c:val>
          <c:smooth val="0"/>
          <c:extLst>
            <c:ext xmlns:c16="http://schemas.microsoft.com/office/drawing/2014/chart" uri="{C3380CC4-5D6E-409C-BE32-E72D297353CC}">
              <c16:uniqueId val="{00000001-D2C4-3A4D-A650-7172BC2857A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72768"/>
        <c:crosses val="autoZero"/>
        <c:auto val="1"/>
        <c:lblAlgn val="ctr"/>
        <c:lblOffset val="100"/>
        <c:tickLblSkip val="3"/>
        <c:noMultiLvlLbl val="1"/>
      </c:catAx>
      <c:valAx>
        <c:axId val="48672768"/>
        <c:scaling>
          <c:orientation val="minMax"/>
          <c:max val="3000"/>
          <c:min val="1500"/>
        </c:scaling>
        <c:delete val="0"/>
        <c:axPos val="l"/>
        <c:majorGridlines>
          <c:spPr>
            <a:ln w="5715">
              <a:solidFill>
                <a:srgbClr val="D5DDE2"/>
              </a:solidFill>
            </a:ln>
          </c:spPr>
        </c:majorGridlines>
        <c:title>
          <c:tx>
            <c:rich>
              <a:bodyPr/>
              <a:lstStyle/>
              <a:p>
                <a:r>
                  <a:rPr lang="en" sz="1275">
                    <a:solidFill>
                      <a:srgbClr val="5D6B75"/>
                    </a:solidFill>
                    <a:latin typeface="Arial"/>
                    <a:ea typeface="Arial"/>
                    <a:cs typeface="Arial"/>
                  </a:rPr>
                  <a:t>Fee revenue (source units)</a:t>
                </a:r>
              </a:p>
            </c:rich>
          </c:tx>
          <c:overlay val="0"/>
        </c:title>
        <c:numFmt formatCode="#,##0" sourceLinked="1"/>
        <c:majorTickMark val="none"/>
        <c:minorTickMark val="none"/>
        <c:tickLblPos val="nextTo"/>
        <c:spPr>
          <a:ln w="9525">
            <a:solidFill>
              <a:srgbClr val="D5DDE2"/>
            </a:solidFill>
          </a:ln>
        </c:spPr>
        <c:txPr>
          <a:bodyPr anchorCtr="1"/>
          <a:lstStyle/>
          <a:p>
            <a:pPr>
              <a:defRPr sz="1200">
                <a:solidFill>
                  <a:srgbClr val="5D6B75"/>
                </a:solidFill>
                <a:latin typeface="Arial"/>
                <a:ea typeface="Arial"/>
                <a:cs typeface="Arial"/>
              </a:defRPr>
            </a:pPr>
            <a:endParaRPr lang="zh-CN"/>
          </a:p>
        </c:txPr>
        <c:crossAx val="48650112"/>
        <c:crosses val="autoZero"/>
        <c:crossBetween val="between"/>
        <c:majorUnit val="500"/>
      </c:valAx>
      <c:spPr>
        <a:solidFill>
          <a:srgbClr val="FFFFFF"/>
        </a:solidFill>
        <a:ln w="0">
          <a:noFill/>
        </a:ln>
      </c:spPr>
    </c:plotArea>
    <c:legend>
      <c:legendPos val="b"/>
      <c:overlay val="0"/>
      <c:txPr>
        <a:bodyPr anchorCtr="1"/>
        <a:lstStyle/>
        <a:p>
          <a:pPr>
            <a:defRPr sz="1350">
              <a:solidFill>
                <a:srgbClr val="5D6B75"/>
              </a:solidFill>
              <a:latin typeface="Arial"/>
              <a:ea typeface="Arial"/>
              <a:cs typeface="Arial"/>
            </a:defRPr>
          </a:pPr>
          <a:endParaRPr lang="zh-CN"/>
        </a:p>
      </c:txPr>
    </c:legend>
    <c:plotVisOnly val="1"/>
    <c:dispBlanksAs val="gap"/>
    <c:showDLblsOverMax val="1"/>
  </c:chart>
  <c:spPr>
    <a:solidFill>
      <a:srgbClr val="FFFFFF"/>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Commercial and Small Business Card fee revenue. The presentation follows the report's two-step model, with separate IS, OOT, baseline forecast and S4 forecast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long-run equation uses CPI. The short-run equation models YoY fee growth using the adjusted error-correction term, own lags and corporate profit growth. The two scenarios use identical coefficients and overlay rules. OOT observations also inform variable screening and overlay estimation, so the reported OOT errors describe a fitted backtest rather than a fully untouched validation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 sample contains 180 monthly observations from January 2011 through December 2025. Fee revenue combines Commercial Card and Small Business. Blue marks the long-run estimation period through September 2023. Red marks the 27-month OOT period beginning October 2023. The red line includes September 2023 as a shared anchor to preserve continuity. December 2025 actual fee revenue is 1,887.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long-run estimation window contains 153 months, from January 2011 through September 2023. Short-run estimation retains 135 observations after transformations and lags. The 27-month OOT window spans October 2023 through December 2025. Both forward scenarios share the same realized history and forecast January 2026 through March 2028.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1 estimates the long-run level relationship and generates EC. Scaling converts EC to a percentage of the contemporaneous fitted level. The overlay removes the linear drift in scaled EC over the OOT window. Step 2 uses the lagged adjusted EC in the YoY growth equation. Recursive forecasts update levels and the lagged model inputs each month.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excludes SBOpt from the long-run candidate pool and retains CPI alone. Other candidates fail significance or VIF criteria after CPI enters. The high R-squared reflects the shared trend in levels. The report gives residual ADF p = 0.0091. Coefficients shown on the slide are rounded, while forecasts retain full precision.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shows actual Commercial Card plus Small Business fee revenue and the first-step long-run fitted level over the full January 2011 to December 2025 history. The long-run equation estimates its intercept and CPI coefficient using only the 153-month IS sample through September 2023. Those coefficients remain frozen in the 27-month OOT period. The fitted level equals the intercept plus the CPI coefficient multiplied by each month's CPI, using full-precision estimates of approximately −3,386.96 and 19.42. IS R-squared is 0.927. The mean raw long-run residual, actual minus fitted, is approximately zero in IS and -514.39 original fee units in OOT. The vertical line marks October 2023, when OOT begins. The increasing OOT gap motivates examination of scaled EC and its trend adjustment on subsequent slides. These are unadjusted long-run fitted levels, before overlay or short-run dynamics. The separate final short-run charts show reconstructed fee levels from the YoY growth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 is actual fee revenue less its long-run fitted level. Divide by that month's long-run fitted value and multiply by 100 to obtain EC_scaled. The IS tests report ADF p = 0.019 and KPSS p = 0.100, consistent with stationarity. Subtract the overlay to obtain EC_scaled_adj, whose 12-month lag enters the short-run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Fit EC_scaled(t) = a + b × t over the 27 realized OOT months, with t = 1 in October 2023 and t = 27 in December 2025. The monthly slope is approximately −0.909 percentage points. Overlay is zero before this window, follows the fitted trend within it, and remains fixed at a + b × 27 = −30.143 thereafter. Future projections therefore use a fixed adjustment rather than extending the trend. OOT contributes to this calibration.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eight displayed macro terms pass the dual-window partial-correlation screen: p &lt; 0.20 in both windows and matching coefficient signs. The OOT screen uses the overlay-adjusted EC_scaled_adj_lag12 control. The shortlisted macro terms and own lags 1 through 12 then enter forward selection. OOT participation limits interpretation of the subsequent backtest as an independent validation exercise.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adds y_lag1, y_lag6 and CorpProfits_lag2, then stops when no further term passes at 5%. The negative coefficient on EC_scaled_adj_lag12 means a positive deviation from the adjusted long-run relationship 12 months earlier reduces current YoY growth. Own lags capture persistence, while corporate profit YoY growth enters with a two-month lag. All nonconstant VIFs are below 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Forward selection adds y_lag1, y_lag6 and CorpProfits_lag2, then stops when no further term passes at 5%. The negative coefficient on EC_scaled_adj_lag12 means a positive deviation from the adjusted long-run relationship 12 months earlier reduces current YoY growth. Own lags capture persistence, while corporate profit YoY growth enters with a two-month lag. All nonconstant VIFs are below 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uses 135 short-run observations and achieves adjusted R-squared of 0.736. The Jarque-Bera and Ljung-Box results do not reject residual normality or no serial correlation at 12 lags at the 5% level. Static OOT fit uses observed own-lag history. Dynamic OOT fit recursively updates the own-growth lags, increasing error accumulation. OOT also informs screening and overlay estimation, so both results are descriptive backtests.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final short-run model’s in-sample fitted results, shown as reconstructed fee revenue levels rather than YoY growth rates. The equation includes EC_scaled_adj_lag12, y_lag1, y_lag6 and CorpProfits_lag2. The chart compares reconstructed fee levels with actual revenue from July 2012 through September 2023. IS MAPE is 5.39% and RMSE is 105.9 across 135 observations. This within-sample fit does not establish future forecast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final short-run model’s OOT fitted-backtest results, shown as reconstructed fee revenue levels. The chart covers October 2023 through December 2025 and uses EC_scaled_adj_lag12 throughout. Static fit uses observed own lags, with MAPE of 8.76%. Dynamic fit recursively updates y_lag1 and y_lag6, with MAPE of 16.16%. OOT observations also inform variable screening and overlay estimation, so the reported OOT errors describe a fitted backtest rather than a fully untouched validation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forecast month first produces YoY growth, then reconstructs the fee level as the level 12 months earlier multiplied by one plus forecast growth divided by 100. Predicted levels feed subsequent own lags and adjusted EC. S4 replaces only the future CPI and corporate profit paths from January 2026 onward. Its corporate profit path declines sharply from mid-2026. Historical observations, model coefficients and the fixed overlay remain common to both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forecast month first produces YoY growth, then reconstructs the fee level as the level 12 months earlier multiplied by one plus forecast growth divided by 100. Predicted levels feed subsequent own lags and adjusted EC. S4 replaces only the future CPI and corporate profit paths from January 2026 onward. Its corporate profit path declines sharply from mid-2026. Historical observations, model coefficients and the fixed overlay remain common to both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compares the baseline and S4 downside point forecasts from January 2026 through March 2028 on a shared vertical scale. Each path begins at the December 2025 actual fee revenue of 1,887, directly connected to January 2026. Both scenarios use the same historical observations, model coefficients and fixed overlay. Scenario differences arise from their future CPI and corporate profit paths. The paths coincide at December 2025, January 2026 and February 2026, so one line overlaps the other at those dates.</a:t>
            </a:r>
          </a:p>
          <a:p>
            <a:endParaRPr/>
          </a:p>
          <a:p>
            <a:r>
              <a:t>The first plotted point is the December 2025 actual fee of 1,887. The line connects it directly to the January 2026 baseline forecast of 2,243.6. The forecast spans 27 months. The baseline averages 2,503.6 in 2027 and reaches 2,543.4 in March 2028. Monthly fluctuations reflect the YoY reconstruction and lag structure.</a:t>
            </a:r>
          </a:p>
          <a:p>
            <a:endParaRPr/>
          </a:p>
          <a:p>
            <a:r>
              <a:t>The S4 line also begins at the December 2025 actual of 1,887. January 2026 is 2,243.6. The corporate profit scenario feeds through with a lag, and S4 reaches 1,882.2 in December 2026. The 2027 average is 1,945.3 and March 2028 is 2,049.8. The chart uses the same vertical scale as baseline to support direct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Differences are S4 less baseline. The scenario gap widens during the second half of 2026. S4's 2027 average is 22.3% below baseline. By March 2028, the S4 forecast of 2,049.8 is 493.6, or 19.4%, below baseline. Figures are conditional point forecasts under the supplied macro paths. The 2028 average covers January through March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Monthly baseline point forecasts cover January 2026 through March 2028. YoY is the forecast percentage change relative to the same month one year earlier. Long-run fitted level is the CPI-based first-step estimate, before the short-run dynamics. Fee forecasts retain the source data's original units.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Monthly S4 point forecasts use the same model and recursive procedure as baseline, with the S4 CPI and corporate profit inputs. YoY is relative to the same month one year earlier. Long-run fitted level is the first-step CPI estimate under S4. Fee forecasts retain the source data's original units.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n-Interest Income">
            <a:extLst>
              <a:ext uri="{FF2B5EF4-FFF2-40B4-BE49-F238E27FC236}">
                <a16:creationId xmlns:a16="http://schemas.microsoft.com/office/drawing/2014/main" id="{EB96CD7F-DDE9-4EE8-AB10-F92DC897A09E}"/>
              </a:ext>
            </a:extLst>
          </p:cNvPr>
          <p:cNvSpPr>
            <a:spLocks noGrp="1"/>
          </p:cNvSpPr>
          <p:nvPr/>
        </p:nvSpPr>
        <p:spPr>
          <a:xfrm>
            <a:off x="742950" y="2143125"/>
            <a:ext cx="10477500" cy="666750"/>
          </a:xfrm>
          <a:prstGeom prst="rect">
            <a:avLst/>
          </a:prstGeom>
          <a:noFill/>
          <a:ln w="0">
            <a:noFill/>
          </a:ln>
        </p:spPr>
        <p:txBody>
          <a:bodyPr wrap="square" lIns="0" tIns="0" rIns="0" bIns="0" anchor="t">
            <a:noAutofit/>
          </a:bodyPr>
          <a:lstStyle/>
          <a:p>
            <a:pPr algn="l">
              <a:buNone/>
              <a:defRPr sz="2550" b="0">
                <a:solidFill>
                  <a:srgbClr val="252F38"/>
                </a:solidFill>
                <a:latin typeface="Arial"/>
                <a:ea typeface="Arial"/>
                <a:cs typeface="Arial"/>
              </a:defRPr>
            </a:pPr>
            <a:r>
              <a:rPr sz="2550" b="0">
                <a:solidFill>
                  <a:srgbClr val="252F38"/>
                </a:solidFill>
                <a:latin typeface="Arial"/>
                <a:ea typeface="Arial"/>
                <a:cs typeface="Arial"/>
              </a:rPr>
              <a:t>Non-Interest Income</a:t>
            </a:r>
          </a:p>
        </p:txBody>
      </p:sp>
      <p:sp>
        <p:nvSpPr>
          <p:cNvPr id="4" name="Commercial Card&#10;Fee Revenue Modeling">
            <a:extLst>
              <a:ext uri="{FF2B5EF4-FFF2-40B4-BE49-F238E27FC236}">
                <a16:creationId xmlns:a16="http://schemas.microsoft.com/office/drawing/2014/main" id="{2B2941FA-FEA4-4756-8BE5-AEB8DE759756}"/>
              </a:ext>
            </a:extLst>
          </p:cNvPr>
          <p:cNvSpPr>
            <a:spLocks noGrp="1"/>
          </p:cNvSpPr>
          <p:nvPr/>
        </p:nvSpPr>
        <p:spPr>
          <a:xfrm>
            <a:off x="742950" y="2914650"/>
            <a:ext cx="10668000" cy="1409700"/>
          </a:xfrm>
          <a:prstGeom prst="rect">
            <a:avLst/>
          </a:prstGeom>
          <a:noFill/>
          <a:ln w="0">
            <a:noFill/>
          </a:ln>
        </p:spPr>
        <p:txBody>
          <a:bodyPr wrap="square" lIns="0" tIns="0" rIns="0" bIns="0" anchor="t">
            <a:noAutofit/>
          </a:bodyPr>
          <a:lstStyle/>
          <a:p>
            <a:pPr algn="l">
              <a:buNone/>
              <a:defRPr sz="3975" b="1">
                <a:solidFill>
                  <a:srgbClr val="252F38"/>
                </a:solidFill>
                <a:latin typeface="Arial"/>
                <a:ea typeface="Arial"/>
                <a:cs typeface="Arial"/>
              </a:defRPr>
            </a:pPr>
            <a:r>
              <a:rPr sz="3975" b="1">
                <a:solidFill>
                  <a:srgbClr val="252F38"/>
                </a:solidFill>
                <a:latin typeface="Arial"/>
                <a:ea typeface="Arial"/>
                <a:cs typeface="Arial"/>
              </a:rPr>
              <a:t>Commercial Card</a:t>
            </a:r>
          </a:p>
          <a:p>
            <a:pPr algn="l">
              <a:buNone/>
              <a:defRPr sz="3975" b="1">
                <a:solidFill>
                  <a:srgbClr val="252F38"/>
                </a:solidFill>
                <a:latin typeface="Arial"/>
                <a:ea typeface="Arial"/>
                <a:cs typeface="Arial"/>
              </a:defRPr>
            </a:pPr>
            <a:r>
              <a:rPr sz="3975" b="1">
                <a:solidFill>
                  <a:srgbClr val="252F38"/>
                </a:solidFill>
                <a:latin typeface="Arial"/>
                <a:ea typeface="Arial"/>
                <a:cs typeface="Arial"/>
              </a:rPr>
              <a:t>Two-Step Model</a:t>
            </a:r>
          </a:p>
        </p:txBody>
      </p:sp>
      <p:sp>
        <p:nvSpPr>
          <p:cNvPr id="5" name="Small Business + Commercial Card">
            <a:extLst>
              <a:ext uri="{FF2B5EF4-FFF2-40B4-BE49-F238E27FC236}">
                <a16:creationId xmlns:a16="http://schemas.microsoft.com/office/drawing/2014/main" id="{D07C77B4-83A1-471B-B1E5-C9B0BCD47105}"/>
              </a:ext>
            </a:extLst>
          </p:cNvPr>
          <p:cNvSpPr>
            <a:spLocks noGrp="1"/>
          </p:cNvSpPr>
          <p:nvPr/>
        </p:nvSpPr>
        <p:spPr>
          <a:xfrm>
            <a:off x="762000" y="4638675"/>
            <a:ext cx="10191750" cy="409575"/>
          </a:xfrm>
          <a:prstGeom prst="rect">
            <a:avLst/>
          </a:prstGeom>
          <a:noFill/>
          <a:ln w="0">
            <a:noFill/>
          </a:ln>
        </p:spPr>
        <p:txBody>
          <a:bodyPr wrap="square" lIns="0" tIns="0" rIns="0" bIns="0" anchor="t">
            <a:noAutofit/>
          </a:bodyPr>
          <a:lstStyle/>
          <a:p>
            <a:pPr>
              <a:defRPr sz="2175" b="0">
                <a:solidFill>
                  <a:srgbClr val="252F38"/>
                </a:solidFill>
                <a:latin typeface="Arial"/>
                <a:ea typeface="Arial"/>
                <a:cs typeface="Arial"/>
              </a:defRPr>
            </a:pPr>
            <a:r>
              <a:rPr lang="en" altLang="zh-CN" sz="2175" dirty="0">
                <a:solidFill>
                  <a:srgbClr val="252F38"/>
                </a:solidFill>
                <a:latin typeface="Arial"/>
                <a:ea typeface="Arial"/>
                <a:cs typeface="Arial"/>
              </a:rPr>
              <a:t>Commercial Card </a:t>
            </a:r>
            <a:r>
              <a:rPr sz="2175" b="0" dirty="0">
                <a:solidFill>
                  <a:srgbClr val="252F38"/>
                </a:solidFill>
                <a:latin typeface="Arial"/>
                <a:ea typeface="Arial"/>
                <a:cs typeface="Arial"/>
              </a:rPr>
              <a:t>+ </a:t>
            </a:r>
            <a:r>
              <a:rPr lang="en" altLang="zh-CN" sz="2175" dirty="0">
                <a:solidFill>
                  <a:srgbClr val="252F38"/>
                </a:solidFill>
                <a:latin typeface="Arial"/>
                <a:ea typeface="Arial"/>
                <a:cs typeface="Arial"/>
              </a:rPr>
              <a:t>Small Business </a:t>
            </a:r>
            <a:endParaRPr sz="2175" b="0" dirty="0">
              <a:solidFill>
                <a:srgbClr val="252F38"/>
              </a:solidFill>
              <a:latin typeface="Arial"/>
              <a:ea typeface="Arial"/>
              <a:cs typeface="Arial"/>
            </a:endParaRPr>
          </a:p>
        </p:txBody>
      </p:sp>
      <p:sp>
        <p:nvSpPr>
          <p:cNvPr id="6" name="PPNR / CCAR Model Development Review&#10;September 24, 2026">
            <a:extLst>
              <a:ext uri="{FF2B5EF4-FFF2-40B4-BE49-F238E27FC236}">
                <a16:creationId xmlns:a16="http://schemas.microsoft.com/office/drawing/2014/main" id="{015241B9-DB50-4CF5-9750-4C00960542B9}"/>
              </a:ext>
            </a:extLst>
          </p:cNvPr>
          <p:cNvSpPr>
            <a:spLocks noGrp="1"/>
          </p:cNvSpPr>
          <p:nvPr/>
        </p:nvSpPr>
        <p:spPr>
          <a:xfrm>
            <a:off x="762000" y="5562600"/>
            <a:ext cx="10191750" cy="885825"/>
          </a:xfrm>
          <a:prstGeom prst="rect">
            <a:avLst/>
          </a:prstGeom>
          <a:noFill/>
          <a:ln w="0">
            <a:noFill/>
          </a:ln>
        </p:spPr>
        <p:txBody>
          <a:bodyPr wrap="square" lIns="0" tIns="0" rIns="0" bIns="0" anchor="t">
            <a:noAutofit/>
          </a:bodyPr>
          <a:lstStyle/>
          <a:p>
            <a:pPr algn="l">
              <a:buNone/>
              <a:defRPr sz="1800" b="0">
                <a:solidFill>
                  <a:srgbClr val="252F38"/>
                </a:solidFill>
                <a:latin typeface="Arial"/>
                <a:ea typeface="Arial"/>
                <a:cs typeface="Arial"/>
              </a:defRPr>
            </a:pPr>
            <a:r>
              <a:rPr sz="1800" b="0">
                <a:solidFill>
                  <a:srgbClr val="252F38"/>
                </a:solidFill>
                <a:latin typeface="Arial"/>
                <a:ea typeface="Arial"/>
                <a:cs typeface="Arial"/>
              </a:rPr>
              <a:t>In-sample: Jan 2011 to Sep 2023</a:t>
            </a:r>
          </a:p>
          <a:p>
            <a:pPr algn="l">
              <a:buNone/>
              <a:defRPr sz="1800" b="0">
                <a:solidFill>
                  <a:srgbClr val="252F38"/>
                </a:solidFill>
                <a:latin typeface="Arial"/>
                <a:ea typeface="Arial"/>
                <a:cs typeface="Arial"/>
              </a:defRPr>
            </a:pPr>
            <a:r>
              <a:rPr sz="1800" b="0">
                <a:solidFill>
                  <a:srgbClr val="252F38"/>
                </a:solidFill>
                <a:latin typeface="Arial"/>
                <a:ea typeface="Arial"/>
                <a:cs typeface="Arial"/>
              </a:rPr>
              <a:t>OOT: Oct 2023 to Dec 2025</a:t>
            </a:r>
          </a:p>
          <a:p>
            <a:pPr algn="l">
              <a:buNone/>
              <a:defRPr sz="1800" b="0">
                <a:solidFill>
                  <a:srgbClr val="252F38"/>
                </a:solidFill>
                <a:latin typeface="Arial"/>
                <a:ea typeface="Arial"/>
                <a:cs typeface="Arial"/>
              </a:defRPr>
            </a:pPr>
            <a:r>
              <a:rPr sz="1800" b="0">
                <a:solidFill>
                  <a:srgbClr val="252F38"/>
                </a:solidFill>
                <a:latin typeface="Arial"/>
                <a:ea typeface="Arial"/>
                <a:cs typeface="Arial"/>
              </a:rPr>
              <a:t>Forecast: Jan 2026 to Mar 2028</a:t>
            </a:r>
          </a:p>
        </p:txBody>
      </p:sp>
    </p:spTree>
    <p:extLst>
      <p:ext uri="{BB962C8B-B14F-4D97-AF65-F5344CB8AC3E}">
        <p14:creationId xmlns:p14="http://schemas.microsoft.com/office/powerpoint/2010/main" val="160939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2">
            <a:extLst>
              <a:ext uri="{FF2B5EF4-FFF2-40B4-BE49-F238E27FC236}">
                <a16:creationId xmlns:a16="http://schemas.microsoft.com/office/drawing/2014/main" id="{F0D91A24-D116-4E88-BC93-50C0AF618F29}"/>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a:t>
            </a:r>
          </a:p>
        </p:txBody>
      </p:sp>
      <p:sp>
        <p:nvSpPr>
          <p:cNvPr id="15" name="Slide title">
            <a:extLst>
              <a:ext uri="{FF2B5EF4-FFF2-40B4-BE49-F238E27FC236}">
                <a16:creationId xmlns:a16="http://schemas.microsoft.com/office/drawing/2014/main" id="{1020E64E-3CB5-43D2-BBEF-6780427C151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Executive Summary</a:t>
            </a:r>
          </a:p>
        </p:txBody>
      </p:sp>
      <p:sp>
        <p:nvSpPr>
          <p:cNvPr id="16" name="矩形 15">
            <a:extLst>
              <a:ext uri="{FF2B5EF4-FFF2-40B4-BE49-F238E27FC236}">
                <a16:creationId xmlns:a16="http://schemas.microsoft.com/office/drawing/2014/main" id="{35400FAB-DEF4-4E74-9978-1FC4DB5C1C78}"/>
              </a:ext>
            </a:extLst>
          </p:cNvPr>
          <p:cNvSpPr>
            <a:spLocks noGrp="1"/>
          </p:cNvSpPr>
          <p:nvPr/>
        </p:nvSpPr>
        <p:spPr>
          <a:xfrm>
            <a:off x="609600" y="13811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Model structure</a:t>
            </a:r>
          </a:p>
        </p:txBody>
      </p:sp>
      <p:sp>
        <p:nvSpPr>
          <p:cNvPr id="17" name="矩形 16">
            <a:extLst>
              <a:ext uri="{FF2B5EF4-FFF2-40B4-BE49-F238E27FC236}">
                <a16:creationId xmlns:a16="http://schemas.microsoft.com/office/drawing/2014/main" id="{11271032-6392-4873-B224-0E136E152C45}"/>
              </a:ext>
            </a:extLst>
          </p:cNvPr>
          <p:cNvSpPr>
            <a:spLocks noGrp="1"/>
          </p:cNvSpPr>
          <p:nvPr/>
        </p:nvSpPr>
        <p:spPr>
          <a:xfrm>
            <a:off x="609600" y="1819275"/>
            <a:ext cx="10972800" cy="742950"/>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CPI anchors the long-run level. The short-run equation uses adjusted EC, own growth lags 1 and 6, and corporate profit growth at lag 2.</a:t>
            </a:r>
          </a:p>
        </p:txBody>
      </p:sp>
      <p:sp>
        <p:nvSpPr>
          <p:cNvPr id="18" name="矩形 17">
            <a:extLst>
              <a:ext uri="{FF2B5EF4-FFF2-40B4-BE49-F238E27FC236}">
                <a16:creationId xmlns:a16="http://schemas.microsoft.com/office/drawing/2014/main" id="{3501DFFA-F942-4FE2-B0F1-4FC4B09E1907}"/>
              </a:ext>
            </a:extLst>
          </p:cNvPr>
          <p:cNvSpPr>
            <a:spLocks noGrp="1"/>
          </p:cNvSpPr>
          <p:nvPr/>
        </p:nvSpPr>
        <p:spPr>
          <a:xfrm>
            <a:off x="609600" y="2876550"/>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Scenario forecasts</a:t>
            </a:r>
          </a:p>
        </p:txBody>
      </p:sp>
      <p:sp>
        <p:nvSpPr>
          <p:cNvPr id="19" name="矩形 18">
            <a:extLst>
              <a:ext uri="{FF2B5EF4-FFF2-40B4-BE49-F238E27FC236}">
                <a16:creationId xmlns:a16="http://schemas.microsoft.com/office/drawing/2014/main" id="{F414CEB9-65A0-46A6-9D6E-1CF10E725563}"/>
              </a:ext>
            </a:extLst>
          </p:cNvPr>
          <p:cNvSpPr>
            <a:spLocks noGrp="1"/>
          </p:cNvSpPr>
          <p:nvPr/>
        </p:nvSpPr>
        <p:spPr>
          <a:xfrm>
            <a:off x="609600" y="3314700"/>
            <a:ext cx="10972800" cy="7334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By Mar 2028, baseline reaches 2,543.4 and S4 reaches 2,049.8. S4 is 493.6 below baseline, a difference of 19.4%.</a:t>
            </a:r>
          </a:p>
        </p:txBody>
      </p:sp>
      <p:graphicFrame>
        <p:nvGraphicFramePr>
          <p:cNvPr id="29" name="表格 28"/>
          <p:cNvGraphicFramePr/>
          <p:nvPr/>
        </p:nvGraphicFramePr>
        <p:xfrm>
          <a:off x="609600" y="4457700"/>
          <a:ext cx="10972800" cy="10477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23875">
                <a:tc>
                  <a:txBody>
                    <a:bodyPr/>
                    <a:lstStyle/>
                    <a:p>
                      <a:r>
                        <a:rPr sz="1950" b="1">
                          <a:solidFill>
                            <a:srgbClr val="FFFFFF"/>
                          </a:solidFill>
                          <a:latin typeface="Arial"/>
                          <a:ea typeface="Arial"/>
                          <a:cs typeface="Arial"/>
                        </a:rPr>
                        <a:t>Long-run R²</a:t>
                      </a:r>
                    </a:p>
                  </a:txBody>
                  <a:tcPr marL="85725" marR="66675" marT="38100" marB="38100" anchor="ctr">
                    <a:solidFill>
                      <a:srgbClr val="006C98"/>
                    </a:solidFill>
                  </a:tcPr>
                </a:tc>
                <a:tc>
                  <a:txBody>
                    <a:bodyPr/>
                    <a:lstStyle/>
                    <a:p>
                      <a:r>
                        <a:rPr sz="1950" b="1">
                          <a:solidFill>
                            <a:srgbClr val="FFFFFF"/>
                          </a:solidFill>
                          <a:latin typeface="Arial"/>
                          <a:ea typeface="Arial"/>
                          <a:cs typeface="Arial"/>
                        </a:rPr>
                        <a:t>Short-run adjusted R²</a:t>
                      </a:r>
                    </a:p>
                  </a:txBody>
                  <a:tcPr marL="85725" marR="66675" marT="38100" marB="38100" anchor="ctr">
                    <a:solidFill>
                      <a:srgbClr val="006C98"/>
                    </a:solidFill>
                  </a:tcPr>
                </a:tc>
                <a:tc>
                  <a:txBody>
                    <a:bodyPr/>
                    <a:lstStyle/>
                    <a:p>
                      <a:r>
                        <a:rPr sz="1950" b="1">
                          <a:solidFill>
                            <a:srgbClr val="FFFFFF"/>
                          </a:solidFill>
                          <a:latin typeface="Arial"/>
                          <a:ea typeface="Arial"/>
                          <a:cs typeface="Arial"/>
                        </a:rPr>
                        <a:t>IS MAPE</a:t>
                      </a:r>
                    </a:p>
                  </a:txBody>
                  <a:tcPr marL="85725" marR="66675" marT="38100" marB="38100" anchor="ctr">
                    <a:solidFill>
                      <a:srgbClr val="006C98"/>
                    </a:solidFill>
                  </a:tcPr>
                </a:tc>
                <a:extLst>
                  <a:ext uri="{0D108BD9-81ED-4DB2-BD59-A6C34878D82A}">
                    <a16:rowId xmlns:a16="http://schemas.microsoft.com/office/drawing/2014/main" val="10000"/>
                  </a:ext>
                </a:extLst>
              </a:tr>
              <a:tr h="523875">
                <a:tc>
                  <a:txBody>
                    <a:bodyPr/>
                    <a:lstStyle/>
                    <a:p>
                      <a:r>
                        <a:rPr sz="1950" b="0">
                          <a:solidFill>
                            <a:srgbClr val="252F38"/>
                          </a:solidFill>
                          <a:latin typeface="Arial"/>
                          <a:ea typeface="Arial"/>
                          <a:cs typeface="Arial"/>
                        </a:rPr>
                        <a:t>0.927</a:t>
                      </a:r>
                    </a:p>
                  </a:txBody>
                  <a:tcPr marL="85725" marR="66675" marT="38100" marB="38100" anchor="ctr">
                    <a:solidFill>
                      <a:srgbClr val="FFFFFF"/>
                    </a:solidFill>
                  </a:tcPr>
                </a:tc>
                <a:tc>
                  <a:txBody>
                    <a:bodyPr/>
                    <a:lstStyle/>
                    <a:p>
                      <a:r>
                        <a:rPr sz="1950"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950" b="0">
                          <a:solidFill>
                            <a:srgbClr val="252F38"/>
                          </a:solidFill>
                          <a:latin typeface="Arial"/>
                          <a:ea typeface="Arial"/>
                          <a:cs typeface="Arial"/>
                        </a:rPr>
                        <a:t>5.39%</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21" name="矩形 20">
            <a:extLst>
              <a:ext uri="{FF2B5EF4-FFF2-40B4-BE49-F238E27FC236}">
                <a16:creationId xmlns:a16="http://schemas.microsoft.com/office/drawing/2014/main" id="{19EB77F7-FC77-4386-A261-CE45FA50536D}"/>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OOT MAPE: 8.76% static and 16.16% dynamic. OOT also informs screening and overlay estimation.</a:t>
            </a:r>
          </a:p>
        </p:txBody>
      </p:sp>
    </p:spTree>
    <p:extLst>
      <p:ext uri="{BB962C8B-B14F-4D97-AF65-F5344CB8AC3E}">
        <p14:creationId xmlns:p14="http://schemas.microsoft.com/office/powerpoint/2010/main" val="73788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3</a:t>
            </a:r>
          </a:p>
        </p:txBody>
      </p:sp>
      <p:sp>
        <p:nvSpPr>
          <p:cNvPr id="12" name="Slide title">
            <a:extLst>
              <a:ext uri="{FF2B5EF4-FFF2-40B4-BE49-F238E27FC236}">
                <a16:creationId xmlns:a16="http://schemas.microsoft.com/office/drawing/2014/main" id="{40A9851E-6FC4-442F-A209-7E4D7A43860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Full-Sample Historical Fee Revenue</a:t>
            </a:r>
          </a:p>
        </p:txBody>
      </p:sp>
      <p:sp>
        <p:nvSpPr>
          <p:cNvPr id="13" name="矩形 12">
            <a:extLst>
              <a:ext uri="{FF2B5EF4-FFF2-40B4-BE49-F238E27FC236}">
                <a16:creationId xmlns:a16="http://schemas.microsoft.com/office/drawing/2014/main" id="{6BD3C878-9BF1-4066-B448-1D5C7704A063}"/>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Commercial Card + Small Business, Jan 2011 to Dec 2025 (180 months)</a:t>
            </a:r>
          </a:p>
        </p:txBody>
      </p:sp>
      <p:graphicFrame>
        <p:nvGraphicFramePr>
          <p:cNvPr id="20" name="Chart"/>
          <p:cNvGraphicFramePr/>
          <p:nvPr/>
        </p:nvGraphicFramePr>
        <p:xfrm>
          <a:off x="609600" y="1866900"/>
          <a:ext cx="109728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矩形 14">
            <a:extLst>
              <a:ext uri="{FF2B5EF4-FFF2-40B4-BE49-F238E27FC236}">
                <a16:creationId xmlns:a16="http://schemas.microsoft.com/office/drawing/2014/main" id="{BBEB1F09-E4CD-403F-99AB-D02852C94F9A}"/>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full history provides context for the model windows. Dec 2025 actual fee revenue is 1,887.</a:t>
            </a:r>
          </a:p>
        </p:txBody>
      </p:sp>
    </p:spTree>
    <p:extLst>
      <p:ext uri="{BB962C8B-B14F-4D97-AF65-F5344CB8AC3E}">
        <p14:creationId xmlns:p14="http://schemas.microsoft.com/office/powerpoint/2010/main" val="1557811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4">
            <a:extLst>
              <a:ext uri="{FF2B5EF4-FFF2-40B4-BE49-F238E27FC236}">
                <a16:creationId xmlns:a16="http://schemas.microsoft.com/office/drawing/2014/main" id="{2CE2D929-FC26-4CFA-A6BB-A17F71A91A59}"/>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4</a:t>
            </a:r>
          </a:p>
        </p:txBody>
      </p:sp>
      <p:sp>
        <p:nvSpPr>
          <p:cNvPr id="14" name="Slide title">
            <a:extLst>
              <a:ext uri="{FF2B5EF4-FFF2-40B4-BE49-F238E27FC236}">
                <a16:creationId xmlns:a16="http://schemas.microsoft.com/office/drawing/2014/main" id="{08DC91C7-814C-40F1-AAC4-8C018138E11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Study Windows and Target Definition</a:t>
            </a:r>
          </a:p>
        </p:txBody>
      </p:sp>
      <p:sp>
        <p:nvSpPr>
          <p:cNvPr id="15" name="矩形 14">
            <a:extLst>
              <a:ext uri="{FF2B5EF4-FFF2-40B4-BE49-F238E27FC236}">
                <a16:creationId xmlns:a16="http://schemas.microsoft.com/office/drawing/2014/main" id="{583E3F24-D50D-4B84-AEDB-1A0BB19DA3C5}"/>
              </a:ext>
            </a:extLst>
          </p:cNvPr>
          <p:cNvSpPr>
            <a:spLocks noGrp="1"/>
          </p:cNvSpPr>
          <p:nvPr/>
        </p:nvSpPr>
        <p:spPr>
          <a:xfrm>
            <a:off x="609600" y="1400175"/>
            <a:ext cx="10972800" cy="419100"/>
          </a:xfrm>
          <a:prstGeom prst="rect">
            <a:avLst/>
          </a:prstGeom>
          <a:noFill/>
          <a:ln w="0">
            <a:noFill/>
          </a:ln>
        </p:spPr>
        <p:txBody>
          <a:bodyPr anchor="t">
            <a:noAutofit/>
          </a:bodyPr>
          <a:lstStyle/>
          <a:p>
            <a:pPr>
              <a:buNone/>
              <a:defRPr sz="2175" b="1">
                <a:solidFill>
                  <a:srgbClr val="00476B"/>
                </a:solidFill>
                <a:latin typeface="Arial"/>
                <a:ea typeface="Arial"/>
                <a:cs typeface="Arial"/>
              </a:defRPr>
            </a:pPr>
            <a:r>
              <a:rPr sz="2175" b="1">
                <a:solidFill>
                  <a:srgbClr val="00476B"/>
                </a:solidFill>
                <a:latin typeface="Arial"/>
                <a:ea typeface="Arial"/>
                <a:cs typeface="Arial"/>
              </a:rPr>
              <a:t>Combined(t) = Commercial Card(t) + Small Business(t)</a:t>
            </a:r>
          </a:p>
        </p:txBody>
      </p:sp>
      <p:sp>
        <p:nvSpPr>
          <p:cNvPr id="16" name="矩形 15">
            <a:extLst>
              <a:ext uri="{FF2B5EF4-FFF2-40B4-BE49-F238E27FC236}">
                <a16:creationId xmlns:a16="http://schemas.microsoft.com/office/drawing/2014/main" id="{9D7F78B4-4909-4CCA-8088-598C88932731}"/>
              </a:ext>
            </a:extLst>
          </p:cNvPr>
          <p:cNvSpPr>
            <a:spLocks noGrp="1"/>
          </p:cNvSpPr>
          <p:nvPr/>
        </p:nvSpPr>
        <p:spPr>
          <a:xfrm>
            <a:off x="609600" y="1971675"/>
            <a:ext cx="10972800" cy="428625"/>
          </a:xfrm>
          <a:prstGeom prst="rect">
            <a:avLst/>
          </a:prstGeom>
          <a:noFill/>
          <a:ln w="0">
            <a:noFill/>
          </a:ln>
        </p:spPr>
        <p:txBody>
          <a:bodyPr anchor="t">
            <a:noAutofit/>
          </a:bodyPr>
          <a:lstStyle/>
          <a:p>
            <a:pPr>
              <a:buNone/>
              <a:defRPr sz="2175" b="0">
                <a:solidFill>
                  <a:srgbClr val="252F38"/>
                </a:solidFill>
                <a:latin typeface="Arial"/>
                <a:ea typeface="Arial"/>
                <a:cs typeface="Arial"/>
              </a:defRPr>
            </a:pPr>
            <a:r>
              <a:rPr sz="2175" b="0">
                <a:solidFill>
                  <a:srgbClr val="252F38"/>
                </a:solidFill>
                <a:latin typeface="Arial"/>
                <a:ea typeface="Arial"/>
                <a:cs typeface="Arial"/>
              </a:rPr>
              <a:t>y(t) = 100 × [Combined(t) / Combined(t − 12) − 1]</a:t>
            </a:r>
          </a:p>
        </p:txBody>
      </p:sp>
      <p:graphicFrame>
        <p:nvGraphicFramePr>
          <p:cNvPr id="24" name="表格 23"/>
          <p:cNvGraphicFramePr/>
          <p:nvPr>
            <p:extLst>
              <p:ext uri="{D42A27DB-BD31-4B8C-83A1-F6EECF244321}">
                <p14:modId xmlns:p14="http://schemas.microsoft.com/office/powerpoint/2010/main" val="4252861653"/>
              </p:ext>
            </p:extLst>
          </p:nvPr>
        </p:nvGraphicFramePr>
        <p:xfrm>
          <a:off x="609600" y="2867025"/>
          <a:ext cx="10972800" cy="2619375"/>
        </p:xfrm>
        <a:graphic>
          <a:graphicData uri="http://schemas.openxmlformats.org/drawingml/2006/table">
            <a:tbl>
              <a:tblPr/>
              <a:tblGrid>
                <a:gridCol w="23812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5162550">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Window</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Period</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Observations / use</a:t>
                      </a:r>
                    </a:p>
                  </a:txBody>
                  <a:tcPr marL="85725" marR="66675" marT="38100" marB="38100" anchor="ctr">
                    <a:solidFill>
                      <a:srgbClr val="006C98"/>
                    </a:solidFill>
                  </a:tcPr>
                </a:tc>
                <a:extLst>
                  <a:ext uri="{0D108BD9-81ED-4DB2-BD59-A6C34878D82A}">
                    <a16:rowId xmlns:a16="http://schemas.microsoft.com/office/drawing/2014/main" val="10000"/>
                  </a:ext>
                </a:extLst>
              </a:tr>
              <a:tr h="523875">
                <a:tc>
                  <a:txBody>
                    <a:bodyPr/>
                    <a:lstStyle/>
                    <a:p>
                      <a:r>
                        <a:rPr sz="1725" b="0">
                          <a:solidFill>
                            <a:srgbClr val="252F38"/>
                          </a:solidFill>
                          <a:latin typeface="Arial"/>
                          <a:ea typeface="Arial"/>
                          <a:cs typeface="Arial"/>
                        </a:rPr>
                        <a:t>Long-run IS</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Jan 2011–Sep 2023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153 monthly observations</a:t>
                      </a:r>
                    </a:p>
                  </a:txBody>
                  <a:tcPr marL="85725" marR="66675" marT="38100" marB="38100" anchor="ctr">
                    <a:solidFill>
                      <a:srgbClr val="FFFFFF"/>
                    </a:solidFill>
                  </a:tcPr>
                </a:tc>
                <a:extLst>
                  <a:ext uri="{0D108BD9-81ED-4DB2-BD59-A6C34878D82A}">
                    <a16:rowId xmlns:a16="http://schemas.microsoft.com/office/drawing/2014/main" val="10001"/>
                  </a:ext>
                </a:extLst>
              </a:tr>
              <a:tr h="523875">
                <a:tc>
                  <a:txBody>
                    <a:bodyPr/>
                    <a:lstStyle/>
                    <a:p>
                      <a:r>
                        <a:rPr sz="1725" b="0">
                          <a:solidFill>
                            <a:srgbClr val="252F38"/>
                          </a:solidFill>
                          <a:latin typeface="Arial"/>
                          <a:ea typeface="Arial"/>
                          <a:cs typeface="Arial"/>
                        </a:rPr>
                        <a:t>Short-run IS</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Jul 2012–Sep 2023</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135 after transformations and lags</a:t>
                      </a:r>
                    </a:p>
                  </a:txBody>
                  <a:tcPr marL="85725" marR="66675" marT="38100" marB="38100" anchor="ctr">
                    <a:solidFill>
                      <a:srgbClr val="F3F5F6"/>
                    </a:solidFill>
                  </a:tcPr>
                </a:tc>
                <a:extLst>
                  <a:ext uri="{0D108BD9-81ED-4DB2-BD59-A6C34878D82A}">
                    <a16:rowId xmlns:a16="http://schemas.microsoft.com/office/drawing/2014/main" val="10002"/>
                  </a:ext>
                </a:extLst>
              </a:tr>
              <a:tr h="523875">
                <a:tc>
                  <a:txBody>
                    <a:bodyPr/>
                    <a:lstStyle/>
                    <a:p>
                      <a:r>
                        <a:rPr sz="1725" b="0">
                          <a:solidFill>
                            <a:srgbClr val="252F38"/>
                          </a:solidFill>
                          <a:latin typeface="Arial"/>
                          <a:ea typeface="Arial"/>
                          <a:cs typeface="Arial"/>
                        </a:rPr>
                        <a:t>OOT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Oct 2023–Dec 2025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27 months, fitted backtest</a:t>
                      </a:r>
                    </a:p>
                  </a:txBody>
                  <a:tcPr marL="85725" marR="66675" marT="38100" marB="38100" anchor="ctr">
                    <a:solidFill>
                      <a:srgbClr val="FFFFFF"/>
                    </a:solidFill>
                  </a:tcPr>
                </a:tc>
                <a:extLst>
                  <a:ext uri="{0D108BD9-81ED-4DB2-BD59-A6C34878D82A}">
                    <a16:rowId xmlns:a16="http://schemas.microsoft.com/office/drawing/2014/main" val="10003"/>
                  </a:ext>
                </a:extLst>
              </a:tr>
              <a:tr h="523875">
                <a:tc>
                  <a:txBody>
                    <a:bodyPr/>
                    <a:lstStyle/>
                    <a:p>
                      <a:r>
                        <a:rPr sz="1725" b="0">
                          <a:solidFill>
                            <a:srgbClr val="252F38"/>
                          </a:solidFill>
                          <a:latin typeface="Arial"/>
                          <a:ea typeface="Arial"/>
                          <a:cs typeface="Arial"/>
                        </a:rPr>
                        <a:t>Forecast</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Jan 2026–Mar 2028</a:t>
                      </a:r>
                    </a:p>
                  </a:txBody>
                  <a:tcPr marL="85725" marR="66675" marT="38100" marB="38100" anchor="ctr">
                    <a:solidFill>
                      <a:srgbClr val="F3F5F6"/>
                    </a:solidFill>
                  </a:tcPr>
                </a:tc>
                <a:tc>
                  <a:txBody>
                    <a:bodyPr/>
                    <a:lstStyle/>
                    <a:p>
                      <a:r>
                        <a:rPr sz="1725" b="0" dirty="0">
                          <a:solidFill>
                            <a:srgbClr val="252F38"/>
                          </a:solidFill>
                          <a:latin typeface="Arial"/>
                          <a:ea typeface="Arial"/>
                          <a:cs typeface="Arial"/>
                        </a:rPr>
                        <a:t>27 months, </a:t>
                      </a:r>
                      <a:r>
                        <a:rPr lang="en-US" sz="1725" b="0" dirty="0">
                          <a:solidFill>
                            <a:srgbClr val="252F38"/>
                          </a:solidFill>
                          <a:latin typeface="Arial"/>
                          <a:ea typeface="Arial"/>
                          <a:cs typeface="Arial"/>
                        </a:rPr>
                        <a:t>under </a:t>
                      </a:r>
                      <a:r>
                        <a:rPr sz="1725" b="0" dirty="0">
                          <a:solidFill>
                            <a:srgbClr val="252F38"/>
                          </a:solidFill>
                          <a:latin typeface="Arial"/>
                          <a:ea typeface="Arial"/>
                          <a:cs typeface="Arial"/>
                        </a:rPr>
                        <a:t>baseline and S4</a:t>
                      </a:r>
                      <a:r>
                        <a:rPr lang="en-US" sz="1725" b="0" dirty="0">
                          <a:solidFill>
                            <a:srgbClr val="252F38"/>
                          </a:solidFill>
                          <a:latin typeface="Arial"/>
                          <a:ea typeface="Arial"/>
                          <a:cs typeface="Arial"/>
                        </a:rPr>
                        <a:t> Macor path</a:t>
                      </a:r>
                      <a:endParaRPr sz="1725" b="0" dirty="0">
                        <a:solidFill>
                          <a:srgbClr val="252F38"/>
                        </a:solidFill>
                        <a:latin typeface="Arial"/>
                        <a:ea typeface="Arial"/>
                        <a:cs typeface="Arial"/>
                      </a:endParaRP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sp>
        <p:nvSpPr>
          <p:cNvPr id="18" name="矩形 17">
            <a:extLst>
              <a:ext uri="{FF2B5EF4-FFF2-40B4-BE49-F238E27FC236}">
                <a16:creationId xmlns:a16="http://schemas.microsoft.com/office/drawing/2014/main" id="{C9FF669E-716B-4912-987B-6D0DEE3DAAE6}"/>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Both scenarios start from the same Dec 2025 actuals and use identical model coefficients.</a:t>
            </a:r>
          </a:p>
        </p:txBody>
      </p:sp>
    </p:spTree>
    <p:extLst>
      <p:ext uri="{BB962C8B-B14F-4D97-AF65-F5344CB8AC3E}">
        <p14:creationId xmlns:p14="http://schemas.microsoft.com/office/powerpoint/2010/main" val="123975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6">
            <a:extLst>
              <a:ext uri="{FF2B5EF4-FFF2-40B4-BE49-F238E27FC236}">
                <a16:creationId xmlns:a16="http://schemas.microsoft.com/office/drawing/2014/main" id="{F8A26AF4-9209-48C1-A217-C41406238275}"/>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5</a:t>
            </a:r>
          </a:p>
        </p:txBody>
      </p:sp>
      <p:sp>
        <p:nvSpPr>
          <p:cNvPr id="15" name="Slide title">
            <a:extLst>
              <a:ext uri="{FF2B5EF4-FFF2-40B4-BE49-F238E27FC236}">
                <a16:creationId xmlns:a16="http://schemas.microsoft.com/office/drawing/2014/main" id="{214FF613-7955-42AC-84D7-34D219924B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Two-Step Modeling Framework</a:t>
            </a:r>
          </a:p>
        </p:txBody>
      </p:sp>
      <p:sp>
        <p:nvSpPr>
          <p:cNvPr id="16" name="矩形 15">
            <a:extLst>
              <a:ext uri="{FF2B5EF4-FFF2-40B4-BE49-F238E27FC236}">
                <a16:creationId xmlns:a16="http://schemas.microsoft.com/office/drawing/2014/main" id="{BDFC64FD-DFA1-4186-9A98-A77616AAF34C}"/>
              </a:ext>
            </a:extLst>
          </p:cNvPr>
          <p:cNvSpPr>
            <a:spLocks noGrp="1"/>
          </p:cNvSpPr>
          <p:nvPr/>
        </p:nvSpPr>
        <p:spPr>
          <a:xfrm>
            <a:off x="609600" y="140017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Step 1: Long-run level relationship</a:t>
            </a:r>
          </a:p>
        </p:txBody>
      </p:sp>
      <p:sp>
        <p:nvSpPr>
          <p:cNvPr id="17" name="矩形 16">
            <a:extLst>
              <a:ext uri="{FF2B5EF4-FFF2-40B4-BE49-F238E27FC236}">
                <a16:creationId xmlns:a16="http://schemas.microsoft.com/office/drawing/2014/main" id="{D0C97227-2D06-4D49-9784-2DC71E24DE1E}"/>
              </a:ext>
            </a:extLst>
          </p:cNvPr>
          <p:cNvSpPr>
            <a:spLocks noGrp="1"/>
          </p:cNvSpPr>
          <p:nvPr/>
        </p:nvSpPr>
        <p:spPr>
          <a:xfrm>
            <a:off x="609600" y="1819275"/>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Select CPI from the I(1) candidates. Estimate the fee level and calculate the error-correction residual.</a:t>
            </a:r>
          </a:p>
        </p:txBody>
      </p:sp>
      <p:sp>
        <p:nvSpPr>
          <p:cNvPr id="18" name="矩形 17">
            <a:extLst>
              <a:ext uri="{FF2B5EF4-FFF2-40B4-BE49-F238E27FC236}">
                <a16:creationId xmlns:a16="http://schemas.microsoft.com/office/drawing/2014/main" id="{C74A5DD0-420B-423C-9A36-1C475909B2DA}"/>
              </a:ext>
            </a:extLst>
          </p:cNvPr>
          <p:cNvSpPr>
            <a:spLocks noGrp="1"/>
          </p:cNvSpPr>
          <p:nvPr/>
        </p:nvSpPr>
        <p:spPr>
          <a:xfrm>
            <a:off x="609600" y="2857500"/>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EC scaling and overlay</a:t>
            </a:r>
          </a:p>
        </p:txBody>
      </p:sp>
      <p:sp>
        <p:nvSpPr>
          <p:cNvPr id="19" name="矩形 18">
            <a:extLst>
              <a:ext uri="{FF2B5EF4-FFF2-40B4-BE49-F238E27FC236}">
                <a16:creationId xmlns:a16="http://schemas.microsoft.com/office/drawing/2014/main" id="{46CA96E1-423C-403F-ACDE-86F6658937CC}"/>
              </a:ext>
            </a:extLst>
          </p:cNvPr>
          <p:cNvSpPr>
            <a:spLocks noGrp="1"/>
          </p:cNvSpPr>
          <p:nvPr/>
        </p:nvSpPr>
        <p:spPr>
          <a:xfrm>
            <a:off x="609600" y="3276600"/>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dirty="0">
                <a:solidFill>
                  <a:srgbClr val="252F38"/>
                </a:solidFill>
                <a:latin typeface="Arial"/>
                <a:ea typeface="Arial"/>
                <a:cs typeface="Arial"/>
              </a:rPr>
              <a:t>Scale EC by the contemporaneous long-run fitted value. Remove the fitted trend over the 27-month OOT window.</a:t>
            </a:r>
          </a:p>
        </p:txBody>
      </p:sp>
      <p:sp>
        <p:nvSpPr>
          <p:cNvPr id="20" name="矩形 19">
            <a:extLst>
              <a:ext uri="{FF2B5EF4-FFF2-40B4-BE49-F238E27FC236}">
                <a16:creationId xmlns:a16="http://schemas.microsoft.com/office/drawing/2014/main" id="{A5264D39-A364-4D2D-953C-DC226266995E}"/>
              </a:ext>
            </a:extLst>
          </p:cNvPr>
          <p:cNvSpPr>
            <a:spLocks noGrp="1"/>
          </p:cNvSpPr>
          <p:nvPr/>
        </p:nvSpPr>
        <p:spPr>
          <a:xfrm>
            <a:off x="609600" y="43148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Step 2: Short-run dynamics and forecasts</a:t>
            </a:r>
          </a:p>
        </p:txBody>
      </p:sp>
      <p:sp>
        <p:nvSpPr>
          <p:cNvPr id="21" name="矩形 20">
            <a:extLst>
              <a:ext uri="{FF2B5EF4-FFF2-40B4-BE49-F238E27FC236}">
                <a16:creationId xmlns:a16="http://schemas.microsoft.com/office/drawing/2014/main" id="{FFFA1AD2-9795-4984-ADAB-589DF31FAD30}"/>
              </a:ext>
            </a:extLst>
          </p:cNvPr>
          <p:cNvSpPr>
            <a:spLocks noGrp="1"/>
          </p:cNvSpPr>
          <p:nvPr/>
        </p:nvSpPr>
        <p:spPr>
          <a:xfrm>
            <a:off x="609600" y="4733925"/>
            <a:ext cx="10972800" cy="79057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Screen macro terms in IS and OOT, then select predictors of YoY fee growth. Update forecast levels and lagged inputs recursively.</a:t>
            </a:r>
          </a:p>
        </p:txBody>
      </p:sp>
      <p:sp>
        <p:nvSpPr>
          <p:cNvPr id="22" name="矩形 21">
            <a:extLst>
              <a:ext uri="{FF2B5EF4-FFF2-40B4-BE49-F238E27FC236}">
                <a16:creationId xmlns:a16="http://schemas.microsoft.com/office/drawing/2014/main" id="{14177AB4-BFCD-425D-BEAD-A34CFCED2121}"/>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long-run equation anchors levels. The short-run equation models growth dynamics.</a:t>
            </a:r>
          </a:p>
        </p:txBody>
      </p:sp>
    </p:spTree>
    <p:extLst>
      <p:ext uri="{BB962C8B-B14F-4D97-AF65-F5344CB8AC3E}">
        <p14:creationId xmlns:p14="http://schemas.microsoft.com/office/powerpoint/2010/main" val="44696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1">
            <a:extLst>
              <a:ext uri="{FF2B5EF4-FFF2-40B4-BE49-F238E27FC236}">
                <a16:creationId xmlns:a16="http://schemas.microsoft.com/office/drawing/2014/main" id="{5BD6D01F-AFE8-4F33-A913-C03A3940090E}"/>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6</a:t>
            </a:r>
          </a:p>
        </p:txBody>
      </p:sp>
      <p:sp>
        <p:nvSpPr>
          <p:cNvPr id="14" name="Slide title">
            <a:extLst>
              <a:ext uri="{FF2B5EF4-FFF2-40B4-BE49-F238E27FC236}">
                <a16:creationId xmlns:a16="http://schemas.microsoft.com/office/drawing/2014/main" id="{2BFF7FA9-A337-45C3-B19E-926DF76EC39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Step 1: Long-Run Level Equation</a:t>
            </a:r>
          </a:p>
        </p:txBody>
      </p:sp>
      <p:sp>
        <p:nvSpPr>
          <p:cNvPr id="15" name="矩形 14">
            <a:extLst>
              <a:ext uri="{FF2B5EF4-FFF2-40B4-BE49-F238E27FC236}">
                <a16:creationId xmlns:a16="http://schemas.microsoft.com/office/drawing/2014/main" id="{A804C755-BDDA-4659-B27D-9CD7A328701C}"/>
              </a:ext>
            </a:extLst>
          </p:cNvPr>
          <p:cNvSpPr>
            <a:spLocks noGrp="1"/>
          </p:cNvSpPr>
          <p:nvPr/>
        </p:nvSpPr>
        <p:spPr>
          <a:xfrm>
            <a:off x="609600" y="1381125"/>
            <a:ext cx="10972800" cy="457200"/>
          </a:xfrm>
          <a:prstGeom prst="rect">
            <a:avLst/>
          </a:prstGeom>
          <a:noFill/>
          <a:ln w="0">
            <a:noFill/>
          </a:ln>
        </p:spPr>
        <p:txBody>
          <a:bodyPr anchor="t">
            <a:noAutofit/>
          </a:bodyPr>
          <a:lstStyle/>
          <a:p>
            <a:pPr>
              <a:buNone/>
              <a:defRPr sz="2325" b="1">
                <a:solidFill>
                  <a:srgbClr val="00476B"/>
                </a:solidFill>
                <a:latin typeface="Arial"/>
                <a:ea typeface="Arial"/>
                <a:cs typeface="Arial"/>
              </a:defRPr>
            </a:pPr>
            <a:r>
              <a:rPr sz="2325" b="1">
                <a:solidFill>
                  <a:srgbClr val="00476B"/>
                </a:solidFill>
                <a:latin typeface="Arial"/>
                <a:ea typeface="Arial"/>
                <a:cs typeface="Arial"/>
              </a:rPr>
              <a:t>Combined(t) = −3,386.96 + 19.42 × CPI(t) + u(t)</a:t>
            </a:r>
          </a:p>
        </p:txBody>
      </p:sp>
      <p:sp>
        <p:nvSpPr>
          <p:cNvPr id="16" name="矩形 15">
            <a:extLst>
              <a:ext uri="{FF2B5EF4-FFF2-40B4-BE49-F238E27FC236}">
                <a16:creationId xmlns:a16="http://schemas.microsoft.com/office/drawing/2014/main" id="{0306EB73-F231-4A79-9B0E-B738873BC5DA}"/>
              </a:ext>
            </a:extLst>
          </p:cNvPr>
          <p:cNvSpPr>
            <a:spLocks noGrp="1"/>
          </p:cNvSpPr>
          <p:nvPr/>
        </p:nvSpPr>
        <p:spPr>
          <a:xfrm>
            <a:off x="609600" y="2009775"/>
            <a:ext cx="10972800" cy="657225"/>
          </a:xfrm>
          <a:prstGeom prst="rect">
            <a:avLst/>
          </a:prstGeom>
          <a:noFill/>
          <a:ln w="0">
            <a:noFill/>
          </a:ln>
        </p:spPr>
        <p:txBody>
          <a:bodyPr anchor="t">
            <a:noAutofit/>
          </a:bodyPr>
          <a:lstStyle/>
          <a:p>
            <a:pPr>
              <a:buNone/>
              <a:defRPr sz="1800" b="0">
                <a:solidFill>
                  <a:srgbClr val="252F38"/>
                </a:solidFill>
                <a:latin typeface="Arial"/>
                <a:ea typeface="Arial"/>
                <a:cs typeface="Arial"/>
              </a:defRPr>
            </a:pPr>
            <a:r>
              <a:rPr sz="1800" b="0">
                <a:solidFill>
                  <a:srgbClr val="252F38"/>
                </a:solidFill>
                <a:latin typeface="Arial"/>
                <a:ea typeface="Arial"/>
                <a:cs typeface="Arial"/>
              </a:rPr>
              <a:t>Candidate pool: CPI, DPI, GDP_Wholesale, CorpProfits, DJ_TotalMkt. SBOpt is excluded.</a:t>
            </a:r>
          </a:p>
        </p:txBody>
      </p:sp>
      <p:graphicFrame>
        <p:nvGraphicFramePr>
          <p:cNvPr id="26" name="表格 25"/>
          <p:cNvGraphicFramePr/>
          <p:nvPr/>
        </p:nvGraphicFramePr>
        <p:xfrm>
          <a:off x="609600" y="2867025"/>
          <a:ext cx="10972800" cy="1476375"/>
        </p:xfrm>
        <a:graphic>
          <a:graphicData uri="http://schemas.openxmlformats.org/drawingml/2006/table">
            <a:tbl>
              <a:tblPr/>
              <a:tblGrid>
                <a:gridCol w="1428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2914650">
                  <a:extLst>
                    <a:ext uri="{9D8B030D-6E8A-4147-A177-3AD203B41FA5}">
                      <a16:colId xmlns:a16="http://schemas.microsoft.com/office/drawing/2014/main" val="20002"/>
                    </a:ext>
                  </a:extLst>
                </a:gridCol>
                <a:gridCol w="2914650">
                  <a:extLst>
                    <a:ext uri="{9D8B030D-6E8A-4147-A177-3AD203B41FA5}">
                      <a16:colId xmlns:a16="http://schemas.microsoft.com/office/drawing/2014/main" val="20003"/>
                    </a:ext>
                  </a:extLst>
                </a:gridCol>
              </a:tblGrid>
              <a:tr h="492125">
                <a:tc>
                  <a:txBody>
                    <a:bodyPr/>
                    <a:lstStyle/>
                    <a:p>
                      <a:r>
                        <a:rPr sz="1800" b="1">
                          <a:solidFill>
                            <a:srgbClr val="FFFFFF"/>
                          </a:solidFill>
                          <a:latin typeface="Arial"/>
                          <a:ea typeface="Arial"/>
                          <a:cs typeface="Arial"/>
                        </a:rPr>
                        <a:t>Round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Variable added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Adjusted R²</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p-value</a:t>
                      </a:r>
                    </a:p>
                  </a:txBody>
                  <a:tcPr marL="85725" marR="66675" marT="38100" marB="38100" anchor="ctr">
                    <a:solidFill>
                      <a:srgbClr val="006C98"/>
                    </a:solidFill>
                  </a:tcPr>
                </a:tc>
                <a:extLst>
                  <a:ext uri="{0D108BD9-81ED-4DB2-BD59-A6C34878D82A}">
                    <a16:rowId xmlns:a16="http://schemas.microsoft.com/office/drawing/2014/main" val="10000"/>
                  </a:ext>
                </a:extLst>
              </a:tr>
              <a:tr h="492125">
                <a:tc>
                  <a:txBody>
                    <a:bodyPr/>
                    <a:lstStyle/>
                    <a:p>
                      <a:r>
                        <a:rPr sz="1800" b="0">
                          <a:solidFill>
                            <a:srgbClr val="252F38"/>
                          </a:solidFill>
                          <a:latin typeface="Arial"/>
                          <a:ea typeface="Arial"/>
                          <a:cs typeface="Arial"/>
                        </a:rPr>
                        <a:t>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CPI</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0.927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1"/>
                  </a:ext>
                </a:extLst>
              </a:tr>
              <a:tr h="492125">
                <a:tc>
                  <a:txBody>
                    <a:bodyPr/>
                    <a:lstStyle/>
                    <a:p>
                      <a:r>
                        <a:rPr sz="1800" b="0">
                          <a:solidFill>
                            <a:srgbClr val="252F38"/>
                          </a:solidFill>
                          <a:latin typeface="Arial"/>
                          <a:ea typeface="Arial"/>
                          <a:cs typeface="Arial"/>
                        </a:rPr>
                        <a:t>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None</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a:t>
                      </a:r>
                    </a:p>
                  </a:txBody>
                  <a:tcPr marL="85725" marR="66675" marT="38100" marB="38100" anchor="ctr">
                    <a:solidFill>
                      <a:srgbClr val="F3F5F6"/>
                    </a:solidFill>
                  </a:tcPr>
                </a:tc>
                <a:extLst>
                  <a:ext uri="{0D108BD9-81ED-4DB2-BD59-A6C34878D82A}">
                    <a16:rowId xmlns:a16="http://schemas.microsoft.com/office/drawing/2014/main" val="10002"/>
                  </a:ext>
                </a:extLst>
              </a:tr>
            </a:tbl>
          </a:graphicData>
        </a:graphic>
      </p:graphicFrame>
      <p:graphicFrame>
        <p:nvGraphicFramePr>
          <p:cNvPr id="27" name="表格 26"/>
          <p:cNvGraphicFramePr/>
          <p:nvPr/>
        </p:nvGraphicFramePr>
        <p:xfrm>
          <a:off x="609600" y="4667250"/>
          <a:ext cx="10972800" cy="9525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6250">
                <a:tc>
                  <a:txBody>
                    <a:bodyPr/>
                    <a:lstStyle/>
                    <a:p>
                      <a:r>
                        <a:rPr sz="1800" b="1">
                          <a:solidFill>
                            <a:srgbClr val="FFFFFF"/>
                          </a:solidFill>
                          <a:latin typeface="Arial"/>
                          <a:ea typeface="Arial"/>
                          <a:cs typeface="Arial"/>
                        </a:rPr>
                        <a:t>Observations</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R² / adjusted R²</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Residual ADF p-value</a:t>
                      </a:r>
                    </a:p>
                  </a:txBody>
                  <a:tcPr marL="85725" marR="66675" marT="38100" marB="38100" anchor="ctr">
                    <a:solidFill>
                      <a:srgbClr val="006C98"/>
                    </a:solidFill>
                  </a:tcPr>
                </a:tc>
                <a:extLst>
                  <a:ext uri="{0D108BD9-81ED-4DB2-BD59-A6C34878D82A}">
                    <a16:rowId xmlns:a16="http://schemas.microsoft.com/office/drawing/2014/main" val="10000"/>
                  </a:ext>
                </a:extLst>
              </a:tr>
              <a:tr h="476250">
                <a:tc>
                  <a:txBody>
                    <a:bodyPr/>
                    <a:lstStyle/>
                    <a:p>
                      <a:r>
                        <a:rPr sz="1800" b="0">
                          <a:solidFill>
                            <a:srgbClr val="252F38"/>
                          </a:solidFill>
                          <a:latin typeface="Arial"/>
                          <a:ea typeface="Arial"/>
                          <a:cs typeface="Arial"/>
                        </a:rPr>
                        <a:t>153</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0.927 / 0.927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0.0091</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9" name="矩形 18">
            <a:extLst>
              <a:ext uri="{FF2B5EF4-FFF2-40B4-BE49-F238E27FC236}">
                <a16:creationId xmlns:a16="http://schemas.microsoft.com/office/drawing/2014/main" id="{B6778573-5334-4E66-87C3-16536259BF5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After CPI enters, no other candidate meets both significance and VIF criteria.</a:t>
            </a:r>
          </a:p>
        </p:txBody>
      </p:sp>
    </p:spTree>
    <p:extLst>
      <p:ext uri="{BB962C8B-B14F-4D97-AF65-F5344CB8AC3E}">
        <p14:creationId xmlns:p14="http://schemas.microsoft.com/office/powerpoint/2010/main" val="15663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7</a:t>
            </a:r>
          </a:p>
        </p:txBody>
      </p:sp>
      <p:sp>
        <p:nvSpPr>
          <p:cNvPr id="13" name="矩形 12">
            <a:extLst>
              <a:ext uri="{FF2B5EF4-FFF2-40B4-BE49-F238E27FC236}">
                <a16:creationId xmlns:a16="http://schemas.microsoft.com/office/drawing/2014/main" id="{1A7D4C53-F7E9-4045-A2F5-C6F5AACB16F6}"/>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Frozen Sep 2023 long-run fit versus actual fee. OOT begins Oct 2023.</a:t>
            </a:r>
          </a:p>
        </p:txBody>
      </p:sp>
      <p:sp>
        <p:nvSpPr>
          <p:cNvPr id="15" name="矩形 14">
            <a:extLst>
              <a:ext uri="{FF2B5EF4-FFF2-40B4-BE49-F238E27FC236}">
                <a16:creationId xmlns:a16="http://schemas.microsoft.com/office/drawing/2014/main" id="{11482D87-EB50-4FDC-B470-6EAA3205FF8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Mean long-run gap (actual − fitted): approximately 0 in IS and −514.39 source units in OOT.</a:t>
            </a:r>
          </a:p>
        </p:txBody>
      </p:sp>
      <p:sp>
        <p:nvSpPr>
          <p:cNvPr id="16" name="矩形 15">
            <a:extLst>
              <a:ext uri="{FF2B5EF4-FFF2-40B4-BE49-F238E27FC236}">
                <a16:creationId xmlns:a16="http://schemas.microsoft.com/office/drawing/2014/main" id="{E0932E7F-F176-4BA7-99E2-464F55C86B2D}"/>
              </a:ext>
            </a:extLst>
          </p:cNvPr>
          <p:cNvSpPr>
            <a:spLocks noGrp="1"/>
          </p:cNvSpPr>
          <p:nvPr/>
        </p:nvSpPr>
        <p:spPr>
          <a:xfrm>
            <a:off x="590550" y="514350"/>
            <a:ext cx="11001375" cy="647700"/>
          </a:xfrm>
          <a:prstGeom prst="rect">
            <a:avLst/>
          </a:prstGeom>
          <a:noFill/>
          <a:ln w="0">
            <a:noFill/>
          </a:ln>
        </p:spPr>
        <p:txBody>
          <a:bodyPr>
            <a:noAutofit/>
          </a:bodyPr>
          <a:lstStyle/>
          <a:p>
            <a:pPr>
              <a:buNone/>
              <a:defRPr sz="3150" b="1">
                <a:solidFill>
                  <a:srgbClr val="006C98"/>
                </a:solidFill>
                <a:latin typeface="Arial"/>
                <a:ea typeface="Arial"/>
                <a:cs typeface="Arial"/>
              </a:defRPr>
            </a:pPr>
            <a:r>
              <a:rPr sz="3150" b="1">
                <a:solidFill>
                  <a:srgbClr val="006C98"/>
                </a:solidFill>
                <a:latin typeface="Arial"/>
                <a:ea typeface="Arial"/>
                <a:cs typeface="Arial"/>
              </a:rPr>
              <a:t>Historical Relationship and OOT Drift</a:t>
            </a:r>
          </a:p>
        </p:txBody>
      </p:sp>
      <p:graphicFrame>
        <p:nvGraphicFramePr>
          <p:cNvPr id="22" name="Chart"/>
          <p:cNvGraphicFramePr/>
          <p:nvPr/>
        </p:nvGraphicFramePr>
        <p:xfrm>
          <a:off x="609600" y="1809750"/>
          <a:ext cx="10972800" cy="3790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781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2">
            <a:extLst>
              <a:ext uri="{FF2B5EF4-FFF2-40B4-BE49-F238E27FC236}">
                <a16:creationId xmlns:a16="http://schemas.microsoft.com/office/drawing/2014/main" id="{5EFE8EE1-B894-4D20-B3F2-98D2CBE30513}"/>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8</a:t>
            </a:r>
          </a:p>
        </p:txBody>
      </p:sp>
      <p:sp>
        <p:nvSpPr>
          <p:cNvPr id="13" name="Slide title">
            <a:extLst>
              <a:ext uri="{FF2B5EF4-FFF2-40B4-BE49-F238E27FC236}">
                <a16:creationId xmlns:a16="http://schemas.microsoft.com/office/drawing/2014/main" id="{B887D39E-83A9-4D71-B6DE-052EAF63F9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Error-Correction Scaling</a:t>
            </a:r>
          </a:p>
        </p:txBody>
      </p:sp>
      <p:sp>
        <p:nvSpPr>
          <p:cNvPr id="14" name="矩形 13">
            <a:extLst>
              <a:ext uri="{FF2B5EF4-FFF2-40B4-BE49-F238E27FC236}">
                <a16:creationId xmlns:a16="http://schemas.microsoft.com/office/drawing/2014/main" id="{C727F368-AA41-4C0E-B377-ECA815956CC3}"/>
              </a:ext>
            </a:extLst>
          </p:cNvPr>
          <p:cNvSpPr>
            <a:spLocks noGrp="1"/>
          </p:cNvSpPr>
          <p:nvPr/>
        </p:nvSpPr>
        <p:spPr>
          <a:xfrm>
            <a:off x="609600" y="1381125"/>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EC(t) = Combined(t) − fitted_lr(t)</a:t>
            </a:r>
          </a:p>
        </p:txBody>
      </p:sp>
      <p:sp>
        <p:nvSpPr>
          <p:cNvPr id="15" name="矩形 14">
            <a:extLst>
              <a:ext uri="{FF2B5EF4-FFF2-40B4-BE49-F238E27FC236}">
                <a16:creationId xmlns:a16="http://schemas.microsoft.com/office/drawing/2014/main" id="{E99C7C17-A1F5-4112-9139-F4F01B1F6D5F}"/>
              </a:ext>
            </a:extLst>
          </p:cNvPr>
          <p:cNvSpPr>
            <a:spLocks noGrp="1"/>
          </p:cNvSpPr>
          <p:nvPr/>
        </p:nvSpPr>
        <p:spPr>
          <a:xfrm>
            <a:off x="609600" y="2000250"/>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EC_scaled(t) = 100 × EC(t) / fitted_lr(t)</a:t>
            </a:r>
          </a:p>
        </p:txBody>
      </p:sp>
      <p:sp>
        <p:nvSpPr>
          <p:cNvPr id="16" name="矩形 15">
            <a:extLst>
              <a:ext uri="{FF2B5EF4-FFF2-40B4-BE49-F238E27FC236}">
                <a16:creationId xmlns:a16="http://schemas.microsoft.com/office/drawing/2014/main" id="{C9FB45C0-C193-4838-80B3-4455AC05BC62}"/>
              </a:ext>
            </a:extLst>
          </p:cNvPr>
          <p:cNvSpPr>
            <a:spLocks noGrp="1"/>
          </p:cNvSpPr>
          <p:nvPr/>
        </p:nvSpPr>
        <p:spPr>
          <a:xfrm>
            <a:off x="609600" y="2619375"/>
            <a:ext cx="10972800" cy="409575"/>
          </a:xfrm>
          <a:prstGeom prst="rect">
            <a:avLst/>
          </a:prstGeom>
          <a:noFill/>
          <a:ln w="0">
            <a:noFill/>
          </a:ln>
        </p:spPr>
        <p:txBody>
          <a:bodyPr anchor="t">
            <a:noAutofit/>
          </a:bodyPr>
          <a:lstStyle/>
          <a:p>
            <a:pPr>
              <a:buNone/>
              <a:defRPr sz="2175" b="0">
                <a:solidFill>
                  <a:srgbClr val="00476B"/>
                </a:solidFill>
                <a:latin typeface="Arial"/>
                <a:ea typeface="Arial"/>
                <a:cs typeface="Arial"/>
              </a:defRPr>
            </a:pPr>
            <a:r>
              <a:rPr sz="2175" b="0">
                <a:solidFill>
                  <a:srgbClr val="00476B"/>
                </a:solidFill>
                <a:latin typeface="Arial"/>
                <a:ea typeface="Arial"/>
                <a:cs typeface="Arial"/>
              </a:rPr>
              <a:t>EC_scaled_adj(t) = EC_scaled(t) − Overlay(t)</a:t>
            </a:r>
          </a:p>
        </p:txBody>
      </p:sp>
      <p:sp>
        <p:nvSpPr>
          <p:cNvPr id="17" name="矩形 16">
            <a:extLst>
              <a:ext uri="{FF2B5EF4-FFF2-40B4-BE49-F238E27FC236}">
                <a16:creationId xmlns:a16="http://schemas.microsoft.com/office/drawing/2014/main" id="{557D0F6A-9BB4-4E41-AA2E-AB83A72AB771}"/>
              </a:ext>
            </a:extLst>
          </p:cNvPr>
          <p:cNvSpPr>
            <a:spLocks noGrp="1"/>
          </p:cNvSpPr>
          <p:nvPr/>
        </p:nvSpPr>
        <p:spPr>
          <a:xfrm>
            <a:off x="609600" y="3495675"/>
            <a:ext cx="1097280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IS stationarity tests</a:t>
            </a:r>
          </a:p>
        </p:txBody>
      </p:sp>
      <p:graphicFrame>
        <p:nvGraphicFramePr>
          <p:cNvPr id="27" name="表格 26"/>
          <p:cNvGraphicFramePr/>
          <p:nvPr/>
        </p:nvGraphicFramePr>
        <p:xfrm>
          <a:off x="609600" y="3990975"/>
          <a:ext cx="10972800" cy="1171576"/>
        </p:xfrm>
        <a:graphic>
          <a:graphicData uri="http://schemas.openxmlformats.org/drawingml/2006/table">
            <a:tbl>
              <a:tblPr/>
              <a:tblGrid>
                <a:gridCol w="42291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85788">
                <a:tc>
                  <a:txBody>
                    <a:bodyPr/>
                    <a:lstStyle/>
                    <a:p>
                      <a:r>
                        <a:rPr sz="1800" b="1">
                          <a:solidFill>
                            <a:srgbClr val="FFFFFF"/>
                          </a:solidFill>
                          <a:latin typeface="Arial"/>
                          <a:ea typeface="Arial"/>
                          <a:cs typeface="Arial"/>
                        </a:rPr>
                        <a:t>Window</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ADF 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KPSS 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Conclusion</a:t>
                      </a:r>
                    </a:p>
                  </a:txBody>
                  <a:tcPr marL="85725" marR="66675" marT="38100" marB="38100" anchor="ctr">
                    <a:solidFill>
                      <a:srgbClr val="006C98"/>
                    </a:solidFill>
                  </a:tcPr>
                </a:tc>
                <a:extLst>
                  <a:ext uri="{0D108BD9-81ED-4DB2-BD59-A6C34878D82A}">
                    <a16:rowId xmlns:a16="http://schemas.microsoft.com/office/drawing/2014/main" val="10000"/>
                  </a:ext>
                </a:extLst>
              </a:tr>
              <a:tr h="585788">
                <a:tc>
                  <a:txBody>
                    <a:bodyPr/>
                    <a:lstStyle/>
                    <a:p>
                      <a:r>
                        <a:rPr sz="1800" b="0">
                          <a:solidFill>
                            <a:srgbClr val="252F38"/>
                          </a:solidFill>
                          <a:latin typeface="Arial"/>
                          <a:ea typeface="Arial"/>
                          <a:cs typeface="Arial"/>
                        </a:rPr>
                        <a:t>Jan 2011–Sep 2023</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0.019</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0.100</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Stationary</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9" name="矩形 18">
            <a:extLst>
              <a:ext uri="{FF2B5EF4-FFF2-40B4-BE49-F238E27FC236}">
                <a16:creationId xmlns:a16="http://schemas.microsoft.com/office/drawing/2014/main" id="{0F0FEB2F-2952-48B7-BC8C-5E483664110C}"/>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Scaling expresses EC as a percentage deviation from the contemporaneous long-run fitted level.</a:t>
            </a:r>
          </a:p>
        </p:txBody>
      </p:sp>
    </p:spTree>
    <p:extLst>
      <p:ext uri="{BB962C8B-B14F-4D97-AF65-F5344CB8AC3E}">
        <p14:creationId xmlns:p14="http://schemas.microsoft.com/office/powerpoint/2010/main" val="18994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age number">
            <a:extLst>
              <a:ext uri="{FF2B5EF4-FFF2-40B4-BE49-F238E27FC236}">
                <a16:creationId xmlns:a16="http://schemas.microsoft.com/office/drawing/2014/main" id="{D2839EFC-977F-4F7D-9E75-F414104F660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9</a:t>
            </a:r>
          </a:p>
        </p:txBody>
      </p:sp>
      <p:sp>
        <p:nvSpPr>
          <p:cNvPr id="13" name="Slide title">
            <a:extLst>
              <a:ext uri="{FF2B5EF4-FFF2-40B4-BE49-F238E27FC236}">
                <a16:creationId xmlns:a16="http://schemas.microsoft.com/office/drawing/2014/main" id="{332F1615-8871-44D0-BA82-77550943FFA4}"/>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Overlay: OOT Trend Adjustment</a:t>
            </a:r>
          </a:p>
        </p:txBody>
      </p:sp>
      <p:sp>
        <p:nvSpPr>
          <p:cNvPr id="14" name="矩形 13">
            <a:extLst>
              <a:ext uri="{FF2B5EF4-FFF2-40B4-BE49-F238E27FC236}">
                <a16:creationId xmlns:a16="http://schemas.microsoft.com/office/drawing/2014/main" id="{887960DF-ABF7-40A9-9A39-9A3234E26327}"/>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EC_scaled(t) = a + b × t, fitted over Oct 2023–Dec 2025 (t = 1 to 27)</a:t>
            </a:r>
          </a:p>
        </p:txBody>
      </p:sp>
      <p:graphicFrame>
        <p:nvGraphicFramePr>
          <p:cNvPr id="24" name="Chart"/>
          <p:cNvGraphicFramePr/>
          <p:nvPr/>
        </p:nvGraphicFramePr>
        <p:xfrm>
          <a:off x="609600" y="1905000"/>
          <a:ext cx="6734175" cy="34099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表格 24"/>
          <p:cNvGraphicFramePr/>
          <p:nvPr/>
        </p:nvGraphicFramePr>
        <p:xfrm>
          <a:off x="7658100" y="1971675"/>
          <a:ext cx="3924300" cy="3048000"/>
        </p:xfrm>
        <a:graphic>
          <a:graphicData uri="http://schemas.openxmlformats.org/drawingml/2006/table">
            <a:tbl>
              <a:tblPr/>
              <a:tblGrid>
                <a:gridCol w="22574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08000">
                <a:tc>
                  <a:txBody>
                    <a:bodyPr/>
                    <a:lstStyle/>
                    <a:p>
                      <a:r>
                        <a:rPr sz="1575" b="1">
                          <a:solidFill>
                            <a:srgbClr val="FFFFFF"/>
                          </a:solidFill>
                          <a:latin typeface="Arial"/>
                          <a:ea typeface="Arial"/>
                          <a:cs typeface="Arial"/>
                        </a:rPr>
                        <a:t>Parameter</a:t>
                      </a:r>
                    </a:p>
                  </a:txBody>
                  <a:tcPr marL="85725" marR="66675" marT="38100" marB="38100" anchor="ctr">
                    <a:solidFill>
                      <a:srgbClr val="006C98"/>
                    </a:solidFill>
                  </a:tcPr>
                </a:tc>
                <a:tc>
                  <a:txBody>
                    <a:bodyPr/>
                    <a:lstStyle/>
                    <a:p>
                      <a:r>
                        <a:rPr sz="1575" b="1">
                          <a:solidFill>
                            <a:srgbClr val="FFFFFF"/>
                          </a:solidFill>
                          <a:latin typeface="Arial"/>
                          <a:ea typeface="Arial"/>
                          <a:cs typeface="Arial"/>
                        </a:rPr>
                        <a:t>Estimate</a:t>
                      </a:r>
                    </a:p>
                  </a:txBody>
                  <a:tcPr marL="85725" marR="66675" marT="38100" marB="38100" anchor="ctr">
                    <a:solidFill>
                      <a:srgbClr val="006C98"/>
                    </a:solidFill>
                  </a:tcPr>
                </a:tc>
                <a:extLst>
                  <a:ext uri="{0D108BD9-81ED-4DB2-BD59-A6C34878D82A}">
                    <a16:rowId xmlns:a16="http://schemas.microsoft.com/office/drawing/2014/main" val="10000"/>
                  </a:ext>
                </a:extLst>
              </a:tr>
              <a:tr h="508000">
                <a:tc>
                  <a:txBody>
                    <a:bodyPr/>
                    <a:lstStyle/>
                    <a:p>
                      <a:r>
                        <a:rPr sz="1575" b="0">
                          <a:solidFill>
                            <a:srgbClr val="252F38"/>
                          </a:solidFill>
                          <a:latin typeface="Arial"/>
                          <a:ea typeface="Arial"/>
                          <a:cs typeface="Arial"/>
                        </a:rPr>
                        <a:t>Intercept a</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−5.593</a:t>
                      </a:r>
                    </a:p>
                  </a:txBody>
                  <a:tcPr marL="85725" marR="66675" marT="38100" marB="38100" anchor="ctr">
                    <a:solidFill>
                      <a:srgbClr val="FFFFFF"/>
                    </a:solidFill>
                  </a:tcPr>
                </a:tc>
                <a:extLst>
                  <a:ext uri="{0D108BD9-81ED-4DB2-BD59-A6C34878D82A}">
                    <a16:rowId xmlns:a16="http://schemas.microsoft.com/office/drawing/2014/main" val="10001"/>
                  </a:ext>
                </a:extLst>
              </a:tr>
              <a:tr h="508000">
                <a:tc>
                  <a:txBody>
                    <a:bodyPr/>
                    <a:lstStyle/>
                    <a:p>
                      <a:r>
                        <a:rPr sz="1575" b="0">
                          <a:solidFill>
                            <a:srgbClr val="252F38"/>
                          </a:solidFill>
                          <a:latin typeface="Arial"/>
                          <a:ea typeface="Arial"/>
                          <a:cs typeface="Arial"/>
                        </a:rPr>
                        <a:t>Monthly slope b</a:t>
                      </a:r>
                    </a:p>
                  </a:txBody>
                  <a:tcPr marL="85725" marR="66675" marT="38100" marB="38100" anchor="ctr">
                    <a:solidFill>
                      <a:srgbClr val="F3F5F6"/>
                    </a:solidFill>
                  </a:tcPr>
                </a:tc>
                <a:tc>
                  <a:txBody>
                    <a:bodyPr/>
                    <a:lstStyle/>
                    <a:p>
                      <a:r>
                        <a:rPr sz="1575" b="0">
                          <a:solidFill>
                            <a:srgbClr val="252F38"/>
                          </a:solidFill>
                          <a:latin typeface="Arial"/>
                          <a:ea typeface="Arial"/>
                          <a:cs typeface="Arial"/>
                        </a:rPr>
                        <a:t>−0.909</a:t>
                      </a:r>
                    </a:p>
                  </a:txBody>
                  <a:tcPr marL="85725" marR="66675" marT="38100" marB="38100" anchor="ctr">
                    <a:solidFill>
                      <a:srgbClr val="F3F5F6"/>
                    </a:solidFill>
                  </a:tcPr>
                </a:tc>
                <a:extLst>
                  <a:ext uri="{0D108BD9-81ED-4DB2-BD59-A6C34878D82A}">
                    <a16:rowId xmlns:a16="http://schemas.microsoft.com/office/drawing/2014/main" val="10002"/>
                  </a:ext>
                </a:extLst>
              </a:tr>
              <a:tr h="508000">
                <a:tc>
                  <a:txBody>
                    <a:bodyPr/>
                    <a:lstStyle/>
                    <a:p>
                      <a:r>
                        <a:rPr sz="1575" b="0">
                          <a:solidFill>
                            <a:srgbClr val="252F38"/>
                          </a:solidFill>
                          <a:latin typeface="Arial"/>
                          <a:ea typeface="Arial"/>
                          <a:cs typeface="Arial"/>
                        </a:rPr>
                        <a:t>Slope p-value</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1.32e−08</a:t>
                      </a:r>
                    </a:p>
                  </a:txBody>
                  <a:tcPr marL="85725" marR="66675" marT="38100" marB="38100" anchor="ctr">
                    <a:solidFill>
                      <a:srgbClr val="FFFFFF"/>
                    </a:solidFill>
                  </a:tcPr>
                </a:tc>
                <a:extLst>
                  <a:ext uri="{0D108BD9-81ED-4DB2-BD59-A6C34878D82A}">
                    <a16:rowId xmlns:a16="http://schemas.microsoft.com/office/drawing/2014/main" val="10003"/>
                  </a:ext>
                </a:extLst>
              </a:tr>
              <a:tr h="508000">
                <a:tc>
                  <a:txBody>
                    <a:bodyPr/>
                    <a:lstStyle/>
                    <a:p>
                      <a:r>
                        <a:rPr sz="1575" b="0">
                          <a:solidFill>
                            <a:srgbClr val="252F38"/>
                          </a:solidFill>
                          <a:latin typeface="Arial"/>
                          <a:ea typeface="Arial"/>
                          <a:cs typeface="Arial"/>
                        </a:rPr>
                        <a:t>Trend R²</a:t>
                      </a:r>
                    </a:p>
                  </a:txBody>
                  <a:tcPr marL="85725" marR="66675" marT="38100" marB="38100" anchor="ctr">
                    <a:solidFill>
                      <a:srgbClr val="F3F5F6"/>
                    </a:solidFill>
                  </a:tcPr>
                </a:tc>
                <a:tc>
                  <a:txBody>
                    <a:bodyPr/>
                    <a:lstStyle/>
                    <a:p>
                      <a:r>
                        <a:rPr sz="1575" b="0">
                          <a:solidFill>
                            <a:srgbClr val="252F38"/>
                          </a:solidFill>
                          <a:latin typeface="Arial"/>
                          <a:ea typeface="Arial"/>
                          <a:cs typeface="Arial"/>
                        </a:rPr>
                        <a:t>0.732</a:t>
                      </a:r>
                    </a:p>
                  </a:txBody>
                  <a:tcPr marL="85725" marR="66675" marT="38100" marB="38100" anchor="ctr">
                    <a:solidFill>
                      <a:srgbClr val="F3F5F6"/>
                    </a:solidFill>
                  </a:tcPr>
                </a:tc>
                <a:extLst>
                  <a:ext uri="{0D108BD9-81ED-4DB2-BD59-A6C34878D82A}">
                    <a16:rowId xmlns:a16="http://schemas.microsoft.com/office/drawing/2014/main" val="10004"/>
                  </a:ext>
                </a:extLst>
              </a:tr>
              <a:tr h="508000">
                <a:tc>
                  <a:txBody>
                    <a:bodyPr/>
                    <a:lstStyle/>
                    <a:p>
                      <a:r>
                        <a:rPr sz="1575" b="0">
                          <a:solidFill>
                            <a:srgbClr val="252F38"/>
                          </a:solidFill>
                          <a:latin typeface="Arial"/>
                          <a:ea typeface="Arial"/>
                          <a:cs typeface="Arial"/>
                        </a:rPr>
                        <a:t>Held after Dec 2025</a:t>
                      </a:r>
                    </a:p>
                  </a:txBody>
                  <a:tcPr marL="85725" marR="66675" marT="38100" marB="38100" anchor="ctr">
                    <a:solidFill>
                      <a:srgbClr val="FFFFFF"/>
                    </a:solidFill>
                  </a:tcPr>
                </a:tc>
                <a:tc>
                  <a:txBody>
                    <a:bodyPr/>
                    <a:lstStyle/>
                    <a:p>
                      <a:r>
                        <a:rPr sz="1575" b="0">
                          <a:solidFill>
                            <a:srgbClr val="252F38"/>
                          </a:solidFill>
                          <a:latin typeface="Arial"/>
                          <a:ea typeface="Arial"/>
                          <a:cs typeface="Arial"/>
                        </a:rPr>
                        <a:t>−30.143</a:t>
                      </a:r>
                    </a:p>
                  </a:txBody>
                  <a:tcPr marL="85725" marR="66675"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17" name="矩形 16">
            <a:extLst>
              <a:ext uri="{FF2B5EF4-FFF2-40B4-BE49-F238E27FC236}">
                <a16:creationId xmlns:a16="http://schemas.microsoft.com/office/drawing/2014/main" id="{24849E50-C272-40AF-8BC3-9323FA4B61F8}"/>
              </a:ext>
            </a:extLst>
          </p:cNvPr>
          <p:cNvSpPr>
            <a:spLocks noGrp="1"/>
          </p:cNvSpPr>
          <p:nvPr/>
        </p:nvSpPr>
        <p:spPr>
          <a:xfrm>
            <a:off x="609600" y="5391150"/>
            <a:ext cx="10972800" cy="342900"/>
          </a:xfrm>
          <a:prstGeom prst="rect">
            <a:avLst/>
          </a:prstGeom>
          <a:noFill/>
          <a:ln w="0">
            <a:noFill/>
          </a:ln>
        </p:spPr>
        <p:txBody>
          <a:bodyPr anchor="t">
            <a:noAutofit/>
          </a:bodyPr>
          <a:lstStyle/>
          <a:p>
            <a:pPr>
              <a:buNone/>
              <a:defRPr sz="1650" b="0">
                <a:solidFill>
                  <a:srgbClr val="252F38"/>
                </a:solidFill>
                <a:latin typeface="Arial"/>
                <a:ea typeface="Arial"/>
                <a:cs typeface="Arial"/>
              </a:defRPr>
            </a:pPr>
            <a:r>
              <a:rPr sz="1650" b="0">
                <a:solidFill>
                  <a:srgbClr val="252F38"/>
                </a:solidFill>
                <a:latin typeface="Arial"/>
                <a:ea typeface="Arial"/>
                <a:cs typeface="Arial"/>
              </a:rPr>
              <a:t>Before Oct 2023: 0. Within OOT: a + b × t. After Dec 2025: a + b × 27.</a:t>
            </a:r>
          </a:p>
        </p:txBody>
      </p:sp>
      <p:sp>
        <p:nvSpPr>
          <p:cNvPr id="18" name="矩形 17">
            <a:extLst>
              <a:ext uri="{FF2B5EF4-FFF2-40B4-BE49-F238E27FC236}">
                <a16:creationId xmlns:a16="http://schemas.microsoft.com/office/drawing/2014/main" id="{C25655FF-6F33-4274-9757-C1F1FB7C249F}"/>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forecast holds the overlay at −30.143. It does not extend the downward trend.</a:t>
            </a:r>
          </a:p>
        </p:txBody>
      </p:sp>
    </p:spTree>
    <p:extLst>
      <p:ext uri="{BB962C8B-B14F-4D97-AF65-F5344CB8AC3E}">
        <p14:creationId xmlns:p14="http://schemas.microsoft.com/office/powerpoint/2010/main" val="23856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0">
            <a:extLst>
              <a:ext uri="{FF2B5EF4-FFF2-40B4-BE49-F238E27FC236}">
                <a16:creationId xmlns:a16="http://schemas.microsoft.com/office/drawing/2014/main" id="{A5B212A1-C77F-44D3-BFF6-A885385C791E}"/>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10</a:t>
            </a:r>
          </a:p>
        </p:txBody>
      </p:sp>
      <p:sp>
        <p:nvSpPr>
          <p:cNvPr id="12" name="Slide title">
            <a:extLst>
              <a:ext uri="{FF2B5EF4-FFF2-40B4-BE49-F238E27FC236}">
                <a16:creationId xmlns:a16="http://schemas.microsoft.com/office/drawing/2014/main" id="{6444C223-28A1-4BE3-9FF6-1A39FE402724}"/>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Step 2: Dual-Window Macro Screening</a:t>
            </a:r>
          </a:p>
        </p:txBody>
      </p:sp>
      <p:sp>
        <p:nvSpPr>
          <p:cNvPr id="13" name="矩形 12">
            <a:extLst>
              <a:ext uri="{FF2B5EF4-FFF2-40B4-BE49-F238E27FC236}">
                <a16:creationId xmlns:a16="http://schemas.microsoft.com/office/drawing/2014/main" id="{7274B8AA-1994-4409-A1A2-0AB1A175066D}"/>
              </a:ext>
            </a:extLst>
          </p:cNvPr>
          <p:cNvSpPr>
            <a:spLocks noGrp="1"/>
          </p:cNvSpPr>
          <p:nvPr/>
        </p:nvSpPr>
        <p:spPr>
          <a:xfrm>
            <a:off x="609600" y="1304925"/>
            <a:ext cx="10972800" cy="619125"/>
          </a:xfrm>
          <a:prstGeom prst="rect">
            <a:avLst/>
          </a:prstGeom>
          <a:noFill/>
          <a:ln w="0">
            <a:noFill/>
          </a:ln>
        </p:spPr>
        <p:txBody>
          <a:bodyPr anchor="t">
            <a:noAutofit/>
          </a:bodyPr>
          <a:lstStyle/>
          <a:p>
            <a:pPr>
              <a:buNone/>
              <a:defRPr sz="1800" b="0">
                <a:solidFill>
                  <a:srgbClr val="252F38"/>
                </a:solidFill>
                <a:latin typeface="Arial"/>
                <a:ea typeface="Arial"/>
                <a:cs typeface="Arial"/>
              </a:defRPr>
            </a:pPr>
            <a:r>
              <a:rPr sz="1800" b="0">
                <a:solidFill>
                  <a:srgbClr val="252F38"/>
                </a:solidFill>
                <a:latin typeface="Arial"/>
                <a:ea typeface="Arial"/>
                <a:cs typeface="Arial"/>
              </a:rPr>
              <a:t>Require p &lt; 0.20 in IS and OOT with matching signs. The OOT partial-correlation screen controls for EC_scaled_adj_lag12.</a:t>
            </a:r>
          </a:p>
        </p:txBody>
      </p:sp>
      <p:graphicFrame>
        <p:nvGraphicFramePr>
          <p:cNvPr id="20" name="表格 19"/>
          <p:cNvGraphicFramePr/>
          <p:nvPr/>
        </p:nvGraphicFramePr>
        <p:xfrm>
          <a:off x="609600" y="2143125"/>
          <a:ext cx="10972800" cy="3429000"/>
        </p:xfrm>
        <a:graphic>
          <a:graphicData uri="http://schemas.openxmlformats.org/drawingml/2006/table">
            <a:tbl>
              <a:tblPr/>
              <a:tblGrid>
                <a:gridCol w="403860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733550">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tblGrid>
              <a:tr h="381000">
                <a:tc>
                  <a:txBody>
                    <a:bodyPr/>
                    <a:lstStyle/>
                    <a:p>
                      <a:r>
                        <a:rPr sz="1725" b="1">
                          <a:solidFill>
                            <a:srgbClr val="FFFFFF"/>
                          </a:solidFill>
                          <a:latin typeface="Arial"/>
                          <a:ea typeface="Arial"/>
                          <a:cs typeface="Arial"/>
                        </a:rPr>
                        <a:t>Candidate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ρ (IS)</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 (IS)</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ρ (OOT)</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p (OOT)</a:t>
                      </a:r>
                    </a:p>
                  </a:txBody>
                  <a:tcPr marL="85725" marR="66675" marT="38100" marB="38100" anchor="ctr">
                    <a:solidFill>
                      <a:srgbClr val="006C98"/>
                    </a:solidFill>
                  </a:tcPr>
                </a:tc>
                <a:extLst>
                  <a:ext uri="{0D108BD9-81ED-4DB2-BD59-A6C34878D82A}">
                    <a16:rowId xmlns:a16="http://schemas.microsoft.com/office/drawing/2014/main" val="10000"/>
                  </a:ext>
                </a:extLst>
              </a:tr>
              <a:tr h="381000">
                <a:tc>
                  <a:txBody>
                    <a:bodyPr/>
                    <a:lstStyle/>
                    <a:p>
                      <a:r>
                        <a:rPr sz="1725" b="0">
                          <a:solidFill>
                            <a:srgbClr val="252F38"/>
                          </a:solidFill>
                          <a:latin typeface="Arial"/>
                          <a:ea typeface="Arial"/>
                          <a:cs typeface="Arial"/>
                        </a:rPr>
                        <a:t>Unrate_lag6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-0.258</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0.003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-0.475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0.012</a:t>
                      </a:r>
                    </a:p>
                  </a:txBody>
                  <a:tcPr marL="85725" marR="66675" marT="38100" marB="38100" anchor="ctr">
                    <a:solidFill>
                      <a:srgbClr val="FFFFFF"/>
                    </a:solidFill>
                  </a:tcPr>
                </a:tc>
                <a:extLst>
                  <a:ext uri="{0D108BD9-81ED-4DB2-BD59-A6C34878D82A}">
                    <a16:rowId xmlns:a16="http://schemas.microsoft.com/office/drawing/2014/main" val="10001"/>
                  </a:ext>
                </a:extLst>
              </a:tr>
              <a:tr h="381000">
                <a:tc>
                  <a:txBody>
                    <a:bodyPr/>
                    <a:lstStyle/>
                    <a:p>
                      <a:r>
                        <a:rPr sz="1725" b="0">
                          <a:solidFill>
                            <a:srgbClr val="252F38"/>
                          </a:solidFill>
                          <a:latin typeface="Arial"/>
                          <a:ea typeface="Arial"/>
                          <a:cs typeface="Arial"/>
                        </a:rPr>
                        <a:t>Unrate_lag8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-0.267</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0.002</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-0.579</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0.002</a:t>
                      </a:r>
                    </a:p>
                  </a:txBody>
                  <a:tcPr marL="85725" marR="66675" marT="38100" marB="38100" anchor="ctr">
                    <a:solidFill>
                      <a:srgbClr val="F3F5F6"/>
                    </a:solidFill>
                  </a:tcPr>
                </a:tc>
                <a:extLst>
                  <a:ext uri="{0D108BD9-81ED-4DB2-BD59-A6C34878D82A}">
                    <a16:rowId xmlns:a16="http://schemas.microsoft.com/office/drawing/2014/main" val="10002"/>
                  </a:ext>
                </a:extLst>
              </a:tr>
              <a:tr h="381000">
                <a:tc>
                  <a:txBody>
                    <a:bodyPr/>
                    <a:lstStyle/>
                    <a:p>
                      <a:r>
                        <a:rPr sz="1725" b="0">
                          <a:solidFill>
                            <a:srgbClr val="252F38"/>
                          </a:solidFill>
                          <a:latin typeface="Arial"/>
                          <a:ea typeface="Arial"/>
                          <a:cs typeface="Arial"/>
                        </a:rPr>
                        <a:t>GDP_Wholesale_lag9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0.007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0.261</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0.189</a:t>
                      </a:r>
                    </a:p>
                  </a:txBody>
                  <a:tcPr marL="85725" marR="66675" marT="38100" marB="38100" anchor="ctr">
                    <a:solidFill>
                      <a:srgbClr val="FFFFFF"/>
                    </a:solidFill>
                  </a:tcPr>
                </a:tc>
                <a:extLst>
                  <a:ext uri="{0D108BD9-81ED-4DB2-BD59-A6C34878D82A}">
                    <a16:rowId xmlns:a16="http://schemas.microsoft.com/office/drawing/2014/main" val="10003"/>
                  </a:ext>
                </a:extLst>
              </a:tr>
              <a:tr h="381000">
                <a:tc>
                  <a:txBody>
                    <a:bodyPr/>
                    <a:lstStyle/>
                    <a:p>
                      <a:r>
                        <a:rPr sz="1725" b="0">
                          <a:solidFill>
                            <a:srgbClr val="252F38"/>
                          </a:solidFill>
                          <a:latin typeface="Arial"/>
                          <a:ea typeface="Arial"/>
                          <a:cs typeface="Arial"/>
                        </a:rPr>
                        <a:t>GDP_Wholesale_lag10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0.150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0.088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0.445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0.020</a:t>
                      </a:r>
                    </a:p>
                  </a:txBody>
                  <a:tcPr marL="85725" marR="66675" marT="38100" marB="38100" anchor="ctr">
                    <a:solidFill>
                      <a:srgbClr val="F3F5F6"/>
                    </a:solidFill>
                  </a:tcPr>
                </a:tc>
                <a:extLst>
                  <a:ext uri="{0D108BD9-81ED-4DB2-BD59-A6C34878D82A}">
                    <a16:rowId xmlns:a16="http://schemas.microsoft.com/office/drawing/2014/main" val="10004"/>
                  </a:ext>
                </a:extLst>
              </a:tr>
              <a:tr h="381000">
                <a:tc>
                  <a:txBody>
                    <a:bodyPr/>
                    <a:lstStyle/>
                    <a:p>
                      <a:r>
                        <a:rPr sz="1725" b="0">
                          <a:solidFill>
                            <a:srgbClr val="252F38"/>
                          </a:solidFill>
                          <a:latin typeface="Arial"/>
                          <a:ea typeface="Arial"/>
                          <a:cs typeface="Arial"/>
                        </a:rPr>
                        <a:t>DPI_lag9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0.146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0.094</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0.355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0.069</a:t>
                      </a:r>
                    </a:p>
                  </a:txBody>
                  <a:tcPr marL="85725" marR="66675" marT="38100" marB="38100" anchor="ctr">
                    <a:solidFill>
                      <a:srgbClr val="FFFFFF"/>
                    </a:solidFill>
                  </a:tcPr>
                </a:tc>
                <a:extLst>
                  <a:ext uri="{0D108BD9-81ED-4DB2-BD59-A6C34878D82A}">
                    <a16:rowId xmlns:a16="http://schemas.microsoft.com/office/drawing/2014/main" val="10005"/>
                  </a:ext>
                </a:extLst>
              </a:tr>
              <a:tr h="381000">
                <a:tc>
                  <a:txBody>
                    <a:bodyPr/>
                    <a:lstStyle/>
                    <a:p>
                      <a:r>
                        <a:rPr sz="1725" b="0">
                          <a:solidFill>
                            <a:srgbClr val="252F38"/>
                          </a:solidFill>
                          <a:latin typeface="Arial"/>
                          <a:ea typeface="Arial"/>
                          <a:cs typeface="Arial"/>
                        </a:rPr>
                        <a:t>CorpProfits_lag2</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0.555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0.298</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0.131</a:t>
                      </a:r>
                    </a:p>
                  </a:txBody>
                  <a:tcPr marL="85725" marR="66675" marT="38100" marB="38100" anchor="ctr">
                    <a:solidFill>
                      <a:srgbClr val="F3F5F6"/>
                    </a:solidFill>
                  </a:tcPr>
                </a:tc>
                <a:extLst>
                  <a:ext uri="{0D108BD9-81ED-4DB2-BD59-A6C34878D82A}">
                    <a16:rowId xmlns:a16="http://schemas.microsoft.com/office/drawing/2014/main" val="10006"/>
                  </a:ext>
                </a:extLst>
              </a:tr>
              <a:tr h="381000">
                <a:tc>
                  <a:txBody>
                    <a:bodyPr/>
                    <a:lstStyle/>
                    <a:p>
                      <a:r>
                        <a:rPr sz="1725" b="0">
                          <a:solidFill>
                            <a:srgbClr val="252F38"/>
                          </a:solidFill>
                          <a:latin typeface="Arial"/>
                          <a:ea typeface="Arial"/>
                          <a:cs typeface="Arial"/>
                        </a:rPr>
                        <a:t>CorpProfits_lag3</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0.497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0.300</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0.129</a:t>
                      </a:r>
                    </a:p>
                  </a:txBody>
                  <a:tcPr marL="85725" marR="66675" marT="38100" marB="38100" anchor="ctr">
                    <a:solidFill>
                      <a:srgbClr val="FFFFFF"/>
                    </a:solidFill>
                  </a:tcPr>
                </a:tc>
                <a:extLst>
                  <a:ext uri="{0D108BD9-81ED-4DB2-BD59-A6C34878D82A}">
                    <a16:rowId xmlns:a16="http://schemas.microsoft.com/office/drawing/2014/main" val="10007"/>
                  </a:ext>
                </a:extLst>
              </a:tr>
              <a:tr h="381000">
                <a:tc>
                  <a:txBody>
                    <a:bodyPr/>
                    <a:lstStyle/>
                    <a:p>
                      <a:r>
                        <a:rPr sz="1725" b="0">
                          <a:solidFill>
                            <a:srgbClr val="252F38"/>
                          </a:solidFill>
                          <a:latin typeface="Arial"/>
                          <a:ea typeface="Arial"/>
                          <a:cs typeface="Arial"/>
                        </a:rPr>
                        <a:t>CorpProfits_lag10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0.415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0.270</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0.174</a:t>
                      </a:r>
                    </a:p>
                  </a:txBody>
                  <a:tcPr marL="85725" marR="66675" marT="38100" marB="38100" anchor="ctr">
                    <a:solidFill>
                      <a:srgbClr val="F3F5F6"/>
                    </a:solidFill>
                  </a:tcPr>
                </a:tc>
                <a:extLst>
                  <a:ext uri="{0D108BD9-81ED-4DB2-BD59-A6C34878D82A}">
                    <a16:rowId xmlns:a16="http://schemas.microsoft.com/office/drawing/2014/main" val="10008"/>
                  </a:ext>
                </a:extLst>
              </a:tr>
            </a:tbl>
          </a:graphicData>
        </a:graphic>
      </p:graphicFrame>
      <p:sp>
        <p:nvSpPr>
          <p:cNvPr id="15" name="矩形 14">
            <a:extLst>
              <a:ext uri="{FF2B5EF4-FFF2-40B4-BE49-F238E27FC236}">
                <a16:creationId xmlns:a16="http://schemas.microsoft.com/office/drawing/2014/main" id="{83C1DED1-4B7B-48A9-9405-18DB1DE0703D}"/>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Eligible macro terms enter forward selection alongside y_lag1 through y_lag12.</a:t>
            </a:r>
          </a:p>
        </p:txBody>
      </p:sp>
    </p:spTree>
    <p:extLst>
      <p:ext uri="{BB962C8B-B14F-4D97-AF65-F5344CB8AC3E}">
        <p14:creationId xmlns:p14="http://schemas.microsoft.com/office/powerpoint/2010/main" val="37898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3">
            <a:extLst>
              <a:ext uri="{FF2B5EF4-FFF2-40B4-BE49-F238E27FC236}">
                <a16:creationId xmlns:a16="http://schemas.microsoft.com/office/drawing/2014/main" id="{C3315CA4-23AC-4745-BE84-A3F4E0F50DF0}"/>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11</a:t>
            </a:r>
          </a:p>
        </p:txBody>
      </p:sp>
      <p:sp>
        <p:nvSpPr>
          <p:cNvPr id="13" name="Slide title">
            <a:extLst>
              <a:ext uri="{FF2B5EF4-FFF2-40B4-BE49-F238E27FC236}">
                <a16:creationId xmlns:a16="http://schemas.microsoft.com/office/drawing/2014/main" id="{F0742C79-3EA3-4F81-A6AB-2FEA0E47A55B}"/>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Short-Run Forward Selection</a:t>
            </a:r>
          </a:p>
        </p:txBody>
      </p:sp>
      <p:sp>
        <p:nvSpPr>
          <p:cNvPr id="14" name="矩形 13">
            <a:extLst>
              <a:ext uri="{FF2B5EF4-FFF2-40B4-BE49-F238E27FC236}">
                <a16:creationId xmlns:a16="http://schemas.microsoft.com/office/drawing/2014/main" id="{B665EA3D-E903-431A-BAC0-D46829C0B989}"/>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The adjusted EC term remains in the model while candidate terms enter sequentially</a:t>
            </a:r>
          </a:p>
        </p:txBody>
      </p:sp>
      <p:graphicFrame>
        <p:nvGraphicFramePr>
          <p:cNvPr id="22" name="表格 21"/>
          <p:cNvGraphicFramePr/>
          <p:nvPr/>
        </p:nvGraphicFramePr>
        <p:xfrm>
          <a:off x="609600" y="2162175"/>
          <a:ext cx="10972800" cy="2667000"/>
        </p:xfrm>
        <a:graphic>
          <a:graphicData uri="http://schemas.openxmlformats.org/drawingml/2006/table">
            <a:tbl>
              <a:tblPr/>
              <a:tblGrid>
                <a:gridCol w="13335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495550">
                  <a:extLst>
                    <a:ext uri="{9D8B030D-6E8A-4147-A177-3AD203B41FA5}">
                      <a16:colId xmlns:a16="http://schemas.microsoft.com/office/drawing/2014/main" val="20003"/>
                    </a:ext>
                  </a:extLst>
                </a:gridCol>
              </a:tblGrid>
              <a:tr h="533400">
                <a:tc>
                  <a:txBody>
                    <a:bodyPr/>
                    <a:lstStyle/>
                    <a:p>
                      <a:r>
                        <a:rPr sz="1875" b="1">
                          <a:solidFill>
                            <a:srgbClr val="FFFFFF"/>
                          </a:solidFill>
                          <a:latin typeface="Arial"/>
                          <a:ea typeface="Arial"/>
                          <a:cs typeface="Arial"/>
                        </a:rPr>
                        <a:t>Round</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Term added</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Adjusted R² after</a:t>
                      </a:r>
                    </a:p>
                  </a:txBody>
                  <a:tcPr marL="85725" marR="66675" marT="38100" marB="38100" anchor="ctr">
                    <a:solidFill>
                      <a:srgbClr val="006C98"/>
                    </a:solidFill>
                  </a:tcPr>
                </a:tc>
                <a:tc>
                  <a:txBody>
                    <a:bodyPr/>
                    <a:lstStyle/>
                    <a:p>
                      <a:r>
                        <a:rPr sz="1875" b="1">
                          <a:solidFill>
                            <a:srgbClr val="FFFFFF"/>
                          </a:solidFill>
                          <a:latin typeface="Arial"/>
                          <a:ea typeface="Arial"/>
                          <a:cs typeface="Arial"/>
                        </a:rPr>
                        <a:t>p-value</a:t>
                      </a:r>
                    </a:p>
                  </a:txBody>
                  <a:tcPr marL="85725" marR="66675" marT="38100" marB="38100" anchor="ctr">
                    <a:solidFill>
                      <a:srgbClr val="006C98"/>
                    </a:solidFill>
                  </a:tcPr>
                </a:tc>
                <a:extLst>
                  <a:ext uri="{0D108BD9-81ED-4DB2-BD59-A6C34878D82A}">
                    <a16:rowId xmlns:a16="http://schemas.microsoft.com/office/drawing/2014/main" val="10000"/>
                  </a:ext>
                </a:extLst>
              </a:tr>
              <a:tr h="533400">
                <a:tc>
                  <a:txBody>
                    <a:bodyPr/>
                    <a:lstStyle/>
                    <a:p>
                      <a:r>
                        <a:rPr sz="1875" b="0">
                          <a:solidFill>
                            <a:srgbClr val="252F38"/>
                          </a:solidFill>
                          <a:latin typeface="Arial"/>
                          <a:ea typeface="Arial"/>
                          <a:cs typeface="Arial"/>
                        </a:rPr>
                        <a:t>1</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y_lag1</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0.658</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1"/>
                  </a:ext>
                </a:extLst>
              </a:tr>
              <a:tr h="533400">
                <a:tc>
                  <a:txBody>
                    <a:bodyPr/>
                    <a:lstStyle/>
                    <a:p>
                      <a:r>
                        <a:rPr sz="1875" b="0">
                          <a:solidFill>
                            <a:srgbClr val="252F38"/>
                          </a:solidFill>
                          <a:latin typeface="Arial"/>
                          <a:ea typeface="Arial"/>
                          <a:cs typeface="Arial"/>
                        </a:rPr>
                        <a:t>2</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y_lag6</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0.694</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3F5F6"/>
                    </a:solidFill>
                  </a:tcPr>
                </a:tc>
                <a:extLst>
                  <a:ext uri="{0D108BD9-81ED-4DB2-BD59-A6C34878D82A}">
                    <a16:rowId xmlns:a16="http://schemas.microsoft.com/office/drawing/2014/main" val="10002"/>
                  </a:ext>
                </a:extLst>
              </a:tr>
              <a:tr h="533400">
                <a:tc>
                  <a:txBody>
                    <a:bodyPr/>
                    <a:lstStyle/>
                    <a:p>
                      <a:r>
                        <a:rPr sz="1875" b="0">
                          <a:solidFill>
                            <a:srgbClr val="252F38"/>
                          </a:solidFill>
                          <a:latin typeface="Arial"/>
                          <a:ea typeface="Arial"/>
                          <a:cs typeface="Arial"/>
                        </a:rPr>
                        <a:t>3</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CorpProfits_lag2</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875" b="0">
                          <a:solidFill>
                            <a:srgbClr val="252F38"/>
                          </a:solidFill>
                          <a:latin typeface="Arial"/>
                          <a:ea typeface="Arial"/>
                          <a:cs typeface="Arial"/>
                        </a:rPr>
                        <a:t>&lt;0.001</a:t>
                      </a:r>
                    </a:p>
                  </a:txBody>
                  <a:tcPr marL="85725" marR="66675" marT="38100" marB="38100" anchor="ctr">
                    <a:solidFill>
                      <a:srgbClr val="FFFFFF"/>
                    </a:solidFill>
                  </a:tcPr>
                </a:tc>
                <a:extLst>
                  <a:ext uri="{0D108BD9-81ED-4DB2-BD59-A6C34878D82A}">
                    <a16:rowId xmlns:a16="http://schemas.microsoft.com/office/drawing/2014/main" val="10003"/>
                  </a:ext>
                </a:extLst>
              </a:tr>
              <a:tr h="533400">
                <a:tc>
                  <a:txBody>
                    <a:bodyPr/>
                    <a:lstStyle/>
                    <a:p>
                      <a:r>
                        <a:rPr sz="1875" b="0">
                          <a:solidFill>
                            <a:srgbClr val="252F38"/>
                          </a:solidFill>
                          <a:latin typeface="Arial"/>
                          <a:ea typeface="Arial"/>
                          <a:cs typeface="Arial"/>
                        </a:rPr>
                        <a:t>4</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None passes at 5%</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a:t>
                      </a:r>
                    </a:p>
                  </a:txBody>
                  <a:tcPr marL="85725" marR="66675" marT="38100" marB="38100" anchor="ctr">
                    <a:solidFill>
                      <a:srgbClr val="F3F5F6"/>
                    </a:solidFill>
                  </a:tcPr>
                </a:tc>
                <a:tc>
                  <a:txBody>
                    <a:bodyPr/>
                    <a:lstStyle/>
                    <a:p>
                      <a:r>
                        <a:rPr sz="1875" b="0">
                          <a:solidFill>
                            <a:srgbClr val="252F38"/>
                          </a:solidFill>
                          <a:latin typeface="Arial"/>
                          <a:ea typeface="Arial"/>
                          <a:cs typeface="Arial"/>
                        </a:rPr>
                        <a:t>–</a:t>
                      </a: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sp>
        <p:nvSpPr>
          <p:cNvPr id="16" name="矩形 15">
            <a:extLst>
              <a:ext uri="{FF2B5EF4-FFF2-40B4-BE49-F238E27FC236}">
                <a16:creationId xmlns:a16="http://schemas.microsoft.com/office/drawing/2014/main" id="{B4D8B3CC-7B4F-4901-AA60-11387BF6002E}"/>
              </a:ext>
            </a:extLst>
          </p:cNvPr>
          <p:cNvSpPr>
            <a:spLocks noGrp="1"/>
          </p:cNvSpPr>
          <p:nvPr/>
        </p:nvSpPr>
        <p:spPr>
          <a:xfrm>
            <a:off x="609600" y="5200650"/>
            <a:ext cx="10972800" cy="361950"/>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Selected terms: y_lag1, y_lag6 and CorpProfits_lag2.</a:t>
            </a:r>
          </a:p>
        </p:txBody>
      </p:sp>
      <p:sp>
        <p:nvSpPr>
          <p:cNvPr id="17" name="矩形 16">
            <a:extLst>
              <a:ext uri="{FF2B5EF4-FFF2-40B4-BE49-F238E27FC236}">
                <a16:creationId xmlns:a16="http://schemas.microsoft.com/office/drawing/2014/main" id="{8FEB898F-243D-4F9B-99BC-8C5168266A3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Selection stops at round 4 when no additional term passes the 5% significance criterion.</a:t>
            </a:r>
          </a:p>
        </p:txBody>
      </p:sp>
    </p:spTree>
    <p:extLst>
      <p:ext uri="{BB962C8B-B14F-4D97-AF65-F5344CB8AC3E}">
        <p14:creationId xmlns:p14="http://schemas.microsoft.com/office/powerpoint/2010/main" val="123447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2">
            <a:extLst>
              <a:ext uri="{FF2B5EF4-FFF2-40B4-BE49-F238E27FC236}">
                <a16:creationId xmlns:a16="http://schemas.microsoft.com/office/drawing/2014/main" id="{5EFE8EE1-B894-4D20-B3F2-98D2CBE30513}"/>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12</a:t>
            </a:r>
          </a:p>
        </p:txBody>
      </p:sp>
      <p:sp>
        <p:nvSpPr>
          <p:cNvPr id="13" name="Slide title">
            <a:extLst>
              <a:ext uri="{FF2B5EF4-FFF2-40B4-BE49-F238E27FC236}">
                <a16:creationId xmlns:a16="http://schemas.microsoft.com/office/drawing/2014/main" id="{B887D39E-83A9-4D71-B6DE-052EAF63F99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a:t>
            </a:r>
          </a:p>
        </p:txBody>
      </p:sp>
      <p:sp>
        <p:nvSpPr>
          <p:cNvPr id="14" name="矩形 13">
            <a:extLst>
              <a:ext uri="{FF2B5EF4-FFF2-40B4-BE49-F238E27FC236}">
                <a16:creationId xmlns:a16="http://schemas.microsoft.com/office/drawing/2014/main" id="{14BF162E-FC03-4098-BC69-1AB3C5D9B170}"/>
              </a:ext>
            </a:extLst>
          </p:cNvPr>
          <p:cNvSpPr>
            <a:spLocks noGrp="1"/>
          </p:cNvSpPr>
          <p:nvPr/>
        </p:nvSpPr>
        <p:spPr>
          <a:xfrm>
            <a:off x="609600" y="1381125"/>
            <a:ext cx="10972800" cy="819150"/>
          </a:xfrm>
          <a:prstGeom prst="rect">
            <a:avLst/>
          </a:prstGeom>
          <a:noFill/>
          <a:ln w="0">
            <a:noFill/>
          </a:ln>
        </p:spPr>
        <p:txBody>
          <a:bodyPr anchor="t">
            <a:noAutofit/>
          </a:bodyPr>
          <a:lstStyle/>
          <a:p>
            <a:pPr>
              <a:buNone/>
              <a:defRPr sz="2025" b="0">
                <a:solidFill>
                  <a:srgbClr val="00476B"/>
                </a:solidFill>
                <a:latin typeface="Arial"/>
                <a:ea typeface="Arial"/>
                <a:cs typeface="Arial"/>
              </a:defRPr>
            </a:pPr>
            <a:r>
              <a:rPr sz="2025" b="0">
                <a:solidFill>
                  <a:srgbClr val="00476B"/>
                </a:solidFill>
                <a:latin typeface="Arial"/>
                <a:ea typeface="Arial"/>
                <a:cs typeface="Arial"/>
              </a:rPr>
              <a:t>y(t) = 1.783 − 0.6535 × EC_scaled_adj_lag12(t) + 0.296 × y_lag1(t)</a:t>
            </a:r>
          </a:p>
          <a:p>
            <a:pPr>
              <a:buNone/>
              <a:defRPr sz="2025" b="0">
                <a:solidFill>
                  <a:srgbClr val="00476B"/>
                </a:solidFill>
                <a:latin typeface="Arial"/>
                <a:ea typeface="Arial"/>
                <a:cs typeface="Arial"/>
              </a:defRPr>
            </a:pPr>
            <a:r>
              <a:rPr sz="2025" b="0">
                <a:solidFill>
                  <a:srgbClr val="00476B"/>
                </a:solidFill>
                <a:latin typeface="Arial"/>
                <a:ea typeface="Arial"/>
                <a:cs typeface="Arial"/>
              </a:rPr>
              <a:t>         + 0.250 × y_lag6(t) + 0.422 × CorpProfits_lag2(t) + e(t)</a:t>
            </a:r>
          </a:p>
        </p:txBody>
      </p:sp>
      <p:graphicFrame>
        <p:nvGraphicFramePr>
          <p:cNvPr id="21" name="表格 20"/>
          <p:cNvGraphicFramePr/>
          <p:nvPr/>
        </p:nvGraphicFramePr>
        <p:xfrm>
          <a:off x="609600" y="2647950"/>
          <a:ext cx="10972800" cy="2800350"/>
        </p:xfrm>
        <a:graphic>
          <a:graphicData uri="http://schemas.openxmlformats.org/drawingml/2006/table">
            <a:tbl>
              <a:tblPr/>
              <a:tblGrid>
                <a:gridCol w="51435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466725">
                <a:tc>
                  <a:txBody>
                    <a:bodyPr/>
                    <a:lstStyle/>
                    <a:p>
                      <a:r>
                        <a:rPr sz="1800" b="1">
                          <a:solidFill>
                            <a:srgbClr val="FFFFFF"/>
                          </a:solidFill>
                          <a:latin typeface="Arial"/>
                          <a:ea typeface="Arial"/>
                          <a:cs typeface="Arial"/>
                        </a:rPr>
                        <a:t>Term</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Coefficient</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p-value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VIF</a:t>
                      </a:r>
                    </a:p>
                  </a:txBody>
                  <a:tcPr marL="85725" marR="66675" marT="38100" marB="38100" anchor="ctr">
                    <a:solidFill>
                      <a:srgbClr val="006C98"/>
                    </a:solidFill>
                  </a:tcPr>
                </a:tc>
                <a:extLst>
                  <a:ext uri="{0D108BD9-81ED-4DB2-BD59-A6C34878D82A}">
                    <a16:rowId xmlns:a16="http://schemas.microsoft.com/office/drawing/2014/main" val="10000"/>
                  </a:ext>
                </a:extLst>
              </a:tr>
              <a:tr h="466725">
                <a:tc>
                  <a:txBody>
                    <a:bodyPr/>
                    <a:lstStyle/>
                    <a:p>
                      <a:r>
                        <a:rPr sz="1800" b="0">
                          <a:solidFill>
                            <a:srgbClr val="252F38"/>
                          </a:solidFill>
                          <a:latin typeface="Arial"/>
                          <a:ea typeface="Arial"/>
                          <a:cs typeface="Arial"/>
                        </a:rPr>
                        <a:t>const</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1.7831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0.039</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a:t>
                      </a:r>
                    </a:p>
                  </a:txBody>
                  <a:tcPr marL="85725" marR="66675" marT="38100" marB="38100" anchor="ctr">
                    <a:solidFill>
                      <a:srgbClr val="FFFFFF"/>
                    </a:solidFill>
                  </a:tcPr>
                </a:tc>
                <a:extLst>
                  <a:ext uri="{0D108BD9-81ED-4DB2-BD59-A6C34878D82A}">
                    <a16:rowId xmlns:a16="http://schemas.microsoft.com/office/drawing/2014/main" val="10001"/>
                  </a:ext>
                </a:extLst>
              </a:tr>
              <a:tr h="466725">
                <a:tc>
                  <a:txBody>
                    <a:bodyPr/>
                    <a:lstStyle/>
                    <a:p>
                      <a:r>
                        <a:rPr sz="1800" b="0">
                          <a:solidFill>
                            <a:srgbClr val="252F38"/>
                          </a:solidFill>
                          <a:latin typeface="Arial"/>
                          <a:ea typeface="Arial"/>
                          <a:cs typeface="Arial"/>
                        </a:rPr>
                        <a:t>EC_scaled_adj_lag12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-0.6535</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1.23</a:t>
                      </a:r>
                    </a:p>
                  </a:txBody>
                  <a:tcPr marL="85725" marR="66675" marT="38100" marB="38100" anchor="ctr">
                    <a:solidFill>
                      <a:srgbClr val="F3F5F6"/>
                    </a:solidFill>
                  </a:tcPr>
                </a:tc>
                <a:extLst>
                  <a:ext uri="{0D108BD9-81ED-4DB2-BD59-A6C34878D82A}">
                    <a16:rowId xmlns:a16="http://schemas.microsoft.com/office/drawing/2014/main" val="10002"/>
                  </a:ext>
                </a:extLst>
              </a:tr>
              <a:tr h="466725">
                <a:tc>
                  <a:txBody>
                    <a:bodyPr/>
                    <a:lstStyle/>
                    <a:p>
                      <a:r>
                        <a:rPr sz="1800" b="0">
                          <a:solidFill>
                            <a:srgbClr val="252F38"/>
                          </a:solidFill>
                          <a:latin typeface="Arial"/>
                          <a:ea typeface="Arial"/>
                          <a:cs typeface="Arial"/>
                        </a:rPr>
                        <a:t>y_lag1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0.2964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2.25</a:t>
                      </a:r>
                    </a:p>
                  </a:txBody>
                  <a:tcPr marL="85725" marR="66675" marT="38100" marB="38100" anchor="ctr">
                    <a:solidFill>
                      <a:srgbClr val="FFFFFF"/>
                    </a:solidFill>
                  </a:tcPr>
                </a:tc>
                <a:extLst>
                  <a:ext uri="{0D108BD9-81ED-4DB2-BD59-A6C34878D82A}">
                    <a16:rowId xmlns:a16="http://schemas.microsoft.com/office/drawing/2014/main" val="10003"/>
                  </a:ext>
                </a:extLst>
              </a:tr>
              <a:tr h="466725">
                <a:tc>
                  <a:txBody>
                    <a:bodyPr/>
                    <a:lstStyle/>
                    <a:p>
                      <a:r>
                        <a:rPr sz="1800" b="0">
                          <a:solidFill>
                            <a:srgbClr val="252F38"/>
                          </a:solidFill>
                          <a:latin typeface="Arial"/>
                          <a:ea typeface="Arial"/>
                          <a:cs typeface="Arial"/>
                        </a:rPr>
                        <a:t>y_lag6</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0.2502</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1.29</a:t>
                      </a:r>
                    </a:p>
                  </a:txBody>
                  <a:tcPr marL="85725" marR="66675" marT="38100" marB="38100" anchor="ctr">
                    <a:solidFill>
                      <a:srgbClr val="F3F5F6"/>
                    </a:solidFill>
                  </a:tcPr>
                </a:tc>
                <a:extLst>
                  <a:ext uri="{0D108BD9-81ED-4DB2-BD59-A6C34878D82A}">
                    <a16:rowId xmlns:a16="http://schemas.microsoft.com/office/drawing/2014/main" val="10004"/>
                  </a:ext>
                </a:extLst>
              </a:tr>
              <a:tr h="466725">
                <a:tc>
                  <a:txBody>
                    <a:bodyPr/>
                    <a:lstStyle/>
                    <a:p>
                      <a:r>
                        <a:rPr sz="1800" b="0">
                          <a:solidFill>
                            <a:srgbClr val="252F38"/>
                          </a:solidFill>
                          <a:latin typeface="Arial"/>
                          <a:ea typeface="Arial"/>
                          <a:cs typeface="Arial"/>
                        </a:rPr>
                        <a:t>CorpProfits_lag2</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0.4220</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&lt;0.001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2.16</a:t>
                      </a:r>
                    </a:p>
                  </a:txBody>
                  <a:tcPr marL="85725" marR="66675"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16" name="矩形 15">
            <a:extLst>
              <a:ext uri="{FF2B5EF4-FFF2-40B4-BE49-F238E27FC236}">
                <a16:creationId xmlns:a16="http://schemas.microsoft.com/office/drawing/2014/main" id="{3360BAA5-FABE-4A0C-A69C-10033E0219D7}"/>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negative adjusted EC coefficient provides correction toward the adjusted long-run relationship.</a:t>
            </a:r>
          </a:p>
        </p:txBody>
      </p:sp>
    </p:spTree>
    <p:extLst>
      <p:ext uri="{BB962C8B-B14F-4D97-AF65-F5344CB8AC3E}">
        <p14:creationId xmlns:p14="http://schemas.microsoft.com/office/powerpoint/2010/main" val="189941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4">
            <a:extLst>
              <a:ext uri="{FF2B5EF4-FFF2-40B4-BE49-F238E27FC236}">
                <a16:creationId xmlns:a16="http://schemas.microsoft.com/office/drawing/2014/main" id="{8B86A4A4-50D0-4621-B9F9-3CF3052C8D0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13</a:t>
            </a:r>
          </a:p>
        </p:txBody>
      </p:sp>
      <p:sp>
        <p:nvSpPr>
          <p:cNvPr id="12" name="Slide title">
            <a:extLst>
              <a:ext uri="{FF2B5EF4-FFF2-40B4-BE49-F238E27FC236}">
                <a16:creationId xmlns:a16="http://schemas.microsoft.com/office/drawing/2014/main" id="{BE615CA5-36E3-4F09-B150-CA6AFFE5BC09}"/>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Model Diagnostics and Fit Accuracy</a:t>
            </a:r>
          </a:p>
        </p:txBody>
      </p:sp>
      <p:graphicFrame>
        <p:nvGraphicFramePr>
          <p:cNvPr id="20" name="表格 19"/>
          <p:cNvGraphicFramePr/>
          <p:nvPr/>
        </p:nvGraphicFramePr>
        <p:xfrm>
          <a:off x="609600" y="1438275"/>
          <a:ext cx="10972800" cy="2257425"/>
        </p:xfrm>
        <a:graphic>
          <a:graphicData uri="http://schemas.openxmlformats.org/drawingml/2006/table">
            <a:tbl>
              <a:tblPr/>
              <a:tblGrid>
                <a:gridCol w="3429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1485">
                <a:tc>
                  <a:txBody>
                    <a:bodyPr/>
                    <a:lstStyle/>
                    <a:p>
                      <a:r>
                        <a:rPr sz="1725" b="1">
                          <a:solidFill>
                            <a:srgbClr val="FFFFFF"/>
                          </a:solidFill>
                          <a:latin typeface="Arial"/>
                          <a:ea typeface="Arial"/>
                          <a:cs typeface="Arial"/>
                        </a:rPr>
                        <a:t>Diagnostic</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Result</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Diagnostic</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Result</a:t>
                      </a:r>
                    </a:p>
                  </a:txBody>
                  <a:tcPr marL="85725" marR="66675" marT="38100" marB="38100" anchor="ctr">
                    <a:solidFill>
                      <a:srgbClr val="006C98"/>
                    </a:solidFill>
                  </a:tcPr>
                </a:tc>
                <a:extLst>
                  <a:ext uri="{0D108BD9-81ED-4DB2-BD59-A6C34878D82A}">
                    <a16:rowId xmlns:a16="http://schemas.microsoft.com/office/drawing/2014/main" val="10000"/>
                  </a:ext>
                </a:extLst>
              </a:tr>
              <a:tr h="451485">
                <a:tc>
                  <a:txBody>
                    <a:bodyPr/>
                    <a:lstStyle/>
                    <a:p>
                      <a:r>
                        <a:rPr sz="1725" b="0">
                          <a:solidFill>
                            <a:srgbClr val="252F38"/>
                          </a:solidFill>
                          <a:latin typeface="Arial"/>
                          <a:ea typeface="Arial"/>
                          <a:cs typeface="Arial"/>
                        </a:rPr>
                        <a:t>n</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AIC</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929.5</a:t>
                      </a:r>
                    </a:p>
                  </a:txBody>
                  <a:tcPr marL="85725" marR="66675" marT="38100" marB="38100" anchor="ctr">
                    <a:solidFill>
                      <a:srgbClr val="FFFFFF"/>
                    </a:solidFill>
                  </a:tcPr>
                </a:tc>
                <a:extLst>
                  <a:ext uri="{0D108BD9-81ED-4DB2-BD59-A6C34878D82A}">
                    <a16:rowId xmlns:a16="http://schemas.microsoft.com/office/drawing/2014/main" val="10001"/>
                  </a:ext>
                </a:extLst>
              </a:tr>
              <a:tr h="451485">
                <a:tc>
                  <a:txBody>
                    <a:bodyPr/>
                    <a:lstStyle/>
                    <a:p>
                      <a:r>
                        <a:rPr sz="1725" b="0">
                          <a:solidFill>
                            <a:srgbClr val="252F38"/>
                          </a:solidFill>
                          <a:latin typeface="Arial"/>
                          <a:ea typeface="Arial"/>
                          <a:cs typeface="Arial"/>
                        </a:rPr>
                        <a:t>R²</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0.744</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Durbin-Watson</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2.032</a:t>
                      </a:r>
                    </a:p>
                  </a:txBody>
                  <a:tcPr marL="85725" marR="66675" marT="38100" marB="38100" anchor="ctr">
                    <a:solidFill>
                      <a:srgbClr val="F3F5F6"/>
                    </a:solidFill>
                  </a:tcPr>
                </a:tc>
                <a:extLst>
                  <a:ext uri="{0D108BD9-81ED-4DB2-BD59-A6C34878D82A}">
                    <a16:rowId xmlns:a16="http://schemas.microsoft.com/office/drawing/2014/main" val="10002"/>
                  </a:ext>
                </a:extLst>
              </a:tr>
              <a:tr h="451485">
                <a:tc>
                  <a:txBody>
                    <a:bodyPr/>
                    <a:lstStyle/>
                    <a:p>
                      <a:r>
                        <a:rPr sz="1725" b="0">
                          <a:solidFill>
                            <a:srgbClr val="252F38"/>
                          </a:solidFill>
                          <a:latin typeface="Arial"/>
                          <a:ea typeface="Arial"/>
                          <a:cs typeface="Arial"/>
                        </a:rPr>
                        <a:t>Adjusted R²</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0.736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Jarque-Bera p</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0.757</a:t>
                      </a:r>
                    </a:p>
                  </a:txBody>
                  <a:tcPr marL="85725" marR="66675" marT="38100" marB="38100" anchor="ctr">
                    <a:solidFill>
                      <a:srgbClr val="FFFFFF"/>
                    </a:solidFill>
                  </a:tcPr>
                </a:tc>
                <a:extLst>
                  <a:ext uri="{0D108BD9-81ED-4DB2-BD59-A6C34878D82A}">
                    <a16:rowId xmlns:a16="http://schemas.microsoft.com/office/drawing/2014/main" val="10003"/>
                  </a:ext>
                </a:extLst>
              </a:tr>
              <a:tr h="451485">
                <a:tc>
                  <a:txBody>
                    <a:bodyPr/>
                    <a:lstStyle/>
                    <a:p>
                      <a:r>
                        <a:rPr sz="1725" b="0">
                          <a:solidFill>
                            <a:srgbClr val="252F38"/>
                          </a:solidFill>
                          <a:latin typeface="Arial"/>
                          <a:ea typeface="Arial"/>
                          <a:cs typeface="Arial"/>
                        </a:rPr>
                        <a:t>Maximum VIF</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2.25</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Ljung-Box(12) p</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0.318</a:t>
                      </a:r>
                    </a:p>
                  </a:txBody>
                  <a:tcPr marL="85725" marR="66675" marT="38100" marB="38100" anchor="ctr">
                    <a:solidFill>
                      <a:srgbClr val="F3F5F6"/>
                    </a:solidFill>
                  </a:tcPr>
                </a:tc>
                <a:extLst>
                  <a:ext uri="{0D108BD9-81ED-4DB2-BD59-A6C34878D82A}">
                    <a16:rowId xmlns:a16="http://schemas.microsoft.com/office/drawing/2014/main" val="10004"/>
                  </a:ext>
                </a:extLst>
              </a:tr>
            </a:tbl>
          </a:graphicData>
        </a:graphic>
      </p:graphicFrame>
      <p:graphicFrame>
        <p:nvGraphicFramePr>
          <p:cNvPr id="21" name="表格 20"/>
          <p:cNvGraphicFramePr/>
          <p:nvPr/>
        </p:nvGraphicFramePr>
        <p:xfrm>
          <a:off x="609600" y="4057650"/>
          <a:ext cx="10972800" cy="1590676"/>
        </p:xfrm>
        <a:graphic>
          <a:graphicData uri="http://schemas.openxmlformats.org/drawingml/2006/table">
            <a:tbl>
              <a:tblPr/>
              <a:tblGrid>
                <a:gridCol w="43053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397669">
                <a:tc>
                  <a:txBody>
                    <a:bodyPr/>
                    <a:lstStyle/>
                    <a:p>
                      <a:r>
                        <a:rPr sz="1725" b="1">
                          <a:solidFill>
                            <a:srgbClr val="FFFFFF"/>
                          </a:solidFill>
                          <a:latin typeface="Arial"/>
                          <a:ea typeface="Arial"/>
                          <a:cs typeface="Arial"/>
                        </a:rPr>
                        <a:t>Evaluation window</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n</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MAPE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RMSE</a:t>
                      </a:r>
                    </a:p>
                  </a:txBody>
                  <a:tcPr marL="85725" marR="66675" marT="38100" marB="38100" anchor="ctr">
                    <a:solidFill>
                      <a:srgbClr val="006C98"/>
                    </a:solidFill>
                  </a:tcPr>
                </a:tc>
                <a:tc>
                  <a:txBody>
                    <a:bodyPr/>
                    <a:lstStyle/>
                    <a:p>
                      <a:r>
                        <a:rPr sz="1725" b="1">
                          <a:solidFill>
                            <a:srgbClr val="FFFFFF"/>
                          </a:solidFill>
                          <a:latin typeface="Arial"/>
                          <a:ea typeface="Arial"/>
                          <a:cs typeface="Arial"/>
                        </a:rPr>
                        <a:t>MAE</a:t>
                      </a:r>
                    </a:p>
                  </a:txBody>
                  <a:tcPr marL="85725" marR="66675" marT="38100" marB="38100" anchor="ctr">
                    <a:solidFill>
                      <a:srgbClr val="006C98"/>
                    </a:solidFill>
                  </a:tcPr>
                </a:tc>
                <a:extLst>
                  <a:ext uri="{0D108BD9-81ED-4DB2-BD59-A6C34878D82A}">
                    <a16:rowId xmlns:a16="http://schemas.microsoft.com/office/drawing/2014/main" val="10000"/>
                  </a:ext>
                </a:extLst>
              </a:tr>
              <a:tr h="397669">
                <a:tc>
                  <a:txBody>
                    <a:bodyPr/>
                    <a:lstStyle/>
                    <a:p>
                      <a:r>
                        <a:rPr sz="1725" b="0">
                          <a:solidFill>
                            <a:srgbClr val="252F38"/>
                          </a:solidFill>
                          <a:latin typeface="Arial"/>
                          <a:ea typeface="Arial"/>
                          <a:cs typeface="Arial"/>
                        </a:rPr>
                        <a:t>IS level fit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135</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5.39%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105.9</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82.9</a:t>
                      </a:r>
                    </a:p>
                  </a:txBody>
                  <a:tcPr marL="85725" marR="66675" marT="38100" marB="38100" anchor="ctr">
                    <a:solidFill>
                      <a:srgbClr val="FFFFFF"/>
                    </a:solidFill>
                  </a:tcPr>
                </a:tc>
                <a:extLst>
                  <a:ext uri="{0D108BD9-81ED-4DB2-BD59-A6C34878D82A}">
                    <a16:rowId xmlns:a16="http://schemas.microsoft.com/office/drawing/2014/main" val="10001"/>
                  </a:ext>
                </a:extLst>
              </a:tr>
              <a:tr h="397669">
                <a:tc>
                  <a:txBody>
                    <a:bodyPr/>
                    <a:lstStyle/>
                    <a:p>
                      <a:r>
                        <a:rPr sz="1725" b="0">
                          <a:solidFill>
                            <a:srgbClr val="252F38"/>
                          </a:solidFill>
                          <a:latin typeface="Arial"/>
                          <a:ea typeface="Arial"/>
                          <a:cs typeface="Arial"/>
                        </a:rPr>
                        <a:t>OOT static fit</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27</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8.76%</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231.4</a:t>
                      </a:r>
                    </a:p>
                  </a:txBody>
                  <a:tcPr marL="85725" marR="66675" marT="38100" marB="38100" anchor="ctr">
                    <a:solidFill>
                      <a:srgbClr val="F3F5F6"/>
                    </a:solidFill>
                  </a:tcPr>
                </a:tc>
                <a:tc>
                  <a:txBody>
                    <a:bodyPr/>
                    <a:lstStyle/>
                    <a:p>
                      <a:r>
                        <a:rPr sz="1725" b="0">
                          <a:solidFill>
                            <a:srgbClr val="252F38"/>
                          </a:solidFill>
                          <a:latin typeface="Arial"/>
                          <a:ea typeface="Arial"/>
                          <a:cs typeface="Arial"/>
                        </a:rPr>
                        <a:t>190.9</a:t>
                      </a:r>
                    </a:p>
                  </a:txBody>
                  <a:tcPr marL="85725" marR="66675" marT="38100" marB="38100" anchor="ctr">
                    <a:solidFill>
                      <a:srgbClr val="F3F5F6"/>
                    </a:solidFill>
                  </a:tcPr>
                </a:tc>
                <a:extLst>
                  <a:ext uri="{0D108BD9-81ED-4DB2-BD59-A6C34878D82A}">
                    <a16:rowId xmlns:a16="http://schemas.microsoft.com/office/drawing/2014/main" val="10002"/>
                  </a:ext>
                </a:extLst>
              </a:tr>
              <a:tr h="397669">
                <a:tc>
                  <a:txBody>
                    <a:bodyPr/>
                    <a:lstStyle/>
                    <a:p>
                      <a:r>
                        <a:rPr sz="1725" b="0">
                          <a:solidFill>
                            <a:srgbClr val="252F38"/>
                          </a:solidFill>
                          <a:latin typeface="Arial"/>
                          <a:ea typeface="Arial"/>
                          <a:cs typeface="Arial"/>
                        </a:rPr>
                        <a:t>OOT dynamic fit</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27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16.16%</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380.7</a:t>
                      </a:r>
                    </a:p>
                  </a:txBody>
                  <a:tcPr marL="85725" marR="66675" marT="38100" marB="38100" anchor="ctr">
                    <a:solidFill>
                      <a:srgbClr val="FFFFFF"/>
                    </a:solidFill>
                  </a:tcPr>
                </a:tc>
                <a:tc>
                  <a:txBody>
                    <a:bodyPr/>
                    <a:lstStyle/>
                    <a:p>
                      <a:r>
                        <a:rPr sz="1725" b="0">
                          <a:solidFill>
                            <a:srgbClr val="252F38"/>
                          </a:solidFill>
                          <a:latin typeface="Arial"/>
                          <a:ea typeface="Arial"/>
                          <a:cs typeface="Arial"/>
                        </a:rPr>
                        <a:t>354.7</a:t>
                      </a:r>
                    </a:p>
                  </a:txBody>
                  <a:tcPr marL="85725" marR="66675"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5" name="矩形 14">
            <a:extLst>
              <a:ext uri="{FF2B5EF4-FFF2-40B4-BE49-F238E27FC236}">
                <a16:creationId xmlns:a16="http://schemas.microsoft.com/office/drawing/2014/main" id="{951C5311-1B14-4728-8966-597EE3EFBB5F}"/>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OOT observations inform screening and overlay estimation, so these errors describe a fitted backtest.</a:t>
            </a:r>
          </a:p>
        </p:txBody>
      </p:sp>
    </p:spTree>
    <p:extLst>
      <p:ext uri="{BB962C8B-B14F-4D97-AF65-F5344CB8AC3E}">
        <p14:creationId xmlns:p14="http://schemas.microsoft.com/office/powerpoint/2010/main" val="1981170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5">
            <a:extLst>
              <a:ext uri="{FF2B5EF4-FFF2-40B4-BE49-F238E27FC236}">
                <a16:creationId xmlns:a16="http://schemas.microsoft.com/office/drawing/2014/main" id="{81A532AC-267C-43BA-806B-3824C676BAB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14</a:t>
            </a:r>
          </a:p>
        </p:txBody>
      </p:sp>
      <p:sp>
        <p:nvSpPr>
          <p:cNvPr id="12" name="Slide title">
            <a:extLst>
              <a:ext uri="{FF2B5EF4-FFF2-40B4-BE49-F238E27FC236}">
                <a16:creationId xmlns:a16="http://schemas.microsoft.com/office/drawing/2014/main" id="{40A9851E-6FC4-442F-A209-7E4D7A43860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 IS Fit Results</a:t>
            </a:r>
          </a:p>
        </p:txBody>
      </p:sp>
      <p:sp>
        <p:nvSpPr>
          <p:cNvPr id="13" name="矩形 12">
            <a:extLst>
              <a:ext uri="{FF2B5EF4-FFF2-40B4-BE49-F238E27FC236}">
                <a16:creationId xmlns:a16="http://schemas.microsoft.com/office/drawing/2014/main" id="{1A7D4C53-F7E9-4045-A2F5-C6F5AACB16F6}"/>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Reconstructed monthly fee levels, Jul 2012 to Sep 2023</a:t>
            </a:r>
          </a:p>
        </p:txBody>
      </p:sp>
      <p:graphicFrame>
        <p:nvGraphicFramePr>
          <p:cNvPr id="20" name="Chart"/>
          <p:cNvGraphicFramePr/>
          <p:nvPr/>
        </p:nvGraphicFramePr>
        <p:xfrm>
          <a:off x="609600" y="1809750"/>
          <a:ext cx="109728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15" name="矩形 14">
            <a:extLst>
              <a:ext uri="{FF2B5EF4-FFF2-40B4-BE49-F238E27FC236}">
                <a16:creationId xmlns:a16="http://schemas.microsoft.com/office/drawing/2014/main" id="{11482D87-EB50-4FDC-B470-6EAA3205FF85}"/>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IS MAPE is 5.39% and RMSE is 105.9 across 135 observations.</a:t>
            </a:r>
          </a:p>
        </p:txBody>
      </p:sp>
    </p:spTree>
    <p:extLst>
      <p:ext uri="{BB962C8B-B14F-4D97-AF65-F5344CB8AC3E}">
        <p14:creationId xmlns:p14="http://schemas.microsoft.com/office/powerpoint/2010/main" val="1557811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16">
            <a:extLst>
              <a:ext uri="{FF2B5EF4-FFF2-40B4-BE49-F238E27FC236}">
                <a16:creationId xmlns:a16="http://schemas.microsoft.com/office/drawing/2014/main" id="{B18967CE-514E-4B63-BFA2-12BFFAA69BC4}"/>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15</a:t>
            </a:r>
          </a:p>
        </p:txBody>
      </p:sp>
      <p:sp>
        <p:nvSpPr>
          <p:cNvPr id="14" name="Slide title">
            <a:extLst>
              <a:ext uri="{FF2B5EF4-FFF2-40B4-BE49-F238E27FC236}">
                <a16:creationId xmlns:a16="http://schemas.microsoft.com/office/drawing/2014/main" id="{6F23FE42-DB91-407B-BCD3-E62078792036}"/>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Final Short-Run Model: OOT Fit Results</a:t>
            </a:r>
          </a:p>
        </p:txBody>
      </p:sp>
      <p:sp>
        <p:nvSpPr>
          <p:cNvPr id="15" name="矩形 14">
            <a:extLst>
              <a:ext uri="{FF2B5EF4-FFF2-40B4-BE49-F238E27FC236}">
                <a16:creationId xmlns:a16="http://schemas.microsoft.com/office/drawing/2014/main" id="{0A4BFF75-F230-40C0-81BB-F5025B6B92FD}"/>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Oct 2023 to Dec 2025, with overlay-adjusted EC throughout</a:t>
            </a:r>
          </a:p>
        </p:txBody>
      </p:sp>
      <p:graphicFrame>
        <p:nvGraphicFramePr>
          <p:cNvPr id="24" name="Chart"/>
          <p:cNvGraphicFramePr/>
          <p:nvPr/>
        </p:nvGraphicFramePr>
        <p:xfrm>
          <a:off x="609600" y="1781175"/>
          <a:ext cx="10972800" cy="2905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表格 24"/>
          <p:cNvGraphicFramePr/>
          <p:nvPr/>
        </p:nvGraphicFramePr>
        <p:xfrm>
          <a:off x="609600" y="4876800"/>
          <a:ext cx="10972800" cy="942975"/>
        </p:xfrm>
        <a:graphic>
          <a:graphicData uri="http://schemas.openxmlformats.org/drawingml/2006/table">
            <a:tbl>
              <a:tblPr/>
              <a:tblGrid>
                <a:gridCol w="6400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14325">
                <a:tc>
                  <a:txBody>
                    <a:bodyPr/>
                    <a:lstStyle/>
                    <a:p>
                      <a:r>
                        <a:rPr sz="1650" b="1">
                          <a:solidFill>
                            <a:srgbClr val="FFFFFF"/>
                          </a:solidFill>
                          <a:latin typeface="Arial"/>
                          <a:ea typeface="Arial"/>
                          <a:cs typeface="Arial"/>
                        </a:rPr>
                        <a:t>Method</a:t>
                      </a:r>
                    </a:p>
                  </a:txBody>
                  <a:tcPr marL="85725" marR="66675" marT="0" marB="0" anchor="ctr">
                    <a:solidFill>
                      <a:srgbClr val="006C98"/>
                    </a:solidFill>
                  </a:tcPr>
                </a:tc>
                <a:tc>
                  <a:txBody>
                    <a:bodyPr/>
                    <a:lstStyle/>
                    <a:p>
                      <a:r>
                        <a:rPr sz="1650" b="1">
                          <a:solidFill>
                            <a:srgbClr val="FFFFFF"/>
                          </a:solidFill>
                          <a:latin typeface="Arial"/>
                          <a:ea typeface="Arial"/>
                          <a:cs typeface="Arial"/>
                        </a:rPr>
                        <a:t>MAPE</a:t>
                      </a:r>
                    </a:p>
                  </a:txBody>
                  <a:tcPr marL="85725" marR="66675" marT="0" marB="0" anchor="ctr">
                    <a:solidFill>
                      <a:srgbClr val="006C98"/>
                    </a:solidFill>
                  </a:tcPr>
                </a:tc>
                <a:tc>
                  <a:txBody>
                    <a:bodyPr/>
                    <a:lstStyle/>
                    <a:p>
                      <a:r>
                        <a:rPr sz="1650" b="1">
                          <a:solidFill>
                            <a:srgbClr val="FFFFFF"/>
                          </a:solidFill>
                          <a:latin typeface="Arial"/>
                          <a:ea typeface="Arial"/>
                          <a:cs typeface="Arial"/>
                        </a:rPr>
                        <a:t>RMSE</a:t>
                      </a:r>
                    </a:p>
                  </a:txBody>
                  <a:tcPr marL="85725" marR="66675" marT="0" marB="0" anchor="ctr">
                    <a:solidFill>
                      <a:srgbClr val="006C98"/>
                    </a:solidFill>
                  </a:tcPr>
                </a:tc>
                <a:extLst>
                  <a:ext uri="{0D108BD9-81ED-4DB2-BD59-A6C34878D82A}">
                    <a16:rowId xmlns:a16="http://schemas.microsoft.com/office/drawing/2014/main" val="10000"/>
                  </a:ext>
                </a:extLst>
              </a:tr>
              <a:tr h="314325">
                <a:tc>
                  <a:txBody>
                    <a:bodyPr/>
                    <a:lstStyle/>
                    <a:p>
                      <a:r>
                        <a:rPr sz="1650" b="0">
                          <a:solidFill>
                            <a:srgbClr val="252F38"/>
                          </a:solidFill>
                          <a:latin typeface="Arial"/>
                          <a:ea typeface="Arial"/>
                          <a:cs typeface="Arial"/>
                        </a:rPr>
                        <a:t>Static: observed own lags</a:t>
                      </a:r>
                    </a:p>
                  </a:txBody>
                  <a:tcPr marL="85725" marR="66675" marT="0" marB="0" anchor="ctr">
                    <a:solidFill>
                      <a:srgbClr val="FFFFFF"/>
                    </a:solidFill>
                  </a:tcPr>
                </a:tc>
                <a:tc>
                  <a:txBody>
                    <a:bodyPr/>
                    <a:lstStyle/>
                    <a:p>
                      <a:r>
                        <a:rPr sz="1650" b="0">
                          <a:solidFill>
                            <a:srgbClr val="252F38"/>
                          </a:solidFill>
                          <a:latin typeface="Arial"/>
                          <a:ea typeface="Arial"/>
                          <a:cs typeface="Arial"/>
                        </a:rPr>
                        <a:t>8.76%</a:t>
                      </a:r>
                    </a:p>
                  </a:txBody>
                  <a:tcPr marL="85725" marR="66675" marT="0" marB="0" anchor="ctr">
                    <a:solidFill>
                      <a:srgbClr val="FFFFFF"/>
                    </a:solidFill>
                  </a:tcPr>
                </a:tc>
                <a:tc>
                  <a:txBody>
                    <a:bodyPr/>
                    <a:lstStyle/>
                    <a:p>
                      <a:r>
                        <a:rPr sz="1650" b="0">
                          <a:solidFill>
                            <a:srgbClr val="252F38"/>
                          </a:solidFill>
                          <a:latin typeface="Arial"/>
                          <a:ea typeface="Arial"/>
                          <a:cs typeface="Arial"/>
                        </a:rPr>
                        <a:t>231.4</a:t>
                      </a:r>
                    </a:p>
                  </a:txBody>
                  <a:tcPr marL="85725" marR="66675" marT="0" marB="0" anchor="ctr">
                    <a:solidFill>
                      <a:srgbClr val="FFFFFF"/>
                    </a:solidFill>
                  </a:tcPr>
                </a:tc>
                <a:extLst>
                  <a:ext uri="{0D108BD9-81ED-4DB2-BD59-A6C34878D82A}">
                    <a16:rowId xmlns:a16="http://schemas.microsoft.com/office/drawing/2014/main" val="10001"/>
                  </a:ext>
                </a:extLst>
              </a:tr>
              <a:tr h="314325">
                <a:tc>
                  <a:txBody>
                    <a:bodyPr/>
                    <a:lstStyle/>
                    <a:p>
                      <a:r>
                        <a:rPr sz="1650" b="0">
                          <a:solidFill>
                            <a:srgbClr val="252F38"/>
                          </a:solidFill>
                          <a:latin typeface="Arial"/>
                          <a:ea typeface="Arial"/>
                          <a:cs typeface="Arial"/>
                        </a:rPr>
                        <a:t>Dynamic: recursive own lags</a:t>
                      </a:r>
                    </a:p>
                  </a:txBody>
                  <a:tcPr marL="85725" marR="66675" marT="0" marB="0" anchor="ctr">
                    <a:solidFill>
                      <a:srgbClr val="F3F5F6"/>
                    </a:solidFill>
                  </a:tcPr>
                </a:tc>
                <a:tc>
                  <a:txBody>
                    <a:bodyPr/>
                    <a:lstStyle/>
                    <a:p>
                      <a:r>
                        <a:rPr sz="1650" b="0">
                          <a:solidFill>
                            <a:srgbClr val="252F38"/>
                          </a:solidFill>
                          <a:latin typeface="Arial"/>
                          <a:ea typeface="Arial"/>
                          <a:cs typeface="Arial"/>
                        </a:rPr>
                        <a:t>16.16%</a:t>
                      </a:r>
                    </a:p>
                  </a:txBody>
                  <a:tcPr marL="85725" marR="66675" marT="0" marB="0" anchor="ctr">
                    <a:solidFill>
                      <a:srgbClr val="F3F5F6"/>
                    </a:solidFill>
                  </a:tcPr>
                </a:tc>
                <a:tc>
                  <a:txBody>
                    <a:bodyPr/>
                    <a:lstStyle/>
                    <a:p>
                      <a:r>
                        <a:rPr sz="1650" b="0">
                          <a:solidFill>
                            <a:srgbClr val="252F38"/>
                          </a:solidFill>
                          <a:latin typeface="Arial"/>
                          <a:ea typeface="Arial"/>
                          <a:cs typeface="Arial"/>
                        </a:rPr>
                        <a:t>380.7</a:t>
                      </a:r>
                    </a:p>
                  </a:txBody>
                  <a:tcPr marL="85725" marR="66675" marT="0" marB="0" anchor="ctr">
                    <a:solidFill>
                      <a:srgbClr val="F3F5F6"/>
                    </a:solidFill>
                  </a:tcPr>
                </a:tc>
                <a:extLst>
                  <a:ext uri="{0D108BD9-81ED-4DB2-BD59-A6C34878D82A}">
                    <a16:rowId xmlns:a16="http://schemas.microsoft.com/office/drawing/2014/main" val="10002"/>
                  </a:ext>
                </a:extLst>
              </a:tr>
            </a:tbl>
          </a:graphicData>
        </a:graphic>
      </p:graphicFrame>
      <p:sp>
        <p:nvSpPr>
          <p:cNvPr id="18" name="矩形 17">
            <a:extLst>
              <a:ext uri="{FF2B5EF4-FFF2-40B4-BE49-F238E27FC236}">
                <a16:creationId xmlns:a16="http://schemas.microsoft.com/office/drawing/2014/main" id="{2654321F-FE3F-479F-BF63-6EAED69153FC}"/>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Dynamic fit recursively updates y_lag1 and y_lag6, which increases error accumulation.</a:t>
            </a:r>
          </a:p>
        </p:txBody>
      </p:sp>
    </p:spTree>
    <p:extLst>
      <p:ext uri="{BB962C8B-B14F-4D97-AF65-F5344CB8AC3E}">
        <p14:creationId xmlns:p14="http://schemas.microsoft.com/office/powerpoint/2010/main" val="7684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21">
            <a:extLst>
              <a:ext uri="{FF2B5EF4-FFF2-40B4-BE49-F238E27FC236}">
                <a16:creationId xmlns:a16="http://schemas.microsoft.com/office/drawing/2014/main" id="{82F601E0-C27A-4DF0-A950-5CA565C9339A}"/>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16</a:t>
            </a:r>
          </a:p>
        </p:txBody>
      </p:sp>
      <p:sp>
        <p:nvSpPr>
          <p:cNvPr id="15" name="Slide title">
            <a:extLst>
              <a:ext uri="{FF2B5EF4-FFF2-40B4-BE49-F238E27FC236}">
                <a16:creationId xmlns:a16="http://schemas.microsoft.com/office/drawing/2014/main" id="{9FC2CEF1-C192-4FF7-B6AF-2EBD22DA25E5}"/>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Forecast Method</a:t>
            </a:r>
          </a:p>
        </p:txBody>
      </p:sp>
      <p:sp>
        <p:nvSpPr>
          <p:cNvPr id="16" name="矩形 15">
            <a:extLst>
              <a:ext uri="{FF2B5EF4-FFF2-40B4-BE49-F238E27FC236}">
                <a16:creationId xmlns:a16="http://schemas.microsoft.com/office/drawing/2014/main" id="{4AEA0005-C06E-47B9-B3F7-25CBADD8C9DE}"/>
              </a:ext>
            </a:extLst>
          </p:cNvPr>
          <p:cNvSpPr>
            <a:spLocks noGrp="1"/>
          </p:cNvSpPr>
          <p:nvPr/>
        </p:nvSpPr>
        <p:spPr>
          <a:xfrm>
            <a:off x="609600" y="14192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Forecast YoY growth</a:t>
            </a:r>
          </a:p>
        </p:txBody>
      </p:sp>
      <p:sp>
        <p:nvSpPr>
          <p:cNvPr id="17" name="矩形 16">
            <a:extLst>
              <a:ext uri="{FF2B5EF4-FFF2-40B4-BE49-F238E27FC236}">
                <a16:creationId xmlns:a16="http://schemas.microsoft.com/office/drawing/2014/main" id="{056FC827-4A21-4DE6-8676-8BCE097CD338}"/>
              </a:ext>
            </a:extLst>
          </p:cNvPr>
          <p:cNvSpPr>
            <a:spLocks noGrp="1"/>
          </p:cNvSpPr>
          <p:nvPr/>
        </p:nvSpPr>
        <p:spPr>
          <a:xfrm>
            <a:off x="609600" y="18764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Use the short-run equation with the adjusted EC term, own-growth lags and corporate profit growth.</a:t>
            </a:r>
          </a:p>
        </p:txBody>
      </p:sp>
      <p:sp>
        <p:nvSpPr>
          <p:cNvPr id="18" name="矩形 17">
            <a:extLst>
              <a:ext uri="{FF2B5EF4-FFF2-40B4-BE49-F238E27FC236}">
                <a16:creationId xmlns:a16="http://schemas.microsoft.com/office/drawing/2014/main" id="{2E9ACED9-71EB-437B-B777-46D121D7827E}"/>
              </a:ext>
            </a:extLst>
          </p:cNvPr>
          <p:cNvSpPr>
            <a:spLocks noGrp="1"/>
          </p:cNvSpPr>
          <p:nvPr/>
        </p:nvSpPr>
        <p:spPr>
          <a:xfrm>
            <a:off x="609600" y="29051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Reconstruct the monthly level</a:t>
            </a:r>
          </a:p>
        </p:txBody>
      </p:sp>
      <p:sp>
        <p:nvSpPr>
          <p:cNvPr id="19" name="矩形 18">
            <a:extLst>
              <a:ext uri="{FF2B5EF4-FFF2-40B4-BE49-F238E27FC236}">
                <a16:creationId xmlns:a16="http://schemas.microsoft.com/office/drawing/2014/main" id="{D3D6E3D5-7210-4E3E-BFC1-47AABE049A60}"/>
              </a:ext>
            </a:extLst>
          </p:cNvPr>
          <p:cNvSpPr>
            <a:spLocks noGrp="1"/>
          </p:cNvSpPr>
          <p:nvPr/>
        </p:nvSpPr>
        <p:spPr>
          <a:xfrm>
            <a:off x="609600" y="33623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Combined_hat(t) = Combined(t − 12) × [1 + y_hat(t) / 100]</a:t>
            </a:r>
          </a:p>
        </p:txBody>
      </p:sp>
      <p:sp>
        <p:nvSpPr>
          <p:cNvPr id="20" name="矩形 19">
            <a:extLst>
              <a:ext uri="{FF2B5EF4-FFF2-40B4-BE49-F238E27FC236}">
                <a16:creationId xmlns:a16="http://schemas.microsoft.com/office/drawing/2014/main" id="{5D0D9CD1-C687-4731-B06E-B05838380C4E}"/>
              </a:ext>
            </a:extLst>
          </p:cNvPr>
          <p:cNvSpPr>
            <a:spLocks noGrp="1"/>
          </p:cNvSpPr>
          <p:nvPr/>
        </p:nvSpPr>
        <p:spPr>
          <a:xfrm>
            <a:off x="609600" y="4314825"/>
            <a:ext cx="10972800" cy="34290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Update the state each month</a:t>
            </a:r>
          </a:p>
        </p:txBody>
      </p:sp>
      <p:sp>
        <p:nvSpPr>
          <p:cNvPr id="21" name="矩形 20">
            <a:extLst>
              <a:ext uri="{FF2B5EF4-FFF2-40B4-BE49-F238E27FC236}">
                <a16:creationId xmlns:a16="http://schemas.microsoft.com/office/drawing/2014/main" id="{4D38A77A-0268-456F-BBD8-347274E6B4BD}"/>
              </a:ext>
            </a:extLst>
          </p:cNvPr>
          <p:cNvSpPr>
            <a:spLocks noGrp="1"/>
          </p:cNvSpPr>
          <p:nvPr/>
        </p:nvSpPr>
        <p:spPr>
          <a:xfrm>
            <a:off x="609600" y="4772025"/>
            <a:ext cx="10972800" cy="771525"/>
          </a:xfrm>
          <a:prstGeom prst="rect">
            <a:avLst/>
          </a:prstGeom>
          <a:noFill/>
          <a:ln w="0">
            <a:noFill/>
          </a:ln>
        </p:spPr>
        <p:txBody>
          <a:bodyPr anchor="t">
            <a:noAutofit/>
          </a:bodyPr>
          <a:lstStyle/>
          <a:p>
            <a:pPr>
              <a:buNone/>
              <a:defRPr sz="1875" b="0">
                <a:solidFill>
                  <a:srgbClr val="252F38"/>
                </a:solidFill>
                <a:latin typeface="Arial"/>
                <a:ea typeface="Arial"/>
                <a:cs typeface="Arial"/>
              </a:defRPr>
            </a:pPr>
            <a:r>
              <a:rPr sz="1875" b="0">
                <a:solidFill>
                  <a:srgbClr val="252F38"/>
                </a:solidFill>
                <a:latin typeface="Arial"/>
                <a:ea typeface="Arial"/>
                <a:cs typeface="Arial"/>
              </a:rPr>
              <a:t>Feed predicted levels into subsequent own lags and adjusted EC. Keep the overlay fixed at −30.143.</a:t>
            </a:r>
          </a:p>
        </p:txBody>
      </p:sp>
      <p:sp>
        <p:nvSpPr>
          <p:cNvPr id="22" name="矩形 21">
            <a:extLst>
              <a:ext uri="{FF2B5EF4-FFF2-40B4-BE49-F238E27FC236}">
                <a16:creationId xmlns:a16="http://schemas.microsoft.com/office/drawing/2014/main" id="{2B03CA37-3A3D-4031-9AFD-97D1D065069B}"/>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 27-month forecast starts in Jan 2026 and ends in Mar 2028.</a:t>
            </a:r>
          </a:p>
        </p:txBody>
      </p:sp>
    </p:spTree>
    <p:extLst>
      <p:ext uri="{BB962C8B-B14F-4D97-AF65-F5344CB8AC3E}">
        <p14:creationId xmlns:p14="http://schemas.microsoft.com/office/powerpoint/2010/main" val="68448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118D631-1EBB-4898-851F-A771EFAAEF7F}"/>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and S4 Scenario Inputs</a:t>
            </a:r>
          </a:p>
        </p:txBody>
      </p:sp>
      <p:sp>
        <p:nvSpPr>
          <p:cNvPr id="8" name="Page number">
            <a:extLst>
              <a:ext uri="{FF2B5EF4-FFF2-40B4-BE49-F238E27FC236}">
                <a16:creationId xmlns:a16="http://schemas.microsoft.com/office/drawing/2014/main" id="{33762007-271F-47BA-AE8F-3A75B574C555}"/>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17</a:t>
            </a:r>
          </a:p>
        </p:txBody>
      </p:sp>
      <p:sp>
        <p:nvSpPr>
          <p:cNvPr id="9" name="矩形 8">
            <a:extLst>
              <a:ext uri="{FF2B5EF4-FFF2-40B4-BE49-F238E27FC236}">
                <a16:creationId xmlns:a16="http://schemas.microsoft.com/office/drawing/2014/main" id="{D89CD9EB-A496-48E7-A195-0C444B6E24C1}"/>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Future macro paths, Jan 2026 to Mar 2028</a:t>
            </a:r>
          </a:p>
        </p:txBody>
      </p:sp>
      <p:sp>
        <p:nvSpPr>
          <p:cNvPr id="10" name="矩形 9">
            <a:extLst>
              <a:ext uri="{FF2B5EF4-FFF2-40B4-BE49-F238E27FC236}">
                <a16:creationId xmlns:a16="http://schemas.microsoft.com/office/drawing/2014/main" id="{ED955FD6-F805-43F3-803E-F364162DA574}"/>
              </a:ext>
            </a:extLst>
          </p:cNvPr>
          <p:cNvSpPr>
            <a:spLocks noGrp="1"/>
          </p:cNvSpPr>
          <p:nvPr/>
        </p:nvSpPr>
        <p:spPr>
          <a:xfrm>
            <a:off x="609600" y="1857375"/>
            <a:ext cx="52006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CPI</a:t>
            </a:r>
          </a:p>
        </p:txBody>
      </p:sp>
      <p:sp>
        <p:nvSpPr>
          <p:cNvPr id="11" name="矩形 10">
            <a:extLst>
              <a:ext uri="{FF2B5EF4-FFF2-40B4-BE49-F238E27FC236}">
                <a16:creationId xmlns:a16="http://schemas.microsoft.com/office/drawing/2014/main" id="{044A5087-83B9-43D3-8894-57F7C76A1488}"/>
              </a:ext>
            </a:extLst>
          </p:cNvPr>
          <p:cNvSpPr>
            <a:spLocks noGrp="1"/>
          </p:cNvSpPr>
          <p:nvPr/>
        </p:nvSpPr>
        <p:spPr>
          <a:xfrm>
            <a:off x="6391275" y="18573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Corporate profits</a:t>
            </a:r>
          </a:p>
        </p:txBody>
      </p:sp>
      <p:graphicFrame>
        <p:nvGraphicFramePr>
          <p:cNvPr id="22" name="Chart"/>
          <p:cNvGraphicFramePr/>
          <p:nvPr/>
        </p:nvGraphicFramePr>
        <p:xfrm>
          <a:off x="609600" y="2314575"/>
          <a:ext cx="5210175" cy="3305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p:cNvGraphicFramePr/>
          <p:nvPr/>
        </p:nvGraphicFramePr>
        <p:xfrm>
          <a:off x="6391275" y="2314575"/>
          <a:ext cx="5191125" cy="3305175"/>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a:extLst>
              <a:ext uri="{FF2B5EF4-FFF2-40B4-BE49-F238E27FC236}">
                <a16:creationId xmlns:a16="http://schemas.microsoft.com/office/drawing/2014/main" id="{C8E0F8E5-1CB7-49E2-A668-507750D82251}"/>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S4 changes CPI and corporate profits from Jan 2026. History, coefficients and overlay stay unchanged.</a:t>
            </a:r>
          </a:p>
        </p:txBody>
      </p:sp>
    </p:spTree>
    <p:extLst>
      <p:ext uri="{BB962C8B-B14F-4D97-AF65-F5344CB8AC3E}">
        <p14:creationId xmlns:p14="http://schemas.microsoft.com/office/powerpoint/2010/main" val="54863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E7CF7143-29D5-40A1-9E8D-1A68E4FF5C82}"/>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and S4 Forecasts</a:t>
            </a:r>
          </a:p>
        </p:txBody>
      </p:sp>
      <p:sp>
        <p:nvSpPr>
          <p:cNvPr id="8" name="Page number">
            <a:extLst>
              <a:ext uri="{FF2B5EF4-FFF2-40B4-BE49-F238E27FC236}">
                <a16:creationId xmlns:a16="http://schemas.microsoft.com/office/drawing/2014/main" id="{0B071475-3B8F-46D9-BAC9-89372D8C09B6}"/>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18</a:t>
            </a:r>
          </a:p>
        </p:txBody>
      </p:sp>
      <p:sp>
        <p:nvSpPr>
          <p:cNvPr id="9" name="矩形 8">
            <a:extLst>
              <a:ext uri="{FF2B5EF4-FFF2-40B4-BE49-F238E27FC236}">
                <a16:creationId xmlns:a16="http://schemas.microsoft.com/office/drawing/2014/main" id="{63B17435-372F-4924-8F30-1F896713A290}"/>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Jan 2026 to Mar 2028, connected to Dec 2025 actual fee revenue</a:t>
            </a:r>
          </a:p>
        </p:txBody>
      </p:sp>
      <p:sp>
        <p:nvSpPr>
          <p:cNvPr id="12" name="矩形 11">
            <a:extLst>
              <a:ext uri="{FF2B5EF4-FFF2-40B4-BE49-F238E27FC236}">
                <a16:creationId xmlns:a16="http://schemas.microsoft.com/office/drawing/2014/main" id="{9D14DAFA-99BC-46E9-81F9-C7513C761387}"/>
              </a:ext>
            </a:extLst>
          </p:cNvPr>
          <p:cNvSpPr>
            <a:spLocks noGrp="1"/>
          </p:cNvSpPr>
          <p:nvPr/>
        </p:nvSpPr>
        <p:spPr>
          <a:xfrm>
            <a:off x="609600" y="6105525"/>
            <a:ext cx="10972800" cy="37147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Both paths start at Dec 2025 actual revenue of 1,887 and connect to Jan 2026.</a:t>
            </a:r>
          </a:p>
        </p:txBody>
      </p:sp>
      <p:graphicFrame>
        <p:nvGraphicFramePr>
          <p:cNvPr id="19" name="Chart"/>
          <p:cNvGraphicFramePr/>
          <p:nvPr/>
        </p:nvGraphicFramePr>
        <p:xfrm>
          <a:off x="609600" y="1857375"/>
          <a:ext cx="10972800" cy="32099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表格 19"/>
          <p:cNvGraphicFramePr/>
          <p:nvPr/>
        </p:nvGraphicFramePr>
        <p:xfrm>
          <a:off x="609600" y="5181600"/>
          <a:ext cx="10972800" cy="857250"/>
        </p:xfrm>
        <a:graphic>
          <a:graphicData uri="http://schemas.openxmlformats.org/drawingml/2006/table">
            <a:tbl>
              <a:tblPr/>
              <a:tblGrid>
                <a:gridCol w="188595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gridCol w="3028950">
                  <a:extLst>
                    <a:ext uri="{9D8B030D-6E8A-4147-A177-3AD203B41FA5}">
                      <a16:colId xmlns:a16="http://schemas.microsoft.com/office/drawing/2014/main" val="20003"/>
                    </a:ext>
                  </a:extLst>
                </a:gridCol>
              </a:tblGrid>
              <a:tr h="285750">
                <a:tc>
                  <a:txBody>
                    <a:bodyPr/>
                    <a:lstStyle/>
                    <a:p>
                      <a:r>
                        <a:rPr sz="1575" b="1">
                          <a:solidFill>
                            <a:srgbClr val="FFFFFF"/>
                          </a:solidFill>
                          <a:latin typeface="Arial"/>
                          <a:ea typeface="Arial"/>
                          <a:cs typeface="Arial"/>
                        </a:rPr>
                        <a:t>Scenario</a:t>
                      </a:r>
                    </a:p>
                  </a:txBody>
                  <a:tcPr marL="85725" marR="66675" marT="0" marB="0" anchor="ctr">
                    <a:solidFill>
                      <a:srgbClr val="006C98"/>
                    </a:solidFill>
                  </a:tcPr>
                </a:tc>
                <a:tc>
                  <a:txBody>
                    <a:bodyPr/>
                    <a:lstStyle/>
                    <a:p>
                      <a:r>
                        <a:rPr sz="1575" b="1">
                          <a:solidFill>
                            <a:srgbClr val="FFFFFF"/>
                          </a:solidFill>
                          <a:latin typeface="Arial"/>
                          <a:ea typeface="Arial"/>
                          <a:cs typeface="Arial"/>
                        </a:rPr>
                        <a:t>Jan 2026 forecast</a:t>
                      </a:r>
                    </a:p>
                  </a:txBody>
                  <a:tcPr marL="85725" marR="66675" marT="0" marB="0" anchor="ctr">
                    <a:solidFill>
                      <a:srgbClr val="006C98"/>
                    </a:solidFill>
                  </a:tcPr>
                </a:tc>
                <a:tc>
                  <a:txBody>
                    <a:bodyPr/>
                    <a:lstStyle/>
                    <a:p>
                      <a:r>
                        <a:rPr sz="1575" b="1">
                          <a:solidFill>
                            <a:srgbClr val="FFFFFF"/>
                          </a:solidFill>
                          <a:latin typeface="Arial"/>
                          <a:ea typeface="Arial"/>
                          <a:cs typeface="Arial"/>
                        </a:rPr>
                        <a:t>2027 average</a:t>
                      </a:r>
                    </a:p>
                  </a:txBody>
                  <a:tcPr marL="85725" marR="66675" marT="0" marB="0" anchor="ctr">
                    <a:solidFill>
                      <a:srgbClr val="006C98"/>
                    </a:solidFill>
                  </a:tcPr>
                </a:tc>
                <a:tc>
                  <a:txBody>
                    <a:bodyPr/>
                    <a:lstStyle/>
                    <a:p>
                      <a:r>
                        <a:rPr sz="1575" b="1">
                          <a:solidFill>
                            <a:srgbClr val="FFFFFF"/>
                          </a:solidFill>
                          <a:latin typeface="Arial"/>
                          <a:ea typeface="Arial"/>
                          <a:cs typeface="Arial"/>
                        </a:rPr>
                        <a:t>Mar 2028 forecast</a:t>
                      </a:r>
                    </a:p>
                  </a:txBody>
                  <a:tcPr marL="85725" marR="66675" marT="0" marB="0" anchor="ctr">
                    <a:solidFill>
                      <a:srgbClr val="006C98"/>
                    </a:solidFill>
                  </a:tcPr>
                </a:tc>
                <a:extLst>
                  <a:ext uri="{0D108BD9-81ED-4DB2-BD59-A6C34878D82A}">
                    <a16:rowId xmlns:a16="http://schemas.microsoft.com/office/drawing/2014/main" val="10000"/>
                  </a:ext>
                </a:extLst>
              </a:tr>
              <a:tr h="285750">
                <a:tc>
                  <a:txBody>
                    <a:bodyPr/>
                    <a:lstStyle/>
                    <a:p>
                      <a:r>
                        <a:rPr sz="1575" b="0">
                          <a:solidFill>
                            <a:srgbClr val="252F38"/>
                          </a:solidFill>
                          <a:latin typeface="Arial"/>
                          <a:ea typeface="Arial"/>
                          <a:cs typeface="Arial"/>
                        </a:rPr>
                        <a:t>Baseline</a:t>
                      </a:r>
                    </a:p>
                  </a:txBody>
                  <a:tcPr marL="85725" marR="66675" marT="0" marB="0" anchor="ctr">
                    <a:solidFill>
                      <a:srgbClr val="FFFFFF"/>
                    </a:solidFill>
                  </a:tcPr>
                </a:tc>
                <a:tc>
                  <a:txBody>
                    <a:bodyPr/>
                    <a:lstStyle/>
                    <a:p>
                      <a:r>
                        <a:rPr sz="1575" b="0">
                          <a:solidFill>
                            <a:srgbClr val="252F38"/>
                          </a:solidFill>
                          <a:latin typeface="Arial"/>
                          <a:ea typeface="Arial"/>
                          <a:cs typeface="Arial"/>
                        </a:rPr>
                        <a:t>2,243.6</a:t>
                      </a:r>
                    </a:p>
                  </a:txBody>
                  <a:tcPr marL="85725" marR="66675" marT="0" marB="0" anchor="ctr">
                    <a:solidFill>
                      <a:srgbClr val="FFFFFF"/>
                    </a:solidFill>
                  </a:tcPr>
                </a:tc>
                <a:tc>
                  <a:txBody>
                    <a:bodyPr/>
                    <a:lstStyle/>
                    <a:p>
                      <a:r>
                        <a:rPr sz="1575" b="0">
                          <a:solidFill>
                            <a:srgbClr val="252F38"/>
                          </a:solidFill>
                          <a:latin typeface="Arial"/>
                          <a:ea typeface="Arial"/>
                          <a:cs typeface="Arial"/>
                        </a:rPr>
                        <a:t>2,503.6</a:t>
                      </a:r>
                    </a:p>
                  </a:txBody>
                  <a:tcPr marL="85725" marR="66675" marT="0" marB="0" anchor="ctr">
                    <a:solidFill>
                      <a:srgbClr val="FFFFFF"/>
                    </a:solidFill>
                  </a:tcPr>
                </a:tc>
                <a:tc>
                  <a:txBody>
                    <a:bodyPr/>
                    <a:lstStyle/>
                    <a:p>
                      <a:r>
                        <a:rPr sz="1575" b="0">
                          <a:solidFill>
                            <a:srgbClr val="252F38"/>
                          </a:solidFill>
                          <a:latin typeface="Arial"/>
                          <a:ea typeface="Arial"/>
                          <a:cs typeface="Arial"/>
                        </a:rPr>
                        <a:t>2,543.4</a:t>
                      </a:r>
                    </a:p>
                  </a:txBody>
                  <a:tcPr marL="85725" marR="66675" marT="0" marB="0" anchor="ctr">
                    <a:solidFill>
                      <a:srgbClr val="FFFFFF"/>
                    </a:solidFill>
                  </a:tcPr>
                </a:tc>
                <a:extLst>
                  <a:ext uri="{0D108BD9-81ED-4DB2-BD59-A6C34878D82A}">
                    <a16:rowId xmlns:a16="http://schemas.microsoft.com/office/drawing/2014/main" val="10001"/>
                  </a:ext>
                </a:extLst>
              </a:tr>
              <a:tr h="285750">
                <a:tc>
                  <a:txBody>
                    <a:bodyPr/>
                    <a:lstStyle/>
                    <a:p>
                      <a:r>
                        <a:rPr sz="1575" b="0">
                          <a:solidFill>
                            <a:srgbClr val="252F38"/>
                          </a:solidFill>
                          <a:latin typeface="Arial"/>
                          <a:ea typeface="Arial"/>
                          <a:cs typeface="Arial"/>
                        </a:rPr>
                        <a:t>S4</a:t>
                      </a:r>
                    </a:p>
                  </a:txBody>
                  <a:tcPr marL="85725" marR="66675" marT="0" marB="0" anchor="ctr">
                    <a:solidFill>
                      <a:srgbClr val="F3F5F6"/>
                    </a:solidFill>
                  </a:tcPr>
                </a:tc>
                <a:tc>
                  <a:txBody>
                    <a:bodyPr/>
                    <a:lstStyle/>
                    <a:p>
                      <a:r>
                        <a:rPr sz="1575" b="0">
                          <a:solidFill>
                            <a:srgbClr val="252F38"/>
                          </a:solidFill>
                          <a:latin typeface="Arial"/>
                          <a:ea typeface="Arial"/>
                          <a:cs typeface="Arial"/>
                        </a:rPr>
                        <a:t>2,243.6</a:t>
                      </a:r>
                    </a:p>
                  </a:txBody>
                  <a:tcPr marL="85725" marR="66675" marT="0" marB="0" anchor="ctr">
                    <a:solidFill>
                      <a:srgbClr val="F3F5F6"/>
                    </a:solidFill>
                  </a:tcPr>
                </a:tc>
                <a:tc>
                  <a:txBody>
                    <a:bodyPr/>
                    <a:lstStyle/>
                    <a:p>
                      <a:r>
                        <a:rPr sz="1575" b="0">
                          <a:solidFill>
                            <a:srgbClr val="252F38"/>
                          </a:solidFill>
                          <a:latin typeface="Arial"/>
                          <a:ea typeface="Arial"/>
                          <a:cs typeface="Arial"/>
                        </a:rPr>
                        <a:t>1,945.3</a:t>
                      </a:r>
                    </a:p>
                  </a:txBody>
                  <a:tcPr marL="85725" marR="66675" marT="0" marB="0" anchor="ctr">
                    <a:solidFill>
                      <a:srgbClr val="F3F5F6"/>
                    </a:solidFill>
                  </a:tcPr>
                </a:tc>
                <a:tc>
                  <a:txBody>
                    <a:bodyPr/>
                    <a:lstStyle/>
                    <a:p>
                      <a:r>
                        <a:rPr sz="1575" b="0">
                          <a:solidFill>
                            <a:srgbClr val="252F38"/>
                          </a:solidFill>
                          <a:latin typeface="Arial"/>
                          <a:ea typeface="Arial"/>
                          <a:cs typeface="Arial"/>
                        </a:rPr>
                        <a:t>2,049.8</a:t>
                      </a:r>
                    </a:p>
                  </a:txBody>
                  <a:tcPr marL="85725" marR="66675" marT="0" marB="0" anchor="ctr">
                    <a:solidFill>
                      <a:srgbClr val="F3F5F6"/>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2822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9A693F6-435A-4F88-8F23-49867042403B}"/>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and S4 Forecast Comparison</a:t>
            </a:r>
          </a:p>
        </p:txBody>
      </p:sp>
      <p:sp>
        <p:nvSpPr>
          <p:cNvPr id="9" name="Page number">
            <a:extLst>
              <a:ext uri="{FF2B5EF4-FFF2-40B4-BE49-F238E27FC236}">
                <a16:creationId xmlns:a16="http://schemas.microsoft.com/office/drawing/2014/main" id="{30237845-C54D-498E-A5A8-BF5D7C65F16B}"/>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19</a:t>
            </a:r>
          </a:p>
        </p:txBody>
      </p:sp>
      <p:sp>
        <p:nvSpPr>
          <p:cNvPr id="10" name="矩形 9">
            <a:extLst>
              <a:ext uri="{FF2B5EF4-FFF2-40B4-BE49-F238E27FC236}">
                <a16:creationId xmlns:a16="http://schemas.microsoft.com/office/drawing/2014/main" id="{839AB3A7-439C-45D5-AD5E-9ED9ECEAE507}"/>
              </a:ext>
            </a:extLst>
          </p:cNvPr>
          <p:cNvSpPr>
            <a:spLocks noGrp="1"/>
          </p:cNvSpPr>
          <p:nvPr/>
        </p:nvSpPr>
        <p:spPr>
          <a:xfrm>
            <a:off x="609600" y="1257300"/>
            <a:ext cx="10972800" cy="495300"/>
          </a:xfrm>
          <a:prstGeom prst="rect">
            <a:avLst/>
          </a:prstGeom>
          <a:noFill/>
          <a:ln w="0">
            <a:noFill/>
          </a:ln>
        </p:spPr>
        <p:txBody>
          <a:bodyPr anchor="t">
            <a:noAutofit/>
          </a:bodyPr>
          <a:lstStyle/>
          <a:p>
            <a:pPr>
              <a:buNone/>
              <a:defRPr sz="1800" b="0">
                <a:solidFill>
                  <a:srgbClr val="5D6B75"/>
                </a:solidFill>
                <a:latin typeface="Arial"/>
                <a:ea typeface="Arial"/>
                <a:cs typeface="Arial"/>
              </a:defRPr>
            </a:pPr>
            <a:r>
              <a:rPr sz="1800" b="0">
                <a:solidFill>
                  <a:srgbClr val="5D6B75"/>
                </a:solidFill>
                <a:latin typeface="Arial"/>
                <a:ea typeface="Arial"/>
                <a:cs typeface="Arial"/>
              </a:rPr>
              <a:t>Annual averages and period-end point forecasts in original fee units</a:t>
            </a:r>
          </a:p>
        </p:txBody>
      </p:sp>
      <p:graphicFrame>
        <p:nvGraphicFramePr>
          <p:cNvPr id="19" name="表格 18"/>
          <p:cNvGraphicFramePr/>
          <p:nvPr/>
        </p:nvGraphicFramePr>
        <p:xfrm>
          <a:off x="609600" y="2133600"/>
          <a:ext cx="10972800" cy="2190752"/>
        </p:xfrm>
        <a:graphic>
          <a:graphicData uri="http://schemas.openxmlformats.org/drawingml/2006/table">
            <a:tbl>
              <a:tblPr/>
              <a:tblGrid>
                <a:gridCol w="24765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224790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tblGrid>
              <a:tr h="547688">
                <a:tc>
                  <a:txBody>
                    <a:bodyPr/>
                    <a:lstStyle/>
                    <a:p>
                      <a:r>
                        <a:rPr sz="1800" b="1">
                          <a:solidFill>
                            <a:srgbClr val="FFFFFF"/>
                          </a:solidFill>
                          <a:latin typeface="Arial"/>
                          <a:ea typeface="Arial"/>
                          <a:cs typeface="Arial"/>
                        </a:rPr>
                        <a:t>Period</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Baseline avg.</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S4 average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Difference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 difference</a:t>
                      </a:r>
                    </a:p>
                  </a:txBody>
                  <a:tcPr marL="85725" marR="66675" marT="38100" marB="38100" anchor="ctr">
                    <a:solidFill>
                      <a:srgbClr val="006C98"/>
                    </a:solidFill>
                  </a:tcPr>
                </a:tc>
                <a:extLst>
                  <a:ext uri="{0D108BD9-81ED-4DB2-BD59-A6C34878D82A}">
                    <a16:rowId xmlns:a16="http://schemas.microsoft.com/office/drawing/2014/main" val="10000"/>
                  </a:ext>
                </a:extLst>
              </a:tr>
              <a:tr h="547688">
                <a:tc>
                  <a:txBody>
                    <a:bodyPr/>
                    <a:lstStyle/>
                    <a:p>
                      <a:r>
                        <a:rPr sz="1800" b="0">
                          <a:solidFill>
                            <a:srgbClr val="252F38"/>
                          </a:solidFill>
                          <a:latin typeface="Arial"/>
                          <a:ea typeface="Arial"/>
                          <a:cs typeface="Arial"/>
                        </a:rPr>
                        <a:t>2026</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2,357.4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2,260.7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-96.7</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-4.1%</a:t>
                      </a:r>
                    </a:p>
                  </a:txBody>
                  <a:tcPr marL="85725" marR="66675" marT="38100" marB="38100" anchor="ctr">
                    <a:solidFill>
                      <a:srgbClr val="FFFFFF"/>
                    </a:solidFill>
                  </a:tcPr>
                </a:tc>
                <a:extLst>
                  <a:ext uri="{0D108BD9-81ED-4DB2-BD59-A6C34878D82A}">
                    <a16:rowId xmlns:a16="http://schemas.microsoft.com/office/drawing/2014/main" val="10001"/>
                  </a:ext>
                </a:extLst>
              </a:tr>
              <a:tr h="547688">
                <a:tc>
                  <a:txBody>
                    <a:bodyPr/>
                    <a:lstStyle/>
                    <a:p>
                      <a:r>
                        <a:rPr sz="1800" b="0">
                          <a:solidFill>
                            <a:srgbClr val="252F38"/>
                          </a:solidFill>
                          <a:latin typeface="Arial"/>
                          <a:ea typeface="Arial"/>
                          <a:cs typeface="Arial"/>
                        </a:rPr>
                        <a:t>2027</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2,503.6</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1,945.3</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-558.4</a:t>
                      </a:r>
                    </a:p>
                  </a:txBody>
                  <a:tcPr marL="85725" marR="66675" marT="38100" marB="38100" anchor="ctr">
                    <a:solidFill>
                      <a:srgbClr val="F3F5F6"/>
                    </a:solidFill>
                  </a:tcPr>
                </a:tc>
                <a:tc>
                  <a:txBody>
                    <a:bodyPr/>
                    <a:lstStyle/>
                    <a:p>
                      <a:r>
                        <a:rPr sz="1800" b="0">
                          <a:solidFill>
                            <a:srgbClr val="252F38"/>
                          </a:solidFill>
                          <a:latin typeface="Arial"/>
                          <a:ea typeface="Arial"/>
                          <a:cs typeface="Arial"/>
                        </a:rPr>
                        <a:t>-22.3%</a:t>
                      </a:r>
                    </a:p>
                  </a:txBody>
                  <a:tcPr marL="85725" marR="66675" marT="38100" marB="38100" anchor="ctr">
                    <a:solidFill>
                      <a:srgbClr val="F3F5F6"/>
                    </a:solidFill>
                  </a:tcPr>
                </a:tc>
                <a:extLst>
                  <a:ext uri="{0D108BD9-81ED-4DB2-BD59-A6C34878D82A}">
                    <a16:rowId xmlns:a16="http://schemas.microsoft.com/office/drawing/2014/main" val="10002"/>
                  </a:ext>
                </a:extLst>
              </a:tr>
              <a:tr h="547688">
                <a:tc>
                  <a:txBody>
                    <a:bodyPr/>
                    <a:lstStyle/>
                    <a:p>
                      <a:r>
                        <a:rPr sz="1800" b="0">
                          <a:solidFill>
                            <a:srgbClr val="252F38"/>
                          </a:solidFill>
                          <a:latin typeface="Arial"/>
                          <a:ea typeface="Arial"/>
                          <a:cs typeface="Arial"/>
                        </a:rPr>
                        <a:t>Jan–Mar 2028</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2,530.2</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2,009.1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-521.1</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-20.6%</a:t>
                      </a:r>
                    </a:p>
                  </a:txBody>
                  <a:tcPr marL="85725" marR="66675" marT="38100" marB="3810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20" name="表格 19"/>
          <p:cNvGraphicFramePr/>
          <p:nvPr/>
        </p:nvGraphicFramePr>
        <p:xfrm>
          <a:off x="609600" y="4705350"/>
          <a:ext cx="10972800" cy="981076"/>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90538">
                <a:tc>
                  <a:txBody>
                    <a:bodyPr/>
                    <a:lstStyle/>
                    <a:p>
                      <a:r>
                        <a:rPr sz="1800" b="1">
                          <a:solidFill>
                            <a:srgbClr val="FFFFFF"/>
                          </a:solidFill>
                          <a:latin typeface="Arial"/>
                          <a:ea typeface="Arial"/>
                          <a:cs typeface="Arial"/>
                        </a:rPr>
                        <a:t>Mar 2028 baseline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Mar 2028 S4</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Difference</a:t>
                      </a:r>
                    </a:p>
                  </a:txBody>
                  <a:tcPr marL="85725" marR="66675" marT="38100" marB="38100" anchor="ctr">
                    <a:solidFill>
                      <a:srgbClr val="006C98"/>
                    </a:solidFill>
                  </a:tcPr>
                </a:tc>
                <a:tc>
                  <a:txBody>
                    <a:bodyPr/>
                    <a:lstStyle/>
                    <a:p>
                      <a:r>
                        <a:rPr sz="1800" b="1">
                          <a:solidFill>
                            <a:srgbClr val="FFFFFF"/>
                          </a:solidFill>
                          <a:latin typeface="Arial"/>
                          <a:ea typeface="Arial"/>
                          <a:cs typeface="Arial"/>
                        </a:rPr>
                        <a:t>% difference</a:t>
                      </a:r>
                    </a:p>
                  </a:txBody>
                  <a:tcPr marL="85725" marR="66675" marT="38100" marB="38100" anchor="ctr">
                    <a:solidFill>
                      <a:srgbClr val="006C98"/>
                    </a:solidFill>
                  </a:tcPr>
                </a:tc>
                <a:extLst>
                  <a:ext uri="{0D108BD9-81ED-4DB2-BD59-A6C34878D82A}">
                    <a16:rowId xmlns:a16="http://schemas.microsoft.com/office/drawing/2014/main" val="10000"/>
                  </a:ext>
                </a:extLst>
              </a:tr>
              <a:tr h="490538">
                <a:tc>
                  <a:txBody>
                    <a:bodyPr/>
                    <a:lstStyle/>
                    <a:p>
                      <a:r>
                        <a:rPr sz="1800" b="0">
                          <a:solidFill>
                            <a:srgbClr val="252F38"/>
                          </a:solidFill>
                          <a:latin typeface="Arial"/>
                          <a:ea typeface="Arial"/>
                          <a:cs typeface="Arial"/>
                        </a:rPr>
                        <a:t>2,543.4</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2,049.8</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−493.6</a:t>
                      </a:r>
                    </a:p>
                  </a:txBody>
                  <a:tcPr marL="85725" marR="66675" marT="38100" marB="38100" anchor="ctr">
                    <a:solidFill>
                      <a:srgbClr val="FFFFFF"/>
                    </a:solidFill>
                  </a:tcPr>
                </a:tc>
                <a:tc>
                  <a:txBody>
                    <a:bodyPr/>
                    <a:lstStyle/>
                    <a:p>
                      <a:r>
                        <a:rPr sz="1800" b="0">
                          <a:solidFill>
                            <a:srgbClr val="252F38"/>
                          </a:solidFill>
                          <a:latin typeface="Arial"/>
                          <a:ea typeface="Arial"/>
                          <a:cs typeface="Arial"/>
                        </a:rPr>
                        <a:t>−19.4%</a:t>
                      </a:r>
                    </a:p>
                  </a:txBody>
                  <a:tcPr marL="85725" marR="66675" marT="38100" marB="38100" anchor="ctr">
                    <a:solidFill>
                      <a:srgbClr val="FFFFFF"/>
                    </a:solidFill>
                  </a:tcPr>
                </a:tc>
                <a:extLst>
                  <a:ext uri="{0D108BD9-81ED-4DB2-BD59-A6C34878D82A}">
                    <a16:rowId xmlns:a16="http://schemas.microsoft.com/office/drawing/2014/main" val="10001"/>
                  </a:ext>
                </a:extLst>
              </a:tr>
            </a:tbl>
          </a:graphicData>
        </a:graphic>
      </p:graphicFrame>
      <p:sp>
        <p:nvSpPr>
          <p:cNvPr id="13" name="矩形 12">
            <a:extLst>
              <a:ext uri="{FF2B5EF4-FFF2-40B4-BE49-F238E27FC236}">
                <a16:creationId xmlns:a16="http://schemas.microsoft.com/office/drawing/2014/main" id="{15831B1F-E4E6-4EFD-AFF7-728EF704C013}"/>
              </a:ext>
            </a:extLst>
          </p:cNvPr>
          <p:cNvSpPr>
            <a:spLocks noGrp="1"/>
          </p:cNvSpPr>
          <p:nvPr/>
        </p:nvSpPr>
        <p:spPr>
          <a:xfrm>
            <a:off x="609600" y="5924550"/>
            <a:ext cx="10972800" cy="542925"/>
          </a:xfrm>
          <a:prstGeom prst="rect">
            <a:avLst/>
          </a:prstGeom>
          <a:noFill/>
          <a:ln w="0">
            <a:noFill/>
          </a:ln>
        </p:spPr>
        <p:txBody>
          <a:bodyPr anchor="t">
            <a:noAutofit/>
          </a:bodyPr>
          <a:lstStyle/>
          <a:p>
            <a:pPr>
              <a:buNone/>
              <a:defRPr sz="1650" b="1">
                <a:solidFill>
                  <a:srgbClr val="00476B"/>
                </a:solidFill>
                <a:latin typeface="Arial"/>
                <a:ea typeface="Arial"/>
                <a:cs typeface="Arial"/>
              </a:defRPr>
            </a:pPr>
            <a:r>
              <a:rPr sz="1650" b="1">
                <a:solidFill>
                  <a:srgbClr val="00476B"/>
                </a:solidFill>
                <a:latin typeface="Arial"/>
                <a:ea typeface="Arial"/>
                <a:cs typeface="Arial"/>
              </a:rPr>
              <a:t>These are conditional point forecasts. The 2028 average covers Jan–Mar only.</a:t>
            </a:r>
          </a:p>
        </p:txBody>
      </p:sp>
    </p:spTree>
    <p:extLst>
      <p:ext uri="{BB962C8B-B14F-4D97-AF65-F5344CB8AC3E}">
        <p14:creationId xmlns:p14="http://schemas.microsoft.com/office/powerpoint/2010/main" val="966733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ECF0F752-ECDB-4EF6-927D-3BF97CB0C8CA}"/>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Baseline Monthly Forecast Detail</a:t>
            </a:r>
          </a:p>
        </p:txBody>
      </p:sp>
      <p:sp>
        <p:nvSpPr>
          <p:cNvPr id="5" name="Page number">
            <a:extLst>
              <a:ext uri="{FF2B5EF4-FFF2-40B4-BE49-F238E27FC236}">
                <a16:creationId xmlns:a16="http://schemas.microsoft.com/office/drawing/2014/main" id="{4CB253AB-A1E1-46EA-8ED5-1953311DEEE1}"/>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20</a:t>
            </a:r>
          </a:p>
        </p:txBody>
      </p:sp>
      <p:sp>
        <p:nvSpPr>
          <p:cNvPr id="6" name="矩形 5">
            <a:extLst>
              <a:ext uri="{FF2B5EF4-FFF2-40B4-BE49-F238E27FC236}">
                <a16:creationId xmlns:a16="http://schemas.microsoft.com/office/drawing/2014/main" id="{6A148C83-10F4-44C2-9A0C-A2A94FCE381B}"/>
              </a:ext>
            </a:extLst>
          </p:cNvPr>
          <p:cNvSpPr>
            <a:spLocks noGrp="1"/>
          </p:cNvSpPr>
          <p:nvPr/>
        </p:nvSpPr>
        <p:spPr>
          <a:xfrm>
            <a:off x="609600" y="1285875"/>
            <a:ext cx="51625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2026</a:t>
            </a:r>
          </a:p>
        </p:txBody>
      </p:sp>
      <p:sp>
        <p:nvSpPr>
          <p:cNvPr id="7" name="矩形 6">
            <a:extLst>
              <a:ext uri="{FF2B5EF4-FFF2-40B4-BE49-F238E27FC236}">
                <a16:creationId xmlns:a16="http://schemas.microsoft.com/office/drawing/2014/main" id="{DFAF0410-1681-4699-AEE3-0684D156D202}"/>
              </a:ext>
            </a:extLst>
          </p:cNvPr>
          <p:cNvSpPr>
            <a:spLocks noGrp="1"/>
          </p:cNvSpPr>
          <p:nvPr/>
        </p:nvSpPr>
        <p:spPr>
          <a:xfrm>
            <a:off x="6391275" y="12858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2027 to Mar 2028</a:t>
            </a:r>
          </a:p>
        </p:txBody>
      </p:sp>
      <p:graphicFrame>
        <p:nvGraphicFramePr>
          <p:cNvPr id="17" name="表格 16"/>
          <p:cNvGraphicFramePr/>
          <p:nvPr/>
        </p:nvGraphicFramePr>
        <p:xfrm>
          <a:off x="609600" y="1752600"/>
          <a:ext cx="5191125" cy="3590925"/>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2026-01</a:t>
                      </a:r>
                    </a:p>
                  </a:txBody>
                  <a:tcPr marL="85725" marR="66675" marT="0" marB="0" anchor="ctr">
                    <a:solidFill>
                      <a:srgbClr val="FFFFFF"/>
                    </a:solidFill>
                  </a:tcPr>
                </a:tc>
                <a:tc>
                  <a:txBody>
                    <a:bodyPr/>
                    <a:lstStyle/>
                    <a:p>
                      <a:r>
                        <a:rPr sz="1350" b="0">
                          <a:solidFill>
                            <a:srgbClr val="252F38"/>
                          </a:solidFill>
                          <a:latin typeface="Arial"/>
                          <a:ea typeface="Arial"/>
                          <a:cs typeface="Arial"/>
                        </a:rPr>
                        <a:t>2,243.6</a:t>
                      </a:r>
                    </a:p>
                  </a:txBody>
                  <a:tcPr marL="85725" marR="66675" marT="0" marB="0" anchor="ctr">
                    <a:solidFill>
                      <a:srgbClr val="FFFFFF"/>
                    </a:solidFill>
                  </a:tcPr>
                </a:tc>
                <a:tc>
                  <a:txBody>
                    <a:bodyPr/>
                    <a:lstStyle/>
                    <a:p>
                      <a:r>
                        <a:rPr sz="1350" b="0">
                          <a:solidFill>
                            <a:srgbClr val="252F38"/>
                          </a:solidFill>
                          <a:latin typeface="Arial"/>
                          <a:ea typeface="Arial"/>
                          <a:cs typeface="Arial"/>
                        </a:rPr>
                        <a:t>4.4</a:t>
                      </a:r>
                    </a:p>
                  </a:txBody>
                  <a:tcPr marL="85725" marR="66675" marT="0" marB="0" anchor="ctr">
                    <a:solidFill>
                      <a:srgbClr val="FFFFFF"/>
                    </a:solidFill>
                  </a:tcPr>
                </a:tc>
                <a:tc>
                  <a:txBody>
                    <a:bodyPr/>
                    <a:lstStyle/>
                    <a:p>
                      <a:r>
                        <a:rPr sz="1350" b="0">
                          <a:solidFill>
                            <a:srgbClr val="252F38"/>
                          </a:solidFill>
                          <a:latin typeface="Arial"/>
                          <a:ea typeface="Arial"/>
                          <a:cs typeface="Arial"/>
                        </a:rPr>
                        <a:t>2,955.3</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2026-02</a:t>
                      </a:r>
                    </a:p>
                  </a:txBody>
                  <a:tcPr marL="85725" marR="66675" marT="0" marB="0" anchor="ctr">
                    <a:solidFill>
                      <a:srgbClr val="F3F5F6"/>
                    </a:solidFill>
                  </a:tcPr>
                </a:tc>
                <a:tc>
                  <a:txBody>
                    <a:bodyPr/>
                    <a:lstStyle/>
                    <a:p>
                      <a:r>
                        <a:rPr sz="1350" b="0">
                          <a:solidFill>
                            <a:srgbClr val="252F38"/>
                          </a:solidFill>
                          <a:latin typeface="Arial"/>
                          <a:ea typeface="Arial"/>
                          <a:cs typeface="Arial"/>
                        </a:rPr>
                        <a:t>2,288.4</a:t>
                      </a:r>
                    </a:p>
                  </a:txBody>
                  <a:tcPr marL="85725" marR="66675" marT="0" marB="0" anchor="ctr">
                    <a:solidFill>
                      <a:srgbClr val="F3F5F6"/>
                    </a:solidFill>
                  </a:tcPr>
                </a:tc>
                <a:tc>
                  <a:txBody>
                    <a:bodyPr/>
                    <a:lstStyle/>
                    <a:p>
                      <a:r>
                        <a:rPr sz="1350" b="0">
                          <a:solidFill>
                            <a:srgbClr val="252F38"/>
                          </a:solidFill>
                          <a:latin typeface="Arial"/>
                          <a:ea typeface="Arial"/>
                          <a:cs typeface="Arial"/>
                        </a:rPr>
                        <a:t>9.6</a:t>
                      </a:r>
                    </a:p>
                  </a:txBody>
                  <a:tcPr marL="85725" marR="66675" marT="0" marB="0" anchor="ctr">
                    <a:solidFill>
                      <a:srgbClr val="F3F5F6"/>
                    </a:solidFill>
                  </a:tcPr>
                </a:tc>
                <a:tc>
                  <a:txBody>
                    <a:bodyPr/>
                    <a:lstStyle/>
                    <a:p>
                      <a:r>
                        <a:rPr sz="1350" b="0">
                          <a:solidFill>
                            <a:srgbClr val="252F38"/>
                          </a:solidFill>
                          <a:latin typeface="Arial"/>
                          <a:ea typeface="Arial"/>
                          <a:cs typeface="Arial"/>
                        </a:rPr>
                        <a:t>2,972.2</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2026-03</a:t>
                      </a:r>
                    </a:p>
                  </a:txBody>
                  <a:tcPr marL="85725" marR="66675" marT="0" marB="0" anchor="ctr">
                    <a:solidFill>
                      <a:srgbClr val="FFFFFF"/>
                    </a:solidFill>
                  </a:tcPr>
                </a:tc>
                <a:tc>
                  <a:txBody>
                    <a:bodyPr/>
                    <a:lstStyle/>
                    <a:p>
                      <a:r>
                        <a:rPr sz="1350" b="0">
                          <a:solidFill>
                            <a:srgbClr val="252F38"/>
                          </a:solidFill>
                          <a:latin typeface="Arial"/>
                          <a:ea typeface="Arial"/>
                          <a:cs typeface="Arial"/>
                        </a:rPr>
                        <a:t>2,399.3</a:t>
                      </a:r>
                    </a:p>
                  </a:txBody>
                  <a:tcPr marL="85725" marR="66675" marT="0" marB="0" anchor="ctr">
                    <a:solidFill>
                      <a:srgbClr val="FFFFFF"/>
                    </a:solidFill>
                  </a:tcPr>
                </a:tc>
                <a:tc>
                  <a:txBody>
                    <a:bodyPr/>
                    <a:lstStyle/>
                    <a:p>
                      <a:r>
                        <a:rPr sz="1350" b="0">
                          <a:solidFill>
                            <a:srgbClr val="252F38"/>
                          </a:solidFill>
                          <a:latin typeface="Arial"/>
                          <a:ea typeface="Arial"/>
                          <a:cs typeface="Arial"/>
                        </a:rPr>
                        <a:t>3.6</a:t>
                      </a:r>
                    </a:p>
                  </a:txBody>
                  <a:tcPr marL="85725" marR="66675" marT="0" marB="0" anchor="ctr">
                    <a:solidFill>
                      <a:srgbClr val="FFFFFF"/>
                    </a:solidFill>
                  </a:tcPr>
                </a:tc>
                <a:tc>
                  <a:txBody>
                    <a:bodyPr/>
                    <a:lstStyle/>
                    <a:p>
                      <a:r>
                        <a:rPr sz="1350" b="0">
                          <a:solidFill>
                            <a:srgbClr val="252F38"/>
                          </a:solidFill>
                          <a:latin typeface="Arial"/>
                          <a:ea typeface="Arial"/>
                          <a:cs typeface="Arial"/>
                        </a:rPr>
                        <a:t>3,027.1</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2026-04</a:t>
                      </a:r>
                    </a:p>
                  </a:txBody>
                  <a:tcPr marL="85725" marR="66675" marT="0" marB="0" anchor="ctr">
                    <a:solidFill>
                      <a:srgbClr val="F3F5F6"/>
                    </a:solidFill>
                  </a:tcPr>
                </a:tc>
                <a:tc>
                  <a:txBody>
                    <a:bodyPr/>
                    <a:lstStyle/>
                    <a:p>
                      <a:r>
                        <a:rPr sz="1350" b="0">
                          <a:solidFill>
                            <a:srgbClr val="252F38"/>
                          </a:solidFill>
                          <a:latin typeface="Arial"/>
                          <a:ea typeface="Arial"/>
                          <a:cs typeface="Arial"/>
                        </a:rPr>
                        <a:t>2,360.3</a:t>
                      </a:r>
                    </a:p>
                  </a:txBody>
                  <a:tcPr marL="85725" marR="66675" marT="0" marB="0" anchor="ctr">
                    <a:solidFill>
                      <a:srgbClr val="F3F5F6"/>
                    </a:solidFill>
                  </a:tcPr>
                </a:tc>
                <a:tc>
                  <a:txBody>
                    <a:bodyPr/>
                    <a:lstStyle/>
                    <a:p>
                      <a:r>
                        <a:rPr sz="1350" b="0">
                          <a:solidFill>
                            <a:srgbClr val="252F38"/>
                          </a:solidFill>
                          <a:latin typeface="Arial"/>
                          <a:ea typeface="Arial"/>
                          <a:cs typeface="Arial"/>
                        </a:rPr>
                        <a:t>6.9</a:t>
                      </a:r>
                    </a:p>
                  </a:txBody>
                  <a:tcPr marL="85725" marR="66675" marT="0" marB="0" anchor="ctr">
                    <a:solidFill>
                      <a:srgbClr val="F3F5F6"/>
                    </a:solidFill>
                  </a:tcPr>
                </a:tc>
                <a:tc>
                  <a:txBody>
                    <a:bodyPr/>
                    <a:lstStyle/>
                    <a:p>
                      <a:r>
                        <a:rPr sz="1350" b="0">
                          <a:solidFill>
                            <a:srgbClr val="252F38"/>
                          </a:solidFill>
                          <a:latin typeface="Arial"/>
                          <a:ea typeface="Arial"/>
                          <a:cs typeface="Arial"/>
                        </a:rPr>
                        <a:t>3,068.3</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2026-05</a:t>
                      </a:r>
                    </a:p>
                  </a:txBody>
                  <a:tcPr marL="85725" marR="66675" marT="0" marB="0" anchor="ctr">
                    <a:solidFill>
                      <a:srgbClr val="FFFFFF"/>
                    </a:solidFill>
                  </a:tcPr>
                </a:tc>
                <a:tc>
                  <a:txBody>
                    <a:bodyPr/>
                    <a:lstStyle/>
                    <a:p>
                      <a:r>
                        <a:rPr sz="1350" b="0">
                          <a:solidFill>
                            <a:srgbClr val="252F38"/>
                          </a:solidFill>
                          <a:latin typeface="Arial"/>
                          <a:ea typeface="Arial"/>
                          <a:cs typeface="Arial"/>
                        </a:rPr>
                        <a:t>2,376.9</a:t>
                      </a:r>
                    </a:p>
                  </a:txBody>
                  <a:tcPr marL="85725" marR="66675" marT="0" marB="0" anchor="ctr">
                    <a:solidFill>
                      <a:srgbClr val="FFFFFF"/>
                    </a:solidFill>
                  </a:tcPr>
                </a:tc>
                <a:tc>
                  <a:txBody>
                    <a:bodyPr/>
                    <a:lstStyle/>
                    <a:p>
                      <a:r>
                        <a:rPr sz="1350" b="0">
                          <a:solidFill>
                            <a:srgbClr val="252F38"/>
                          </a:solidFill>
                          <a:latin typeface="Arial"/>
                          <a:ea typeface="Arial"/>
                          <a:cs typeface="Arial"/>
                        </a:rPr>
                        <a:t>4.7</a:t>
                      </a:r>
                    </a:p>
                  </a:txBody>
                  <a:tcPr marL="85725" marR="66675" marT="0" marB="0" anchor="ctr">
                    <a:solidFill>
                      <a:srgbClr val="FFFFFF"/>
                    </a:solidFill>
                  </a:tcPr>
                </a:tc>
                <a:tc>
                  <a:txBody>
                    <a:bodyPr/>
                    <a:lstStyle/>
                    <a:p>
                      <a:r>
                        <a:rPr sz="1350" b="0">
                          <a:solidFill>
                            <a:srgbClr val="252F38"/>
                          </a:solidFill>
                          <a:latin typeface="Arial"/>
                          <a:ea typeface="Arial"/>
                          <a:cs typeface="Arial"/>
                        </a:rPr>
                        <a:t>3,098.8</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2026-06</a:t>
                      </a:r>
                    </a:p>
                  </a:txBody>
                  <a:tcPr marL="85725" marR="66675" marT="0" marB="0" anchor="ctr">
                    <a:solidFill>
                      <a:srgbClr val="F3F5F6"/>
                    </a:solidFill>
                  </a:tcPr>
                </a:tc>
                <a:tc>
                  <a:txBody>
                    <a:bodyPr/>
                    <a:lstStyle/>
                    <a:p>
                      <a:r>
                        <a:rPr sz="1350" b="0">
                          <a:solidFill>
                            <a:srgbClr val="252F38"/>
                          </a:solidFill>
                          <a:latin typeface="Arial"/>
                          <a:ea typeface="Arial"/>
                          <a:cs typeface="Arial"/>
                        </a:rPr>
                        <a:t>2,368.6</a:t>
                      </a:r>
                    </a:p>
                  </a:txBody>
                  <a:tcPr marL="85725" marR="66675" marT="0" marB="0" anchor="ctr">
                    <a:solidFill>
                      <a:srgbClr val="F3F5F6"/>
                    </a:solidFill>
                  </a:tcPr>
                </a:tc>
                <a:tc>
                  <a:txBody>
                    <a:bodyPr/>
                    <a:lstStyle/>
                    <a:p>
                      <a:r>
                        <a:rPr sz="1350" b="0">
                          <a:solidFill>
                            <a:srgbClr val="252F38"/>
                          </a:solidFill>
                          <a:latin typeface="Arial"/>
                          <a:ea typeface="Arial"/>
                          <a:cs typeface="Arial"/>
                        </a:rPr>
                        <a:t>7.6</a:t>
                      </a:r>
                    </a:p>
                  </a:txBody>
                  <a:tcPr marL="85725" marR="66675" marT="0" marB="0" anchor="ctr">
                    <a:solidFill>
                      <a:srgbClr val="F3F5F6"/>
                    </a:solidFill>
                  </a:tcPr>
                </a:tc>
                <a:tc>
                  <a:txBody>
                    <a:bodyPr/>
                    <a:lstStyle/>
                    <a:p>
                      <a:r>
                        <a:rPr sz="1350" b="0">
                          <a:solidFill>
                            <a:srgbClr val="252F38"/>
                          </a:solidFill>
                          <a:latin typeface="Arial"/>
                          <a:ea typeface="Arial"/>
                          <a:cs typeface="Arial"/>
                        </a:rPr>
                        <a:t>3,071.4</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2026-07</a:t>
                      </a:r>
                    </a:p>
                  </a:txBody>
                  <a:tcPr marL="85725" marR="66675" marT="0" marB="0" anchor="ctr">
                    <a:solidFill>
                      <a:srgbClr val="FFFFFF"/>
                    </a:solidFill>
                  </a:tcPr>
                </a:tc>
                <a:tc>
                  <a:txBody>
                    <a:bodyPr/>
                    <a:lstStyle/>
                    <a:p>
                      <a:r>
                        <a:rPr sz="1350" b="0">
                          <a:solidFill>
                            <a:srgbClr val="252F38"/>
                          </a:solidFill>
                          <a:latin typeface="Arial"/>
                          <a:ea typeface="Arial"/>
                          <a:cs typeface="Arial"/>
                        </a:rPr>
                        <a:t>2,366.9</a:t>
                      </a:r>
                    </a:p>
                  </a:txBody>
                  <a:tcPr marL="85725" marR="66675" marT="0" marB="0" anchor="ctr">
                    <a:solidFill>
                      <a:srgbClr val="FFFFFF"/>
                    </a:solidFill>
                  </a:tcPr>
                </a:tc>
                <a:tc>
                  <a:txBody>
                    <a:bodyPr/>
                    <a:lstStyle/>
                    <a:p>
                      <a:r>
                        <a:rPr sz="1350" b="0">
                          <a:solidFill>
                            <a:srgbClr val="252F38"/>
                          </a:solidFill>
                          <a:latin typeface="Arial"/>
                          <a:ea typeface="Arial"/>
                          <a:cs typeface="Arial"/>
                        </a:rPr>
                        <a:t>13.5</a:t>
                      </a:r>
                    </a:p>
                  </a:txBody>
                  <a:tcPr marL="85725" marR="66675" marT="0" marB="0" anchor="ctr">
                    <a:solidFill>
                      <a:srgbClr val="FFFFFF"/>
                    </a:solidFill>
                  </a:tcPr>
                </a:tc>
                <a:tc>
                  <a:txBody>
                    <a:bodyPr/>
                    <a:lstStyle/>
                    <a:p>
                      <a:r>
                        <a:rPr sz="1350" b="0">
                          <a:solidFill>
                            <a:srgbClr val="252F38"/>
                          </a:solidFill>
                          <a:latin typeface="Arial"/>
                          <a:ea typeface="Arial"/>
                          <a:cs typeface="Arial"/>
                        </a:rPr>
                        <a:t>3,107.3</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2026-08</a:t>
                      </a:r>
                    </a:p>
                  </a:txBody>
                  <a:tcPr marL="85725" marR="66675" marT="0" marB="0" anchor="ctr">
                    <a:solidFill>
                      <a:srgbClr val="F3F5F6"/>
                    </a:solidFill>
                  </a:tcPr>
                </a:tc>
                <a:tc>
                  <a:txBody>
                    <a:bodyPr/>
                    <a:lstStyle/>
                    <a:p>
                      <a:r>
                        <a:rPr sz="1350" b="0">
                          <a:solidFill>
                            <a:srgbClr val="252F38"/>
                          </a:solidFill>
                          <a:latin typeface="Arial"/>
                          <a:ea typeface="Arial"/>
                          <a:cs typeface="Arial"/>
                        </a:rPr>
                        <a:t>2,540.6</a:t>
                      </a:r>
                    </a:p>
                  </a:txBody>
                  <a:tcPr marL="85725" marR="66675" marT="0" marB="0" anchor="ctr">
                    <a:solidFill>
                      <a:srgbClr val="F3F5F6"/>
                    </a:solidFill>
                  </a:tcPr>
                </a:tc>
                <a:tc>
                  <a:txBody>
                    <a:bodyPr/>
                    <a:lstStyle/>
                    <a:p>
                      <a:r>
                        <a:rPr sz="1350" b="0">
                          <a:solidFill>
                            <a:srgbClr val="252F38"/>
                          </a:solidFill>
                          <a:latin typeface="Arial"/>
                          <a:ea typeface="Arial"/>
                          <a:cs typeface="Arial"/>
                        </a:rPr>
                        <a:t>12.4</a:t>
                      </a:r>
                    </a:p>
                  </a:txBody>
                  <a:tcPr marL="85725" marR="66675" marT="0" marB="0" anchor="ctr">
                    <a:solidFill>
                      <a:srgbClr val="F3F5F6"/>
                    </a:solidFill>
                  </a:tcPr>
                </a:tc>
                <a:tc>
                  <a:txBody>
                    <a:bodyPr/>
                    <a:lstStyle/>
                    <a:p>
                      <a:r>
                        <a:rPr sz="1350" b="0">
                          <a:solidFill>
                            <a:srgbClr val="252F38"/>
                          </a:solidFill>
                          <a:latin typeface="Arial"/>
                          <a:ea typeface="Arial"/>
                          <a:cs typeface="Arial"/>
                        </a:rPr>
                        <a:t>3,113.2</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2026-09</a:t>
                      </a:r>
                    </a:p>
                  </a:txBody>
                  <a:tcPr marL="85725" marR="66675" marT="0" marB="0" anchor="ctr">
                    <a:solidFill>
                      <a:srgbClr val="FFFFFF"/>
                    </a:solidFill>
                  </a:tcPr>
                </a:tc>
                <a:tc>
                  <a:txBody>
                    <a:bodyPr/>
                    <a:lstStyle/>
                    <a:p>
                      <a:r>
                        <a:rPr sz="1350" b="0">
                          <a:solidFill>
                            <a:srgbClr val="252F38"/>
                          </a:solidFill>
                          <a:latin typeface="Arial"/>
                          <a:ea typeface="Arial"/>
                          <a:cs typeface="Arial"/>
                        </a:rPr>
                        <a:t>2,317.3</a:t>
                      </a:r>
                    </a:p>
                  </a:txBody>
                  <a:tcPr marL="85725" marR="66675" marT="0" marB="0" anchor="ctr">
                    <a:solidFill>
                      <a:srgbClr val="FFFFFF"/>
                    </a:solidFill>
                  </a:tcPr>
                </a:tc>
                <a:tc>
                  <a:txBody>
                    <a:bodyPr/>
                    <a:lstStyle/>
                    <a:p>
                      <a:r>
                        <a:rPr sz="1350" b="0">
                          <a:solidFill>
                            <a:srgbClr val="252F38"/>
                          </a:solidFill>
                          <a:latin typeface="Arial"/>
                          <a:ea typeface="Arial"/>
                          <a:cs typeface="Arial"/>
                        </a:rPr>
                        <a:t>15.6</a:t>
                      </a:r>
                    </a:p>
                  </a:txBody>
                  <a:tcPr marL="85725" marR="66675" marT="0" marB="0" anchor="ctr">
                    <a:solidFill>
                      <a:srgbClr val="FFFFFF"/>
                    </a:solidFill>
                  </a:tcPr>
                </a:tc>
                <a:tc>
                  <a:txBody>
                    <a:bodyPr/>
                    <a:lstStyle/>
                    <a:p>
                      <a:r>
                        <a:rPr sz="1350" b="0">
                          <a:solidFill>
                            <a:srgbClr val="252F38"/>
                          </a:solidFill>
                          <a:latin typeface="Arial"/>
                          <a:ea typeface="Arial"/>
                          <a:cs typeface="Arial"/>
                        </a:rPr>
                        <a:t>3,124.0</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2026-10</a:t>
                      </a:r>
                    </a:p>
                  </a:txBody>
                  <a:tcPr marL="85725" marR="66675" marT="0" marB="0" anchor="ctr">
                    <a:solidFill>
                      <a:srgbClr val="F3F5F6"/>
                    </a:solidFill>
                  </a:tcPr>
                </a:tc>
                <a:tc>
                  <a:txBody>
                    <a:bodyPr/>
                    <a:lstStyle/>
                    <a:p>
                      <a:r>
                        <a:rPr sz="1350" b="0">
                          <a:solidFill>
                            <a:srgbClr val="252F38"/>
                          </a:solidFill>
                          <a:latin typeface="Arial"/>
                          <a:ea typeface="Arial"/>
                          <a:cs typeface="Arial"/>
                        </a:rPr>
                        <a:t>2,518.1</a:t>
                      </a:r>
                    </a:p>
                  </a:txBody>
                  <a:tcPr marL="85725" marR="66675" marT="0" marB="0" anchor="ctr">
                    <a:solidFill>
                      <a:srgbClr val="F3F5F6"/>
                    </a:solidFill>
                  </a:tcPr>
                </a:tc>
                <a:tc>
                  <a:txBody>
                    <a:bodyPr/>
                    <a:lstStyle/>
                    <a:p>
                      <a:r>
                        <a:rPr sz="1350" b="0">
                          <a:solidFill>
                            <a:srgbClr val="252F38"/>
                          </a:solidFill>
                          <a:latin typeface="Arial"/>
                          <a:ea typeface="Arial"/>
                          <a:cs typeface="Arial"/>
                        </a:rPr>
                        <a:t>9.7</a:t>
                      </a:r>
                    </a:p>
                  </a:txBody>
                  <a:tcPr marL="85725" marR="66675" marT="0" marB="0" anchor="ctr">
                    <a:solidFill>
                      <a:srgbClr val="F3F5F6"/>
                    </a:solidFill>
                  </a:tcPr>
                </a:tc>
                <a:tc>
                  <a:txBody>
                    <a:bodyPr/>
                    <a:lstStyle/>
                    <a:p>
                      <a:r>
                        <a:rPr sz="1350" b="0">
                          <a:solidFill>
                            <a:srgbClr val="252F38"/>
                          </a:solidFill>
                          <a:latin typeface="Arial"/>
                          <a:ea typeface="Arial"/>
                          <a:cs typeface="Arial"/>
                        </a:rPr>
                        <a:t>3,139.4</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2026-11</a:t>
                      </a:r>
                    </a:p>
                  </a:txBody>
                  <a:tcPr marL="85725" marR="66675" marT="0" marB="0" anchor="ctr">
                    <a:solidFill>
                      <a:srgbClr val="FFFFFF"/>
                    </a:solidFill>
                  </a:tcPr>
                </a:tc>
                <a:tc>
                  <a:txBody>
                    <a:bodyPr/>
                    <a:lstStyle/>
                    <a:p>
                      <a:r>
                        <a:rPr sz="1350" b="0">
                          <a:solidFill>
                            <a:srgbClr val="252F38"/>
                          </a:solidFill>
                          <a:latin typeface="Arial"/>
                          <a:ea typeface="Arial"/>
                          <a:cs typeface="Arial"/>
                        </a:rPr>
                        <a:t>2,331.9</a:t>
                      </a:r>
                    </a:p>
                  </a:txBody>
                  <a:tcPr marL="85725" marR="66675" marT="0" marB="0" anchor="ctr">
                    <a:solidFill>
                      <a:srgbClr val="FFFFFF"/>
                    </a:solidFill>
                  </a:tcPr>
                </a:tc>
                <a:tc>
                  <a:txBody>
                    <a:bodyPr/>
                    <a:lstStyle/>
                    <a:p>
                      <a:r>
                        <a:rPr sz="1350" b="0">
                          <a:solidFill>
                            <a:srgbClr val="252F38"/>
                          </a:solidFill>
                          <a:latin typeface="Arial"/>
                          <a:ea typeface="Arial"/>
                          <a:cs typeface="Arial"/>
                        </a:rPr>
                        <a:t>10.2</a:t>
                      </a:r>
                    </a:p>
                  </a:txBody>
                  <a:tcPr marL="85725" marR="66675" marT="0" marB="0" anchor="ctr">
                    <a:solidFill>
                      <a:srgbClr val="FFFFFF"/>
                    </a:solidFill>
                  </a:tcPr>
                </a:tc>
                <a:tc>
                  <a:txBody>
                    <a:bodyPr/>
                    <a:lstStyle/>
                    <a:p>
                      <a:r>
                        <a:rPr sz="1350" b="0">
                          <a:solidFill>
                            <a:srgbClr val="252F38"/>
                          </a:solidFill>
                          <a:latin typeface="Arial"/>
                          <a:ea typeface="Arial"/>
                          <a:cs typeface="Arial"/>
                        </a:rPr>
                        <a:t>3,155.9</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2026-12</a:t>
                      </a:r>
                    </a:p>
                  </a:txBody>
                  <a:tcPr marL="85725" marR="66675" marT="0" marB="0" anchor="ctr">
                    <a:solidFill>
                      <a:srgbClr val="F3F5F6"/>
                    </a:solidFill>
                  </a:tcPr>
                </a:tc>
                <a:tc>
                  <a:txBody>
                    <a:bodyPr/>
                    <a:lstStyle/>
                    <a:p>
                      <a:r>
                        <a:rPr sz="1350" b="0">
                          <a:solidFill>
                            <a:srgbClr val="252F38"/>
                          </a:solidFill>
                          <a:latin typeface="Arial"/>
                          <a:ea typeface="Arial"/>
                          <a:cs typeface="Arial"/>
                        </a:rPr>
                        <a:t>2,176.9</a:t>
                      </a:r>
                    </a:p>
                  </a:txBody>
                  <a:tcPr marL="85725" marR="66675" marT="0" marB="0" anchor="ctr">
                    <a:solidFill>
                      <a:srgbClr val="F3F5F6"/>
                    </a:solidFill>
                  </a:tcPr>
                </a:tc>
                <a:tc>
                  <a:txBody>
                    <a:bodyPr/>
                    <a:lstStyle/>
                    <a:p>
                      <a:r>
                        <a:rPr sz="1350" b="0">
                          <a:solidFill>
                            <a:srgbClr val="252F38"/>
                          </a:solidFill>
                          <a:latin typeface="Arial"/>
                          <a:ea typeface="Arial"/>
                          <a:cs typeface="Arial"/>
                        </a:rPr>
                        <a:t>15.4</a:t>
                      </a:r>
                    </a:p>
                  </a:txBody>
                  <a:tcPr marL="85725" marR="66675" marT="0" marB="0" anchor="ctr">
                    <a:solidFill>
                      <a:srgbClr val="F3F5F6"/>
                    </a:solidFill>
                  </a:tcPr>
                </a:tc>
                <a:tc>
                  <a:txBody>
                    <a:bodyPr/>
                    <a:lstStyle/>
                    <a:p>
                      <a:r>
                        <a:rPr sz="1350" b="0">
                          <a:solidFill>
                            <a:srgbClr val="252F38"/>
                          </a:solidFill>
                          <a:latin typeface="Arial"/>
                          <a:ea typeface="Arial"/>
                          <a:cs typeface="Arial"/>
                        </a:rPr>
                        <a:t>3,171.6</a:t>
                      </a:r>
                    </a:p>
                  </a:txBody>
                  <a:tcPr marL="85725" marR="66675" marT="0" marB="0" anchor="ctr">
                    <a:solidFill>
                      <a:srgbClr val="F3F5F6"/>
                    </a:solidFill>
                  </a:tcPr>
                </a:tc>
                <a:extLst>
                  <a:ext uri="{0D108BD9-81ED-4DB2-BD59-A6C34878D82A}">
                    <a16:rowId xmlns:a16="http://schemas.microsoft.com/office/drawing/2014/main" val="10012"/>
                  </a:ext>
                </a:extLst>
              </a:tr>
            </a:tbl>
          </a:graphicData>
        </a:graphic>
      </p:graphicFrame>
      <p:graphicFrame>
        <p:nvGraphicFramePr>
          <p:cNvPr id="18" name="表格 17"/>
          <p:cNvGraphicFramePr/>
          <p:nvPr/>
        </p:nvGraphicFramePr>
        <p:xfrm>
          <a:off x="6391275" y="1752600"/>
          <a:ext cx="5191125" cy="4419600"/>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2027-01</a:t>
                      </a:r>
                    </a:p>
                  </a:txBody>
                  <a:tcPr marL="85725" marR="66675" marT="0" marB="0" anchor="ctr">
                    <a:solidFill>
                      <a:srgbClr val="FFFFFF"/>
                    </a:solidFill>
                  </a:tcPr>
                </a:tc>
                <a:tc>
                  <a:txBody>
                    <a:bodyPr/>
                    <a:lstStyle/>
                    <a:p>
                      <a:r>
                        <a:rPr sz="1350" b="0">
                          <a:solidFill>
                            <a:srgbClr val="252F38"/>
                          </a:solidFill>
                          <a:latin typeface="Arial"/>
                          <a:ea typeface="Arial"/>
                          <a:cs typeface="Arial"/>
                        </a:rPr>
                        <a:t>2,480.0</a:t>
                      </a:r>
                    </a:p>
                  </a:txBody>
                  <a:tcPr marL="85725" marR="66675" marT="0" marB="0" anchor="ctr">
                    <a:solidFill>
                      <a:srgbClr val="FFFFFF"/>
                    </a:solidFill>
                  </a:tcPr>
                </a:tc>
                <a:tc>
                  <a:txBody>
                    <a:bodyPr/>
                    <a:lstStyle/>
                    <a:p>
                      <a:r>
                        <a:rPr sz="1350" b="0">
                          <a:solidFill>
                            <a:srgbClr val="252F38"/>
                          </a:solidFill>
                          <a:latin typeface="Arial"/>
                          <a:ea typeface="Arial"/>
                          <a:cs typeface="Arial"/>
                        </a:rPr>
                        <a:t>10.5</a:t>
                      </a:r>
                    </a:p>
                  </a:txBody>
                  <a:tcPr marL="85725" marR="66675" marT="0" marB="0" anchor="ctr">
                    <a:solidFill>
                      <a:srgbClr val="FFFFFF"/>
                    </a:solidFill>
                  </a:tcPr>
                </a:tc>
                <a:tc>
                  <a:txBody>
                    <a:bodyPr/>
                    <a:lstStyle/>
                    <a:p>
                      <a:r>
                        <a:rPr sz="1350" b="0">
                          <a:solidFill>
                            <a:srgbClr val="252F38"/>
                          </a:solidFill>
                          <a:latin typeface="Arial"/>
                          <a:ea typeface="Arial"/>
                          <a:cs typeface="Arial"/>
                        </a:rPr>
                        <a:t>3,186.6</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2027-02</a:t>
                      </a:r>
                    </a:p>
                  </a:txBody>
                  <a:tcPr marL="85725" marR="66675" marT="0" marB="0" anchor="ctr">
                    <a:solidFill>
                      <a:srgbClr val="F3F5F6"/>
                    </a:solidFill>
                  </a:tcPr>
                </a:tc>
                <a:tc>
                  <a:txBody>
                    <a:bodyPr/>
                    <a:lstStyle/>
                    <a:p>
                      <a:r>
                        <a:rPr sz="1350" b="0">
                          <a:solidFill>
                            <a:srgbClr val="252F38"/>
                          </a:solidFill>
                          <a:latin typeface="Arial"/>
                          <a:ea typeface="Arial"/>
                          <a:cs typeface="Arial"/>
                        </a:rPr>
                        <a:t>2,484.1</a:t>
                      </a:r>
                    </a:p>
                  </a:txBody>
                  <a:tcPr marL="85725" marR="66675" marT="0" marB="0" anchor="ctr">
                    <a:solidFill>
                      <a:srgbClr val="F3F5F6"/>
                    </a:solidFill>
                  </a:tcPr>
                </a:tc>
                <a:tc>
                  <a:txBody>
                    <a:bodyPr/>
                    <a:lstStyle/>
                    <a:p>
                      <a:r>
                        <a:rPr sz="1350" b="0">
                          <a:solidFill>
                            <a:srgbClr val="252F38"/>
                          </a:solidFill>
                          <a:latin typeface="Arial"/>
                          <a:ea typeface="Arial"/>
                          <a:cs typeface="Arial"/>
                        </a:rPr>
                        <a:t>8.6</a:t>
                      </a:r>
                    </a:p>
                  </a:txBody>
                  <a:tcPr marL="85725" marR="66675" marT="0" marB="0" anchor="ctr">
                    <a:solidFill>
                      <a:srgbClr val="F3F5F6"/>
                    </a:solidFill>
                  </a:tcPr>
                </a:tc>
                <a:tc>
                  <a:txBody>
                    <a:bodyPr/>
                    <a:lstStyle/>
                    <a:p>
                      <a:r>
                        <a:rPr sz="1350" b="0">
                          <a:solidFill>
                            <a:srgbClr val="252F38"/>
                          </a:solidFill>
                          <a:latin typeface="Arial"/>
                          <a:ea typeface="Arial"/>
                          <a:cs typeface="Arial"/>
                        </a:rPr>
                        <a:t>3,200.7</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2027-03</a:t>
                      </a:r>
                    </a:p>
                  </a:txBody>
                  <a:tcPr marL="85725" marR="66675" marT="0" marB="0" anchor="ctr">
                    <a:solidFill>
                      <a:srgbClr val="FFFFFF"/>
                    </a:solidFill>
                  </a:tcPr>
                </a:tc>
                <a:tc>
                  <a:txBody>
                    <a:bodyPr/>
                    <a:lstStyle/>
                    <a:p>
                      <a:r>
                        <a:rPr sz="1350" b="0">
                          <a:solidFill>
                            <a:srgbClr val="252F38"/>
                          </a:solidFill>
                          <a:latin typeface="Arial"/>
                          <a:ea typeface="Arial"/>
                          <a:cs typeface="Arial"/>
                        </a:rPr>
                        <a:t>2,586.9</a:t>
                      </a:r>
                    </a:p>
                  </a:txBody>
                  <a:tcPr marL="85725" marR="66675" marT="0" marB="0" anchor="ctr">
                    <a:solidFill>
                      <a:srgbClr val="FFFFFF"/>
                    </a:solidFill>
                  </a:tcPr>
                </a:tc>
                <a:tc>
                  <a:txBody>
                    <a:bodyPr/>
                    <a:lstStyle/>
                    <a:p>
                      <a:r>
                        <a:rPr sz="1350" b="0">
                          <a:solidFill>
                            <a:srgbClr val="252F38"/>
                          </a:solidFill>
                          <a:latin typeface="Arial"/>
                          <a:ea typeface="Arial"/>
                          <a:cs typeface="Arial"/>
                        </a:rPr>
                        <a:t>7.8</a:t>
                      </a:r>
                    </a:p>
                  </a:txBody>
                  <a:tcPr marL="85725" marR="66675" marT="0" marB="0" anchor="ctr">
                    <a:solidFill>
                      <a:srgbClr val="FFFFFF"/>
                    </a:solidFill>
                  </a:tcPr>
                </a:tc>
                <a:tc>
                  <a:txBody>
                    <a:bodyPr/>
                    <a:lstStyle/>
                    <a:p>
                      <a:r>
                        <a:rPr sz="1350" b="0">
                          <a:solidFill>
                            <a:srgbClr val="252F38"/>
                          </a:solidFill>
                          <a:latin typeface="Arial"/>
                          <a:ea typeface="Arial"/>
                          <a:cs typeface="Arial"/>
                        </a:rPr>
                        <a:t>3,215.3</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2027-04</a:t>
                      </a:r>
                    </a:p>
                  </a:txBody>
                  <a:tcPr marL="85725" marR="66675" marT="0" marB="0" anchor="ctr">
                    <a:solidFill>
                      <a:srgbClr val="F3F5F6"/>
                    </a:solidFill>
                  </a:tcPr>
                </a:tc>
                <a:tc>
                  <a:txBody>
                    <a:bodyPr/>
                    <a:lstStyle/>
                    <a:p>
                      <a:r>
                        <a:rPr sz="1350" b="0">
                          <a:solidFill>
                            <a:srgbClr val="252F38"/>
                          </a:solidFill>
                          <a:latin typeface="Arial"/>
                          <a:ea typeface="Arial"/>
                          <a:cs typeface="Arial"/>
                        </a:rPr>
                        <a:t>2,542.9</a:t>
                      </a:r>
                    </a:p>
                  </a:txBody>
                  <a:tcPr marL="85725" marR="66675" marT="0" marB="0" anchor="ctr">
                    <a:solidFill>
                      <a:srgbClr val="F3F5F6"/>
                    </a:solidFill>
                  </a:tcPr>
                </a:tc>
                <a:tc>
                  <a:txBody>
                    <a:bodyPr/>
                    <a:lstStyle/>
                    <a:p>
                      <a:r>
                        <a:rPr sz="1350" b="0">
                          <a:solidFill>
                            <a:srgbClr val="252F38"/>
                          </a:solidFill>
                          <a:latin typeface="Arial"/>
                          <a:ea typeface="Arial"/>
                          <a:cs typeface="Arial"/>
                        </a:rPr>
                        <a:t>7.7</a:t>
                      </a:r>
                    </a:p>
                  </a:txBody>
                  <a:tcPr marL="85725" marR="66675" marT="0" marB="0" anchor="ctr">
                    <a:solidFill>
                      <a:srgbClr val="F3F5F6"/>
                    </a:solidFill>
                  </a:tcPr>
                </a:tc>
                <a:tc>
                  <a:txBody>
                    <a:bodyPr/>
                    <a:lstStyle/>
                    <a:p>
                      <a:r>
                        <a:rPr sz="1350" b="0">
                          <a:solidFill>
                            <a:srgbClr val="252F38"/>
                          </a:solidFill>
                          <a:latin typeface="Arial"/>
                          <a:ea typeface="Arial"/>
                          <a:cs typeface="Arial"/>
                        </a:rPr>
                        <a:t>3,230.6</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2027-05</a:t>
                      </a:r>
                    </a:p>
                  </a:txBody>
                  <a:tcPr marL="85725" marR="66675" marT="0" marB="0" anchor="ctr">
                    <a:solidFill>
                      <a:srgbClr val="FFFFFF"/>
                    </a:solidFill>
                  </a:tcPr>
                </a:tc>
                <a:tc>
                  <a:txBody>
                    <a:bodyPr/>
                    <a:lstStyle/>
                    <a:p>
                      <a:r>
                        <a:rPr sz="1350" b="0">
                          <a:solidFill>
                            <a:srgbClr val="252F38"/>
                          </a:solidFill>
                          <a:latin typeface="Arial"/>
                          <a:ea typeface="Arial"/>
                          <a:cs typeface="Arial"/>
                        </a:rPr>
                        <a:t>2,552.3</a:t>
                      </a:r>
                    </a:p>
                  </a:txBody>
                  <a:tcPr marL="85725" marR="66675" marT="0" marB="0" anchor="ctr">
                    <a:solidFill>
                      <a:srgbClr val="FFFFFF"/>
                    </a:solidFill>
                  </a:tcPr>
                </a:tc>
                <a:tc>
                  <a:txBody>
                    <a:bodyPr/>
                    <a:lstStyle/>
                    <a:p>
                      <a:r>
                        <a:rPr sz="1350" b="0">
                          <a:solidFill>
                            <a:srgbClr val="252F38"/>
                          </a:solidFill>
                          <a:latin typeface="Arial"/>
                          <a:ea typeface="Arial"/>
                          <a:cs typeface="Arial"/>
                        </a:rPr>
                        <a:t>7.4</a:t>
                      </a:r>
                    </a:p>
                  </a:txBody>
                  <a:tcPr marL="85725" marR="66675" marT="0" marB="0" anchor="ctr">
                    <a:solidFill>
                      <a:srgbClr val="FFFFFF"/>
                    </a:solidFill>
                  </a:tcPr>
                </a:tc>
                <a:tc>
                  <a:txBody>
                    <a:bodyPr/>
                    <a:lstStyle/>
                    <a:p>
                      <a:r>
                        <a:rPr sz="1350" b="0">
                          <a:solidFill>
                            <a:srgbClr val="252F38"/>
                          </a:solidFill>
                          <a:latin typeface="Arial"/>
                          <a:ea typeface="Arial"/>
                          <a:cs typeface="Arial"/>
                        </a:rPr>
                        <a:t>3,245.6</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2027-06</a:t>
                      </a:r>
                    </a:p>
                  </a:txBody>
                  <a:tcPr marL="85725" marR="66675" marT="0" marB="0" anchor="ctr">
                    <a:solidFill>
                      <a:srgbClr val="F3F5F6"/>
                    </a:solidFill>
                  </a:tcPr>
                </a:tc>
                <a:tc>
                  <a:txBody>
                    <a:bodyPr/>
                    <a:lstStyle/>
                    <a:p>
                      <a:r>
                        <a:rPr sz="1350" b="0">
                          <a:solidFill>
                            <a:srgbClr val="252F38"/>
                          </a:solidFill>
                          <a:latin typeface="Arial"/>
                          <a:ea typeface="Arial"/>
                          <a:cs typeface="Arial"/>
                        </a:rPr>
                        <a:t>2,541.6</a:t>
                      </a:r>
                    </a:p>
                  </a:txBody>
                  <a:tcPr marL="85725" marR="66675" marT="0" marB="0" anchor="ctr">
                    <a:solidFill>
                      <a:srgbClr val="F3F5F6"/>
                    </a:solidFill>
                  </a:tcPr>
                </a:tc>
                <a:tc>
                  <a:txBody>
                    <a:bodyPr/>
                    <a:lstStyle/>
                    <a:p>
                      <a:r>
                        <a:rPr sz="1350" b="0">
                          <a:solidFill>
                            <a:srgbClr val="252F38"/>
                          </a:solidFill>
                          <a:latin typeface="Arial"/>
                          <a:ea typeface="Arial"/>
                          <a:cs typeface="Arial"/>
                        </a:rPr>
                        <a:t>7.3</a:t>
                      </a:r>
                    </a:p>
                  </a:txBody>
                  <a:tcPr marL="85725" marR="66675" marT="0" marB="0" anchor="ctr">
                    <a:solidFill>
                      <a:srgbClr val="F3F5F6"/>
                    </a:solidFill>
                  </a:tcPr>
                </a:tc>
                <a:tc>
                  <a:txBody>
                    <a:bodyPr/>
                    <a:lstStyle/>
                    <a:p>
                      <a:r>
                        <a:rPr sz="1350" b="0">
                          <a:solidFill>
                            <a:srgbClr val="252F38"/>
                          </a:solidFill>
                          <a:latin typeface="Arial"/>
                          <a:ea typeface="Arial"/>
                          <a:cs typeface="Arial"/>
                        </a:rPr>
                        <a:t>3,259.8</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2027-07</a:t>
                      </a:r>
                    </a:p>
                  </a:txBody>
                  <a:tcPr marL="85725" marR="66675" marT="0" marB="0" anchor="ctr">
                    <a:solidFill>
                      <a:srgbClr val="FFFFFF"/>
                    </a:solidFill>
                  </a:tcPr>
                </a:tc>
                <a:tc>
                  <a:txBody>
                    <a:bodyPr/>
                    <a:lstStyle/>
                    <a:p>
                      <a:r>
                        <a:rPr sz="1350" b="0">
                          <a:solidFill>
                            <a:srgbClr val="252F38"/>
                          </a:solidFill>
                          <a:latin typeface="Arial"/>
                          <a:ea typeface="Arial"/>
                          <a:cs typeface="Arial"/>
                        </a:rPr>
                        <a:t>2,506.5</a:t>
                      </a:r>
                    </a:p>
                  </a:txBody>
                  <a:tcPr marL="85725" marR="66675" marT="0" marB="0" anchor="ctr">
                    <a:solidFill>
                      <a:srgbClr val="FFFFFF"/>
                    </a:solidFill>
                  </a:tcPr>
                </a:tc>
                <a:tc>
                  <a:txBody>
                    <a:bodyPr/>
                    <a:lstStyle/>
                    <a:p>
                      <a:r>
                        <a:rPr sz="1350" b="0">
                          <a:solidFill>
                            <a:srgbClr val="252F38"/>
                          </a:solidFill>
                          <a:latin typeface="Arial"/>
                          <a:ea typeface="Arial"/>
                          <a:cs typeface="Arial"/>
                        </a:rPr>
                        <a:t>5.9</a:t>
                      </a:r>
                    </a:p>
                  </a:txBody>
                  <a:tcPr marL="85725" marR="66675" marT="0" marB="0" anchor="ctr">
                    <a:solidFill>
                      <a:srgbClr val="FFFFFF"/>
                    </a:solidFill>
                  </a:tcPr>
                </a:tc>
                <a:tc>
                  <a:txBody>
                    <a:bodyPr/>
                    <a:lstStyle/>
                    <a:p>
                      <a:r>
                        <a:rPr sz="1350" b="0">
                          <a:solidFill>
                            <a:srgbClr val="252F38"/>
                          </a:solidFill>
                          <a:latin typeface="Arial"/>
                          <a:ea typeface="Arial"/>
                          <a:cs typeface="Arial"/>
                        </a:rPr>
                        <a:t>3,273.6</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2027-08</a:t>
                      </a:r>
                    </a:p>
                  </a:txBody>
                  <a:tcPr marL="85725" marR="66675" marT="0" marB="0" anchor="ctr">
                    <a:solidFill>
                      <a:srgbClr val="F3F5F6"/>
                    </a:solidFill>
                  </a:tcPr>
                </a:tc>
                <a:tc>
                  <a:txBody>
                    <a:bodyPr/>
                    <a:lstStyle/>
                    <a:p>
                      <a:r>
                        <a:rPr sz="1350" b="0">
                          <a:solidFill>
                            <a:srgbClr val="252F38"/>
                          </a:solidFill>
                          <a:latin typeface="Arial"/>
                          <a:ea typeface="Arial"/>
                          <a:cs typeface="Arial"/>
                        </a:rPr>
                        <a:t>2,569.7</a:t>
                      </a:r>
                    </a:p>
                  </a:txBody>
                  <a:tcPr marL="85725" marR="66675" marT="0" marB="0" anchor="ctr">
                    <a:solidFill>
                      <a:srgbClr val="F3F5F6"/>
                    </a:solidFill>
                  </a:tcPr>
                </a:tc>
                <a:tc>
                  <a:txBody>
                    <a:bodyPr/>
                    <a:lstStyle/>
                    <a:p>
                      <a:r>
                        <a:rPr sz="1350" b="0">
                          <a:solidFill>
                            <a:srgbClr val="252F38"/>
                          </a:solidFill>
                          <a:latin typeface="Arial"/>
                          <a:ea typeface="Arial"/>
                          <a:cs typeface="Arial"/>
                        </a:rPr>
                        <a:t>1.1</a:t>
                      </a:r>
                    </a:p>
                  </a:txBody>
                  <a:tcPr marL="85725" marR="66675" marT="0" marB="0" anchor="ctr">
                    <a:solidFill>
                      <a:srgbClr val="F3F5F6"/>
                    </a:solidFill>
                  </a:tcPr>
                </a:tc>
                <a:tc>
                  <a:txBody>
                    <a:bodyPr/>
                    <a:lstStyle/>
                    <a:p>
                      <a:r>
                        <a:rPr sz="1350" b="0">
                          <a:solidFill>
                            <a:srgbClr val="252F38"/>
                          </a:solidFill>
                          <a:latin typeface="Arial"/>
                          <a:ea typeface="Arial"/>
                          <a:cs typeface="Arial"/>
                        </a:rPr>
                        <a:t>3,287.1</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2027-09</a:t>
                      </a:r>
                    </a:p>
                  </a:txBody>
                  <a:tcPr marL="85725" marR="66675" marT="0" marB="0" anchor="ctr">
                    <a:solidFill>
                      <a:srgbClr val="FFFFFF"/>
                    </a:solidFill>
                  </a:tcPr>
                </a:tc>
                <a:tc>
                  <a:txBody>
                    <a:bodyPr/>
                    <a:lstStyle/>
                    <a:p>
                      <a:r>
                        <a:rPr sz="1350" b="0">
                          <a:solidFill>
                            <a:srgbClr val="252F38"/>
                          </a:solidFill>
                          <a:latin typeface="Arial"/>
                          <a:ea typeface="Arial"/>
                          <a:cs typeface="Arial"/>
                        </a:rPr>
                        <a:t>2,420.7</a:t>
                      </a:r>
                    </a:p>
                  </a:txBody>
                  <a:tcPr marL="85725" marR="66675" marT="0" marB="0" anchor="ctr">
                    <a:solidFill>
                      <a:srgbClr val="FFFFFF"/>
                    </a:solidFill>
                  </a:tcPr>
                </a:tc>
                <a:tc>
                  <a:txBody>
                    <a:bodyPr/>
                    <a:lstStyle/>
                    <a:p>
                      <a:r>
                        <a:rPr sz="1350" b="0">
                          <a:solidFill>
                            <a:srgbClr val="252F38"/>
                          </a:solidFill>
                          <a:latin typeface="Arial"/>
                          <a:ea typeface="Arial"/>
                          <a:cs typeface="Arial"/>
                        </a:rPr>
                        <a:t>4.5</a:t>
                      </a:r>
                    </a:p>
                  </a:txBody>
                  <a:tcPr marL="85725" marR="66675" marT="0" marB="0" anchor="ctr">
                    <a:solidFill>
                      <a:srgbClr val="FFFFFF"/>
                    </a:solidFill>
                  </a:tcPr>
                </a:tc>
                <a:tc>
                  <a:txBody>
                    <a:bodyPr/>
                    <a:lstStyle/>
                    <a:p>
                      <a:r>
                        <a:rPr sz="1350" b="0">
                          <a:solidFill>
                            <a:srgbClr val="252F38"/>
                          </a:solidFill>
                          <a:latin typeface="Arial"/>
                          <a:ea typeface="Arial"/>
                          <a:cs typeface="Arial"/>
                        </a:rPr>
                        <a:t>3,300.0</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2027-10</a:t>
                      </a:r>
                    </a:p>
                  </a:txBody>
                  <a:tcPr marL="85725" marR="66675" marT="0" marB="0" anchor="ctr">
                    <a:solidFill>
                      <a:srgbClr val="F3F5F6"/>
                    </a:solidFill>
                  </a:tcPr>
                </a:tc>
                <a:tc>
                  <a:txBody>
                    <a:bodyPr/>
                    <a:lstStyle/>
                    <a:p>
                      <a:r>
                        <a:rPr sz="1350" b="0">
                          <a:solidFill>
                            <a:srgbClr val="252F38"/>
                          </a:solidFill>
                          <a:latin typeface="Arial"/>
                          <a:ea typeface="Arial"/>
                          <a:cs typeface="Arial"/>
                        </a:rPr>
                        <a:t>2,557.0</a:t>
                      </a:r>
                    </a:p>
                  </a:txBody>
                  <a:tcPr marL="85725" marR="66675" marT="0" marB="0" anchor="ctr">
                    <a:solidFill>
                      <a:srgbClr val="F3F5F6"/>
                    </a:solidFill>
                  </a:tcPr>
                </a:tc>
                <a:tc>
                  <a:txBody>
                    <a:bodyPr/>
                    <a:lstStyle/>
                    <a:p>
                      <a:r>
                        <a:rPr sz="1350" b="0">
                          <a:solidFill>
                            <a:srgbClr val="252F38"/>
                          </a:solidFill>
                          <a:latin typeface="Arial"/>
                          <a:ea typeface="Arial"/>
                          <a:cs typeface="Arial"/>
                        </a:rPr>
                        <a:t>1.5</a:t>
                      </a:r>
                    </a:p>
                  </a:txBody>
                  <a:tcPr marL="85725" marR="66675" marT="0" marB="0" anchor="ctr">
                    <a:solidFill>
                      <a:srgbClr val="F3F5F6"/>
                    </a:solidFill>
                  </a:tcPr>
                </a:tc>
                <a:tc>
                  <a:txBody>
                    <a:bodyPr/>
                    <a:lstStyle/>
                    <a:p>
                      <a:r>
                        <a:rPr sz="1350" b="0">
                          <a:solidFill>
                            <a:srgbClr val="252F38"/>
                          </a:solidFill>
                          <a:latin typeface="Arial"/>
                          <a:ea typeface="Arial"/>
                          <a:cs typeface="Arial"/>
                        </a:rPr>
                        <a:t>3,312.4</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2027-11</a:t>
                      </a:r>
                    </a:p>
                  </a:txBody>
                  <a:tcPr marL="85725" marR="66675" marT="0" marB="0" anchor="ctr">
                    <a:solidFill>
                      <a:srgbClr val="FFFFFF"/>
                    </a:solidFill>
                  </a:tcPr>
                </a:tc>
                <a:tc>
                  <a:txBody>
                    <a:bodyPr/>
                    <a:lstStyle/>
                    <a:p>
                      <a:r>
                        <a:rPr sz="1350" b="0">
                          <a:solidFill>
                            <a:srgbClr val="252F38"/>
                          </a:solidFill>
                          <a:latin typeface="Arial"/>
                          <a:ea typeface="Arial"/>
                          <a:cs typeface="Arial"/>
                        </a:rPr>
                        <a:t>2,438.4</a:t>
                      </a:r>
                    </a:p>
                  </a:txBody>
                  <a:tcPr marL="85725" marR="66675" marT="0" marB="0" anchor="ctr">
                    <a:solidFill>
                      <a:srgbClr val="FFFFFF"/>
                    </a:solidFill>
                  </a:tcPr>
                </a:tc>
                <a:tc>
                  <a:txBody>
                    <a:bodyPr/>
                    <a:lstStyle/>
                    <a:p>
                      <a:r>
                        <a:rPr sz="1350" b="0">
                          <a:solidFill>
                            <a:srgbClr val="252F38"/>
                          </a:solidFill>
                          <a:latin typeface="Arial"/>
                          <a:ea typeface="Arial"/>
                          <a:cs typeface="Arial"/>
                        </a:rPr>
                        <a:t>4.6</a:t>
                      </a:r>
                    </a:p>
                  </a:txBody>
                  <a:tcPr marL="85725" marR="66675" marT="0" marB="0" anchor="ctr">
                    <a:solidFill>
                      <a:srgbClr val="FFFFFF"/>
                    </a:solidFill>
                  </a:tcPr>
                </a:tc>
                <a:tc>
                  <a:txBody>
                    <a:bodyPr/>
                    <a:lstStyle/>
                    <a:p>
                      <a:r>
                        <a:rPr sz="1350" b="0">
                          <a:solidFill>
                            <a:srgbClr val="252F38"/>
                          </a:solidFill>
                          <a:latin typeface="Arial"/>
                          <a:ea typeface="Arial"/>
                          <a:cs typeface="Arial"/>
                        </a:rPr>
                        <a:t>3,324.6</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2027-12</a:t>
                      </a:r>
                    </a:p>
                  </a:txBody>
                  <a:tcPr marL="85725" marR="66675" marT="0" marB="0" anchor="ctr">
                    <a:solidFill>
                      <a:srgbClr val="F3F5F6"/>
                    </a:solidFill>
                  </a:tcPr>
                </a:tc>
                <a:tc>
                  <a:txBody>
                    <a:bodyPr/>
                    <a:lstStyle/>
                    <a:p>
                      <a:r>
                        <a:rPr sz="1350" b="0">
                          <a:solidFill>
                            <a:srgbClr val="252F38"/>
                          </a:solidFill>
                          <a:latin typeface="Arial"/>
                          <a:ea typeface="Arial"/>
                          <a:cs typeface="Arial"/>
                        </a:rPr>
                        <a:t>2,363.6</a:t>
                      </a:r>
                    </a:p>
                  </a:txBody>
                  <a:tcPr marL="85725" marR="66675" marT="0" marB="0" anchor="ctr">
                    <a:solidFill>
                      <a:srgbClr val="F3F5F6"/>
                    </a:solidFill>
                  </a:tcPr>
                </a:tc>
                <a:tc>
                  <a:txBody>
                    <a:bodyPr/>
                    <a:lstStyle/>
                    <a:p>
                      <a:r>
                        <a:rPr sz="1350" b="0">
                          <a:solidFill>
                            <a:srgbClr val="252F38"/>
                          </a:solidFill>
                          <a:latin typeface="Arial"/>
                          <a:ea typeface="Arial"/>
                          <a:cs typeface="Arial"/>
                        </a:rPr>
                        <a:t>8.6</a:t>
                      </a:r>
                    </a:p>
                  </a:txBody>
                  <a:tcPr marL="85725" marR="66675" marT="0" marB="0" anchor="ctr">
                    <a:solidFill>
                      <a:srgbClr val="F3F5F6"/>
                    </a:solidFill>
                  </a:tcPr>
                </a:tc>
                <a:tc>
                  <a:txBody>
                    <a:bodyPr/>
                    <a:lstStyle/>
                    <a:p>
                      <a:r>
                        <a:rPr sz="1350" b="0">
                          <a:solidFill>
                            <a:srgbClr val="252F38"/>
                          </a:solidFill>
                          <a:latin typeface="Arial"/>
                          <a:ea typeface="Arial"/>
                          <a:cs typeface="Arial"/>
                        </a:rPr>
                        <a:t>3,336.7</a:t>
                      </a:r>
                    </a:p>
                  </a:txBody>
                  <a:tcPr marL="85725" marR="66675" marT="0" marB="0" anchor="ctr">
                    <a:solidFill>
                      <a:srgbClr val="F3F5F6"/>
                    </a:solidFill>
                  </a:tcPr>
                </a:tc>
                <a:extLst>
                  <a:ext uri="{0D108BD9-81ED-4DB2-BD59-A6C34878D82A}">
                    <a16:rowId xmlns:a16="http://schemas.microsoft.com/office/drawing/2014/main" val="10012"/>
                  </a:ext>
                </a:extLst>
              </a:tr>
              <a:tr h="276225">
                <a:tc>
                  <a:txBody>
                    <a:bodyPr/>
                    <a:lstStyle/>
                    <a:p>
                      <a:r>
                        <a:rPr sz="1350" b="0">
                          <a:solidFill>
                            <a:srgbClr val="252F38"/>
                          </a:solidFill>
                          <a:latin typeface="Arial"/>
                          <a:ea typeface="Arial"/>
                          <a:cs typeface="Arial"/>
                        </a:rPr>
                        <a:t>2028-01</a:t>
                      </a:r>
                    </a:p>
                  </a:txBody>
                  <a:tcPr marL="85725" marR="66675" marT="0" marB="0" anchor="ctr">
                    <a:solidFill>
                      <a:srgbClr val="FFFFFF"/>
                    </a:solidFill>
                  </a:tcPr>
                </a:tc>
                <a:tc>
                  <a:txBody>
                    <a:bodyPr/>
                    <a:lstStyle/>
                    <a:p>
                      <a:r>
                        <a:rPr sz="1350" b="0">
                          <a:solidFill>
                            <a:srgbClr val="252F38"/>
                          </a:solidFill>
                          <a:latin typeface="Arial"/>
                          <a:ea typeface="Arial"/>
                          <a:cs typeface="Arial"/>
                        </a:rPr>
                        <a:t>2,557.0</a:t>
                      </a:r>
                    </a:p>
                  </a:txBody>
                  <a:tcPr marL="85725" marR="66675" marT="0" marB="0" anchor="ctr">
                    <a:solidFill>
                      <a:srgbClr val="FFFFFF"/>
                    </a:solidFill>
                  </a:tcPr>
                </a:tc>
                <a:tc>
                  <a:txBody>
                    <a:bodyPr/>
                    <a:lstStyle/>
                    <a:p>
                      <a:r>
                        <a:rPr sz="1350" b="0">
                          <a:solidFill>
                            <a:srgbClr val="252F38"/>
                          </a:solidFill>
                          <a:latin typeface="Arial"/>
                          <a:ea typeface="Arial"/>
                          <a:cs typeface="Arial"/>
                        </a:rPr>
                        <a:t>3.1</a:t>
                      </a:r>
                    </a:p>
                  </a:txBody>
                  <a:tcPr marL="85725" marR="66675" marT="0" marB="0" anchor="ctr">
                    <a:solidFill>
                      <a:srgbClr val="FFFFFF"/>
                    </a:solidFill>
                  </a:tcPr>
                </a:tc>
                <a:tc>
                  <a:txBody>
                    <a:bodyPr/>
                    <a:lstStyle/>
                    <a:p>
                      <a:r>
                        <a:rPr sz="1350" b="0">
                          <a:solidFill>
                            <a:srgbClr val="252F38"/>
                          </a:solidFill>
                          <a:latin typeface="Arial"/>
                          <a:ea typeface="Arial"/>
                          <a:cs typeface="Arial"/>
                        </a:rPr>
                        <a:t>3,348.9</a:t>
                      </a:r>
                    </a:p>
                  </a:txBody>
                  <a:tcPr marL="85725" marR="66675" marT="0" marB="0" anchor="ctr">
                    <a:solidFill>
                      <a:srgbClr val="FFFFFF"/>
                    </a:solidFill>
                  </a:tcPr>
                </a:tc>
                <a:extLst>
                  <a:ext uri="{0D108BD9-81ED-4DB2-BD59-A6C34878D82A}">
                    <a16:rowId xmlns:a16="http://schemas.microsoft.com/office/drawing/2014/main" val="10013"/>
                  </a:ext>
                </a:extLst>
              </a:tr>
              <a:tr h="276225">
                <a:tc>
                  <a:txBody>
                    <a:bodyPr/>
                    <a:lstStyle/>
                    <a:p>
                      <a:r>
                        <a:rPr sz="1350" b="0">
                          <a:solidFill>
                            <a:srgbClr val="252F38"/>
                          </a:solidFill>
                          <a:latin typeface="Arial"/>
                          <a:ea typeface="Arial"/>
                          <a:cs typeface="Arial"/>
                        </a:rPr>
                        <a:t>2028-02</a:t>
                      </a:r>
                    </a:p>
                  </a:txBody>
                  <a:tcPr marL="85725" marR="66675" marT="0" marB="0" anchor="ctr">
                    <a:solidFill>
                      <a:srgbClr val="F3F5F6"/>
                    </a:solidFill>
                  </a:tcPr>
                </a:tc>
                <a:tc>
                  <a:txBody>
                    <a:bodyPr/>
                    <a:lstStyle/>
                    <a:p>
                      <a:r>
                        <a:rPr sz="1350" b="0">
                          <a:solidFill>
                            <a:srgbClr val="252F38"/>
                          </a:solidFill>
                          <a:latin typeface="Arial"/>
                          <a:ea typeface="Arial"/>
                          <a:cs typeface="Arial"/>
                        </a:rPr>
                        <a:t>2,490.3</a:t>
                      </a:r>
                    </a:p>
                  </a:txBody>
                  <a:tcPr marL="85725" marR="66675" marT="0" marB="0" anchor="ctr">
                    <a:solidFill>
                      <a:srgbClr val="F3F5F6"/>
                    </a:solidFill>
                  </a:tcPr>
                </a:tc>
                <a:tc>
                  <a:txBody>
                    <a:bodyPr/>
                    <a:lstStyle/>
                    <a:p>
                      <a:r>
                        <a:rPr sz="1350" b="0">
                          <a:solidFill>
                            <a:srgbClr val="252F38"/>
                          </a:solidFill>
                          <a:latin typeface="Arial"/>
                          <a:ea typeface="Arial"/>
                          <a:cs typeface="Arial"/>
                        </a:rPr>
                        <a:t>0.2</a:t>
                      </a:r>
                    </a:p>
                  </a:txBody>
                  <a:tcPr marL="85725" marR="66675" marT="0" marB="0" anchor="ctr">
                    <a:solidFill>
                      <a:srgbClr val="F3F5F6"/>
                    </a:solidFill>
                  </a:tcPr>
                </a:tc>
                <a:tc>
                  <a:txBody>
                    <a:bodyPr/>
                    <a:lstStyle/>
                    <a:p>
                      <a:r>
                        <a:rPr sz="1350" b="0">
                          <a:solidFill>
                            <a:srgbClr val="252F38"/>
                          </a:solidFill>
                          <a:latin typeface="Arial"/>
                          <a:ea typeface="Arial"/>
                          <a:cs typeface="Arial"/>
                        </a:rPr>
                        <a:t>3,360.4</a:t>
                      </a:r>
                    </a:p>
                  </a:txBody>
                  <a:tcPr marL="85725" marR="66675" marT="0" marB="0" anchor="ctr">
                    <a:solidFill>
                      <a:srgbClr val="F3F5F6"/>
                    </a:solidFill>
                  </a:tcPr>
                </a:tc>
                <a:extLst>
                  <a:ext uri="{0D108BD9-81ED-4DB2-BD59-A6C34878D82A}">
                    <a16:rowId xmlns:a16="http://schemas.microsoft.com/office/drawing/2014/main" val="10014"/>
                  </a:ext>
                </a:extLst>
              </a:tr>
              <a:tr h="276225">
                <a:tc>
                  <a:txBody>
                    <a:bodyPr/>
                    <a:lstStyle/>
                    <a:p>
                      <a:r>
                        <a:rPr sz="1350" b="0">
                          <a:solidFill>
                            <a:srgbClr val="252F38"/>
                          </a:solidFill>
                          <a:latin typeface="Arial"/>
                          <a:ea typeface="Arial"/>
                          <a:cs typeface="Arial"/>
                        </a:rPr>
                        <a:t>2028-03</a:t>
                      </a:r>
                    </a:p>
                  </a:txBody>
                  <a:tcPr marL="85725" marR="66675" marT="0" marB="0" anchor="ctr">
                    <a:solidFill>
                      <a:srgbClr val="FFFFFF"/>
                    </a:solidFill>
                  </a:tcPr>
                </a:tc>
                <a:tc>
                  <a:txBody>
                    <a:bodyPr/>
                    <a:lstStyle/>
                    <a:p>
                      <a:r>
                        <a:rPr sz="1350" b="0">
                          <a:solidFill>
                            <a:srgbClr val="252F38"/>
                          </a:solidFill>
                          <a:latin typeface="Arial"/>
                          <a:ea typeface="Arial"/>
                          <a:cs typeface="Arial"/>
                        </a:rPr>
                        <a:t>2,543.4</a:t>
                      </a:r>
                    </a:p>
                  </a:txBody>
                  <a:tcPr marL="85725" marR="66675" marT="0" marB="0" anchor="ctr">
                    <a:solidFill>
                      <a:srgbClr val="FFFFFF"/>
                    </a:solidFill>
                  </a:tcPr>
                </a:tc>
                <a:tc>
                  <a:txBody>
                    <a:bodyPr/>
                    <a:lstStyle/>
                    <a:p>
                      <a:r>
                        <a:rPr sz="1350" b="0">
                          <a:solidFill>
                            <a:srgbClr val="252F38"/>
                          </a:solidFill>
                          <a:latin typeface="Arial"/>
                          <a:ea typeface="Arial"/>
                          <a:cs typeface="Arial"/>
                        </a:rPr>
                        <a:t>-1.7</a:t>
                      </a:r>
                    </a:p>
                  </a:txBody>
                  <a:tcPr marL="85725" marR="66675" marT="0" marB="0" anchor="ctr">
                    <a:solidFill>
                      <a:srgbClr val="FFFFFF"/>
                    </a:solidFill>
                  </a:tcPr>
                </a:tc>
                <a:tc>
                  <a:txBody>
                    <a:bodyPr/>
                    <a:lstStyle/>
                    <a:p>
                      <a:r>
                        <a:rPr sz="1350" b="0">
                          <a:solidFill>
                            <a:srgbClr val="252F38"/>
                          </a:solidFill>
                          <a:latin typeface="Arial"/>
                          <a:ea typeface="Arial"/>
                          <a:cs typeface="Arial"/>
                        </a:rPr>
                        <a:t>3,372.0</a:t>
                      </a:r>
                    </a:p>
                  </a:txBody>
                  <a:tcPr marL="85725" marR="66675" marT="0" marB="0" anchor="ctr">
                    <a:solidFill>
                      <a:srgbClr val="FFFFFF"/>
                    </a:solidFill>
                  </a:tcPr>
                </a:tc>
                <a:extLst>
                  <a:ext uri="{0D108BD9-81ED-4DB2-BD59-A6C34878D82A}">
                    <a16:rowId xmlns:a16="http://schemas.microsoft.com/office/drawing/2014/main" val="10015"/>
                  </a:ext>
                </a:extLst>
              </a:tr>
            </a:tbl>
          </a:graphicData>
        </a:graphic>
      </p:graphicFrame>
      <p:sp>
        <p:nvSpPr>
          <p:cNvPr id="10" name="矩形 9">
            <a:extLst>
              <a:ext uri="{FF2B5EF4-FFF2-40B4-BE49-F238E27FC236}">
                <a16:creationId xmlns:a16="http://schemas.microsoft.com/office/drawing/2014/main" id="{EA09A815-9ABB-48C0-ACA5-989938D4C6B1}"/>
              </a:ext>
            </a:extLst>
          </p:cNvPr>
          <p:cNvSpPr>
            <a:spLocks noGrp="1"/>
          </p:cNvSpPr>
          <p:nvPr/>
        </p:nvSpPr>
        <p:spPr>
          <a:xfrm>
            <a:off x="609600" y="6286500"/>
            <a:ext cx="10972800" cy="266700"/>
          </a:xfrm>
          <a:prstGeom prst="rect">
            <a:avLst/>
          </a:prstGeom>
          <a:noFill/>
          <a:ln w="0">
            <a:noFill/>
          </a:ln>
        </p:spPr>
        <p:txBody>
          <a:bodyPr anchor="t">
            <a:noAutofit/>
          </a:bodyPr>
          <a:lstStyle/>
          <a:p>
            <a:pPr>
              <a:buNone/>
              <a:defRPr sz="1500" b="1">
                <a:solidFill>
                  <a:srgbClr val="00476B"/>
                </a:solidFill>
                <a:latin typeface="Arial"/>
                <a:ea typeface="Arial"/>
                <a:cs typeface="Arial"/>
              </a:defRPr>
            </a:pPr>
            <a:r>
              <a:rPr sz="1500" b="1">
                <a:solidFill>
                  <a:srgbClr val="00476B"/>
                </a:solidFill>
                <a:latin typeface="Arial"/>
                <a:ea typeface="Arial"/>
                <a:cs typeface="Arial"/>
              </a:rPr>
              <a:t>Fee forecasts retain the original data units. Long-run fit is the CPI-based first-step estimate.</a:t>
            </a:r>
          </a:p>
        </p:txBody>
      </p:sp>
    </p:spTree>
    <p:extLst>
      <p:ext uri="{BB962C8B-B14F-4D97-AF65-F5344CB8AC3E}">
        <p14:creationId xmlns:p14="http://schemas.microsoft.com/office/powerpoint/2010/main" val="1146284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ECF0F752-ECDB-4EF6-927D-3BF97CB0C8CA}"/>
              </a:ext>
            </a:extLst>
          </p:cNvPr>
          <p:cNvSpPr>
            <a:spLocks noGrp="1"/>
          </p:cNvSpPr>
          <p:nvPr/>
        </p:nvSpPr>
        <p:spPr>
          <a:xfrm>
            <a:off x="590550" y="514350"/>
            <a:ext cx="11001375" cy="647700"/>
          </a:xfrm>
          <a:prstGeom prst="rect">
            <a:avLst/>
          </a:prstGeom>
          <a:noFill/>
          <a:ln w="0">
            <a:noFill/>
          </a:ln>
        </p:spPr>
        <p:txBody>
          <a:bodyPr wrap="square" lIns="0" tIns="0" rIns="0" bIns="0" anchor="t">
            <a:noAutofit/>
          </a:bodyPr>
          <a:lstStyle/>
          <a:p>
            <a:pPr algn="l">
              <a:buNone/>
              <a:defRPr sz="3150" b="1">
                <a:solidFill>
                  <a:srgbClr val="006C98"/>
                </a:solidFill>
                <a:latin typeface="Arial"/>
                <a:ea typeface="Arial"/>
                <a:cs typeface="Arial"/>
              </a:defRPr>
            </a:pPr>
            <a:r>
              <a:rPr sz="3150" b="1">
                <a:solidFill>
                  <a:srgbClr val="006C98"/>
                </a:solidFill>
                <a:latin typeface="Arial"/>
                <a:ea typeface="Arial"/>
                <a:cs typeface="Arial"/>
              </a:rPr>
              <a:t>S4 Downside Monthly Forecast Detail</a:t>
            </a:r>
          </a:p>
        </p:txBody>
      </p:sp>
      <p:sp>
        <p:nvSpPr>
          <p:cNvPr id="5" name="Page number">
            <a:extLst>
              <a:ext uri="{FF2B5EF4-FFF2-40B4-BE49-F238E27FC236}">
                <a16:creationId xmlns:a16="http://schemas.microsoft.com/office/drawing/2014/main" id="{4CB253AB-A1E1-46EA-8ED5-1953311DEEE1}"/>
              </a:ext>
            </a:extLst>
          </p:cNvPr>
          <p:cNvSpPr>
            <a:spLocks noGrp="1"/>
          </p:cNvSpPr>
          <p:nvPr/>
        </p:nvSpPr>
        <p:spPr>
          <a:xfrm>
            <a:off x="11382375" y="6591300"/>
            <a:ext cx="285750" cy="190500"/>
          </a:xfrm>
          <a:prstGeom prst="rect">
            <a:avLst/>
          </a:prstGeom>
          <a:noFill/>
          <a:ln w="0">
            <a:noFill/>
          </a:ln>
        </p:spPr>
        <p:txBody>
          <a:bodyPr wrap="square" lIns="0" tIns="0" rIns="0" bIns="0" anchor="t">
            <a:noAutofit/>
          </a:bodyPr>
          <a:lstStyle/>
          <a:p>
            <a:pPr algn="r">
              <a:buNone/>
              <a:defRPr sz="1050" b="0">
                <a:solidFill>
                  <a:srgbClr val="5D6B75"/>
                </a:solidFill>
                <a:latin typeface="Arial"/>
                <a:ea typeface="Arial"/>
                <a:cs typeface="Arial"/>
              </a:defRPr>
            </a:pPr>
            <a:r>
              <a:rPr sz="1050" b="0">
                <a:solidFill>
                  <a:srgbClr val="5D6B75"/>
                </a:solidFill>
                <a:latin typeface="Arial"/>
                <a:ea typeface="Arial"/>
                <a:cs typeface="Arial"/>
              </a:rPr>
              <a:t>21</a:t>
            </a:r>
          </a:p>
        </p:txBody>
      </p:sp>
      <p:sp>
        <p:nvSpPr>
          <p:cNvPr id="6" name="矩形 5">
            <a:extLst>
              <a:ext uri="{FF2B5EF4-FFF2-40B4-BE49-F238E27FC236}">
                <a16:creationId xmlns:a16="http://schemas.microsoft.com/office/drawing/2014/main" id="{1CD18FA8-5961-4E45-A99D-9308B0910C2E}"/>
              </a:ext>
            </a:extLst>
          </p:cNvPr>
          <p:cNvSpPr>
            <a:spLocks noGrp="1"/>
          </p:cNvSpPr>
          <p:nvPr/>
        </p:nvSpPr>
        <p:spPr>
          <a:xfrm>
            <a:off x="609600" y="1285875"/>
            <a:ext cx="5162550"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2026</a:t>
            </a:r>
          </a:p>
        </p:txBody>
      </p:sp>
      <p:sp>
        <p:nvSpPr>
          <p:cNvPr id="7" name="矩形 6">
            <a:extLst>
              <a:ext uri="{FF2B5EF4-FFF2-40B4-BE49-F238E27FC236}">
                <a16:creationId xmlns:a16="http://schemas.microsoft.com/office/drawing/2014/main" id="{C296A2F2-A964-400F-8D92-EA80B2063D77}"/>
              </a:ext>
            </a:extLst>
          </p:cNvPr>
          <p:cNvSpPr>
            <a:spLocks noGrp="1"/>
          </p:cNvSpPr>
          <p:nvPr/>
        </p:nvSpPr>
        <p:spPr>
          <a:xfrm>
            <a:off x="6391275" y="1285875"/>
            <a:ext cx="5191125" cy="323850"/>
          </a:xfrm>
          <a:prstGeom prst="rect">
            <a:avLst/>
          </a:prstGeom>
          <a:noFill/>
          <a:ln w="0">
            <a:noFill/>
          </a:ln>
        </p:spPr>
        <p:txBody>
          <a:bodyPr anchor="t">
            <a:noAutofit/>
          </a:bodyPr>
          <a:lstStyle/>
          <a:p>
            <a:pPr>
              <a:buNone/>
              <a:defRPr sz="1950" b="1">
                <a:solidFill>
                  <a:srgbClr val="252F38"/>
                </a:solidFill>
                <a:latin typeface="Arial"/>
                <a:ea typeface="Arial"/>
                <a:cs typeface="Arial"/>
              </a:defRPr>
            </a:pPr>
            <a:r>
              <a:rPr sz="1950" b="1">
                <a:solidFill>
                  <a:srgbClr val="252F38"/>
                </a:solidFill>
                <a:latin typeface="Arial"/>
                <a:ea typeface="Arial"/>
                <a:cs typeface="Arial"/>
              </a:rPr>
              <a:t>2027 to Mar 2028</a:t>
            </a:r>
          </a:p>
        </p:txBody>
      </p:sp>
      <p:graphicFrame>
        <p:nvGraphicFramePr>
          <p:cNvPr id="17" name="表格 16"/>
          <p:cNvGraphicFramePr/>
          <p:nvPr/>
        </p:nvGraphicFramePr>
        <p:xfrm>
          <a:off x="609600" y="1752600"/>
          <a:ext cx="5191125" cy="3590925"/>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2026-01</a:t>
                      </a:r>
                    </a:p>
                  </a:txBody>
                  <a:tcPr marL="85725" marR="66675" marT="0" marB="0" anchor="ctr">
                    <a:solidFill>
                      <a:srgbClr val="FFFFFF"/>
                    </a:solidFill>
                  </a:tcPr>
                </a:tc>
                <a:tc>
                  <a:txBody>
                    <a:bodyPr/>
                    <a:lstStyle/>
                    <a:p>
                      <a:r>
                        <a:rPr sz="1350" b="0">
                          <a:solidFill>
                            <a:srgbClr val="252F38"/>
                          </a:solidFill>
                          <a:latin typeface="Arial"/>
                          <a:ea typeface="Arial"/>
                          <a:cs typeface="Arial"/>
                        </a:rPr>
                        <a:t>2,243.6</a:t>
                      </a:r>
                    </a:p>
                  </a:txBody>
                  <a:tcPr marL="85725" marR="66675" marT="0" marB="0" anchor="ctr">
                    <a:solidFill>
                      <a:srgbClr val="FFFFFF"/>
                    </a:solidFill>
                  </a:tcPr>
                </a:tc>
                <a:tc>
                  <a:txBody>
                    <a:bodyPr/>
                    <a:lstStyle/>
                    <a:p>
                      <a:r>
                        <a:rPr sz="1350" b="0">
                          <a:solidFill>
                            <a:srgbClr val="252F38"/>
                          </a:solidFill>
                          <a:latin typeface="Arial"/>
                          <a:ea typeface="Arial"/>
                          <a:cs typeface="Arial"/>
                        </a:rPr>
                        <a:t>4.4</a:t>
                      </a:r>
                    </a:p>
                  </a:txBody>
                  <a:tcPr marL="85725" marR="66675" marT="0" marB="0" anchor="ctr">
                    <a:solidFill>
                      <a:srgbClr val="FFFFFF"/>
                    </a:solidFill>
                  </a:tcPr>
                </a:tc>
                <a:tc>
                  <a:txBody>
                    <a:bodyPr/>
                    <a:lstStyle/>
                    <a:p>
                      <a:r>
                        <a:rPr sz="1350" b="0">
                          <a:solidFill>
                            <a:srgbClr val="252F38"/>
                          </a:solidFill>
                          <a:latin typeface="Arial"/>
                          <a:ea typeface="Arial"/>
                          <a:cs typeface="Arial"/>
                        </a:rPr>
                        <a:t>2,955.3</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2026-02</a:t>
                      </a:r>
                    </a:p>
                  </a:txBody>
                  <a:tcPr marL="85725" marR="66675" marT="0" marB="0" anchor="ctr">
                    <a:solidFill>
                      <a:srgbClr val="F3F5F6"/>
                    </a:solidFill>
                  </a:tcPr>
                </a:tc>
                <a:tc>
                  <a:txBody>
                    <a:bodyPr/>
                    <a:lstStyle/>
                    <a:p>
                      <a:r>
                        <a:rPr sz="1350" b="0">
                          <a:solidFill>
                            <a:srgbClr val="252F38"/>
                          </a:solidFill>
                          <a:latin typeface="Arial"/>
                          <a:ea typeface="Arial"/>
                          <a:cs typeface="Arial"/>
                        </a:rPr>
                        <a:t>2,288.4</a:t>
                      </a:r>
                    </a:p>
                  </a:txBody>
                  <a:tcPr marL="85725" marR="66675" marT="0" marB="0" anchor="ctr">
                    <a:solidFill>
                      <a:srgbClr val="F3F5F6"/>
                    </a:solidFill>
                  </a:tcPr>
                </a:tc>
                <a:tc>
                  <a:txBody>
                    <a:bodyPr/>
                    <a:lstStyle/>
                    <a:p>
                      <a:r>
                        <a:rPr sz="1350" b="0">
                          <a:solidFill>
                            <a:srgbClr val="252F38"/>
                          </a:solidFill>
                          <a:latin typeface="Arial"/>
                          <a:ea typeface="Arial"/>
                          <a:cs typeface="Arial"/>
                        </a:rPr>
                        <a:t>9.6</a:t>
                      </a:r>
                    </a:p>
                  </a:txBody>
                  <a:tcPr marL="85725" marR="66675" marT="0" marB="0" anchor="ctr">
                    <a:solidFill>
                      <a:srgbClr val="F3F5F6"/>
                    </a:solidFill>
                  </a:tcPr>
                </a:tc>
                <a:tc>
                  <a:txBody>
                    <a:bodyPr/>
                    <a:lstStyle/>
                    <a:p>
                      <a:r>
                        <a:rPr sz="1350" b="0">
                          <a:solidFill>
                            <a:srgbClr val="252F38"/>
                          </a:solidFill>
                          <a:latin typeface="Arial"/>
                          <a:ea typeface="Arial"/>
                          <a:cs typeface="Arial"/>
                        </a:rPr>
                        <a:t>2,972.2</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2026-03</a:t>
                      </a:r>
                    </a:p>
                  </a:txBody>
                  <a:tcPr marL="85725" marR="66675" marT="0" marB="0" anchor="ctr">
                    <a:solidFill>
                      <a:srgbClr val="FFFFFF"/>
                    </a:solidFill>
                  </a:tcPr>
                </a:tc>
                <a:tc>
                  <a:txBody>
                    <a:bodyPr/>
                    <a:lstStyle/>
                    <a:p>
                      <a:r>
                        <a:rPr sz="1350" b="0">
                          <a:solidFill>
                            <a:srgbClr val="252F38"/>
                          </a:solidFill>
                          <a:latin typeface="Arial"/>
                          <a:ea typeface="Arial"/>
                          <a:cs typeface="Arial"/>
                        </a:rPr>
                        <a:t>2,396.4</a:t>
                      </a:r>
                    </a:p>
                  </a:txBody>
                  <a:tcPr marL="85725" marR="66675" marT="0" marB="0" anchor="ctr">
                    <a:solidFill>
                      <a:srgbClr val="FFFFFF"/>
                    </a:solidFill>
                  </a:tcPr>
                </a:tc>
                <a:tc>
                  <a:txBody>
                    <a:bodyPr/>
                    <a:lstStyle/>
                    <a:p>
                      <a:r>
                        <a:rPr sz="1350" b="0">
                          <a:solidFill>
                            <a:srgbClr val="252F38"/>
                          </a:solidFill>
                          <a:latin typeface="Arial"/>
                          <a:ea typeface="Arial"/>
                          <a:cs typeface="Arial"/>
                        </a:rPr>
                        <a:t>3.5</a:t>
                      </a:r>
                    </a:p>
                  </a:txBody>
                  <a:tcPr marL="85725" marR="66675" marT="0" marB="0" anchor="ctr">
                    <a:solidFill>
                      <a:srgbClr val="FFFFFF"/>
                    </a:solidFill>
                  </a:tcPr>
                </a:tc>
                <a:tc>
                  <a:txBody>
                    <a:bodyPr/>
                    <a:lstStyle/>
                    <a:p>
                      <a:r>
                        <a:rPr sz="1350" b="0">
                          <a:solidFill>
                            <a:srgbClr val="252F38"/>
                          </a:solidFill>
                          <a:latin typeface="Arial"/>
                          <a:ea typeface="Arial"/>
                          <a:cs typeface="Arial"/>
                        </a:rPr>
                        <a:t>3,027.1</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2026-04</a:t>
                      </a:r>
                    </a:p>
                  </a:txBody>
                  <a:tcPr marL="85725" marR="66675" marT="0" marB="0" anchor="ctr">
                    <a:solidFill>
                      <a:srgbClr val="F3F5F6"/>
                    </a:solidFill>
                  </a:tcPr>
                </a:tc>
                <a:tc>
                  <a:txBody>
                    <a:bodyPr/>
                    <a:lstStyle/>
                    <a:p>
                      <a:r>
                        <a:rPr sz="1350" b="0">
                          <a:solidFill>
                            <a:srgbClr val="252F38"/>
                          </a:solidFill>
                          <a:latin typeface="Arial"/>
                          <a:ea typeface="Arial"/>
                          <a:cs typeface="Arial"/>
                        </a:rPr>
                        <a:t>2,351.1</a:t>
                      </a:r>
                    </a:p>
                  </a:txBody>
                  <a:tcPr marL="85725" marR="66675" marT="0" marB="0" anchor="ctr">
                    <a:solidFill>
                      <a:srgbClr val="F3F5F6"/>
                    </a:solidFill>
                  </a:tcPr>
                </a:tc>
                <a:tc>
                  <a:txBody>
                    <a:bodyPr/>
                    <a:lstStyle/>
                    <a:p>
                      <a:r>
                        <a:rPr sz="1350" b="0">
                          <a:solidFill>
                            <a:srgbClr val="252F38"/>
                          </a:solidFill>
                          <a:latin typeface="Arial"/>
                          <a:ea typeface="Arial"/>
                          <a:cs typeface="Arial"/>
                        </a:rPr>
                        <a:t>6.4</a:t>
                      </a:r>
                    </a:p>
                  </a:txBody>
                  <a:tcPr marL="85725" marR="66675" marT="0" marB="0" anchor="ctr">
                    <a:solidFill>
                      <a:srgbClr val="F3F5F6"/>
                    </a:solidFill>
                  </a:tcPr>
                </a:tc>
                <a:tc>
                  <a:txBody>
                    <a:bodyPr/>
                    <a:lstStyle/>
                    <a:p>
                      <a:r>
                        <a:rPr sz="1350" b="0">
                          <a:solidFill>
                            <a:srgbClr val="252F38"/>
                          </a:solidFill>
                          <a:latin typeface="Arial"/>
                          <a:ea typeface="Arial"/>
                          <a:cs typeface="Arial"/>
                        </a:rPr>
                        <a:t>3,068.3</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2026-05</a:t>
                      </a:r>
                    </a:p>
                  </a:txBody>
                  <a:tcPr marL="85725" marR="66675" marT="0" marB="0" anchor="ctr">
                    <a:solidFill>
                      <a:srgbClr val="FFFFFF"/>
                    </a:solidFill>
                  </a:tcPr>
                </a:tc>
                <a:tc>
                  <a:txBody>
                    <a:bodyPr/>
                    <a:lstStyle/>
                    <a:p>
                      <a:r>
                        <a:rPr sz="1350" b="0">
                          <a:solidFill>
                            <a:srgbClr val="252F38"/>
                          </a:solidFill>
                          <a:latin typeface="Arial"/>
                          <a:ea typeface="Arial"/>
                          <a:cs typeface="Arial"/>
                        </a:rPr>
                        <a:t>2,355.7</a:t>
                      </a:r>
                    </a:p>
                  </a:txBody>
                  <a:tcPr marL="85725" marR="66675" marT="0" marB="0" anchor="ctr">
                    <a:solidFill>
                      <a:srgbClr val="FFFFFF"/>
                    </a:solidFill>
                  </a:tcPr>
                </a:tc>
                <a:tc>
                  <a:txBody>
                    <a:bodyPr/>
                    <a:lstStyle/>
                    <a:p>
                      <a:r>
                        <a:rPr sz="1350" b="0">
                          <a:solidFill>
                            <a:srgbClr val="252F38"/>
                          </a:solidFill>
                          <a:latin typeface="Arial"/>
                          <a:ea typeface="Arial"/>
                          <a:cs typeface="Arial"/>
                        </a:rPr>
                        <a:t>3.8</a:t>
                      </a:r>
                    </a:p>
                  </a:txBody>
                  <a:tcPr marL="85725" marR="66675" marT="0" marB="0" anchor="ctr">
                    <a:solidFill>
                      <a:srgbClr val="FFFFFF"/>
                    </a:solidFill>
                  </a:tcPr>
                </a:tc>
                <a:tc>
                  <a:txBody>
                    <a:bodyPr/>
                    <a:lstStyle/>
                    <a:p>
                      <a:r>
                        <a:rPr sz="1350" b="0">
                          <a:solidFill>
                            <a:srgbClr val="252F38"/>
                          </a:solidFill>
                          <a:latin typeface="Arial"/>
                          <a:ea typeface="Arial"/>
                          <a:cs typeface="Arial"/>
                        </a:rPr>
                        <a:t>3,061.5</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2026-06</a:t>
                      </a:r>
                    </a:p>
                  </a:txBody>
                  <a:tcPr marL="85725" marR="66675" marT="0" marB="0" anchor="ctr">
                    <a:solidFill>
                      <a:srgbClr val="F3F5F6"/>
                    </a:solidFill>
                  </a:tcPr>
                </a:tc>
                <a:tc>
                  <a:txBody>
                    <a:bodyPr/>
                    <a:lstStyle/>
                    <a:p>
                      <a:r>
                        <a:rPr sz="1350" b="0">
                          <a:solidFill>
                            <a:srgbClr val="252F38"/>
                          </a:solidFill>
                          <a:latin typeface="Arial"/>
                          <a:ea typeface="Arial"/>
                          <a:cs typeface="Arial"/>
                        </a:rPr>
                        <a:t>2,333.9</a:t>
                      </a:r>
                    </a:p>
                  </a:txBody>
                  <a:tcPr marL="85725" marR="66675" marT="0" marB="0" anchor="ctr">
                    <a:solidFill>
                      <a:srgbClr val="F3F5F6"/>
                    </a:solidFill>
                  </a:tcPr>
                </a:tc>
                <a:tc>
                  <a:txBody>
                    <a:bodyPr/>
                    <a:lstStyle/>
                    <a:p>
                      <a:r>
                        <a:rPr sz="1350" b="0">
                          <a:solidFill>
                            <a:srgbClr val="252F38"/>
                          </a:solidFill>
                          <a:latin typeface="Arial"/>
                          <a:ea typeface="Arial"/>
                          <a:cs typeface="Arial"/>
                        </a:rPr>
                        <a:t>6.0</a:t>
                      </a:r>
                    </a:p>
                  </a:txBody>
                  <a:tcPr marL="85725" marR="66675" marT="0" marB="0" anchor="ctr">
                    <a:solidFill>
                      <a:srgbClr val="F3F5F6"/>
                    </a:solidFill>
                  </a:tcPr>
                </a:tc>
                <a:tc>
                  <a:txBody>
                    <a:bodyPr/>
                    <a:lstStyle/>
                    <a:p>
                      <a:r>
                        <a:rPr sz="1350" b="0">
                          <a:solidFill>
                            <a:srgbClr val="252F38"/>
                          </a:solidFill>
                          <a:latin typeface="Arial"/>
                          <a:ea typeface="Arial"/>
                          <a:cs typeface="Arial"/>
                        </a:rPr>
                        <a:t>3,081.3</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2026-07</a:t>
                      </a:r>
                    </a:p>
                  </a:txBody>
                  <a:tcPr marL="85725" marR="66675" marT="0" marB="0" anchor="ctr">
                    <a:solidFill>
                      <a:srgbClr val="FFFFFF"/>
                    </a:solidFill>
                  </a:tcPr>
                </a:tc>
                <a:tc>
                  <a:txBody>
                    <a:bodyPr/>
                    <a:lstStyle/>
                    <a:p>
                      <a:r>
                        <a:rPr sz="1350" b="0">
                          <a:solidFill>
                            <a:srgbClr val="252F38"/>
                          </a:solidFill>
                          <a:latin typeface="Arial"/>
                          <a:ea typeface="Arial"/>
                          <a:cs typeface="Arial"/>
                        </a:rPr>
                        <a:t>2,323.0</a:t>
                      </a:r>
                    </a:p>
                  </a:txBody>
                  <a:tcPr marL="85725" marR="66675" marT="0" marB="0" anchor="ctr">
                    <a:solidFill>
                      <a:srgbClr val="FFFFFF"/>
                    </a:solidFill>
                  </a:tcPr>
                </a:tc>
                <a:tc>
                  <a:txBody>
                    <a:bodyPr/>
                    <a:lstStyle/>
                    <a:p>
                      <a:r>
                        <a:rPr sz="1350" b="0">
                          <a:solidFill>
                            <a:srgbClr val="252F38"/>
                          </a:solidFill>
                          <a:latin typeface="Arial"/>
                          <a:ea typeface="Arial"/>
                          <a:cs typeface="Arial"/>
                        </a:rPr>
                        <a:t>11.4</a:t>
                      </a:r>
                    </a:p>
                  </a:txBody>
                  <a:tcPr marL="85725" marR="66675" marT="0" marB="0" anchor="ctr">
                    <a:solidFill>
                      <a:srgbClr val="FFFFFF"/>
                    </a:solidFill>
                  </a:tcPr>
                </a:tc>
                <a:tc>
                  <a:txBody>
                    <a:bodyPr/>
                    <a:lstStyle/>
                    <a:p>
                      <a:r>
                        <a:rPr sz="1350" b="0">
                          <a:solidFill>
                            <a:srgbClr val="252F38"/>
                          </a:solidFill>
                          <a:latin typeface="Arial"/>
                          <a:ea typeface="Arial"/>
                          <a:cs typeface="Arial"/>
                        </a:rPr>
                        <a:t>3,148.3</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2026-08</a:t>
                      </a:r>
                    </a:p>
                  </a:txBody>
                  <a:tcPr marL="85725" marR="66675" marT="0" marB="0" anchor="ctr">
                    <a:solidFill>
                      <a:srgbClr val="F3F5F6"/>
                    </a:solidFill>
                  </a:tcPr>
                </a:tc>
                <a:tc>
                  <a:txBody>
                    <a:bodyPr/>
                    <a:lstStyle/>
                    <a:p>
                      <a:r>
                        <a:rPr sz="1350" b="0">
                          <a:solidFill>
                            <a:srgbClr val="252F38"/>
                          </a:solidFill>
                          <a:latin typeface="Arial"/>
                          <a:ea typeface="Arial"/>
                          <a:cs typeface="Arial"/>
                        </a:rPr>
                        <a:t>2,487.7</a:t>
                      </a:r>
                    </a:p>
                  </a:txBody>
                  <a:tcPr marL="85725" marR="66675" marT="0" marB="0" anchor="ctr">
                    <a:solidFill>
                      <a:srgbClr val="F3F5F6"/>
                    </a:solidFill>
                  </a:tcPr>
                </a:tc>
                <a:tc>
                  <a:txBody>
                    <a:bodyPr/>
                    <a:lstStyle/>
                    <a:p>
                      <a:r>
                        <a:rPr sz="1350" b="0">
                          <a:solidFill>
                            <a:srgbClr val="252F38"/>
                          </a:solidFill>
                          <a:latin typeface="Arial"/>
                          <a:ea typeface="Arial"/>
                          <a:cs typeface="Arial"/>
                        </a:rPr>
                        <a:t>10.1</a:t>
                      </a:r>
                    </a:p>
                  </a:txBody>
                  <a:tcPr marL="85725" marR="66675" marT="0" marB="0" anchor="ctr">
                    <a:solidFill>
                      <a:srgbClr val="F3F5F6"/>
                    </a:solidFill>
                  </a:tcPr>
                </a:tc>
                <a:tc>
                  <a:txBody>
                    <a:bodyPr/>
                    <a:lstStyle/>
                    <a:p>
                      <a:r>
                        <a:rPr sz="1350" b="0">
                          <a:solidFill>
                            <a:srgbClr val="252F38"/>
                          </a:solidFill>
                          <a:latin typeface="Arial"/>
                          <a:ea typeface="Arial"/>
                          <a:cs typeface="Arial"/>
                        </a:rPr>
                        <a:t>3,179.4</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2026-09</a:t>
                      </a:r>
                    </a:p>
                  </a:txBody>
                  <a:tcPr marL="85725" marR="66675" marT="0" marB="0" anchor="ctr">
                    <a:solidFill>
                      <a:srgbClr val="FFFFFF"/>
                    </a:solidFill>
                  </a:tcPr>
                </a:tc>
                <a:tc>
                  <a:txBody>
                    <a:bodyPr/>
                    <a:lstStyle/>
                    <a:p>
                      <a:r>
                        <a:rPr sz="1350" b="0">
                          <a:solidFill>
                            <a:srgbClr val="252F38"/>
                          </a:solidFill>
                          <a:latin typeface="Arial"/>
                          <a:ea typeface="Arial"/>
                          <a:cs typeface="Arial"/>
                        </a:rPr>
                        <a:t>2,173.1</a:t>
                      </a:r>
                    </a:p>
                  </a:txBody>
                  <a:tcPr marL="85725" marR="66675" marT="0" marB="0" anchor="ctr">
                    <a:solidFill>
                      <a:srgbClr val="FFFFFF"/>
                    </a:solidFill>
                  </a:tcPr>
                </a:tc>
                <a:tc>
                  <a:txBody>
                    <a:bodyPr/>
                    <a:lstStyle/>
                    <a:p>
                      <a:r>
                        <a:rPr sz="1350" b="0">
                          <a:solidFill>
                            <a:srgbClr val="252F38"/>
                          </a:solidFill>
                          <a:latin typeface="Arial"/>
                          <a:ea typeface="Arial"/>
                          <a:cs typeface="Arial"/>
                        </a:rPr>
                        <a:t>8.4</a:t>
                      </a:r>
                    </a:p>
                  </a:txBody>
                  <a:tcPr marL="85725" marR="66675" marT="0" marB="0" anchor="ctr">
                    <a:solidFill>
                      <a:srgbClr val="FFFFFF"/>
                    </a:solidFill>
                  </a:tcPr>
                </a:tc>
                <a:tc>
                  <a:txBody>
                    <a:bodyPr/>
                    <a:lstStyle/>
                    <a:p>
                      <a:r>
                        <a:rPr sz="1350" b="0">
                          <a:solidFill>
                            <a:srgbClr val="252F38"/>
                          </a:solidFill>
                          <a:latin typeface="Arial"/>
                          <a:ea typeface="Arial"/>
                          <a:cs typeface="Arial"/>
                        </a:rPr>
                        <a:t>3,194.7</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2026-10</a:t>
                      </a:r>
                    </a:p>
                  </a:txBody>
                  <a:tcPr marL="85725" marR="66675" marT="0" marB="0" anchor="ctr">
                    <a:solidFill>
                      <a:srgbClr val="F3F5F6"/>
                    </a:solidFill>
                  </a:tcPr>
                </a:tc>
                <a:tc>
                  <a:txBody>
                    <a:bodyPr/>
                    <a:lstStyle/>
                    <a:p>
                      <a:r>
                        <a:rPr sz="1350" b="0">
                          <a:solidFill>
                            <a:srgbClr val="252F38"/>
                          </a:solidFill>
                          <a:latin typeface="Arial"/>
                          <a:ea typeface="Arial"/>
                          <a:cs typeface="Arial"/>
                        </a:rPr>
                        <a:t>2,258.6</a:t>
                      </a:r>
                    </a:p>
                  </a:txBody>
                  <a:tcPr marL="85725" marR="66675" marT="0" marB="0" anchor="ctr">
                    <a:solidFill>
                      <a:srgbClr val="F3F5F6"/>
                    </a:solidFill>
                  </a:tcPr>
                </a:tc>
                <a:tc>
                  <a:txBody>
                    <a:bodyPr/>
                    <a:lstStyle/>
                    <a:p>
                      <a:r>
                        <a:rPr sz="1350" b="0">
                          <a:solidFill>
                            <a:srgbClr val="252F38"/>
                          </a:solidFill>
                          <a:latin typeface="Arial"/>
                          <a:ea typeface="Arial"/>
                          <a:cs typeface="Arial"/>
                        </a:rPr>
                        <a:t>-1.6</a:t>
                      </a:r>
                    </a:p>
                  </a:txBody>
                  <a:tcPr marL="85725" marR="66675" marT="0" marB="0" anchor="ctr">
                    <a:solidFill>
                      <a:srgbClr val="F3F5F6"/>
                    </a:solidFill>
                  </a:tcPr>
                </a:tc>
                <a:tc>
                  <a:txBody>
                    <a:bodyPr/>
                    <a:lstStyle/>
                    <a:p>
                      <a:r>
                        <a:rPr sz="1350" b="0">
                          <a:solidFill>
                            <a:srgbClr val="252F38"/>
                          </a:solidFill>
                          <a:latin typeface="Arial"/>
                          <a:ea typeface="Arial"/>
                          <a:cs typeface="Arial"/>
                        </a:rPr>
                        <a:t>3,198.2</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2026-11</a:t>
                      </a:r>
                    </a:p>
                  </a:txBody>
                  <a:tcPr marL="85725" marR="66675" marT="0" marB="0" anchor="ctr">
                    <a:solidFill>
                      <a:srgbClr val="FFFFFF"/>
                    </a:solidFill>
                  </a:tcPr>
                </a:tc>
                <a:tc>
                  <a:txBody>
                    <a:bodyPr/>
                    <a:lstStyle/>
                    <a:p>
                      <a:r>
                        <a:rPr sz="1350" b="0">
                          <a:solidFill>
                            <a:srgbClr val="252F38"/>
                          </a:solidFill>
                          <a:latin typeface="Arial"/>
                          <a:ea typeface="Arial"/>
                          <a:cs typeface="Arial"/>
                        </a:rPr>
                        <a:t>2,035.1</a:t>
                      </a:r>
                    </a:p>
                  </a:txBody>
                  <a:tcPr marL="85725" marR="66675" marT="0" marB="0" anchor="ctr">
                    <a:solidFill>
                      <a:srgbClr val="FFFFFF"/>
                    </a:solidFill>
                  </a:tcPr>
                </a:tc>
                <a:tc>
                  <a:txBody>
                    <a:bodyPr/>
                    <a:lstStyle/>
                    <a:p>
                      <a:r>
                        <a:rPr sz="1350" b="0">
                          <a:solidFill>
                            <a:srgbClr val="252F38"/>
                          </a:solidFill>
                          <a:latin typeface="Arial"/>
                          <a:ea typeface="Arial"/>
                          <a:cs typeface="Arial"/>
                        </a:rPr>
                        <a:t>-3.8</a:t>
                      </a:r>
                    </a:p>
                  </a:txBody>
                  <a:tcPr marL="85725" marR="66675" marT="0" marB="0" anchor="ctr">
                    <a:solidFill>
                      <a:srgbClr val="FFFFFF"/>
                    </a:solidFill>
                  </a:tcPr>
                </a:tc>
                <a:tc>
                  <a:txBody>
                    <a:bodyPr/>
                    <a:lstStyle/>
                    <a:p>
                      <a:r>
                        <a:rPr sz="1350" b="0">
                          <a:solidFill>
                            <a:srgbClr val="252F38"/>
                          </a:solidFill>
                          <a:latin typeface="Arial"/>
                          <a:ea typeface="Arial"/>
                          <a:cs typeface="Arial"/>
                        </a:rPr>
                        <a:t>3,196.5</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2026-12</a:t>
                      </a:r>
                    </a:p>
                  </a:txBody>
                  <a:tcPr marL="85725" marR="66675" marT="0" marB="0" anchor="ctr">
                    <a:solidFill>
                      <a:srgbClr val="F3F5F6"/>
                    </a:solidFill>
                  </a:tcPr>
                </a:tc>
                <a:tc>
                  <a:txBody>
                    <a:bodyPr/>
                    <a:lstStyle/>
                    <a:p>
                      <a:r>
                        <a:rPr sz="1350" b="0">
                          <a:solidFill>
                            <a:srgbClr val="252F38"/>
                          </a:solidFill>
                          <a:latin typeface="Arial"/>
                          <a:ea typeface="Arial"/>
                          <a:cs typeface="Arial"/>
                        </a:rPr>
                        <a:t>1,882.2</a:t>
                      </a:r>
                    </a:p>
                  </a:txBody>
                  <a:tcPr marL="85725" marR="66675" marT="0" marB="0" anchor="ctr">
                    <a:solidFill>
                      <a:srgbClr val="F3F5F6"/>
                    </a:solidFill>
                  </a:tcPr>
                </a:tc>
                <a:tc>
                  <a:txBody>
                    <a:bodyPr/>
                    <a:lstStyle/>
                    <a:p>
                      <a:r>
                        <a:rPr sz="1350" b="0">
                          <a:solidFill>
                            <a:srgbClr val="252F38"/>
                          </a:solidFill>
                          <a:latin typeface="Arial"/>
                          <a:ea typeface="Arial"/>
                          <a:cs typeface="Arial"/>
                        </a:rPr>
                        <a:t>-0.3</a:t>
                      </a:r>
                    </a:p>
                  </a:txBody>
                  <a:tcPr marL="85725" marR="66675" marT="0" marB="0" anchor="ctr">
                    <a:solidFill>
                      <a:srgbClr val="F3F5F6"/>
                    </a:solidFill>
                  </a:tcPr>
                </a:tc>
                <a:tc>
                  <a:txBody>
                    <a:bodyPr/>
                    <a:lstStyle/>
                    <a:p>
                      <a:r>
                        <a:rPr sz="1350" b="0">
                          <a:solidFill>
                            <a:srgbClr val="252F38"/>
                          </a:solidFill>
                          <a:latin typeface="Arial"/>
                          <a:ea typeface="Arial"/>
                          <a:cs typeface="Arial"/>
                        </a:rPr>
                        <a:t>3,194.7</a:t>
                      </a:r>
                    </a:p>
                  </a:txBody>
                  <a:tcPr marL="85725" marR="66675" marT="0" marB="0" anchor="ctr">
                    <a:solidFill>
                      <a:srgbClr val="F3F5F6"/>
                    </a:solidFill>
                  </a:tcPr>
                </a:tc>
                <a:extLst>
                  <a:ext uri="{0D108BD9-81ED-4DB2-BD59-A6C34878D82A}">
                    <a16:rowId xmlns:a16="http://schemas.microsoft.com/office/drawing/2014/main" val="10012"/>
                  </a:ext>
                </a:extLst>
              </a:tr>
            </a:tbl>
          </a:graphicData>
        </a:graphic>
      </p:graphicFrame>
      <p:graphicFrame>
        <p:nvGraphicFramePr>
          <p:cNvPr id="18" name="表格 17"/>
          <p:cNvGraphicFramePr/>
          <p:nvPr/>
        </p:nvGraphicFramePr>
        <p:xfrm>
          <a:off x="6391275" y="1752600"/>
          <a:ext cx="5191125" cy="4419600"/>
        </p:xfrm>
        <a:graphic>
          <a:graphicData uri="http://schemas.openxmlformats.org/drawingml/2006/table">
            <a:tbl>
              <a:tblPr/>
              <a:tblGrid>
                <a:gridCol w="1209675">
                  <a:extLst>
                    <a:ext uri="{9D8B030D-6E8A-4147-A177-3AD203B41FA5}">
                      <a16:colId xmlns:a16="http://schemas.microsoft.com/office/drawing/2014/main" val="20000"/>
                    </a:ext>
                  </a:extLst>
                </a:gridCol>
                <a:gridCol w="1323975">
                  <a:extLst>
                    <a:ext uri="{9D8B030D-6E8A-4147-A177-3AD203B41FA5}">
                      <a16:colId xmlns:a16="http://schemas.microsoft.com/office/drawing/2014/main" val="20001"/>
                    </a:ext>
                  </a:extLst>
                </a:gridCol>
                <a:gridCol w="10382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276225">
                <a:tc>
                  <a:txBody>
                    <a:bodyPr/>
                    <a:lstStyle/>
                    <a:p>
                      <a:r>
                        <a:rPr sz="1350" b="1">
                          <a:solidFill>
                            <a:srgbClr val="FFFFFF"/>
                          </a:solidFill>
                          <a:latin typeface="Arial"/>
                          <a:ea typeface="Arial"/>
                          <a:cs typeface="Arial"/>
                        </a:rPr>
                        <a:t>Month</a:t>
                      </a:r>
                    </a:p>
                  </a:txBody>
                  <a:tcPr marL="85725" marR="66675" marT="0" marB="0" anchor="ctr">
                    <a:solidFill>
                      <a:srgbClr val="006C98"/>
                    </a:solidFill>
                  </a:tcPr>
                </a:tc>
                <a:tc>
                  <a:txBody>
                    <a:bodyPr/>
                    <a:lstStyle/>
                    <a:p>
                      <a:r>
                        <a:rPr sz="1350" b="1">
                          <a:solidFill>
                            <a:srgbClr val="FFFFFF"/>
                          </a:solidFill>
                          <a:latin typeface="Arial"/>
                          <a:ea typeface="Arial"/>
                          <a:cs typeface="Arial"/>
                        </a:rPr>
                        <a:t>Forecast</a:t>
                      </a:r>
                    </a:p>
                  </a:txBody>
                  <a:tcPr marL="85725" marR="66675" marT="0" marB="0" anchor="ctr">
                    <a:solidFill>
                      <a:srgbClr val="006C98"/>
                    </a:solidFill>
                  </a:tcPr>
                </a:tc>
                <a:tc>
                  <a:txBody>
                    <a:bodyPr/>
                    <a:lstStyle/>
                    <a:p>
                      <a:r>
                        <a:rPr sz="1350" b="1">
                          <a:solidFill>
                            <a:srgbClr val="FFFFFF"/>
                          </a:solidFill>
                          <a:latin typeface="Arial"/>
                          <a:ea typeface="Arial"/>
                          <a:cs typeface="Arial"/>
                        </a:rPr>
                        <a:t>YoY %</a:t>
                      </a:r>
                    </a:p>
                  </a:txBody>
                  <a:tcPr marL="85725" marR="66675" marT="0" marB="0" anchor="ctr">
                    <a:solidFill>
                      <a:srgbClr val="006C98"/>
                    </a:solidFill>
                  </a:tcPr>
                </a:tc>
                <a:tc>
                  <a:txBody>
                    <a:bodyPr/>
                    <a:lstStyle/>
                    <a:p>
                      <a:r>
                        <a:rPr sz="1350" b="1">
                          <a:solidFill>
                            <a:srgbClr val="FFFFFF"/>
                          </a:solidFill>
                          <a:latin typeface="Arial"/>
                          <a:ea typeface="Arial"/>
                          <a:cs typeface="Arial"/>
                        </a:rPr>
                        <a:t>Long-run fit</a:t>
                      </a:r>
                    </a:p>
                  </a:txBody>
                  <a:tcPr marL="85725" marR="66675" marT="0" marB="0" anchor="ctr">
                    <a:solidFill>
                      <a:srgbClr val="006C98"/>
                    </a:solidFill>
                  </a:tcPr>
                </a:tc>
                <a:extLst>
                  <a:ext uri="{0D108BD9-81ED-4DB2-BD59-A6C34878D82A}">
                    <a16:rowId xmlns:a16="http://schemas.microsoft.com/office/drawing/2014/main" val="10000"/>
                  </a:ext>
                </a:extLst>
              </a:tr>
              <a:tr h="276225">
                <a:tc>
                  <a:txBody>
                    <a:bodyPr/>
                    <a:lstStyle/>
                    <a:p>
                      <a:r>
                        <a:rPr sz="1350" b="0">
                          <a:solidFill>
                            <a:srgbClr val="252F38"/>
                          </a:solidFill>
                          <a:latin typeface="Arial"/>
                          <a:ea typeface="Arial"/>
                          <a:cs typeface="Arial"/>
                        </a:rPr>
                        <a:t>2027-01</a:t>
                      </a:r>
                    </a:p>
                  </a:txBody>
                  <a:tcPr marL="85725" marR="66675" marT="0" marB="0" anchor="ctr">
                    <a:solidFill>
                      <a:srgbClr val="FFFFFF"/>
                    </a:solidFill>
                  </a:tcPr>
                </a:tc>
                <a:tc>
                  <a:txBody>
                    <a:bodyPr/>
                    <a:lstStyle/>
                    <a:p>
                      <a:r>
                        <a:rPr sz="1350" b="0">
                          <a:solidFill>
                            <a:srgbClr val="252F38"/>
                          </a:solidFill>
                          <a:latin typeface="Arial"/>
                          <a:ea typeface="Arial"/>
                          <a:cs typeface="Arial"/>
                        </a:rPr>
                        <a:t>2,102.1</a:t>
                      </a:r>
                    </a:p>
                  </a:txBody>
                  <a:tcPr marL="85725" marR="66675" marT="0" marB="0" anchor="ctr">
                    <a:solidFill>
                      <a:srgbClr val="FFFFFF"/>
                    </a:solidFill>
                  </a:tcPr>
                </a:tc>
                <a:tc>
                  <a:txBody>
                    <a:bodyPr/>
                    <a:lstStyle/>
                    <a:p>
                      <a:r>
                        <a:rPr sz="1350" b="0">
                          <a:solidFill>
                            <a:srgbClr val="252F38"/>
                          </a:solidFill>
                          <a:latin typeface="Arial"/>
                          <a:ea typeface="Arial"/>
                          <a:cs typeface="Arial"/>
                        </a:rPr>
                        <a:t>-6.3</a:t>
                      </a:r>
                    </a:p>
                  </a:txBody>
                  <a:tcPr marL="85725" marR="66675" marT="0" marB="0" anchor="ctr">
                    <a:solidFill>
                      <a:srgbClr val="FFFFFF"/>
                    </a:solidFill>
                  </a:tcPr>
                </a:tc>
                <a:tc>
                  <a:txBody>
                    <a:bodyPr/>
                    <a:lstStyle/>
                    <a:p>
                      <a:r>
                        <a:rPr sz="1350" b="0">
                          <a:solidFill>
                            <a:srgbClr val="252F38"/>
                          </a:solidFill>
                          <a:latin typeface="Arial"/>
                          <a:ea typeface="Arial"/>
                          <a:cs typeface="Arial"/>
                        </a:rPr>
                        <a:t>3,193.7</a:t>
                      </a:r>
                    </a:p>
                  </a:txBody>
                  <a:tcPr marL="85725" marR="66675" marT="0" marB="0" anchor="ctr">
                    <a:solidFill>
                      <a:srgbClr val="FFFFFF"/>
                    </a:solidFill>
                  </a:tcPr>
                </a:tc>
                <a:extLst>
                  <a:ext uri="{0D108BD9-81ED-4DB2-BD59-A6C34878D82A}">
                    <a16:rowId xmlns:a16="http://schemas.microsoft.com/office/drawing/2014/main" val="10001"/>
                  </a:ext>
                </a:extLst>
              </a:tr>
              <a:tr h="276225">
                <a:tc>
                  <a:txBody>
                    <a:bodyPr/>
                    <a:lstStyle/>
                    <a:p>
                      <a:r>
                        <a:rPr sz="1350" b="0">
                          <a:solidFill>
                            <a:srgbClr val="252F38"/>
                          </a:solidFill>
                          <a:latin typeface="Arial"/>
                          <a:ea typeface="Arial"/>
                          <a:cs typeface="Arial"/>
                        </a:rPr>
                        <a:t>2027-02</a:t>
                      </a:r>
                    </a:p>
                  </a:txBody>
                  <a:tcPr marL="85725" marR="66675" marT="0" marB="0" anchor="ctr">
                    <a:solidFill>
                      <a:srgbClr val="F3F5F6"/>
                    </a:solidFill>
                  </a:tcPr>
                </a:tc>
                <a:tc>
                  <a:txBody>
                    <a:bodyPr/>
                    <a:lstStyle/>
                    <a:p>
                      <a:r>
                        <a:rPr sz="1350" b="0">
                          <a:solidFill>
                            <a:srgbClr val="252F38"/>
                          </a:solidFill>
                          <a:latin typeface="Arial"/>
                          <a:ea typeface="Arial"/>
                          <a:cs typeface="Arial"/>
                        </a:rPr>
                        <a:t>2,064.2</a:t>
                      </a:r>
                    </a:p>
                  </a:txBody>
                  <a:tcPr marL="85725" marR="66675" marT="0" marB="0" anchor="ctr">
                    <a:solidFill>
                      <a:srgbClr val="F3F5F6"/>
                    </a:solidFill>
                  </a:tcPr>
                </a:tc>
                <a:tc>
                  <a:txBody>
                    <a:bodyPr/>
                    <a:lstStyle/>
                    <a:p>
                      <a:r>
                        <a:rPr sz="1350" b="0">
                          <a:solidFill>
                            <a:srgbClr val="252F38"/>
                          </a:solidFill>
                          <a:latin typeface="Arial"/>
                          <a:ea typeface="Arial"/>
                          <a:cs typeface="Arial"/>
                        </a:rPr>
                        <a:t>-9.8</a:t>
                      </a:r>
                    </a:p>
                  </a:txBody>
                  <a:tcPr marL="85725" marR="66675" marT="0" marB="0" anchor="ctr">
                    <a:solidFill>
                      <a:srgbClr val="F3F5F6"/>
                    </a:solidFill>
                  </a:tcPr>
                </a:tc>
                <a:tc>
                  <a:txBody>
                    <a:bodyPr/>
                    <a:lstStyle/>
                    <a:p>
                      <a:r>
                        <a:rPr sz="1350" b="0">
                          <a:solidFill>
                            <a:srgbClr val="252F38"/>
                          </a:solidFill>
                          <a:latin typeface="Arial"/>
                          <a:ea typeface="Arial"/>
                          <a:cs typeface="Arial"/>
                        </a:rPr>
                        <a:t>3,193.7</a:t>
                      </a:r>
                    </a:p>
                  </a:txBody>
                  <a:tcPr marL="85725" marR="66675" marT="0" marB="0" anchor="ctr">
                    <a:solidFill>
                      <a:srgbClr val="F3F5F6"/>
                    </a:solidFill>
                  </a:tcPr>
                </a:tc>
                <a:extLst>
                  <a:ext uri="{0D108BD9-81ED-4DB2-BD59-A6C34878D82A}">
                    <a16:rowId xmlns:a16="http://schemas.microsoft.com/office/drawing/2014/main" val="10002"/>
                  </a:ext>
                </a:extLst>
              </a:tr>
              <a:tr h="276225">
                <a:tc>
                  <a:txBody>
                    <a:bodyPr/>
                    <a:lstStyle/>
                    <a:p>
                      <a:r>
                        <a:rPr sz="1350" b="0">
                          <a:solidFill>
                            <a:srgbClr val="252F38"/>
                          </a:solidFill>
                          <a:latin typeface="Arial"/>
                          <a:ea typeface="Arial"/>
                          <a:cs typeface="Arial"/>
                        </a:rPr>
                        <a:t>2027-03</a:t>
                      </a:r>
                    </a:p>
                  </a:txBody>
                  <a:tcPr marL="85725" marR="66675" marT="0" marB="0" anchor="ctr">
                    <a:solidFill>
                      <a:srgbClr val="FFFFFF"/>
                    </a:solidFill>
                  </a:tcPr>
                </a:tc>
                <a:tc>
                  <a:txBody>
                    <a:bodyPr/>
                    <a:lstStyle/>
                    <a:p>
                      <a:r>
                        <a:rPr sz="1350" b="0">
                          <a:solidFill>
                            <a:srgbClr val="252F38"/>
                          </a:solidFill>
                          <a:latin typeface="Arial"/>
                          <a:ea typeface="Arial"/>
                          <a:cs typeface="Arial"/>
                        </a:rPr>
                        <a:t>2,076.2</a:t>
                      </a:r>
                    </a:p>
                  </a:txBody>
                  <a:tcPr marL="85725" marR="66675" marT="0" marB="0" anchor="ctr">
                    <a:solidFill>
                      <a:srgbClr val="FFFFFF"/>
                    </a:solidFill>
                  </a:tcPr>
                </a:tc>
                <a:tc>
                  <a:txBody>
                    <a:bodyPr/>
                    <a:lstStyle/>
                    <a:p>
                      <a:r>
                        <a:rPr sz="1350" b="0">
                          <a:solidFill>
                            <a:srgbClr val="252F38"/>
                          </a:solidFill>
                          <a:latin typeface="Arial"/>
                          <a:ea typeface="Arial"/>
                          <a:cs typeface="Arial"/>
                        </a:rPr>
                        <a:t>-13.4</a:t>
                      </a:r>
                    </a:p>
                  </a:txBody>
                  <a:tcPr marL="85725" marR="66675" marT="0" marB="0" anchor="ctr">
                    <a:solidFill>
                      <a:srgbClr val="FFFFFF"/>
                    </a:solidFill>
                  </a:tcPr>
                </a:tc>
                <a:tc>
                  <a:txBody>
                    <a:bodyPr/>
                    <a:lstStyle/>
                    <a:p>
                      <a:r>
                        <a:rPr sz="1350" b="0">
                          <a:solidFill>
                            <a:srgbClr val="252F38"/>
                          </a:solidFill>
                          <a:latin typeface="Arial"/>
                          <a:ea typeface="Arial"/>
                          <a:cs typeface="Arial"/>
                        </a:rPr>
                        <a:t>3,194.3</a:t>
                      </a:r>
                    </a:p>
                  </a:txBody>
                  <a:tcPr marL="85725" marR="66675" marT="0" marB="0" anchor="ctr">
                    <a:solidFill>
                      <a:srgbClr val="FFFFFF"/>
                    </a:solidFill>
                  </a:tcPr>
                </a:tc>
                <a:extLst>
                  <a:ext uri="{0D108BD9-81ED-4DB2-BD59-A6C34878D82A}">
                    <a16:rowId xmlns:a16="http://schemas.microsoft.com/office/drawing/2014/main" val="10003"/>
                  </a:ext>
                </a:extLst>
              </a:tr>
              <a:tr h="276225">
                <a:tc>
                  <a:txBody>
                    <a:bodyPr/>
                    <a:lstStyle/>
                    <a:p>
                      <a:r>
                        <a:rPr sz="1350" b="0">
                          <a:solidFill>
                            <a:srgbClr val="252F38"/>
                          </a:solidFill>
                          <a:latin typeface="Arial"/>
                          <a:ea typeface="Arial"/>
                          <a:cs typeface="Arial"/>
                        </a:rPr>
                        <a:t>2027-04</a:t>
                      </a:r>
                    </a:p>
                  </a:txBody>
                  <a:tcPr marL="85725" marR="66675" marT="0" marB="0" anchor="ctr">
                    <a:solidFill>
                      <a:srgbClr val="F3F5F6"/>
                    </a:solidFill>
                  </a:tcPr>
                </a:tc>
                <a:tc>
                  <a:txBody>
                    <a:bodyPr/>
                    <a:lstStyle/>
                    <a:p>
                      <a:r>
                        <a:rPr sz="1350" b="0">
                          <a:solidFill>
                            <a:srgbClr val="252F38"/>
                          </a:solidFill>
                          <a:latin typeface="Arial"/>
                          <a:ea typeface="Arial"/>
                          <a:cs typeface="Arial"/>
                        </a:rPr>
                        <a:t>1,975.4</a:t>
                      </a:r>
                    </a:p>
                  </a:txBody>
                  <a:tcPr marL="85725" marR="66675" marT="0" marB="0" anchor="ctr">
                    <a:solidFill>
                      <a:srgbClr val="F3F5F6"/>
                    </a:solidFill>
                  </a:tcPr>
                </a:tc>
                <a:tc>
                  <a:txBody>
                    <a:bodyPr/>
                    <a:lstStyle/>
                    <a:p>
                      <a:r>
                        <a:rPr sz="1350" b="0">
                          <a:solidFill>
                            <a:srgbClr val="252F38"/>
                          </a:solidFill>
                          <a:latin typeface="Arial"/>
                          <a:ea typeface="Arial"/>
                          <a:cs typeface="Arial"/>
                        </a:rPr>
                        <a:t>-16.0</a:t>
                      </a:r>
                    </a:p>
                  </a:txBody>
                  <a:tcPr marL="85725" marR="66675" marT="0" marB="0" anchor="ctr">
                    <a:solidFill>
                      <a:srgbClr val="F3F5F6"/>
                    </a:solidFill>
                  </a:tcPr>
                </a:tc>
                <a:tc>
                  <a:txBody>
                    <a:bodyPr/>
                    <a:lstStyle/>
                    <a:p>
                      <a:r>
                        <a:rPr sz="1350" b="0">
                          <a:solidFill>
                            <a:srgbClr val="252F38"/>
                          </a:solidFill>
                          <a:latin typeface="Arial"/>
                          <a:ea typeface="Arial"/>
                          <a:cs typeface="Arial"/>
                        </a:rPr>
                        <a:t>3,196.1</a:t>
                      </a:r>
                    </a:p>
                  </a:txBody>
                  <a:tcPr marL="85725" marR="66675" marT="0" marB="0" anchor="ctr">
                    <a:solidFill>
                      <a:srgbClr val="F3F5F6"/>
                    </a:solidFill>
                  </a:tcPr>
                </a:tc>
                <a:extLst>
                  <a:ext uri="{0D108BD9-81ED-4DB2-BD59-A6C34878D82A}">
                    <a16:rowId xmlns:a16="http://schemas.microsoft.com/office/drawing/2014/main" val="10004"/>
                  </a:ext>
                </a:extLst>
              </a:tr>
              <a:tr h="276225">
                <a:tc>
                  <a:txBody>
                    <a:bodyPr/>
                    <a:lstStyle/>
                    <a:p>
                      <a:r>
                        <a:rPr sz="1350" b="0">
                          <a:solidFill>
                            <a:srgbClr val="252F38"/>
                          </a:solidFill>
                          <a:latin typeface="Arial"/>
                          <a:ea typeface="Arial"/>
                          <a:cs typeface="Arial"/>
                        </a:rPr>
                        <a:t>2027-05</a:t>
                      </a:r>
                    </a:p>
                  </a:txBody>
                  <a:tcPr marL="85725" marR="66675" marT="0" marB="0" anchor="ctr">
                    <a:solidFill>
                      <a:srgbClr val="FFFFFF"/>
                    </a:solidFill>
                  </a:tcPr>
                </a:tc>
                <a:tc>
                  <a:txBody>
                    <a:bodyPr/>
                    <a:lstStyle/>
                    <a:p>
                      <a:r>
                        <a:rPr sz="1350" b="0">
                          <a:solidFill>
                            <a:srgbClr val="252F38"/>
                          </a:solidFill>
                          <a:latin typeface="Arial"/>
                          <a:ea typeface="Arial"/>
                          <a:cs typeface="Arial"/>
                        </a:rPr>
                        <a:t>1,927.1</a:t>
                      </a:r>
                    </a:p>
                  </a:txBody>
                  <a:tcPr marL="85725" marR="66675" marT="0" marB="0" anchor="ctr">
                    <a:solidFill>
                      <a:srgbClr val="FFFFFF"/>
                    </a:solidFill>
                  </a:tcPr>
                </a:tc>
                <a:tc>
                  <a:txBody>
                    <a:bodyPr/>
                    <a:lstStyle/>
                    <a:p>
                      <a:r>
                        <a:rPr sz="1350" b="0">
                          <a:solidFill>
                            <a:srgbClr val="252F38"/>
                          </a:solidFill>
                          <a:latin typeface="Arial"/>
                          <a:ea typeface="Arial"/>
                          <a:cs typeface="Arial"/>
                        </a:rPr>
                        <a:t>-18.2</a:t>
                      </a:r>
                    </a:p>
                  </a:txBody>
                  <a:tcPr marL="85725" marR="66675" marT="0" marB="0" anchor="ctr">
                    <a:solidFill>
                      <a:srgbClr val="FFFFFF"/>
                    </a:solidFill>
                  </a:tcPr>
                </a:tc>
                <a:tc>
                  <a:txBody>
                    <a:bodyPr/>
                    <a:lstStyle/>
                    <a:p>
                      <a:r>
                        <a:rPr sz="1350" b="0">
                          <a:solidFill>
                            <a:srgbClr val="252F38"/>
                          </a:solidFill>
                          <a:latin typeface="Arial"/>
                          <a:ea typeface="Arial"/>
                          <a:cs typeface="Arial"/>
                        </a:rPr>
                        <a:t>3,199.4</a:t>
                      </a:r>
                    </a:p>
                  </a:txBody>
                  <a:tcPr marL="85725" marR="66675" marT="0" marB="0" anchor="ctr">
                    <a:solidFill>
                      <a:srgbClr val="FFFFFF"/>
                    </a:solidFill>
                  </a:tcPr>
                </a:tc>
                <a:extLst>
                  <a:ext uri="{0D108BD9-81ED-4DB2-BD59-A6C34878D82A}">
                    <a16:rowId xmlns:a16="http://schemas.microsoft.com/office/drawing/2014/main" val="10005"/>
                  </a:ext>
                </a:extLst>
              </a:tr>
              <a:tr h="276225">
                <a:tc>
                  <a:txBody>
                    <a:bodyPr/>
                    <a:lstStyle/>
                    <a:p>
                      <a:r>
                        <a:rPr sz="1350" b="0">
                          <a:solidFill>
                            <a:srgbClr val="252F38"/>
                          </a:solidFill>
                          <a:latin typeface="Arial"/>
                          <a:ea typeface="Arial"/>
                          <a:cs typeface="Arial"/>
                        </a:rPr>
                        <a:t>2027-06</a:t>
                      </a:r>
                    </a:p>
                  </a:txBody>
                  <a:tcPr marL="85725" marR="66675" marT="0" marB="0" anchor="ctr">
                    <a:solidFill>
                      <a:srgbClr val="F3F5F6"/>
                    </a:solidFill>
                  </a:tcPr>
                </a:tc>
                <a:tc>
                  <a:txBody>
                    <a:bodyPr/>
                    <a:lstStyle/>
                    <a:p>
                      <a:r>
                        <a:rPr sz="1350" b="0">
                          <a:solidFill>
                            <a:srgbClr val="252F38"/>
                          </a:solidFill>
                          <a:latin typeface="Arial"/>
                          <a:ea typeface="Arial"/>
                          <a:cs typeface="Arial"/>
                        </a:rPr>
                        <a:t>1,917.5</a:t>
                      </a:r>
                    </a:p>
                  </a:txBody>
                  <a:tcPr marL="85725" marR="66675" marT="0" marB="0" anchor="ctr">
                    <a:solidFill>
                      <a:srgbClr val="F3F5F6"/>
                    </a:solidFill>
                  </a:tcPr>
                </a:tc>
                <a:tc>
                  <a:txBody>
                    <a:bodyPr/>
                    <a:lstStyle/>
                    <a:p>
                      <a:r>
                        <a:rPr sz="1350" b="0">
                          <a:solidFill>
                            <a:srgbClr val="252F38"/>
                          </a:solidFill>
                          <a:latin typeface="Arial"/>
                          <a:ea typeface="Arial"/>
                          <a:cs typeface="Arial"/>
                        </a:rPr>
                        <a:t>-17.8</a:t>
                      </a:r>
                    </a:p>
                  </a:txBody>
                  <a:tcPr marL="85725" marR="66675" marT="0" marB="0" anchor="ctr">
                    <a:solidFill>
                      <a:srgbClr val="F3F5F6"/>
                    </a:solidFill>
                  </a:tcPr>
                </a:tc>
                <a:tc>
                  <a:txBody>
                    <a:bodyPr/>
                    <a:lstStyle/>
                    <a:p>
                      <a:r>
                        <a:rPr sz="1350" b="0">
                          <a:solidFill>
                            <a:srgbClr val="252F38"/>
                          </a:solidFill>
                          <a:latin typeface="Arial"/>
                          <a:ea typeface="Arial"/>
                          <a:cs typeface="Arial"/>
                        </a:rPr>
                        <a:t>3,204.4</a:t>
                      </a:r>
                    </a:p>
                  </a:txBody>
                  <a:tcPr marL="85725" marR="66675" marT="0" marB="0" anchor="ctr">
                    <a:solidFill>
                      <a:srgbClr val="F3F5F6"/>
                    </a:solidFill>
                  </a:tcPr>
                </a:tc>
                <a:extLst>
                  <a:ext uri="{0D108BD9-81ED-4DB2-BD59-A6C34878D82A}">
                    <a16:rowId xmlns:a16="http://schemas.microsoft.com/office/drawing/2014/main" val="10006"/>
                  </a:ext>
                </a:extLst>
              </a:tr>
              <a:tr h="276225">
                <a:tc>
                  <a:txBody>
                    <a:bodyPr/>
                    <a:lstStyle/>
                    <a:p>
                      <a:r>
                        <a:rPr sz="1350" b="0">
                          <a:solidFill>
                            <a:srgbClr val="252F38"/>
                          </a:solidFill>
                          <a:latin typeface="Arial"/>
                          <a:ea typeface="Arial"/>
                          <a:cs typeface="Arial"/>
                        </a:rPr>
                        <a:t>2027-07</a:t>
                      </a:r>
                    </a:p>
                  </a:txBody>
                  <a:tcPr marL="85725" marR="66675" marT="0" marB="0" anchor="ctr">
                    <a:solidFill>
                      <a:srgbClr val="FFFFFF"/>
                    </a:solidFill>
                  </a:tcPr>
                </a:tc>
                <a:tc>
                  <a:txBody>
                    <a:bodyPr/>
                    <a:lstStyle/>
                    <a:p>
                      <a:r>
                        <a:rPr sz="1350" b="0">
                          <a:solidFill>
                            <a:srgbClr val="252F38"/>
                          </a:solidFill>
                          <a:latin typeface="Arial"/>
                          <a:ea typeface="Arial"/>
                          <a:cs typeface="Arial"/>
                        </a:rPr>
                        <a:t>1,891.1</a:t>
                      </a:r>
                    </a:p>
                  </a:txBody>
                  <a:tcPr marL="85725" marR="66675" marT="0" marB="0" anchor="ctr">
                    <a:solidFill>
                      <a:srgbClr val="FFFFFF"/>
                    </a:solidFill>
                  </a:tcPr>
                </a:tc>
                <a:tc>
                  <a:txBody>
                    <a:bodyPr/>
                    <a:lstStyle/>
                    <a:p>
                      <a:r>
                        <a:rPr sz="1350" b="0">
                          <a:solidFill>
                            <a:srgbClr val="252F38"/>
                          </a:solidFill>
                          <a:latin typeface="Arial"/>
                          <a:ea typeface="Arial"/>
                          <a:cs typeface="Arial"/>
                        </a:rPr>
                        <a:t>-18.6</a:t>
                      </a:r>
                    </a:p>
                  </a:txBody>
                  <a:tcPr marL="85725" marR="66675" marT="0" marB="0" anchor="ctr">
                    <a:solidFill>
                      <a:srgbClr val="FFFFFF"/>
                    </a:solidFill>
                  </a:tcPr>
                </a:tc>
                <a:tc>
                  <a:txBody>
                    <a:bodyPr/>
                    <a:lstStyle/>
                    <a:p>
                      <a:r>
                        <a:rPr sz="1350" b="0">
                          <a:solidFill>
                            <a:srgbClr val="252F38"/>
                          </a:solidFill>
                          <a:latin typeface="Arial"/>
                          <a:ea typeface="Arial"/>
                          <a:cs typeface="Arial"/>
                        </a:rPr>
                        <a:t>3,211.0</a:t>
                      </a:r>
                    </a:p>
                  </a:txBody>
                  <a:tcPr marL="85725" marR="66675" marT="0" marB="0" anchor="ctr">
                    <a:solidFill>
                      <a:srgbClr val="FFFFFF"/>
                    </a:solidFill>
                  </a:tcPr>
                </a:tc>
                <a:extLst>
                  <a:ext uri="{0D108BD9-81ED-4DB2-BD59-A6C34878D82A}">
                    <a16:rowId xmlns:a16="http://schemas.microsoft.com/office/drawing/2014/main" val="10007"/>
                  </a:ext>
                </a:extLst>
              </a:tr>
              <a:tr h="276225">
                <a:tc>
                  <a:txBody>
                    <a:bodyPr/>
                    <a:lstStyle/>
                    <a:p>
                      <a:r>
                        <a:rPr sz="1350" b="0">
                          <a:solidFill>
                            <a:srgbClr val="252F38"/>
                          </a:solidFill>
                          <a:latin typeface="Arial"/>
                          <a:ea typeface="Arial"/>
                          <a:cs typeface="Arial"/>
                        </a:rPr>
                        <a:t>2027-08</a:t>
                      </a:r>
                    </a:p>
                  </a:txBody>
                  <a:tcPr marL="85725" marR="66675" marT="0" marB="0" anchor="ctr">
                    <a:solidFill>
                      <a:srgbClr val="F3F5F6"/>
                    </a:solidFill>
                  </a:tcPr>
                </a:tc>
                <a:tc>
                  <a:txBody>
                    <a:bodyPr/>
                    <a:lstStyle/>
                    <a:p>
                      <a:r>
                        <a:rPr sz="1350" b="0">
                          <a:solidFill>
                            <a:srgbClr val="252F38"/>
                          </a:solidFill>
                          <a:latin typeface="Arial"/>
                          <a:ea typeface="Arial"/>
                          <a:cs typeface="Arial"/>
                        </a:rPr>
                        <a:t>1,910.7</a:t>
                      </a:r>
                    </a:p>
                  </a:txBody>
                  <a:tcPr marL="85725" marR="66675" marT="0" marB="0" anchor="ctr">
                    <a:solidFill>
                      <a:srgbClr val="F3F5F6"/>
                    </a:solidFill>
                  </a:tcPr>
                </a:tc>
                <a:tc>
                  <a:txBody>
                    <a:bodyPr/>
                    <a:lstStyle/>
                    <a:p>
                      <a:r>
                        <a:rPr sz="1350" b="0">
                          <a:solidFill>
                            <a:srgbClr val="252F38"/>
                          </a:solidFill>
                          <a:latin typeface="Arial"/>
                          <a:ea typeface="Arial"/>
                          <a:cs typeface="Arial"/>
                        </a:rPr>
                        <a:t>-23.2</a:t>
                      </a:r>
                    </a:p>
                  </a:txBody>
                  <a:tcPr marL="85725" marR="66675" marT="0" marB="0" anchor="ctr">
                    <a:solidFill>
                      <a:srgbClr val="F3F5F6"/>
                    </a:solidFill>
                  </a:tcPr>
                </a:tc>
                <a:tc>
                  <a:txBody>
                    <a:bodyPr/>
                    <a:lstStyle/>
                    <a:p>
                      <a:r>
                        <a:rPr sz="1350" b="0">
                          <a:solidFill>
                            <a:srgbClr val="252F38"/>
                          </a:solidFill>
                          <a:latin typeface="Arial"/>
                          <a:ea typeface="Arial"/>
                          <a:cs typeface="Arial"/>
                        </a:rPr>
                        <a:t>3,218.8</a:t>
                      </a:r>
                    </a:p>
                  </a:txBody>
                  <a:tcPr marL="85725" marR="66675" marT="0" marB="0" anchor="ctr">
                    <a:solidFill>
                      <a:srgbClr val="F3F5F6"/>
                    </a:solidFill>
                  </a:tcPr>
                </a:tc>
                <a:extLst>
                  <a:ext uri="{0D108BD9-81ED-4DB2-BD59-A6C34878D82A}">
                    <a16:rowId xmlns:a16="http://schemas.microsoft.com/office/drawing/2014/main" val="10008"/>
                  </a:ext>
                </a:extLst>
              </a:tr>
              <a:tr h="276225">
                <a:tc>
                  <a:txBody>
                    <a:bodyPr/>
                    <a:lstStyle/>
                    <a:p>
                      <a:r>
                        <a:rPr sz="1350" b="0">
                          <a:solidFill>
                            <a:srgbClr val="252F38"/>
                          </a:solidFill>
                          <a:latin typeface="Arial"/>
                          <a:ea typeface="Arial"/>
                          <a:cs typeface="Arial"/>
                        </a:rPr>
                        <a:t>2027-09</a:t>
                      </a:r>
                    </a:p>
                  </a:txBody>
                  <a:tcPr marL="85725" marR="66675" marT="0" marB="0" anchor="ctr">
                    <a:solidFill>
                      <a:srgbClr val="FFFFFF"/>
                    </a:solidFill>
                  </a:tcPr>
                </a:tc>
                <a:tc>
                  <a:txBody>
                    <a:bodyPr/>
                    <a:lstStyle/>
                    <a:p>
                      <a:r>
                        <a:rPr sz="1350" b="0">
                          <a:solidFill>
                            <a:srgbClr val="252F38"/>
                          </a:solidFill>
                          <a:latin typeface="Arial"/>
                          <a:ea typeface="Arial"/>
                          <a:cs typeface="Arial"/>
                        </a:rPr>
                        <a:t>1,829.2</a:t>
                      </a:r>
                    </a:p>
                  </a:txBody>
                  <a:tcPr marL="85725" marR="66675" marT="0" marB="0" anchor="ctr">
                    <a:solidFill>
                      <a:srgbClr val="FFFFFF"/>
                    </a:solidFill>
                  </a:tcPr>
                </a:tc>
                <a:tc>
                  <a:txBody>
                    <a:bodyPr/>
                    <a:lstStyle/>
                    <a:p>
                      <a:r>
                        <a:rPr sz="1350" b="0">
                          <a:solidFill>
                            <a:srgbClr val="252F38"/>
                          </a:solidFill>
                          <a:latin typeface="Arial"/>
                          <a:ea typeface="Arial"/>
                          <a:cs typeface="Arial"/>
                        </a:rPr>
                        <a:t>-15.8</a:t>
                      </a:r>
                    </a:p>
                  </a:txBody>
                  <a:tcPr marL="85725" marR="66675" marT="0" marB="0" anchor="ctr">
                    <a:solidFill>
                      <a:srgbClr val="FFFFFF"/>
                    </a:solidFill>
                  </a:tcPr>
                </a:tc>
                <a:tc>
                  <a:txBody>
                    <a:bodyPr/>
                    <a:lstStyle/>
                    <a:p>
                      <a:r>
                        <a:rPr sz="1350" b="0">
                          <a:solidFill>
                            <a:srgbClr val="252F38"/>
                          </a:solidFill>
                          <a:latin typeface="Arial"/>
                          <a:ea typeface="Arial"/>
                          <a:cs typeface="Arial"/>
                        </a:rPr>
                        <a:t>3,226.4</a:t>
                      </a:r>
                    </a:p>
                  </a:txBody>
                  <a:tcPr marL="85725" marR="66675" marT="0" marB="0" anchor="ctr">
                    <a:solidFill>
                      <a:srgbClr val="FFFFFF"/>
                    </a:solidFill>
                  </a:tcPr>
                </a:tc>
                <a:extLst>
                  <a:ext uri="{0D108BD9-81ED-4DB2-BD59-A6C34878D82A}">
                    <a16:rowId xmlns:a16="http://schemas.microsoft.com/office/drawing/2014/main" val="10009"/>
                  </a:ext>
                </a:extLst>
              </a:tr>
              <a:tr h="276225">
                <a:tc>
                  <a:txBody>
                    <a:bodyPr/>
                    <a:lstStyle/>
                    <a:p>
                      <a:r>
                        <a:rPr sz="1350" b="0">
                          <a:solidFill>
                            <a:srgbClr val="252F38"/>
                          </a:solidFill>
                          <a:latin typeface="Arial"/>
                          <a:ea typeface="Arial"/>
                          <a:cs typeface="Arial"/>
                        </a:rPr>
                        <a:t>2027-10</a:t>
                      </a:r>
                    </a:p>
                  </a:txBody>
                  <a:tcPr marL="85725" marR="66675" marT="0" marB="0" anchor="ctr">
                    <a:solidFill>
                      <a:srgbClr val="F3F5F6"/>
                    </a:solidFill>
                  </a:tcPr>
                </a:tc>
                <a:tc>
                  <a:txBody>
                    <a:bodyPr/>
                    <a:lstStyle/>
                    <a:p>
                      <a:r>
                        <a:rPr sz="1350" b="0">
                          <a:solidFill>
                            <a:srgbClr val="252F38"/>
                          </a:solidFill>
                          <a:latin typeface="Arial"/>
                          <a:ea typeface="Arial"/>
                          <a:cs typeface="Arial"/>
                        </a:rPr>
                        <a:t>1,942.5</a:t>
                      </a:r>
                    </a:p>
                  </a:txBody>
                  <a:tcPr marL="85725" marR="66675" marT="0" marB="0" anchor="ctr">
                    <a:solidFill>
                      <a:srgbClr val="F3F5F6"/>
                    </a:solidFill>
                  </a:tcPr>
                </a:tc>
                <a:tc>
                  <a:txBody>
                    <a:bodyPr/>
                    <a:lstStyle/>
                    <a:p>
                      <a:r>
                        <a:rPr sz="1350" b="0">
                          <a:solidFill>
                            <a:srgbClr val="252F38"/>
                          </a:solidFill>
                          <a:latin typeface="Arial"/>
                          <a:ea typeface="Arial"/>
                          <a:cs typeface="Arial"/>
                        </a:rPr>
                        <a:t>-14.0</a:t>
                      </a:r>
                    </a:p>
                  </a:txBody>
                  <a:tcPr marL="85725" marR="66675" marT="0" marB="0" anchor="ctr">
                    <a:solidFill>
                      <a:srgbClr val="F3F5F6"/>
                    </a:solidFill>
                  </a:tcPr>
                </a:tc>
                <a:tc>
                  <a:txBody>
                    <a:bodyPr/>
                    <a:lstStyle/>
                    <a:p>
                      <a:r>
                        <a:rPr sz="1350" b="0">
                          <a:solidFill>
                            <a:srgbClr val="252F38"/>
                          </a:solidFill>
                          <a:latin typeface="Arial"/>
                          <a:ea typeface="Arial"/>
                          <a:cs typeface="Arial"/>
                        </a:rPr>
                        <a:t>3,233.7</a:t>
                      </a:r>
                    </a:p>
                  </a:txBody>
                  <a:tcPr marL="85725" marR="66675" marT="0" marB="0" anchor="ctr">
                    <a:solidFill>
                      <a:srgbClr val="F3F5F6"/>
                    </a:solidFill>
                  </a:tcPr>
                </a:tc>
                <a:extLst>
                  <a:ext uri="{0D108BD9-81ED-4DB2-BD59-A6C34878D82A}">
                    <a16:rowId xmlns:a16="http://schemas.microsoft.com/office/drawing/2014/main" val="10010"/>
                  </a:ext>
                </a:extLst>
              </a:tr>
              <a:tr h="276225">
                <a:tc>
                  <a:txBody>
                    <a:bodyPr/>
                    <a:lstStyle/>
                    <a:p>
                      <a:r>
                        <a:rPr sz="1350" b="0">
                          <a:solidFill>
                            <a:srgbClr val="252F38"/>
                          </a:solidFill>
                          <a:latin typeface="Arial"/>
                          <a:ea typeface="Arial"/>
                          <a:cs typeface="Arial"/>
                        </a:rPr>
                        <a:t>2027-11</a:t>
                      </a:r>
                    </a:p>
                  </a:txBody>
                  <a:tcPr marL="85725" marR="66675" marT="0" marB="0" anchor="ctr">
                    <a:solidFill>
                      <a:srgbClr val="FFFFFF"/>
                    </a:solidFill>
                  </a:tcPr>
                </a:tc>
                <a:tc>
                  <a:txBody>
                    <a:bodyPr/>
                    <a:lstStyle/>
                    <a:p>
                      <a:r>
                        <a:rPr sz="1350" b="0">
                          <a:solidFill>
                            <a:srgbClr val="252F38"/>
                          </a:solidFill>
                          <a:latin typeface="Arial"/>
                          <a:ea typeface="Arial"/>
                          <a:cs typeface="Arial"/>
                        </a:rPr>
                        <a:t>1,870.0</a:t>
                      </a:r>
                    </a:p>
                  </a:txBody>
                  <a:tcPr marL="85725" marR="66675" marT="0" marB="0" anchor="ctr">
                    <a:solidFill>
                      <a:srgbClr val="FFFFFF"/>
                    </a:solidFill>
                  </a:tcPr>
                </a:tc>
                <a:tc>
                  <a:txBody>
                    <a:bodyPr/>
                    <a:lstStyle/>
                    <a:p>
                      <a:r>
                        <a:rPr sz="1350" b="0">
                          <a:solidFill>
                            <a:srgbClr val="252F38"/>
                          </a:solidFill>
                          <a:latin typeface="Arial"/>
                          <a:ea typeface="Arial"/>
                          <a:cs typeface="Arial"/>
                        </a:rPr>
                        <a:t>-8.1</a:t>
                      </a:r>
                    </a:p>
                  </a:txBody>
                  <a:tcPr marL="85725" marR="66675" marT="0" marB="0" anchor="ctr">
                    <a:solidFill>
                      <a:srgbClr val="FFFFFF"/>
                    </a:solidFill>
                  </a:tcPr>
                </a:tc>
                <a:tc>
                  <a:txBody>
                    <a:bodyPr/>
                    <a:lstStyle/>
                    <a:p>
                      <a:r>
                        <a:rPr sz="1350" b="0">
                          <a:solidFill>
                            <a:srgbClr val="252F38"/>
                          </a:solidFill>
                          <a:latin typeface="Arial"/>
                          <a:ea typeface="Arial"/>
                          <a:cs typeface="Arial"/>
                        </a:rPr>
                        <a:t>3,240.3</a:t>
                      </a:r>
                    </a:p>
                  </a:txBody>
                  <a:tcPr marL="85725" marR="66675" marT="0" marB="0" anchor="ctr">
                    <a:solidFill>
                      <a:srgbClr val="FFFFFF"/>
                    </a:solidFill>
                  </a:tcPr>
                </a:tc>
                <a:extLst>
                  <a:ext uri="{0D108BD9-81ED-4DB2-BD59-A6C34878D82A}">
                    <a16:rowId xmlns:a16="http://schemas.microsoft.com/office/drawing/2014/main" val="10011"/>
                  </a:ext>
                </a:extLst>
              </a:tr>
              <a:tr h="276225">
                <a:tc>
                  <a:txBody>
                    <a:bodyPr/>
                    <a:lstStyle/>
                    <a:p>
                      <a:r>
                        <a:rPr sz="1350" b="0">
                          <a:solidFill>
                            <a:srgbClr val="252F38"/>
                          </a:solidFill>
                          <a:latin typeface="Arial"/>
                          <a:ea typeface="Arial"/>
                          <a:cs typeface="Arial"/>
                        </a:rPr>
                        <a:t>2027-12</a:t>
                      </a:r>
                    </a:p>
                  </a:txBody>
                  <a:tcPr marL="85725" marR="66675" marT="0" marB="0" anchor="ctr">
                    <a:solidFill>
                      <a:srgbClr val="F3F5F6"/>
                    </a:solidFill>
                  </a:tcPr>
                </a:tc>
                <a:tc>
                  <a:txBody>
                    <a:bodyPr/>
                    <a:lstStyle/>
                    <a:p>
                      <a:r>
                        <a:rPr sz="1350" b="0">
                          <a:solidFill>
                            <a:srgbClr val="252F38"/>
                          </a:solidFill>
                          <a:latin typeface="Arial"/>
                          <a:ea typeface="Arial"/>
                          <a:cs typeface="Arial"/>
                        </a:rPr>
                        <a:t>1,837.4</a:t>
                      </a:r>
                    </a:p>
                  </a:txBody>
                  <a:tcPr marL="85725" marR="66675" marT="0" marB="0" anchor="ctr">
                    <a:solidFill>
                      <a:srgbClr val="F3F5F6"/>
                    </a:solidFill>
                  </a:tcPr>
                </a:tc>
                <a:tc>
                  <a:txBody>
                    <a:bodyPr/>
                    <a:lstStyle/>
                    <a:p>
                      <a:r>
                        <a:rPr sz="1350" b="0">
                          <a:solidFill>
                            <a:srgbClr val="252F38"/>
                          </a:solidFill>
                          <a:latin typeface="Arial"/>
                          <a:ea typeface="Arial"/>
                          <a:cs typeface="Arial"/>
                        </a:rPr>
                        <a:t>-2.4</a:t>
                      </a:r>
                    </a:p>
                  </a:txBody>
                  <a:tcPr marL="85725" marR="66675" marT="0" marB="0" anchor="ctr">
                    <a:solidFill>
                      <a:srgbClr val="F3F5F6"/>
                    </a:solidFill>
                  </a:tcPr>
                </a:tc>
                <a:tc>
                  <a:txBody>
                    <a:bodyPr/>
                    <a:lstStyle/>
                    <a:p>
                      <a:r>
                        <a:rPr sz="1350" b="0">
                          <a:solidFill>
                            <a:srgbClr val="252F38"/>
                          </a:solidFill>
                          <a:latin typeface="Arial"/>
                          <a:ea typeface="Arial"/>
                          <a:cs typeface="Arial"/>
                        </a:rPr>
                        <a:t>3,245.6</a:t>
                      </a:r>
                    </a:p>
                  </a:txBody>
                  <a:tcPr marL="85725" marR="66675" marT="0" marB="0" anchor="ctr">
                    <a:solidFill>
                      <a:srgbClr val="F3F5F6"/>
                    </a:solidFill>
                  </a:tcPr>
                </a:tc>
                <a:extLst>
                  <a:ext uri="{0D108BD9-81ED-4DB2-BD59-A6C34878D82A}">
                    <a16:rowId xmlns:a16="http://schemas.microsoft.com/office/drawing/2014/main" val="10012"/>
                  </a:ext>
                </a:extLst>
              </a:tr>
              <a:tr h="276225">
                <a:tc>
                  <a:txBody>
                    <a:bodyPr/>
                    <a:lstStyle/>
                    <a:p>
                      <a:r>
                        <a:rPr sz="1350" b="0">
                          <a:solidFill>
                            <a:srgbClr val="252F38"/>
                          </a:solidFill>
                          <a:latin typeface="Arial"/>
                          <a:ea typeface="Arial"/>
                          <a:cs typeface="Arial"/>
                        </a:rPr>
                        <a:t>2028-01</a:t>
                      </a:r>
                    </a:p>
                  </a:txBody>
                  <a:tcPr marL="85725" marR="66675" marT="0" marB="0" anchor="ctr">
                    <a:solidFill>
                      <a:srgbClr val="FFFFFF"/>
                    </a:solidFill>
                  </a:tcPr>
                </a:tc>
                <a:tc>
                  <a:txBody>
                    <a:bodyPr/>
                    <a:lstStyle/>
                    <a:p>
                      <a:r>
                        <a:rPr sz="1350" b="0">
                          <a:solidFill>
                            <a:srgbClr val="252F38"/>
                          </a:solidFill>
                          <a:latin typeface="Arial"/>
                          <a:ea typeface="Arial"/>
                          <a:cs typeface="Arial"/>
                        </a:rPr>
                        <a:t>2,005.3</a:t>
                      </a:r>
                    </a:p>
                  </a:txBody>
                  <a:tcPr marL="85725" marR="66675" marT="0" marB="0" anchor="ctr">
                    <a:solidFill>
                      <a:srgbClr val="FFFFFF"/>
                    </a:solidFill>
                  </a:tcPr>
                </a:tc>
                <a:tc>
                  <a:txBody>
                    <a:bodyPr/>
                    <a:lstStyle/>
                    <a:p>
                      <a:r>
                        <a:rPr sz="1350" b="0">
                          <a:solidFill>
                            <a:srgbClr val="252F38"/>
                          </a:solidFill>
                          <a:latin typeface="Arial"/>
                          <a:ea typeface="Arial"/>
                          <a:cs typeface="Arial"/>
                        </a:rPr>
                        <a:t>-4.6</a:t>
                      </a:r>
                    </a:p>
                  </a:txBody>
                  <a:tcPr marL="85725" marR="66675" marT="0" marB="0" anchor="ctr">
                    <a:solidFill>
                      <a:srgbClr val="FFFFFF"/>
                    </a:solidFill>
                  </a:tcPr>
                </a:tc>
                <a:tc>
                  <a:txBody>
                    <a:bodyPr/>
                    <a:lstStyle/>
                    <a:p>
                      <a:r>
                        <a:rPr sz="1350" b="0">
                          <a:solidFill>
                            <a:srgbClr val="252F38"/>
                          </a:solidFill>
                          <a:latin typeface="Arial"/>
                          <a:ea typeface="Arial"/>
                          <a:cs typeface="Arial"/>
                        </a:rPr>
                        <a:t>3,250.3</a:t>
                      </a:r>
                    </a:p>
                  </a:txBody>
                  <a:tcPr marL="85725" marR="66675" marT="0" marB="0" anchor="ctr">
                    <a:solidFill>
                      <a:srgbClr val="FFFFFF"/>
                    </a:solidFill>
                  </a:tcPr>
                </a:tc>
                <a:extLst>
                  <a:ext uri="{0D108BD9-81ED-4DB2-BD59-A6C34878D82A}">
                    <a16:rowId xmlns:a16="http://schemas.microsoft.com/office/drawing/2014/main" val="10013"/>
                  </a:ext>
                </a:extLst>
              </a:tr>
              <a:tr h="276225">
                <a:tc>
                  <a:txBody>
                    <a:bodyPr/>
                    <a:lstStyle/>
                    <a:p>
                      <a:r>
                        <a:rPr sz="1350" b="0">
                          <a:solidFill>
                            <a:srgbClr val="252F38"/>
                          </a:solidFill>
                          <a:latin typeface="Arial"/>
                          <a:ea typeface="Arial"/>
                          <a:cs typeface="Arial"/>
                        </a:rPr>
                        <a:t>2028-02</a:t>
                      </a:r>
                    </a:p>
                  </a:txBody>
                  <a:tcPr marL="85725" marR="66675" marT="0" marB="0" anchor="ctr">
                    <a:solidFill>
                      <a:srgbClr val="F3F5F6"/>
                    </a:solidFill>
                  </a:tcPr>
                </a:tc>
                <a:tc>
                  <a:txBody>
                    <a:bodyPr/>
                    <a:lstStyle/>
                    <a:p>
                      <a:r>
                        <a:rPr sz="1350" b="0">
                          <a:solidFill>
                            <a:srgbClr val="252F38"/>
                          </a:solidFill>
                          <a:latin typeface="Arial"/>
                          <a:ea typeface="Arial"/>
                          <a:cs typeface="Arial"/>
                        </a:rPr>
                        <a:t>1,972.3</a:t>
                      </a:r>
                    </a:p>
                  </a:txBody>
                  <a:tcPr marL="85725" marR="66675" marT="0" marB="0" anchor="ctr">
                    <a:solidFill>
                      <a:srgbClr val="F3F5F6"/>
                    </a:solidFill>
                  </a:tcPr>
                </a:tc>
                <a:tc>
                  <a:txBody>
                    <a:bodyPr/>
                    <a:lstStyle/>
                    <a:p>
                      <a:r>
                        <a:rPr sz="1350" b="0">
                          <a:solidFill>
                            <a:srgbClr val="252F38"/>
                          </a:solidFill>
                          <a:latin typeface="Arial"/>
                          <a:ea typeface="Arial"/>
                          <a:cs typeface="Arial"/>
                        </a:rPr>
                        <a:t>-4.5</a:t>
                      </a:r>
                    </a:p>
                  </a:txBody>
                  <a:tcPr marL="85725" marR="66675" marT="0" marB="0" anchor="ctr">
                    <a:solidFill>
                      <a:srgbClr val="F3F5F6"/>
                    </a:solidFill>
                  </a:tcPr>
                </a:tc>
                <a:tc>
                  <a:txBody>
                    <a:bodyPr/>
                    <a:lstStyle/>
                    <a:p>
                      <a:r>
                        <a:rPr sz="1350" b="0">
                          <a:solidFill>
                            <a:srgbClr val="252F38"/>
                          </a:solidFill>
                          <a:latin typeface="Arial"/>
                          <a:ea typeface="Arial"/>
                          <a:cs typeface="Arial"/>
                        </a:rPr>
                        <a:t>3,254.7</a:t>
                      </a:r>
                    </a:p>
                  </a:txBody>
                  <a:tcPr marL="85725" marR="66675" marT="0" marB="0" anchor="ctr">
                    <a:solidFill>
                      <a:srgbClr val="F3F5F6"/>
                    </a:solidFill>
                  </a:tcPr>
                </a:tc>
                <a:extLst>
                  <a:ext uri="{0D108BD9-81ED-4DB2-BD59-A6C34878D82A}">
                    <a16:rowId xmlns:a16="http://schemas.microsoft.com/office/drawing/2014/main" val="10014"/>
                  </a:ext>
                </a:extLst>
              </a:tr>
              <a:tr h="276225">
                <a:tc>
                  <a:txBody>
                    <a:bodyPr/>
                    <a:lstStyle/>
                    <a:p>
                      <a:r>
                        <a:rPr sz="1350" b="0">
                          <a:solidFill>
                            <a:srgbClr val="252F38"/>
                          </a:solidFill>
                          <a:latin typeface="Arial"/>
                          <a:ea typeface="Arial"/>
                          <a:cs typeface="Arial"/>
                        </a:rPr>
                        <a:t>2028-03</a:t>
                      </a:r>
                    </a:p>
                  </a:txBody>
                  <a:tcPr marL="85725" marR="66675" marT="0" marB="0" anchor="ctr">
                    <a:solidFill>
                      <a:srgbClr val="FFFFFF"/>
                    </a:solidFill>
                  </a:tcPr>
                </a:tc>
                <a:tc>
                  <a:txBody>
                    <a:bodyPr/>
                    <a:lstStyle/>
                    <a:p>
                      <a:r>
                        <a:rPr sz="1350" b="0">
                          <a:solidFill>
                            <a:srgbClr val="252F38"/>
                          </a:solidFill>
                          <a:latin typeface="Arial"/>
                          <a:ea typeface="Arial"/>
                          <a:cs typeface="Arial"/>
                        </a:rPr>
                        <a:t>2,049.8</a:t>
                      </a:r>
                    </a:p>
                  </a:txBody>
                  <a:tcPr marL="85725" marR="66675" marT="0" marB="0" anchor="ctr">
                    <a:solidFill>
                      <a:srgbClr val="FFFFFF"/>
                    </a:solidFill>
                  </a:tcPr>
                </a:tc>
                <a:tc>
                  <a:txBody>
                    <a:bodyPr/>
                    <a:lstStyle/>
                    <a:p>
                      <a:r>
                        <a:rPr sz="1350" b="0">
                          <a:solidFill>
                            <a:srgbClr val="252F38"/>
                          </a:solidFill>
                          <a:latin typeface="Arial"/>
                          <a:ea typeface="Arial"/>
                          <a:cs typeface="Arial"/>
                        </a:rPr>
                        <a:t>-1.3</a:t>
                      </a:r>
                    </a:p>
                  </a:txBody>
                  <a:tcPr marL="85725" marR="66675" marT="0" marB="0" anchor="ctr">
                    <a:solidFill>
                      <a:srgbClr val="FFFFFF"/>
                    </a:solidFill>
                  </a:tcPr>
                </a:tc>
                <a:tc>
                  <a:txBody>
                    <a:bodyPr/>
                    <a:lstStyle/>
                    <a:p>
                      <a:r>
                        <a:rPr sz="1350" b="0">
                          <a:solidFill>
                            <a:srgbClr val="252F38"/>
                          </a:solidFill>
                          <a:latin typeface="Arial"/>
                          <a:ea typeface="Arial"/>
                          <a:cs typeface="Arial"/>
                        </a:rPr>
                        <a:t>3,259.4</a:t>
                      </a:r>
                    </a:p>
                  </a:txBody>
                  <a:tcPr marL="85725" marR="66675" marT="0" marB="0" anchor="ctr">
                    <a:solidFill>
                      <a:srgbClr val="FFFFFF"/>
                    </a:solidFill>
                  </a:tcPr>
                </a:tc>
                <a:extLst>
                  <a:ext uri="{0D108BD9-81ED-4DB2-BD59-A6C34878D82A}">
                    <a16:rowId xmlns:a16="http://schemas.microsoft.com/office/drawing/2014/main" val="10015"/>
                  </a:ext>
                </a:extLst>
              </a:tr>
            </a:tbl>
          </a:graphicData>
        </a:graphic>
      </p:graphicFrame>
      <p:sp>
        <p:nvSpPr>
          <p:cNvPr id="10" name="矩形 9">
            <a:extLst>
              <a:ext uri="{FF2B5EF4-FFF2-40B4-BE49-F238E27FC236}">
                <a16:creationId xmlns:a16="http://schemas.microsoft.com/office/drawing/2014/main" id="{60164FD7-2B0C-4028-8687-BB74B5B897E7}"/>
              </a:ext>
            </a:extLst>
          </p:cNvPr>
          <p:cNvSpPr>
            <a:spLocks noGrp="1"/>
          </p:cNvSpPr>
          <p:nvPr/>
        </p:nvSpPr>
        <p:spPr>
          <a:xfrm>
            <a:off x="609600" y="6286500"/>
            <a:ext cx="10972800" cy="266700"/>
          </a:xfrm>
          <a:prstGeom prst="rect">
            <a:avLst/>
          </a:prstGeom>
          <a:noFill/>
          <a:ln w="0">
            <a:noFill/>
          </a:ln>
        </p:spPr>
        <p:txBody>
          <a:bodyPr anchor="t">
            <a:noAutofit/>
          </a:bodyPr>
          <a:lstStyle/>
          <a:p>
            <a:pPr>
              <a:buNone/>
              <a:defRPr sz="1500" b="1">
                <a:solidFill>
                  <a:srgbClr val="00476B"/>
                </a:solidFill>
                <a:latin typeface="Arial"/>
                <a:ea typeface="Arial"/>
                <a:cs typeface="Arial"/>
              </a:defRPr>
            </a:pPr>
            <a:r>
              <a:rPr sz="1500" b="1">
                <a:solidFill>
                  <a:srgbClr val="00476B"/>
                </a:solidFill>
                <a:latin typeface="Arial"/>
                <a:ea typeface="Arial"/>
                <a:cs typeface="Arial"/>
              </a:rPr>
              <a:t>Fee forecasts retain the original data units. Long-run fit is the CPI-based first-step estimate.</a:t>
            </a:r>
          </a:p>
        </p:txBody>
      </p:sp>
    </p:spTree>
    <p:extLst>
      <p:ext uri="{BB962C8B-B14F-4D97-AF65-F5344CB8AC3E}">
        <p14:creationId xmlns:p14="http://schemas.microsoft.com/office/powerpoint/2010/main" val="11462841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3438</Words>
  <Application>Microsoft Macintosh PowerPoint</Application>
  <DocSecurity>0</DocSecurity>
  <PresentationFormat>宽屏</PresentationFormat>
  <Paragraphs>613</Paragraphs>
  <Slides>21</Slides>
  <Notes>21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宇轩 黄</cp:lastModifiedBy>
  <cp:revision>3</cp:revision>
  <dcterms:created xsi:type="dcterms:W3CDTF">2026-09-29T15:28:01Z</dcterms:created>
  <dcterms:modified xsi:type="dcterms:W3CDTF">2026-09-29T15:39:23Z</dcterms:modified>
</cp:coreProperties>
</file>