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7.xml" ContentType="application/vnd.openxmlformats-officedocument.drawingml.chart+xml"/>
  <Override PartName="/ppt/notesSlides/notesSlide20.xml" ContentType="application/vnd.openxmlformats-officedocument.presentationml.notesSlide+xml"/>
  <Override PartName="/ppt/charts/chart8.xml" ContentType="application/vnd.openxmlformats-officedocument.drawingml.chart+xml"/>
  <Override PartName="/ppt/notesSlides/notesSlide21.xml" ContentType="application/vnd.openxmlformats-officedocument.presentationml.notesSlide+xml"/>
  <Override PartName="/ppt/charts/chart9.xml" ContentType="application/vnd.openxmlformats-officedocument.drawingml.chart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notesSlides/notesSlide24.xml" ContentType="application/vnd.openxmlformats-officedocument.presentationml.notesSlide+xml"/>
  <Override PartName="/ppt/charts/chart12.xml" ContentType="application/vnd.openxmlformats-officedocument.drawingml.chart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rts/chart13.xml" ContentType="application/vnd.openxmlformats-officedocument.drawingml.chart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4"/>
  </p:normalViewPr>
  <p:slideViewPr>
    <p:cSldViewPr snapToGrid="0">
      <p:cViewPr varScale="1">
        <p:scale>
          <a:sx n="102" d="100"/>
          <a:sy n="102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Actual fee</c:v>
          </c:tx>
          <c:spPr>
            <a:ln w="23813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180"/>
              <c:pt idx="0">
                <c:v>2011</c:v>
              </c:pt>
              <c:pt idx="1">
                <c:v>2011.0833333333333</c:v>
              </c:pt>
              <c:pt idx="2">
                <c:v>2011.1666666666667</c:v>
              </c:pt>
              <c:pt idx="3">
                <c:v>2011.25</c:v>
              </c:pt>
              <c:pt idx="4">
                <c:v>2011.3333333333333</c:v>
              </c:pt>
              <c:pt idx="5">
                <c:v>2011.4166666666667</c:v>
              </c:pt>
              <c:pt idx="6">
                <c:v>2011.5</c:v>
              </c:pt>
              <c:pt idx="7">
                <c:v>2011.5833333333333</c:v>
              </c:pt>
              <c:pt idx="8">
                <c:v>2011.6666666666667</c:v>
              </c:pt>
              <c:pt idx="9">
                <c:v>2011.75</c:v>
              </c:pt>
              <c:pt idx="10">
                <c:v>2011.8333333333333</c:v>
              </c:pt>
              <c:pt idx="11">
                <c:v>2011.9166666666667</c:v>
              </c:pt>
              <c:pt idx="12">
                <c:v>2012</c:v>
              </c:pt>
              <c:pt idx="13">
                <c:v>2012.0833333333333</c:v>
              </c:pt>
              <c:pt idx="14">
                <c:v>2012.1666666666667</c:v>
              </c:pt>
              <c:pt idx="15">
                <c:v>2012.25</c:v>
              </c:pt>
              <c:pt idx="16">
                <c:v>2012.3333333333333</c:v>
              </c:pt>
              <c:pt idx="17">
                <c:v>2012.4166666666667</c:v>
              </c:pt>
              <c:pt idx="18">
                <c:v>2012.5</c:v>
              </c:pt>
              <c:pt idx="19">
                <c:v>2012.5833333333333</c:v>
              </c:pt>
              <c:pt idx="20">
                <c:v>2012.6666666666667</c:v>
              </c:pt>
              <c:pt idx="21">
                <c:v>2012.75</c:v>
              </c:pt>
              <c:pt idx="22">
                <c:v>2012.8333333333333</c:v>
              </c:pt>
              <c:pt idx="23">
                <c:v>2012.9166666666667</c:v>
              </c:pt>
              <c:pt idx="24">
                <c:v>2013</c:v>
              </c:pt>
              <c:pt idx="25">
                <c:v>2013.0833333333333</c:v>
              </c:pt>
              <c:pt idx="26">
                <c:v>2013.1666666666667</c:v>
              </c:pt>
              <c:pt idx="27">
                <c:v>2013.25</c:v>
              </c:pt>
              <c:pt idx="28">
                <c:v>2013.3333333333333</c:v>
              </c:pt>
              <c:pt idx="29">
                <c:v>2013.4166666666667</c:v>
              </c:pt>
              <c:pt idx="30">
                <c:v>2013.5</c:v>
              </c:pt>
              <c:pt idx="31">
                <c:v>2013.5833333333333</c:v>
              </c:pt>
              <c:pt idx="32">
                <c:v>2013.6666666666667</c:v>
              </c:pt>
              <c:pt idx="33">
                <c:v>2013.75</c:v>
              </c:pt>
              <c:pt idx="34">
                <c:v>2013.8333333333333</c:v>
              </c:pt>
              <c:pt idx="35">
                <c:v>2013.9166666666667</c:v>
              </c:pt>
              <c:pt idx="36">
                <c:v>2014</c:v>
              </c:pt>
              <c:pt idx="37">
                <c:v>2014.0833333333333</c:v>
              </c:pt>
              <c:pt idx="38">
                <c:v>2014.1666666666667</c:v>
              </c:pt>
              <c:pt idx="39">
                <c:v>2014.25</c:v>
              </c:pt>
              <c:pt idx="40">
                <c:v>2014.3333333333333</c:v>
              </c:pt>
              <c:pt idx="41">
                <c:v>2014.4166666666667</c:v>
              </c:pt>
              <c:pt idx="42">
                <c:v>2014.5</c:v>
              </c:pt>
              <c:pt idx="43">
                <c:v>2014.5833333333333</c:v>
              </c:pt>
              <c:pt idx="44">
                <c:v>2014.6666666666667</c:v>
              </c:pt>
              <c:pt idx="45">
                <c:v>2014.75</c:v>
              </c:pt>
              <c:pt idx="46">
                <c:v>2014.8333333333333</c:v>
              </c:pt>
              <c:pt idx="47">
                <c:v>2014.9166666666667</c:v>
              </c:pt>
              <c:pt idx="48">
                <c:v>2015</c:v>
              </c:pt>
              <c:pt idx="49">
                <c:v>2015.0833333333333</c:v>
              </c:pt>
              <c:pt idx="50">
                <c:v>2015.1666666666667</c:v>
              </c:pt>
              <c:pt idx="51">
                <c:v>2015.25</c:v>
              </c:pt>
              <c:pt idx="52">
                <c:v>2015.3333333333333</c:v>
              </c:pt>
              <c:pt idx="53">
                <c:v>2015.4166666666667</c:v>
              </c:pt>
              <c:pt idx="54">
                <c:v>2015.5</c:v>
              </c:pt>
              <c:pt idx="55">
                <c:v>2015.5833333333333</c:v>
              </c:pt>
              <c:pt idx="56">
                <c:v>2015.6666666666667</c:v>
              </c:pt>
              <c:pt idx="57">
                <c:v>2015.75</c:v>
              </c:pt>
              <c:pt idx="58">
                <c:v>2015.8333333333333</c:v>
              </c:pt>
              <c:pt idx="59">
                <c:v>2015.9166666666667</c:v>
              </c:pt>
              <c:pt idx="60">
                <c:v>2016</c:v>
              </c:pt>
              <c:pt idx="61">
                <c:v>2016.0833333333333</c:v>
              </c:pt>
              <c:pt idx="62">
                <c:v>2016.1666666666667</c:v>
              </c:pt>
              <c:pt idx="63">
                <c:v>2016.25</c:v>
              </c:pt>
              <c:pt idx="64">
                <c:v>2016.3333333333333</c:v>
              </c:pt>
              <c:pt idx="65">
                <c:v>2016.4166666666667</c:v>
              </c:pt>
              <c:pt idx="66">
                <c:v>2016.5</c:v>
              </c:pt>
              <c:pt idx="67">
                <c:v>2016.5833333333333</c:v>
              </c:pt>
              <c:pt idx="68">
                <c:v>2016.6666666666667</c:v>
              </c:pt>
              <c:pt idx="69">
                <c:v>2016.75</c:v>
              </c:pt>
              <c:pt idx="70">
                <c:v>2016.8333333333333</c:v>
              </c:pt>
              <c:pt idx="71">
                <c:v>2016.9166666666667</c:v>
              </c:pt>
              <c:pt idx="72">
                <c:v>2017</c:v>
              </c:pt>
              <c:pt idx="73">
                <c:v>2017.0833333333333</c:v>
              </c:pt>
              <c:pt idx="74">
                <c:v>2017.1666666666667</c:v>
              </c:pt>
              <c:pt idx="75">
                <c:v>2017.25</c:v>
              </c:pt>
              <c:pt idx="76">
                <c:v>2017.3333333333333</c:v>
              </c:pt>
              <c:pt idx="77">
                <c:v>2017.4166666666667</c:v>
              </c:pt>
              <c:pt idx="78">
                <c:v>2017.5</c:v>
              </c:pt>
              <c:pt idx="79">
                <c:v>2017.5833333333333</c:v>
              </c:pt>
              <c:pt idx="80">
                <c:v>2017.6666666666667</c:v>
              </c:pt>
              <c:pt idx="81">
                <c:v>2017.75</c:v>
              </c:pt>
              <c:pt idx="82">
                <c:v>2017.8333333333333</c:v>
              </c:pt>
              <c:pt idx="83">
                <c:v>2017.9166666666667</c:v>
              </c:pt>
              <c:pt idx="84">
                <c:v>2018</c:v>
              </c:pt>
              <c:pt idx="85">
                <c:v>2018.0833333333333</c:v>
              </c:pt>
              <c:pt idx="86">
                <c:v>2018.1666666666667</c:v>
              </c:pt>
              <c:pt idx="87">
                <c:v>2018.25</c:v>
              </c:pt>
              <c:pt idx="88">
                <c:v>2018.3333333333333</c:v>
              </c:pt>
              <c:pt idx="89">
                <c:v>2018.4166666666667</c:v>
              </c:pt>
              <c:pt idx="90">
                <c:v>2018.5</c:v>
              </c:pt>
              <c:pt idx="91">
                <c:v>2018.5833333333333</c:v>
              </c:pt>
              <c:pt idx="92">
                <c:v>2018.6666666666667</c:v>
              </c:pt>
              <c:pt idx="93">
                <c:v>2018.75</c:v>
              </c:pt>
              <c:pt idx="94">
                <c:v>2018.8333333333333</c:v>
              </c:pt>
              <c:pt idx="95">
                <c:v>2018.9166666666667</c:v>
              </c:pt>
              <c:pt idx="96">
                <c:v>2019</c:v>
              </c:pt>
              <c:pt idx="97">
                <c:v>2019.0833333333333</c:v>
              </c:pt>
              <c:pt idx="98">
                <c:v>2019.1666666666667</c:v>
              </c:pt>
              <c:pt idx="99">
                <c:v>2019.25</c:v>
              </c:pt>
              <c:pt idx="100">
                <c:v>2019.3333333333333</c:v>
              </c:pt>
              <c:pt idx="101">
                <c:v>2019.4166666666667</c:v>
              </c:pt>
              <c:pt idx="102">
                <c:v>2019.5</c:v>
              </c:pt>
              <c:pt idx="103">
                <c:v>2019.5833333333333</c:v>
              </c:pt>
              <c:pt idx="104">
                <c:v>2019.6666666666667</c:v>
              </c:pt>
              <c:pt idx="105">
                <c:v>2019.75</c:v>
              </c:pt>
              <c:pt idx="106">
                <c:v>2019.8333333333333</c:v>
              </c:pt>
              <c:pt idx="107">
                <c:v>2019.9166666666667</c:v>
              </c:pt>
              <c:pt idx="108">
                <c:v>2020</c:v>
              </c:pt>
              <c:pt idx="109">
                <c:v>2020.0833333333333</c:v>
              </c:pt>
              <c:pt idx="110">
                <c:v>2020.1666666666667</c:v>
              </c:pt>
              <c:pt idx="111">
                <c:v>2020.25</c:v>
              </c:pt>
              <c:pt idx="112">
                <c:v>2020.3333333333333</c:v>
              </c:pt>
              <c:pt idx="113">
                <c:v>2020.4166666666667</c:v>
              </c:pt>
              <c:pt idx="114">
                <c:v>2020.5</c:v>
              </c:pt>
              <c:pt idx="115">
                <c:v>2020.5833333333333</c:v>
              </c:pt>
              <c:pt idx="116">
                <c:v>2020.6666666666667</c:v>
              </c:pt>
              <c:pt idx="117">
                <c:v>2020.75</c:v>
              </c:pt>
              <c:pt idx="118">
                <c:v>2020.8333333333333</c:v>
              </c:pt>
              <c:pt idx="119">
                <c:v>2020.9166666666667</c:v>
              </c:pt>
              <c:pt idx="120">
                <c:v>2021</c:v>
              </c:pt>
              <c:pt idx="121">
                <c:v>2021.0833333333333</c:v>
              </c:pt>
              <c:pt idx="122">
                <c:v>2021.1666666666667</c:v>
              </c:pt>
              <c:pt idx="123">
                <c:v>2021.25</c:v>
              </c:pt>
              <c:pt idx="124">
                <c:v>2021.3333333333333</c:v>
              </c:pt>
              <c:pt idx="125">
                <c:v>2021.4166666666667</c:v>
              </c:pt>
              <c:pt idx="126">
                <c:v>2021.5</c:v>
              </c:pt>
              <c:pt idx="127">
                <c:v>2021.5833333333333</c:v>
              </c:pt>
              <c:pt idx="128">
                <c:v>2021.6666666666667</c:v>
              </c:pt>
              <c:pt idx="129">
                <c:v>2021.75</c:v>
              </c:pt>
              <c:pt idx="130">
                <c:v>2021.8333333333333</c:v>
              </c:pt>
              <c:pt idx="131">
                <c:v>2021.9166666666667</c:v>
              </c:pt>
              <c:pt idx="132">
                <c:v>2022</c:v>
              </c:pt>
              <c:pt idx="133">
                <c:v>2022.0833333333333</c:v>
              </c:pt>
              <c:pt idx="134">
                <c:v>2022.1666666666667</c:v>
              </c:pt>
              <c:pt idx="135">
                <c:v>2022.25</c:v>
              </c:pt>
              <c:pt idx="136">
                <c:v>2022.3333333333333</c:v>
              </c:pt>
              <c:pt idx="137">
                <c:v>2022.4166666666667</c:v>
              </c:pt>
              <c:pt idx="138">
                <c:v>2022.5</c:v>
              </c:pt>
              <c:pt idx="139">
                <c:v>2022.5833333333333</c:v>
              </c:pt>
              <c:pt idx="140">
                <c:v>2022.6666666666667</c:v>
              </c:pt>
              <c:pt idx="141">
                <c:v>2022.75</c:v>
              </c:pt>
              <c:pt idx="142">
                <c:v>2022.8333333333333</c:v>
              </c:pt>
              <c:pt idx="143">
                <c:v>2022.9166666666667</c:v>
              </c:pt>
              <c:pt idx="144">
                <c:v>2023</c:v>
              </c:pt>
              <c:pt idx="145">
                <c:v>2023.0833333333333</c:v>
              </c:pt>
              <c:pt idx="146">
                <c:v>2023.1666666666667</c:v>
              </c:pt>
              <c:pt idx="147">
                <c:v>2023.25</c:v>
              </c:pt>
              <c:pt idx="148">
                <c:v>2023.3333333333333</c:v>
              </c:pt>
              <c:pt idx="149">
                <c:v>2023.4166666666667</c:v>
              </c:pt>
              <c:pt idx="150">
                <c:v>2023.5</c:v>
              </c:pt>
              <c:pt idx="151">
                <c:v>2023.5833333333333</c:v>
              </c:pt>
              <c:pt idx="152">
                <c:v>2023.6666666666667</c:v>
              </c:pt>
              <c:pt idx="153">
                <c:v>2023.75</c:v>
              </c:pt>
              <c:pt idx="154">
                <c:v>2023.8333333333333</c:v>
              </c:pt>
              <c:pt idx="155">
                <c:v>2023.9166666666667</c:v>
              </c:pt>
              <c:pt idx="156">
                <c:v>2024</c:v>
              </c:pt>
              <c:pt idx="157">
                <c:v>2024.0833333333333</c:v>
              </c:pt>
              <c:pt idx="158">
                <c:v>2024.1666666666667</c:v>
              </c:pt>
              <c:pt idx="159">
                <c:v>2024.25</c:v>
              </c:pt>
              <c:pt idx="160">
                <c:v>2024.3333333333333</c:v>
              </c:pt>
              <c:pt idx="161">
                <c:v>2024.4166666666667</c:v>
              </c:pt>
              <c:pt idx="162">
                <c:v>2024.5</c:v>
              </c:pt>
              <c:pt idx="163">
                <c:v>2024.5833333333333</c:v>
              </c:pt>
              <c:pt idx="164">
                <c:v>2024.6666666666667</c:v>
              </c:pt>
              <c:pt idx="165">
                <c:v>2024.75</c:v>
              </c:pt>
              <c:pt idx="166">
                <c:v>2024.8333333333333</c:v>
              </c:pt>
              <c:pt idx="167">
                <c:v>2024.9166666666667</c:v>
              </c:pt>
              <c:pt idx="168">
                <c:v>2025</c:v>
              </c:pt>
              <c:pt idx="169">
                <c:v>2025.0833333333333</c:v>
              </c:pt>
              <c:pt idx="170">
                <c:v>2025.1666666666667</c:v>
              </c:pt>
              <c:pt idx="171">
                <c:v>2025.25</c:v>
              </c:pt>
              <c:pt idx="172">
                <c:v>2025.3333333333333</c:v>
              </c:pt>
              <c:pt idx="173">
                <c:v>2025.4166666666667</c:v>
              </c:pt>
              <c:pt idx="174">
                <c:v>2025.5</c:v>
              </c:pt>
              <c:pt idx="175">
                <c:v>2025.5833333333333</c:v>
              </c:pt>
              <c:pt idx="176">
                <c:v>2025.6666666666667</c:v>
              </c:pt>
              <c:pt idx="177">
                <c:v>2025.75</c:v>
              </c:pt>
              <c:pt idx="178">
                <c:v>2025.8333333333333</c:v>
              </c:pt>
              <c:pt idx="179">
                <c:v>2025.9166666666667</c:v>
              </c:pt>
            </c:numLit>
          </c:xVal>
          <c:yVal>
            <c:numLit>
              <c:formatCode>#,##0</c:formatCode>
              <c:ptCount val="180"/>
              <c:pt idx="0">
                <c:v>771</c:v>
              </c:pt>
              <c:pt idx="1">
                <c:v>842</c:v>
              </c:pt>
              <c:pt idx="2">
                <c:v>1119</c:v>
              </c:pt>
              <c:pt idx="3">
                <c:v>948</c:v>
              </c:pt>
              <c:pt idx="4">
                <c:v>1047</c:v>
              </c:pt>
              <c:pt idx="5">
                <c:v>971</c:v>
              </c:pt>
              <c:pt idx="6">
                <c:v>868</c:v>
              </c:pt>
              <c:pt idx="7">
                <c:v>1063</c:v>
              </c:pt>
              <c:pt idx="8">
                <c:v>974</c:v>
              </c:pt>
              <c:pt idx="9">
                <c:v>949</c:v>
              </c:pt>
              <c:pt idx="10">
                <c:v>941</c:v>
              </c:pt>
              <c:pt idx="11">
                <c:v>985</c:v>
              </c:pt>
              <c:pt idx="12">
                <c:v>1009</c:v>
              </c:pt>
              <c:pt idx="13">
                <c:v>957</c:v>
              </c:pt>
              <c:pt idx="14">
                <c:v>1067</c:v>
              </c:pt>
              <c:pt idx="15">
                <c:v>1089</c:v>
              </c:pt>
              <c:pt idx="16">
                <c:v>1160</c:v>
              </c:pt>
              <c:pt idx="17">
                <c:v>1079</c:v>
              </c:pt>
              <c:pt idx="18">
                <c:v>1132</c:v>
              </c:pt>
              <c:pt idx="19">
                <c:v>1134</c:v>
              </c:pt>
              <c:pt idx="20">
                <c:v>983</c:v>
              </c:pt>
              <c:pt idx="21">
                <c:v>1150</c:v>
              </c:pt>
              <c:pt idx="22">
                <c:v>978</c:v>
              </c:pt>
              <c:pt idx="23">
                <c:v>1025</c:v>
              </c:pt>
              <c:pt idx="24">
                <c:v>989</c:v>
              </c:pt>
              <c:pt idx="25">
                <c:v>943</c:v>
              </c:pt>
              <c:pt idx="26">
                <c:v>1089</c:v>
              </c:pt>
              <c:pt idx="27">
                <c:v>1128</c:v>
              </c:pt>
              <c:pt idx="28">
                <c:v>1063</c:v>
              </c:pt>
              <c:pt idx="29">
                <c:v>999</c:v>
              </c:pt>
              <c:pt idx="30">
                <c:v>1160</c:v>
              </c:pt>
              <c:pt idx="31">
                <c:v>1032</c:v>
              </c:pt>
              <c:pt idx="32">
                <c:v>1022</c:v>
              </c:pt>
              <c:pt idx="33">
                <c:v>1280</c:v>
              </c:pt>
              <c:pt idx="34">
                <c:v>1090</c:v>
              </c:pt>
              <c:pt idx="35">
                <c:v>1184</c:v>
              </c:pt>
              <c:pt idx="36">
                <c:v>1121</c:v>
              </c:pt>
              <c:pt idx="37">
                <c:v>1059</c:v>
              </c:pt>
              <c:pt idx="38">
                <c:v>1158</c:v>
              </c:pt>
              <c:pt idx="39">
                <c:v>1264</c:v>
              </c:pt>
              <c:pt idx="40">
                <c:v>1231</c:v>
              </c:pt>
              <c:pt idx="41">
                <c:v>1226</c:v>
              </c:pt>
              <c:pt idx="42">
                <c:v>1277</c:v>
              </c:pt>
              <c:pt idx="43">
                <c:v>1188</c:v>
              </c:pt>
              <c:pt idx="44">
                <c:v>1206</c:v>
              </c:pt>
              <c:pt idx="45">
                <c:v>1305</c:v>
              </c:pt>
              <c:pt idx="46">
                <c:v>1166</c:v>
              </c:pt>
              <c:pt idx="47">
                <c:v>1362</c:v>
              </c:pt>
              <c:pt idx="48">
                <c:v>1140</c:v>
              </c:pt>
              <c:pt idx="49">
                <c:v>1111</c:v>
              </c:pt>
              <c:pt idx="50">
                <c:v>1455</c:v>
              </c:pt>
              <c:pt idx="51">
                <c:v>1409</c:v>
              </c:pt>
              <c:pt idx="52">
                <c:v>1294</c:v>
              </c:pt>
              <c:pt idx="53">
                <c:v>1472</c:v>
              </c:pt>
              <c:pt idx="54">
                <c:v>1360</c:v>
              </c:pt>
              <c:pt idx="55">
                <c:v>1279</c:v>
              </c:pt>
              <c:pt idx="56">
                <c:v>1336</c:v>
              </c:pt>
              <c:pt idx="57">
                <c:v>1316</c:v>
              </c:pt>
              <c:pt idx="58">
                <c:v>1233</c:v>
              </c:pt>
              <c:pt idx="59">
                <c:v>1233</c:v>
              </c:pt>
              <c:pt idx="60">
                <c:v>1151</c:v>
              </c:pt>
              <c:pt idx="61">
                <c:v>1236</c:v>
              </c:pt>
              <c:pt idx="62">
                <c:v>1539</c:v>
              </c:pt>
              <c:pt idx="63">
                <c:v>1249</c:v>
              </c:pt>
              <c:pt idx="64">
                <c:v>1388</c:v>
              </c:pt>
              <c:pt idx="65">
                <c:v>1280</c:v>
              </c:pt>
              <c:pt idx="66">
                <c:v>1184</c:v>
              </c:pt>
              <c:pt idx="67">
                <c:v>1418</c:v>
              </c:pt>
              <c:pt idx="68">
                <c:v>1310</c:v>
              </c:pt>
              <c:pt idx="69">
                <c:v>1226</c:v>
              </c:pt>
              <c:pt idx="70">
                <c:v>1166</c:v>
              </c:pt>
              <c:pt idx="71">
                <c:v>1253</c:v>
              </c:pt>
              <c:pt idx="72">
                <c:v>1278</c:v>
              </c:pt>
              <c:pt idx="73">
                <c:v>1198</c:v>
              </c:pt>
              <c:pt idx="74">
                <c:v>1373</c:v>
              </c:pt>
              <c:pt idx="75">
                <c:v>1202</c:v>
              </c:pt>
              <c:pt idx="76">
                <c:v>1409</c:v>
              </c:pt>
              <c:pt idx="77">
                <c:v>1331</c:v>
              </c:pt>
              <c:pt idx="78">
                <c:v>1245</c:v>
              </c:pt>
              <c:pt idx="79">
                <c:v>1434</c:v>
              </c:pt>
              <c:pt idx="80">
                <c:v>1245</c:v>
              </c:pt>
              <c:pt idx="81">
                <c:v>1456</c:v>
              </c:pt>
              <c:pt idx="82">
                <c:v>1298</c:v>
              </c:pt>
              <c:pt idx="83">
                <c:v>1400</c:v>
              </c:pt>
              <c:pt idx="84">
                <c:v>1441</c:v>
              </c:pt>
              <c:pt idx="85">
                <c:v>1349</c:v>
              </c:pt>
              <c:pt idx="86">
                <c:v>1673</c:v>
              </c:pt>
              <c:pt idx="87">
                <c:v>1466</c:v>
              </c:pt>
              <c:pt idx="88">
                <c:v>1667</c:v>
              </c:pt>
              <c:pt idx="89">
                <c:v>1545</c:v>
              </c:pt>
              <c:pt idx="90">
                <c:v>1512</c:v>
              </c:pt>
              <c:pt idx="91">
                <c:v>1739</c:v>
              </c:pt>
              <c:pt idx="92">
                <c:v>1656</c:v>
              </c:pt>
              <c:pt idx="93">
                <c:v>1600</c:v>
              </c:pt>
              <c:pt idx="94">
                <c:v>1516</c:v>
              </c:pt>
              <c:pt idx="95">
                <c:v>1673</c:v>
              </c:pt>
              <c:pt idx="96">
                <c:v>1565</c:v>
              </c:pt>
              <c:pt idx="97">
                <c:v>1545</c:v>
              </c:pt>
              <c:pt idx="98">
                <c:v>1856</c:v>
              </c:pt>
              <c:pt idx="99">
                <c:v>1508</c:v>
              </c:pt>
              <c:pt idx="100">
                <c:v>1672</c:v>
              </c:pt>
              <c:pt idx="101">
                <c:v>1762</c:v>
              </c:pt>
              <c:pt idx="102">
                <c:v>1606</c:v>
              </c:pt>
              <c:pt idx="103">
                <c:v>1835</c:v>
              </c:pt>
              <c:pt idx="104">
                <c:v>1697</c:v>
              </c:pt>
              <c:pt idx="105">
                <c:v>1680</c:v>
              </c:pt>
              <c:pt idx="106">
                <c:v>1668</c:v>
              </c:pt>
              <c:pt idx="107">
                <c:v>1523</c:v>
              </c:pt>
              <c:pt idx="108">
                <c:v>1745</c:v>
              </c:pt>
              <c:pt idx="109">
                <c:v>1671</c:v>
              </c:pt>
              <c:pt idx="110">
                <c:v>1497</c:v>
              </c:pt>
              <c:pt idx="111">
                <c:v>1167</c:v>
              </c:pt>
              <c:pt idx="112">
                <c:v>1265</c:v>
              </c:pt>
              <c:pt idx="113">
                <c:v>1336</c:v>
              </c:pt>
              <c:pt idx="114">
                <c:v>1450</c:v>
              </c:pt>
              <c:pt idx="115">
                <c:v>1494</c:v>
              </c:pt>
              <c:pt idx="116">
                <c:v>1691</c:v>
              </c:pt>
              <c:pt idx="117">
                <c:v>1638</c:v>
              </c:pt>
              <c:pt idx="118">
                <c:v>1673</c:v>
              </c:pt>
              <c:pt idx="119">
                <c:v>1471</c:v>
              </c:pt>
              <c:pt idx="120">
                <c:v>1597</c:v>
              </c:pt>
              <c:pt idx="121">
                <c:v>1481</c:v>
              </c:pt>
              <c:pt idx="122">
                <c:v>1780</c:v>
              </c:pt>
              <c:pt idx="123">
                <c:v>1752</c:v>
              </c:pt>
              <c:pt idx="124">
                <c:v>1892</c:v>
              </c:pt>
              <c:pt idx="125">
                <c:v>1904</c:v>
              </c:pt>
              <c:pt idx="126">
                <c:v>2006</c:v>
              </c:pt>
              <c:pt idx="127">
                <c:v>2013</c:v>
              </c:pt>
              <c:pt idx="128">
                <c:v>1968</c:v>
              </c:pt>
              <c:pt idx="129">
                <c:v>2065</c:v>
              </c:pt>
              <c:pt idx="130">
                <c:v>1860</c:v>
              </c:pt>
              <c:pt idx="131">
                <c:v>2195</c:v>
              </c:pt>
              <c:pt idx="132">
                <c:v>2135</c:v>
              </c:pt>
              <c:pt idx="133">
                <c:v>2146</c:v>
              </c:pt>
              <c:pt idx="134">
                <c:v>2349</c:v>
              </c:pt>
              <c:pt idx="135">
                <c:v>2351</c:v>
              </c:pt>
              <c:pt idx="136">
                <c:v>2432</c:v>
              </c:pt>
              <c:pt idx="137">
                <c:v>2282</c:v>
              </c:pt>
              <c:pt idx="138">
                <c:v>2334</c:v>
              </c:pt>
              <c:pt idx="139">
                <c:v>2444</c:v>
              </c:pt>
              <c:pt idx="140">
                <c:v>2416</c:v>
              </c:pt>
              <c:pt idx="141">
                <c:v>2633</c:v>
              </c:pt>
              <c:pt idx="142">
                <c:v>2274</c:v>
              </c:pt>
              <c:pt idx="143">
                <c:v>2475</c:v>
              </c:pt>
              <c:pt idx="144">
                <c:v>2322</c:v>
              </c:pt>
              <c:pt idx="145">
                <c:v>2236</c:v>
              </c:pt>
              <c:pt idx="146">
                <c:v>2631</c:v>
              </c:pt>
              <c:pt idx="147">
                <c:v>2535</c:v>
              </c:pt>
              <c:pt idx="148">
                <c:v>2525</c:v>
              </c:pt>
              <c:pt idx="149">
                <c:v>2417</c:v>
              </c:pt>
              <c:pt idx="150">
                <c:v>2426</c:v>
              </c:pt>
              <c:pt idx="151">
                <c:v>2413</c:v>
              </c:pt>
              <c:pt idx="152">
                <c:v>2414</c:v>
              </c:pt>
              <c:pt idx="153">
                <c:v>2520</c:v>
              </c:pt>
              <c:pt idx="154">
                <c:v>2328</c:v>
              </c:pt>
              <c:pt idx="155">
                <c:v>2575</c:v>
              </c:pt>
              <c:pt idx="156">
                <c:v>2196</c:v>
              </c:pt>
              <c:pt idx="157">
                <c:v>2351</c:v>
              </c:pt>
              <c:pt idx="158">
                <c:v>2556</c:v>
              </c:pt>
              <c:pt idx="159">
                <c:v>2273</c:v>
              </c:pt>
              <c:pt idx="160">
                <c:v>2370</c:v>
              </c:pt>
              <c:pt idx="161">
                <c:v>2256</c:v>
              </c:pt>
              <c:pt idx="162">
                <c:v>2333</c:v>
              </c:pt>
              <c:pt idx="163">
                <c:v>2325</c:v>
              </c:pt>
              <c:pt idx="164">
                <c:v>2237</c:v>
              </c:pt>
              <c:pt idx="165">
                <c:v>2310</c:v>
              </c:pt>
              <c:pt idx="166">
                <c:v>2326</c:v>
              </c:pt>
              <c:pt idx="167">
                <c:v>1964</c:v>
              </c:pt>
              <c:pt idx="168">
                <c:v>2150</c:v>
              </c:pt>
              <c:pt idx="169">
                <c:v>2087</c:v>
              </c:pt>
              <c:pt idx="170">
                <c:v>2316</c:v>
              </c:pt>
              <c:pt idx="171">
                <c:v>2209</c:v>
              </c:pt>
              <c:pt idx="172">
                <c:v>2270</c:v>
              </c:pt>
              <c:pt idx="173">
                <c:v>2201</c:v>
              </c:pt>
              <c:pt idx="174">
                <c:v>2086</c:v>
              </c:pt>
              <c:pt idx="175">
                <c:v>2260</c:v>
              </c:pt>
              <c:pt idx="176">
                <c:v>2004</c:v>
              </c:pt>
              <c:pt idx="177">
                <c:v>2296</c:v>
              </c:pt>
              <c:pt idx="178">
                <c:v>2116</c:v>
              </c:pt>
              <c:pt idx="179">
                <c:v>1887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2D98-E74F-BD93-F4D47835612E}"/>
            </c:ext>
          </c:extLst>
        </c:ser>
        <c:ser>
          <c:idx val="1"/>
          <c:order val="1"/>
          <c:tx>
            <c:v>2017–2019</c:v>
          </c:tx>
          <c:spPr>
            <a:ln w="42863">
              <a:solidFill>
                <a:srgbClr val="C77933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36"/>
              <c:pt idx="0">
                <c:v>2017</c:v>
              </c:pt>
              <c:pt idx="1">
                <c:v>2017.0833333333333</c:v>
              </c:pt>
              <c:pt idx="2">
                <c:v>2017.1666666666667</c:v>
              </c:pt>
              <c:pt idx="3">
                <c:v>2017.25</c:v>
              </c:pt>
              <c:pt idx="4">
                <c:v>2017.3333333333333</c:v>
              </c:pt>
              <c:pt idx="5">
                <c:v>2017.4166666666667</c:v>
              </c:pt>
              <c:pt idx="6">
                <c:v>2017.5</c:v>
              </c:pt>
              <c:pt idx="7">
                <c:v>2017.5833333333333</c:v>
              </c:pt>
              <c:pt idx="8">
                <c:v>2017.6666666666667</c:v>
              </c:pt>
              <c:pt idx="9">
                <c:v>2017.75</c:v>
              </c:pt>
              <c:pt idx="10">
                <c:v>2017.8333333333333</c:v>
              </c:pt>
              <c:pt idx="11">
                <c:v>2017.9166666666667</c:v>
              </c:pt>
              <c:pt idx="12">
                <c:v>2018</c:v>
              </c:pt>
              <c:pt idx="13">
                <c:v>2018.0833333333333</c:v>
              </c:pt>
              <c:pt idx="14">
                <c:v>2018.1666666666667</c:v>
              </c:pt>
              <c:pt idx="15">
                <c:v>2018.25</c:v>
              </c:pt>
              <c:pt idx="16">
                <c:v>2018.3333333333333</c:v>
              </c:pt>
              <c:pt idx="17">
                <c:v>2018.4166666666667</c:v>
              </c:pt>
              <c:pt idx="18">
                <c:v>2018.5</c:v>
              </c:pt>
              <c:pt idx="19">
                <c:v>2018.5833333333333</c:v>
              </c:pt>
              <c:pt idx="20">
                <c:v>2018.6666666666667</c:v>
              </c:pt>
              <c:pt idx="21">
                <c:v>2018.75</c:v>
              </c:pt>
              <c:pt idx="22">
                <c:v>2018.8333333333333</c:v>
              </c:pt>
              <c:pt idx="23">
                <c:v>2018.9166666666667</c:v>
              </c:pt>
              <c:pt idx="24">
                <c:v>2019</c:v>
              </c:pt>
              <c:pt idx="25">
                <c:v>2019.0833333333333</c:v>
              </c:pt>
              <c:pt idx="26">
                <c:v>2019.1666666666667</c:v>
              </c:pt>
              <c:pt idx="27">
                <c:v>2019.25</c:v>
              </c:pt>
              <c:pt idx="28">
                <c:v>2019.3333333333333</c:v>
              </c:pt>
              <c:pt idx="29">
                <c:v>2019.4166666666667</c:v>
              </c:pt>
              <c:pt idx="30">
                <c:v>2019.5</c:v>
              </c:pt>
              <c:pt idx="31">
                <c:v>2019.5833333333333</c:v>
              </c:pt>
              <c:pt idx="32">
                <c:v>2019.6666666666667</c:v>
              </c:pt>
              <c:pt idx="33">
                <c:v>2019.75</c:v>
              </c:pt>
              <c:pt idx="34">
                <c:v>2019.8333333333333</c:v>
              </c:pt>
              <c:pt idx="35">
                <c:v>2019.9166666666667</c:v>
              </c:pt>
            </c:numLit>
          </c:xVal>
          <c:yVal>
            <c:numLit>
              <c:formatCode>#,##0</c:formatCode>
              <c:ptCount val="36"/>
              <c:pt idx="0">
                <c:v>1278</c:v>
              </c:pt>
              <c:pt idx="1">
                <c:v>1198</c:v>
              </c:pt>
              <c:pt idx="2">
                <c:v>1373</c:v>
              </c:pt>
              <c:pt idx="3">
                <c:v>1202</c:v>
              </c:pt>
              <c:pt idx="4">
                <c:v>1409</c:v>
              </c:pt>
              <c:pt idx="5">
                <c:v>1331</c:v>
              </c:pt>
              <c:pt idx="6">
                <c:v>1245</c:v>
              </c:pt>
              <c:pt idx="7">
                <c:v>1434</c:v>
              </c:pt>
              <c:pt idx="8">
                <c:v>1245</c:v>
              </c:pt>
              <c:pt idx="9">
                <c:v>1456</c:v>
              </c:pt>
              <c:pt idx="10">
                <c:v>1298</c:v>
              </c:pt>
              <c:pt idx="11">
                <c:v>1400</c:v>
              </c:pt>
              <c:pt idx="12">
                <c:v>1441</c:v>
              </c:pt>
              <c:pt idx="13">
                <c:v>1349</c:v>
              </c:pt>
              <c:pt idx="14">
                <c:v>1673</c:v>
              </c:pt>
              <c:pt idx="15">
                <c:v>1466</c:v>
              </c:pt>
              <c:pt idx="16">
                <c:v>1667</c:v>
              </c:pt>
              <c:pt idx="17">
                <c:v>1545</c:v>
              </c:pt>
              <c:pt idx="18">
                <c:v>1512</c:v>
              </c:pt>
              <c:pt idx="19">
                <c:v>1739</c:v>
              </c:pt>
              <c:pt idx="20">
                <c:v>1656</c:v>
              </c:pt>
              <c:pt idx="21">
                <c:v>1600</c:v>
              </c:pt>
              <c:pt idx="22">
                <c:v>1516</c:v>
              </c:pt>
              <c:pt idx="23">
                <c:v>1673</c:v>
              </c:pt>
              <c:pt idx="24">
                <c:v>1565</c:v>
              </c:pt>
              <c:pt idx="25">
                <c:v>1545</c:v>
              </c:pt>
              <c:pt idx="26">
                <c:v>1856</c:v>
              </c:pt>
              <c:pt idx="27">
                <c:v>1508</c:v>
              </c:pt>
              <c:pt idx="28">
                <c:v>1672</c:v>
              </c:pt>
              <c:pt idx="29">
                <c:v>1762</c:v>
              </c:pt>
              <c:pt idx="30">
                <c:v>1606</c:v>
              </c:pt>
              <c:pt idx="31">
                <c:v>1835</c:v>
              </c:pt>
              <c:pt idx="32">
                <c:v>1697</c:v>
              </c:pt>
              <c:pt idx="33">
                <c:v>1680</c:v>
              </c:pt>
              <c:pt idx="34">
                <c:v>1668</c:v>
              </c:pt>
              <c:pt idx="35">
                <c:v>1523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1-2D98-E74F-BD93-F4D47835612E}"/>
            </c:ext>
          </c:extLst>
        </c:ser>
        <c:ser>
          <c:idx val="2"/>
          <c:order val="2"/>
          <c:tx>
            <c:v>2025</c:v>
          </c:tx>
          <c:spPr>
            <a:ln w="42863">
              <a:solidFill>
                <a:srgbClr val="A5483C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12"/>
              <c:pt idx="0">
                <c:v>2025</c:v>
              </c:pt>
              <c:pt idx="1">
                <c:v>2025.0833333333333</c:v>
              </c:pt>
              <c:pt idx="2">
                <c:v>2025.1666666666667</c:v>
              </c:pt>
              <c:pt idx="3">
                <c:v>2025.25</c:v>
              </c:pt>
              <c:pt idx="4">
                <c:v>2025.3333333333333</c:v>
              </c:pt>
              <c:pt idx="5">
                <c:v>2025.4166666666667</c:v>
              </c:pt>
              <c:pt idx="6">
                <c:v>2025.5</c:v>
              </c:pt>
              <c:pt idx="7">
                <c:v>2025.5833333333333</c:v>
              </c:pt>
              <c:pt idx="8">
                <c:v>2025.6666666666667</c:v>
              </c:pt>
              <c:pt idx="9">
                <c:v>2025.75</c:v>
              </c:pt>
              <c:pt idx="10">
                <c:v>2025.8333333333333</c:v>
              </c:pt>
              <c:pt idx="11">
                <c:v>2025.9166666666667</c:v>
              </c:pt>
            </c:numLit>
          </c:xVal>
          <c:yVal>
            <c:numLit>
              <c:formatCode>#,##0</c:formatCode>
              <c:ptCount val="12"/>
              <c:pt idx="0">
                <c:v>2150</c:v>
              </c:pt>
              <c:pt idx="1">
                <c:v>2087</c:v>
              </c:pt>
              <c:pt idx="2">
                <c:v>2316</c:v>
              </c:pt>
              <c:pt idx="3">
                <c:v>2209</c:v>
              </c:pt>
              <c:pt idx="4">
                <c:v>2270</c:v>
              </c:pt>
              <c:pt idx="5">
                <c:v>2201</c:v>
              </c:pt>
              <c:pt idx="6">
                <c:v>2086</c:v>
              </c:pt>
              <c:pt idx="7">
                <c:v>2260</c:v>
              </c:pt>
              <c:pt idx="8">
                <c:v>2004</c:v>
              </c:pt>
              <c:pt idx="9">
                <c:v>2296</c:v>
              </c:pt>
              <c:pt idx="10">
                <c:v>2116</c:v>
              </c:pt>
              <c:pt idx="11">
                <c:v>1887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2-2D98-E74F-BD93-F4D4783561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3000"/>
          <c:min val="0"/>
        </c:scaling>
        <c:delete val="0"/>
        <c:axPos val="l"/>
        <c:majorGridlines>
          <c:spPr>
            <a:ln w="9525">
              <a:solidFill>
                <a:srgbClr val="D7DE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125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Fee revenue (source units)</a:t>
                </a:r>
              </a:p>
            </c:rich>
          </c:tx>
          <c:overlay val="0"/>
        </c:title>
        <c:numFmt formatCode="#,##0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12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  <c:majorUnit val="500"/>
      </c:valAx>
      <c:valAx>
        <c:axId val="48650112"/>
        <c:scaling>
          <c:orientation val="minMax"/>
          <c:max val="2026"/>
          <c:min val="2011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7DEE3"/>
            </a:solidFill>
          </a:ln>
        </c:spPr>
        <c:txPr>
          <a:bodyPr anchorCtr="1"/>
          <a:lstStyle/>
          <a:p>
            <a:pPr>
              <a:defRPr sz="112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3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125">
              <a:solidFill>
                <a:srgbClr val="252F38"/>
              </a:solidFill>
              <a:latin typeface="Arial"/>
              <a:ea typeface="Arial"/>
              <a:cs typeface="Arial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Actual fee</c:v>
          </c:tx>
          <c:spPr>
            <a:ln w="23813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180"/>
              <c:pt idx="0">
                <c:v>2011</c:v>
              </c:pt>
              <c:pt idx="1">
                <c:v>2011.083333</c:v>
              </c:pt>
              <c:pt idx="2">
                <c:v>2011.166667</c:v>
              </c:pt>
              <c:pt idx="3">
                <c:v>2011.25</c:v>
              </c:pt>
              <c:pt idx="4">
                <c:v>2011.333333</c:v>
              </c:pt>
              <c:pt idx="5">
                <c:v>2011.416667</c:v>
              </c:pt>
              <c:pt idx="6">
                <c:v>2011.5</c:v>
              </c:pt>
              <c:pt idx="7">
                <c:v>2011.583333</c:v>
              </c:pt>
              <c:pt idx="8">
                <c:v>2011.666667</c:v>
              </c:pt>
              <c:pt idx="9">
                <c:v>2011.75</c:v>
              </c:pt>
              <c:pt idx="10">
                <c:v>2011.833333</c:v>
              </c:pt>
              <c:pt idx="11">
                <c:v>2011.916667</c:v>
              </c:pt>
              <c:pt idx="12">
                <c:v>2012</c:v>
              </c:pt>
              <c:pt idx="13">
                <c:v>2012.083333</c:v>
              </c:pt>
              <c:pt idx="14">
                <c:v>2012.166667</c:v>
              </c:pt>
              <c:pt idx="15">
                <c:v>2012.25</c:v>
              </c:pt>
              <c:pt idx="16">
                <c:v>2012.333333</c:v>
              </c:pt>
              <c:pt idx="17">
                <c:v>2012.416667</c:v>
              </c:pt>
              <c:pt idx="18">
                <c:v>2012.5</c:v>
              </c:pt>
              <c:pt idx="19">
                <c:v>2012.583333</c:v>
              </c:pt>
              <c:pt idx="20">
                <c:v>2012.666667</c:v>
              </c:pt>
              <c:pt idx="21">
                <c:v>2012.75</c:v>
              </c:pt>
              <c:pt idx="22">
                <c:v>2012.833333</c:v>
              </c:pt>
              <c:pt idx="23">
                <c:v>2012.916667</c:v>
              </c:pt>
              <c:pt idx="24">
                <c:v>2013</c:v>
              </c:pt>
              <c:pt idx="25">
                <c:v>2013.083333</c:v>
              </c:pt>
              <c:pt idx="26">
                <c:v>2013.166667</c:v>
              </c:pt>
              <c:pt idx="27">
                <c:v>2013.25</c:v>
              </c:pt>
              <c:pt idx="28">
                <c:v>2013.333333</c:v>
              </c:pt>
              <c:pt idx="29">
                <c:v>2013.416667</c:v>
              </c:pt>
              <c:pt idx="30">
                <c:v>2013.5</c:v>
              </c:pt>
              <c:pt idx="31">
                <c:v>2013.583333</c:v>
              </c:pt>
              <c:pt idx="32">
                <c:v>2013.666667</c:v>
              </c:pt>
              <c:pt idx="33">
                <c:v>2013.75</c:v>
              </c:pt>
              <c:pt idx="34">
                <c:v>2013.833333</c:v>
              </c:pt>
              <c:pt idx="35">
                <c:v>2013.916667</c:v>
              </c:pt>
              <c:pt idx="36">
                <c:v>2014</c:v>
              </c:pt>
              <c:pt idx="37">
                <c:v>2014.083333</c:v>
              </c:pt>
              <c:pt idx="38">
                <c:v>2014.166667</c:v>
              </c:pt>
              <c:pt idx="39">
                <c:v>2014.25</c:v>
              </c:pt>
              <c:pt idx="40">
                <c:v>2014.333333</c:v>
              </c:pt>
              <c:pt idx="41">
                <c:v>2014.416667</c:v>
              </c:pt>
              <c:pt idx="42">
                <c:v>2014.5</c:v>
              </c:pt>
              <c:pt idx="43">
                <c:v>2014.583333</c:v>
              </c:pt>
              <c:pt idx="44">
                <c:v>2014.666667</c:v>
              </c:pt>
              <c:pt idx="45">
                <c:v>2014.75</c:v>
              </c:pt>
              <c:pt idx="46">
                <c:v>2014.833333</c:v>
              </c:pt>
              <c:pt idx="47">
                <c:v>2014.916667</c:v>
              </c:pt>
              <c:pt idx="48">
                <c:v>2015</c:v>
              </c:pt>
              <c:pt idx="49">
                <c:v>2015.083333</c:v>
              </c:pt>
              <c:pt idx="50">
                <c:v>2015.166667</c:v>
              </c:pt>
              <c:pt idx="51">
                <c:v>2015.25</c:v>
              </c:pt>
              <c:pt idx="52">
                <c:v>2015.333333</c:v>
              </c:pt>
              <c:pt idx="53">
                <c:v>2015.416667</c:v>
              </c:pt>
              <c:pt idx="54">
                <c:v>2015.5</c:v>
              </c:pt>
              <c:pt idx="55">
                <c:v>2015.583333</c:v>
              </c:pt>
              <c:pt idx="56">
                <c:v>2015.666667</c:v>
              </c:pt>
              <c:pt idx="57">
                <c:v>2015.75</c:v>
              </c:pt>
              <c:pt idx="58">
                <c:v>2015.833333</c:v>
              </c:pt>
              <c:pt idx="59">
                <c:v>2015.916667</c:v>
              </c:pt>
              <c:pt idx="60">
                <c:v>2016</c:v>
              </c:pt>
              <c:pt idx="61">
                <c:v>2016.083333</c:v>
              </c:pt>
              <c:pt idx="62">
                <c:v>2016.166667</c:v>
              </c:pt>
              <c:pt idx="63">
                <c:v>2016.25</c:v>
              </c:pt>
              <c:pt idx="64">
                <c:v>2016.333333</c:v>
              </c:pt>
              <c:pt idx="65">
                <c:v>2016.416667</c:v>
              </c:pt>
              <c:pt idx="66">
                <c:v>2016.5</c:v>
              </c:pt>
              <c:pt idx="67">
                <c:v>2016.583333</c:v>
              </c:pt>
              <c:pt idx="68">
                <c:v>2016.666667</c:v>
              </c:pt>
              <c:pt idx="69">
                <c:v>2016.75</c:v>
              </c:pt>
              <c:pt idx="70">
                <c:v>2016.833333</c:v>
              </c:pt>
              <c:pt idx="71">
                <c:v>2016.916667</c:v>
              </c:pt>
              <c:pt idx="72">
                <c:v>2017</c:v>
              </c:pt>
              <c:pt idx="73">
                <c:v>2017.083333</c:v>
              </c:pt>
              <c:pt idx="74">
                <c:v>2017.166667</c:v>
              </c:pt>
              <c:pt idx="75">
                <c:v>2017.25</c:v>
              </c:pt>
              <c:pt idx="76">
                <c:v>2017.333333</c:v>
              </c:pt>
              <c:pt idx="77">
                <c:v>2017.416667</c:v>
              </c:pt>
              <c:pt idx="78">
                <c:v>2017.5</c:v>
              </c:pt>
              <c:pt idx="79">
                <c:v>2017.583333</c:v>
              </c:pt>
              <c:pt idx="80">
                <c:v>2017.666667</c:v>
              </c:pt>
              <c:pt idx="81">
                <c:v>2017.75</c:v>
              </c:pt>
              <c:pt idx="82">
                <c:v>2017.833333</c:v>
              </c:pt>
              <c:pt idx="83">
                <c:v>2017.916667</c:v>
              </c:pt>
              <c:pt idx="84">
                <c:v>2018</c:v>
              </c:pt>
              <c:pt idx="85">
                <c:v>2018.083333</c:v>
              </c:pt>
              <c:pt idx="86">
                <c:v>2018.166667</c:v>
              </c:pt>
              <c:pt idx="87">
                <c:v>2018.25</c:v>
              </c:pt>
              <c:pt idx="88">
                <c:v>2018.333333</c:v>
              </c:pt>
              <c:pt idx="89">
                <c:v>2018.416667</c:v>
              </c:pt>
              <c:pt idx="90">
                <c:v>2018.5</c:v>
              </c:pt>
              <c:pt idx="91">
                <c:v>2018.583333</c:v>
              </c:pt>
              <c:pt idx="92">
                <c:v>2018.666667</c:v>
              </c:pt>
              <c:pt idx="93">
                <c:v>2018.75</c:v>
              </c:pt>
              <c:pt idx="94">
                <c:v>2018.833333</c:v>
              </c:pt>
              <c:pt idx="95">
                <c:v>2018.916667</c:v>
              </c:pt>
              <c:pt idx="96">
                <c:v>2019</c:v>
              </c:pt>
              <c:pt idx="97">
                <c:v>2019.083333</c:v>
              </c:pt>
              <c:pt idx="98">
                <c:v>2019.166667</c:v>
              </c:pt>
              <c:pt idx="99">
                <c:v>2019.25</c:v>
              </c:pt>
              <c:pt idx="100">
                <c:v>2019.333333</c:v>
              </c:pt>
              <c:pt idx="101">
                <c:v>2019.416667</c:v>
              </c:pt>
              <c:pt idx="102">
                <c:v>2019.5</c:v>
              </c:pt>
              <c:pt idx="103">
                <c:v>2019.583333</c:v>
              </c:pt>
              <c:pt idx="104">
                <c:v>2019.666667</c:v>
              </c:pt>
              <c:pt idx="105">
                <c:v>2019.75</c:v>
              </c:pt>
              <c:pt idx="106">
                <c:v>2019.833333</c:v>
              </c:pt>
              <c:pt idx="107">
                <c:v>2019.916667</c:v>
              </c:pt>
              <c:pt idx="108">
                <c:v>2020</c:v>
              </c:pt>
              <c:pt idx="109">
                <c:v>2020.083333</c:v>
              </c:pt>
              <c:pt idx="110">
                <c:v>2020.166667</c:v>
              </c:pt>
              <c:pt idx="111">
                <c:v>2020.25</c:v>
              </c:pt>
              <c:pt idx="112">
                <c:v>2020.333333</c:v>
              </c:pt>
              <c:pt idx="113">
                <c:v>2020.416667</c:v>
              </c:pt>
              <c:pt idx="114">
                <c:v>2020.5</c:v>
              </c:pt>
              <c:pt idx="115">
                <c:v>2020.583333</c:v>
              </c:pt>
              <c:pt idx="116">
                <c:v>2020.666667</c:v>
              </c:pt>
              <c:pt idx="117">
                <c:v>2020.75</c:v>
              </c:pt>
              <c:pt idx="118">
                <c:v>2020.833333</c:v>
              </c:pt>
              <c:pt idx="119">
                <c:v>2020.916667</c:v>
              </c:pt>
              <c:pt idx="120">
                <c:v>2021</c:v>
              </c:pt>
              <c:pt idx="121">
                <c:v>2021.083333</c:v>
              </c:pt>
              <c:pt idx="122">
                <c:v>2021.166667</c:v>
              </c:pt>
              <c:pt idx="123">
                <c:v>2021.25</c:v>
              </c:pt>
              <c:pt idx="124">
                <c:v>2021.333333</c:v>
              </c:pt>
              <c:pt idx="125">
                <c:v>2021.416667</c:v>
              </c:pt>
              <c:pt idx="126">
                <c:v>2021.5</c:v>
              </c:pt>
              <c:pt idx="127">
                <c:v>2021.583333</c:v>
              </c:pt>
              <c:pt idx="128">
                <c:v>2021.666667</c:v>
              </c:pt>
              <c:pt idx="129">
                <c:v>2021.75</c:v>
              </c:pt>
              <c:pt idx="130">
                <c:v>2021.833333</c:v>
              </c:pt>
              <c:pt idx="131">
                <c:v>2021.916667</c:v>
              </c:pt>
              <c:pt idx="132">
                <c:v>2022</c:v>
              </c:pt>
              <c:pt idx="133">
                <c:v>2022.083333</c:v>
              </c:pt>
              <c:pt idx="134">
                <c:v>2022.166667</c:v>
              </c:pt>
              <c:pt idx="135">
                <c:v>2022.25</c:v>
              </c:pt>
              <c:pt idx="136">
                <c:v>2022.333333</c:v>
              </c:pt>
              <c:pt idx="137">
                <c:v>2022.416667</c:v>
              </c:pt>
              <c:pt idx="138">
                <c:v>2022.5</c:v>
              </c:pt>
              <c:pt idx="139">
                <c:v>2022.583333</c:v>
              </c:pt>
              <c:pt idx="140">
                <c:v>2022.666667</c:v>
              </c:pt>
              <c:pt idx="141">
                <c:v>2022.75</c:v>
              </c:pt>
              <c:pt idx="142">
                <c:v>2022.833333</c:v>
              </c:pt>
              <c:pt idx="143">
                <c:v>2022.916667</c:v>
              </c:pt>
              <c:pt idx="144">
                <c:v>2023</c:v>
              </c:pt>
              <c:pt idx="145">
                <c:v>2023.083333</c:v>
              </c:pt>
              <c:pt idx="146">
                <c:v>2023.166667</c:v>
              </c:pt>
              <c:pt idx="147">
                <c:v>2023.25</c:v>
              </c:pt>
              <c:pt idx="148">
                <c:v>2023.333333</c:v>
              </c:pt>
              <c:pt idx="149">
                <c:v>2023.416667</c:v>
              </c:pt>
              <c:pt idx="150">
                <c:v>2023.5</c:v>
              </c:pt>
              <c:pt idx="151">
                <c:v>2023.583333</c:v>
              </c:pt>
              <c:pt idx="152">
                <c:v>2023.666667</c:v>
              </c:pt>
              <c:pt idx="153">
                <c:v>2023.75</c:v>
              </c:pt>
              <c:pt idx="154">
                <c:v>2023.833333</c:v>
              </c:pt>
              <c:pt idx="155">
                <c:v>2023.916667</c:v>
              </c:pt>
              <c:pt idx="156">
                <c:v>2024</c:v>
              </c:pt>
              <c:pt idx="157">
                <c:v>2024.083333</c:v>
              </c:pt>
              <c:pt idx="158">
                <c:v>2024.166667</c:v>
              </c:pt>
              <c:pt idx="159">
                <c:v>2024.25</c:v>
              </c:pt>
              <c:pt idx="160">
                <c:v>2024.333333</c:v>
              </c:pt>
              <c:pt idx="161">
                <c:v>2024.416667</c:v>
              </c:pt>
              <c:pt idx="162">
                <c:v>2024.5</c:v>
              </c:pt>
              <c:pt idx="163">
                <c:v>2024.583333</c:v>
              </c:pt>
              <c:pt idx="164">
                <c:v>2024.666667</c:v>
              </c:pt>
              <c:pt idx="165">
                <c:v>2024.75</c:v>
              </c:pt>
              <c:pt idx="166">
                <c:v>2024.833333</c:v>
              </c:pt>
              <c:pt idx="167">
                <c:v>2024.916667</c:v>
              </c:pt>
              <c:pt idx="168">
                <c:v>2025</c:v>
              </c:pt>
              <c:pt idx="169">
                <c:v>2025.083333</c:v>
              </c:pt>
              <c:pt idx="170">
                <c:v>2025.166667</c:v>
              </c:pt>
              <c:pt idx="171">
                <c:v>2025.25</c:v>
              </c:pt>
              <c:pt idx="172">
                <c:v>2025.333333</c:v>
              </c:pt>
              <c:pt idx="173">
                <c:v>2025.416667</c:v>
              </c:pt>
              <c:pt idx="174">
                <c:v>2025.5</c:v>
              </c:pt>
              <c:pt idx="175">
                <c:v>2025.583333</c:v>
              </c:pt>
              <c:pt idx="176">
                <c:v>2025.666667</c:v>
              </c:pt>
              <c:pt idx="177">
                <c:v>2025.75</c:v>
              </c:pt>
              <c:pt idx="178">
                <c:v>2025.833333</c:v>
              </c:pt>
              <c:pt idx="179">
                <c:v>2025.916667</c:v>
              </c:pt>
            </c:numLit>
          </c:xVal>
          <c:yVal>
            <c:numLit>
              <c:formatCode>#,##0</c:formatCode>
              <c:ptCount val="180"/>
              <c:pt idx="0">
                <c:v>771</c:v>
              </c:pt>
              <c:pt idx="1">
                <c:v>842</c:v>
              </c:pt>
              <c:pt idx="2">
                <c:v>1119</c:v>
              </c:pt>
              <c:pt idx="3">
                <c:v>948</c:v>
              </c:pt>
              <c:pt idx="4">
                <c:v>1047</c:v>
              </c:pt>
              <c:pt idx="5">
                <c:v>971</c:v>
              </c:pt>
              <c:pt idx="6">
                <c:v>868</c:v>
              </c:pt>
              <c:pt idx="7">
                <c:v>1063</c:v>
              </c:pt>
              <c:pt idx="8">
                <c:v>974</c:v>
              </c:pt>
              <c:pt idx="9">
                <c:v>949</c:v>
              </c:pt>
              <c:pt idx="10">
                <c:v>941</c:v>
              </c:pt>
              <c:pt idx="11">
                <c:v>985</c:v>
              </c:pt>
              <c:pt idx="12">
                <c:v>1009</c:v>
              </c:pt>
              <c:pt idx="13">
                <c:v>957</c:v>
              </c:pt>
              <c:pt idx="14">
                <c:v>1067</c:v>
              </c:pt>
              <c:pt idx="15">
                <c:v>1089</c:v>
              </c:pt>
              <c:pt idx="16">
                <c:v>1160</c:v>
              </c:pt>
              <c:pt idx="17">
                <c:v>1079</c:v>
              </c:pt>
              <c:pt idx="18">
                <c:v>1132</c:v>
              </c:pt>
              <c:pt idx="19">
                <c:v>1134</c:v>
              </c:pt>
              <c:pt idx="20">
                <c:v>983</c:v>
              </c:pt>
              <c:pt idx="21">
                <c:v>1150</c:v>
              </c:pt>
              <c:pt idx="22">
                <c:v>978</c:v>
              </c:pt>
              <c:pt idx="23">
                <c:v>1025</c:v>
              </c:pt>
              <c:pt idx="24">
                <c:v>989</c:v>
              </c:pt>
              <c:pt idx="25">
                <c:v>943</c:v>
              </c:pt>
              <c:pt idx="26">
                <c:v>1089</c:v>
              </c:pt>
              <c:pt idx="27">
                <c:v>1128</c:v>
              </c:pt>
              <c:pt idx="28">
                <c:v>1063</c:v>
              </c:pt>
              <c:pt idx="29">
                <c:v>999</c:v>
              </c:pt>
              <c:pt idx="30">
                <c:v>1160</c:v>
              </c:pt>
              <c:pt idx="31">
                <c:v>1032</c:v>
              </c:pt>
              <c:pt idx="32">
                <c:v>1022</c:v>
              </c:pt>
              <c:pt idx="33">
                <c:v>1280</c:v>
              </c:pt>
              <c:pt idx="34">
                <c:v>1090</c:v>
              </c:pt>
              <c:pt idx="35">
                <c:v>1184</c:v>
              </c:pt>
              <c:pt idx="36">
                <c:v>1121</c:v>
              </c:pt>
              <c:pt idx="37">
                <c:v>1059</c:v>
              </c:pt>
              <c:pt idx="38">
                <c:v>1158</c:v>
              </c:pt>
              <c:pt idx="39">
                <c:v>1264</c:v>
              </c:pt>
              <c:pt idx="40">
                <c:v>1231</c:v>
              </c:pt>
              <c:pt idx="41">
                <c:v>1226</c:v>
              </c:pt>
              <c:pt idx="42">
                <c:v>1277</c:v>
              </c:pt>
              <c:pt idx="43">
                <c:v>1188</c:v>
              </c:pt>
              <c:pt idx="44">
                <c:v>1206</c:v>
              </c:pt>
              <c:pt idx="45">
                <c:v>1305</c:v>
              </c:pt>
              <c:pt idx="46">
                <c:v>1166</c:v>
              </c:pt>
              <c:pt idx="47">
                <c:v>1362</c:v>
              </c:pt>
              <c:pt idx="48">
                <c:v>1140</c:v>
              </c:pt>
              <c:pt idx="49">
                <c:v>1111</c:v>
              </c:pt>
              <c:pt idx="50">
                <c:v>1455</c:v>
              </c:pt>
              <c:pt idx="51">
                <c:v>1409</c:v>
              </c:pt>
              <c:pt idx="52">
                <c:v>1294</c:v>
              </c:pt>
              <c:pt idx="53">
                <c:v>1472</c:v>
              </c:pt>
              <c:pt idx="54">
                <c:v>1360</c:v>
              </c:pt>
              <c:pt idx="55">
                <c:v>1279</c:v>
              </c:pt>
              <c:pt idx="56">
                <c:v>1336</c:v>
              </c:pt>
              <c:pt idx="57">
                <c:v>1316</c:v>
              </c:pt>
              <c:pt idx="58">
                <c:v>1233</c:v>
              </c:pt>
              <c:pt idx="59">
                <c:v>1233</c:v>
              </c:pt>
              <c:pt idx="60">
                <c:v>1151</c:v>
              </c:pt>
              <c:pt idx="61">
                <c:v>1236</c:v>
              </c:pt>
              <c:pt idx="62">
                <c:v>1539</c:v>
              </c:pt>
              <c:pt idx="63">
                <c:v>1249</c:v>
              </c:pt>
              <c:pt idx="64">
                <c:v>1388</c:v>
              </c:pt>
              <c:pt idx="65">
                <c:v>1280</c:v>
              </c:pt>
              <c:pt idx="66">
                <c:v>1184</c:v>
              </c:pt>
              <c:pt idx="67">
                <c:v>1418</c:v>
              </c:pt>
              <c:pt idx="68">
                <c:v>1310</c:v>
              </c:pt>
              <c:pt idx="69">
                <c:v>1226</c:v>
              </c:pt>
              <c:pt idx="70">
                <c:v>1166</c:v>
              </c:pt>
              <c:pt idx="71">
                <c:v>1253</c:v>
              </c:pt>
              <c:pt idx="72">
                <c:v>1278</c:v>
              </c:pt>
              <c:pt idx="73">
                <c:v>1198</c:v>
              </c:pt>
              <c:pt idx="74">
                <c:v>1373</c:v>
              </c:pt>
              <c:pt idx="75">
                <c:v>1202</c:v>
              </c:pt>
              <c:pt idx="76">
                <c:v>1409</c:v>
              </c:pt>
              <c:pt idx="77">
                <c:v>1331</c:v>
              </c:pt>
              <c:pt idx="78">
                <c:v>1245</c:v>
              </c:pt>
              <c:pt idx="79">
                <c:v>1434</c:v>
              </c:pt>
              <c:pt idx="80">
                <c:v>1245</c:v>
              </c:pt>
              <c:pt idx="81">
                <c:v>1456</c:v>
              </c:pt>
              <c:pt idx="82">
                <c:v>1298</c:v>
              </c:pt>
              <c:pt idx="83">
                <c:v>1400</c:v>
              </c:pt>
              <c:pt idx="84">
                <c:v>1441</c:v>
              </c:pt>
              <c:pt idx="85">
                <c:v>1349</c:v>
              </c:pt>
              <c:pt idx="86">
                <c:v>1673</c:v>
              </c:pt>
              <c:pt idx="87">
                <c:v>1466</c:v>
              </c:pt>
              <c:pt idx="88">
                <c:v>1667</c:v>
              </c:pt>
              <c:pt idx="89">
                <c:v>1545</c:v>
              </c:pt>
              <c:pt idx="90">
                <c:v>1512</c:v>
              </c:pt>
              <c:pt idx="91">
                <c:v>1739</c:v>
              </c:pt>
              <c:pt idx="92">
                <c:v>1656</c:v>
              </c:pt>
              <c:pt idx="93">
                <c:v>1600</c:v>
              </c:pt>
              <c:pt idx="94">
                <c:v>1516</c:v>
              </c:pt>
              <c:pt idx="95">
                <c:v>1673</c:v>
              </c:pt>
              <c:pt idx="96">
                <c:v>1565</c:v>
              </c:pt>
              <c:pt idx="97">
                <c:v>1545</c:v>
              </c:pt>
              <c:pt idx="98">
                <c:v>1856</c:v>
              </c:pt>
              <c:pt idx="99">
                <c:v>1508</c:v>
              </c:pt>
              <c:pt idx="100">
                <c:v>1672</c:v>
              </c:pt>
              <c:pt idx="101">
                <c:v>1762</c:v>
              </c:pt>
              <c:pt idx="102">
                <c:v>1606</c:v>
              </c:pt>
              <c:pt idx="103">
                <c:v>1835</c:v>
              </c:pt>
              <c:pt idx="104">
                <c:v>1697</c:v>
              </c:pt>
              <c:pt idx="105">
                <c:v>1680</c:v>
              </c:pt>
              <c:pt idx="106">
                <c:v>1668</c:v>
              </c:pt>
              <c:pt idx="107">
                <c:v>1523</c:v>
              </c:pt>
              <c:pt idx="108">
                <c:v>1745</c:v>
              </c:pt>
              <c:pt idx="109">
                <c:v>1671</c:v>
              </c:pt>
              <c:pt idx="110">
                <c:v>1497</c:v>
              </c:pt>
              <c:pt idx="111">
                <c:v>1167</c:v>
              </c:pt>
              <c:pt idx="112">
                <c:v>1265</c:v>
              </c:pt>
              <c:pt idx="113">
                <c:v>1336</c:v>
              </c:pt>
              <c:pt idx="114">
                <c:v>1450</c:v>
              </c:pt>
              <c:pt idx="115">
                <c:v>1494</c:v>
              </c:pt>
              <c:pt idx="116">
                <c:v>1691</c:v>
              </c:pt>
              <c:pt idx="117">
                <c:v>1638</c:v>
              </c:pt>
              <c:pt idx="118">
                <c:v>1673</c:v>
              </c:pt>
              <c:pt idx="119">
                <c:v>1471</c:v>
              </c:pt>
              <c:pt idx="120">
                <c:v>1597</c:v>
              </c:pt>
              <c:pt idx="121">
                <c:v>1481</c:v>
              </c:pt>
              <c:pt idx="122">
                <c:v>1780</c:v>
              </c:pt>
              <c:pt idx="123">
                <c:v>1752</c:v>
              </c:pt>
              <c:pt idx="124">
                <c:v>1892</c:v>
              </c:pt>
              <c:pt idx="125">
                <c:v>1904</c:v>
              </c:pt>
              <c:pt idx="126">
                <c:v>2006</c:v>
              </c:pt>
              <c:pt idx="127">
                <c:v>2013</c:v>
              </c:pt>
              <c:pt idx="128">
                <c:v>1968</c:v>
              </c:pt>
              <c:pt idx="129">
                <c:v>2065</c:v>
              </c:pt>
              <c:pt idx="130">
                <c:v>1860</c:v>
              </c:pt>
              <c:pt idx="131">
                <c:v>2195</c:v>
              </c:pt>
              <c:pt idx="132">
                <c:v>2135</c:v>
              </c:pt>
              <c:pt idx="133">
                <c:v>2146</c:v>
              </c:pt>
              <c:pt idx="134">
                <c:v>2349</c:v>
              </c:pt>
              <c:pt idx="135">
                <c:v>2351</c:v>
              </c:pt>
              <c:pt idx="136">
                <c:v>2432</c:v>
              </c:pt>
              <c:pt idx="137">
                <c:v>2282</c:v>
              </c:pt>
              <c:pt idx="138">
                <c:v>2334</c:v>
              </c:pt>
              <c:pt idx="139">
                <c:v>2444</c:v>
              </c:pt>
              <c:pt idx="140">
                <c:v>2416</c:v>
              </c:pt>
              <c:pt idx="141">
                <c:v>2633</c:v>
              </c:pt>
              <c:pt idx="142">
                <c:v>2274</c:v>
              </c:pt>
              <c:pt idx="143">
                <c:v>2475</c:v>
              </c:pt>
              <c:pt idx="144">
                <c:v>2322</c:v>
              </c:pt>
              <c:pt idx="145">
                <c:v>2236</c:v>
              </c:pt>
              <c:pt idx="146">
                <c:v>2631</c:v>
              </c:pt>
              <c:pt idx="147">
                <c:v>2535</c:v>
              </c:pt>
              <c:pt idx="148">
                <c:v>2525</c:v>
              </c:pt>
              <c:pt idx="149">
                <c:v>2417</c:v>
              </c:pt>
              <c:pt idx="150">
                <c:v>2426</c:v>
              </c:pt>
              <c:pt idx="151">
                <c:v>2413</c:v>
              </c:pt>
              <c:pt idx="152">
                <c:v>2414</c:v>
              </c:pt>
              <c:pt idx="153">
                <c:v>2520</c:v>
              </c:pt>
              <c:pt idx="154">
                <c:v>2328</c:v>
              </c:pt>
              <c:pt idx="155">
                <c:v>2575</c:v>
              </c:pt>
              <c:pt idx="156">
                <c:v>2196</c:v>
              </c:pt>
              <c:pt idx="157">
                <c:v>2351</c:v>
              </c:pt>
              <c:pt idx="158">
                <c:v>2556</c:v>
              </c:pt>
              <c:pt idx="159">
                <c:v>2273</c:v>
              </c:pt>
              <c:pt idx="160">
                <c:v>2370</c:v>
              </c:pt>
              <c:pt idx="161">
                <c:v>2256</c:v>
              </c:pt>
              <c:pt idx="162">
                <c:v>2333</c:v>
              </c:pt>
              <c:pt idx="163">
                <c:v>2325</c:v>
              </c:pt>
              <c:pt idx="164">
                <c:v>2237</c:v>
              </c:pt>
              <c:pt idx="165">
                <c:v>2310</c:v>
              </c:pt>
              <c:pt idx="166">
                <c:v>2326</c:v>
              </c:pt>
              <c:pt idx="167">
                <c:v>1964</c:v>
              </c:pt>
              <c:pt idx="168">
                <c:v>2150</c:v>
              </c:pt>
              <c:pt idx="169">
                <c:v>2087</c:v>
              </c:pt>
              <c:pt idx="170">
                <c:v>2316</c:v>
              </c:pt>
              <c:pt idx="171">
                <c:v>2209</c:v>
              </c:pt>
              <c:pt idx="172">
                <c:v>2270</c:v>
              </c:pt>
              <c:pt idx="173">
                <c:v>2201</c:v>
              </c:pt>
              <c:pt idx="174">
                <c:v>2086</c:v>
              </c:pt>
              <c:pt idx="175">
                <c:v>2260</c:v>
              </c:pt>
              <c:pt idx="176">
                <c:v>2004</c:v>
              </c:pt>
              <c:pt idx="177">
                <c:v>2296</c:v>
              </c:pt>
              <c:pt idx="178">
                <c:v>2116</c:v>
              </c:pt>
              <c:pt idx="179">
                <c:v>1887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3389-F842-ADD0-EFF775476FAA}"/>
            </c:ext>
          </c:extLst>
        </c:ser>
        <c:ser>
          <c:idx val="1"/>
          <c:order val="1"/>
          <c:tx>
            <c:v>Frozen long-run fitted level</c:v>
          </c:tx>
          <c:spPr>
            <a:ln w="23813">
              <a:solidFill>
                <a:srgbClr val="C77933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180"/>
              <c:pt idx="0">
                <c:v>2011</c:v>
              </c:pt>
              <c:pt idx="1">
                <c:v>2011.083333</c:v>
              </c:pt>
              <c:pt idx="2">
                <c:v>2011.166667</c:v>
              </c:pt>
              <c:pt idx="3">
                <c:v>2011.25</c:v>
              </c:pt>
              <c:pt idx="4">
                <c:v>2011.333333</c:v>
              </c:pt>
              <c:pt idx="5">
                <c:v>2011.416667</c:v>
              </c:pt>
              <c:pt idx="6">
                <c:v>2011.5</c:v>
              </c:pt>
              <c:pt idx="7">
                <c:v>2011.583333</c:v>
              </c:pt>
              <c:pt idx="8">
                <c:v>2011.666667</c:v>
              </c:pt>
              <c:pt idx="9">
                <c:v>2011.75</c:v>
              </c:pt>
              <c:pt idx="10">
                <c:v>2011.833333</c:v>
              </c:pt>
              <c:pt idx="11">
                <c:v>2011.916667</c:v>
              </c:pt>
              <c:pt idx="12">
                <c:v>2012</c:v>
              </c:pt>
              <c:pt idx="13">
                <c:v>2012.083333</c:v>
              </c:pt>
              <c:pt idx="14">
                <c:v>2012.166667</c:v>
              </c:pt>
              <c:pt idx="15">
                <c:v>2012.25</c:v>
              </c:pt>
              <c:pt idx="16">
                <c:v>2012.333333</c:v>
              </c:pt>
              <c:pt idx="17">
                <c:v>2012.416667</c:v>
              </c:pt>
              <c:pt idx="18">
                <c:v>2012.5</c:v>
              </c:pt>
              <c:pt idx="19">
                <c:v>2012.583333</c:v>
              </c:pt>
              <c:pt idx="20">
                <c:v>2012.666667</c:v>
              </c:pt>
              <c:pt idx="21">
                <c:v>2012.75</c:v>
              </c:pt>
              <c:pt idx="22">
                <c:v>2012.833333</c:v>
              </c:pt>
              <c:pt idx="23">
                <c:v>2012.916667</c:v>
              </c:pt>
              <c:pt idx="24">
                <c:v>2013</c:v>
              </c:pt>
              <c:pt idx="25">
                <c:v>2013.083333</c:v>
              </c:pt>
              <c:pt idx="26">
                <c:v>2013.166667</c:v>
              </c:pt>
              <c:pt idx="27">
                <c:v>2013.25</c:v>
              </c:pt>
              <c:pt idx="28">
                <c:v>2013.333333</c:v>
              </c:pt>
              <c:pt idx="29">
                <c:v>2013.416667</c:v>
              </c:pt>
              <c:pt idx="30">
                <c:v>2013.5</c:v>
              </c:pt>
              <c:pt idx="31">
                <c:v>2013.583333</c:v>
              </c:pt>
              <c:pt idx="32">
                <c:v>2013.666667</c:v>
              </c:pt>
              <c:pt idx="33">
                <c:v>2013.75</c:v>
              </c:pt>
              <c:pt idx="34">
                <c:v>2013.833333</c:v>
              </c:pt>
              <c:pt idx="35">
                <c:v>2013.916667</c:v>
              </c:pt>
              <c:pt idx="36">
                <c:v>2014</c:v>
              </c:pt>
              <c:pt idx="37">
                <c:v>2014.083333</c:v>
              </c:pt>
              <c:pt idx="38">
                <c:v>2014.166667</c:v>
              </c:pt>
              <c:pt idx="39">
                <c:v>2014.25</c:v>
              </c:pt>
              <c:pt idx="40">
                <c:v>2014.333333</c:v>
              </c:pt>
              <c:pt idx="41">
                <c:v>2014.416667</c:v>
              </c:pt>
              <c:pt idx="42">
                <c:v>2014.5</c:v>
              </c:pt>
              <c:pt idx="43">
                <c:v>2014.583333</c:v>
              </c:pt>
              <c:pt idx="44">
                <c:v>2014.666667</c:v>
              </c:pt>
              <c:pt idx="45">
                <c:v>2014.75</c:v>
              </c:pt>
              <c:pt idx="46">
                <c:v>2014.833333</c:v>
              </c:pt>
              <c:pt idx="47">
                <c:v>2014.916667</c:v>
              </c:pt>
              <c:pt idx="48">
                <c:v>2015</c:v>
              </c:pt>
              <c:pt idx="49">
                <c:v>2015.083333</c:v>
              </c:pt>
              <c:pt idx="50">
                <c:v>2015.166667</c:v>
              </c:pt>
              <c:pt idx="51">
                <c:v>2015.25</c:v>
              </c:pt>
              <c:pt idx="52">
                <c:v>2015.333333</c:v>
              </c:pt>
              <c:pt idx="53">
                <c:v>2015.416667</c:v>
              </c:pt>
              <c:pt idx="54">
                <c:v>2015.5</c:v>
              </c:pt>
              <c:pt idx="55">
                <c:v>2015.583333</c:v>
              </c:pt>
              <c:pt idx="56">
                <c:v>2015.666667</c:v>
              </c:pt>
              <c:pt idx="57">
                <c:v>2015.75</c:v>
              </c:pt>
              <c:pt idx="58">
                <c:v>2015.833333</c:v>
              </c:pt>
              <c:pt idx="59">
                <c:v>2015.916667</c:v>
              </c:pt>
              <c:pt idx="60">
                <c:v>2016</c:v>
              </c:pt>
              <c:pt idx="61">
                <c:v>2016.083333</c:v>
              </c:pt>
              <c:pt idx="62">
                <c:v>2016.166667</c:v>
              </c:pt>
              <c:pt idx="63">
                <c:v>2016.25</c:v>
              </c:pt>
              <c:pt idx="64">
                <c:v>2016.333333</c:v>
              </c:pt>
              <c:pt idx="65">
                <c:v>2016.416667</c:v>
              </c:pt>
              <c:pt idx="66">
                <c:v>2016.5</c:v>
              </c:pt>
              <c:pt idx="67">
                <c:v>2016.583333</c:v>
              </c:pt>
              <c:pt idx="68">
                <c:v>2016.666667</c:v>
              </c:pt>
              <c:pt idx="69">
                <c:v>2016.75</c:v>
              </c:pt>
              <c:pt idx="70">
                <c:v>2016.833333</c:v>
              </c:pt>
              <c:pt idx="71">
                <c:v>2016.916667</c:v>
              </c:pt>
              <c:pt idx="72">
                <c:v>2017</c:v>
              </c:pt>
              <c:pt idx="73">
                <c:v>2017.083333</c:v>
              </c:pt>
              <c:pt idx="74">
                <c:v>2017.166667</c:v>
              </c:pt>
              <c:pt idx="75">
                <c:v>2017.25</c:v>
              </c:pt>
              <c:pt idx="76">
                <c:v>2017.333333</c:v>
              </c:pt>
              <c:pt idx="77">
                <c:v>2017.416667</c:v>
              </c:pt>
              <c:pt idx="78">
                <c:v>2017.5</c:v>
              </c:pt>
              <c:pt idx="79">
                <c:v>2017.583333</c:v>
              </c:pt>
              <c:pt idx="80">
                <c:v>2017.666667</c:v>
              </c:pt>
              <c:pt idx="81">
                <c:v>2017.75</c:v>
              </c:pt>
              <c:pt idx="82">
                <c:v>2017.833333</c:v>
              </c:pt>
              <c:pt idx="83">
                <c:v>2017.916667</c:v>
              </c:pt>
              <c:pt idx="84">
                <c:v>2018</c:v>
              </c:pt>
              <c:pt idx="85">
                <c:v>2018.083333</c:v>
              </c:pt>
              <c:pt idx="86">
                <c:v>2018.166667</c:v>
              </c:pt>
              <c:pt idx="87">
                <c:v>2018.25</c:v>
              </c:pt>
              <c:pt idx="88">
                <c:v>2018.333333</c:v>
              </c:pt>
              <c:pt idx="89">
                <c:v>2018.416667</c:v>
              </c:pt>
              <c:pt idx="90">
                <c:v>2018.5</c:v>
              </c:pt>
              <c:pt idx="91">
                <c:v>2018.583333</c:v>
              </c:pt>
              <c:pt idx="92">
                <c:v>2018.666667</c:v>
              </c:pt>
              <c:pt idx="93">
                <c:v>2018.75</c:v>
              </c:pt>
              <c:pt idx="94">
                <c:v>2018.833333</c:v>
              </c:pt>
              <c:pt idx="95">
                <c:v>2018.916667</c:v>
              </c:pt>
              <c:pt idx="96">
                <c:v>2019</c:v>
              </c:pt>
              <c:pt idx="97">
                <c:v>2019.083333</c:v>
              </c:pt>
              <c:pt idx="98">
                <c:v>2019.166667</c:v>
              </c:pt>
              <c:pt idx="99">
                <c:v>2019.25</c:v>
              </c:pt>
              <c:pt idx="100">
                <c:v>2019.333333</c:v>
              </c:pt>
              <c:pt idx="101">
                <c:v>2019.416667</c:v>
              </c:pt>
              <c:pt idx="102">
                <c:v>2019.5</c:v>
              </c:pt>
              <c:pt idx="103">
                <c:v>2019.583333</c:v>
              </c:pt>
              <c:pt idx="104">
                <c:v>2019.666667</c:v>
              </c:pt>
              <c:pt idx="105">
                <c:v>2019.75</c:v>
              </c:pt>
              <c:pt idx="106">
                <c:v>2019.833333</c:v>
              </c:pt>
              <c:pt idx="107">
                <c:v>2019.916667</c:v>
              </c:pt>
              <c:pt idx="108">
                <c:v>2020</c:v>
              </c:pt>
              <c:pt idx="109">
                <c:v>2020.083333</c:v>
              </c:pt>
              <c:pt idx="110">
                <c:v>2020.166667</c:v>
              </c:pt>
              <c:pt idx="111">
                <c:v>2020.25</c:v>
              </c:pt>
              <c:pt idx="112">
                <c:v>2020.333333</c:v>
              </c:pt>
              <c:pt idx="113">
                <c:v>2020.416667</c:v>
              </c:pt>
              <c:pt idx="114">
                <c:v>2020.5</c:v>
              </c:pt>
              <c:pt idx="115">
                <c:v>2020.583333</c:v>
              </c:pt>
              <c:pt idx="116">
                <c:v>2020.666667</c:v>
              </c:pt>
              <c:pt idx="117">
                <c:v>2020.75</c:v>
              </c:pt>
              <c:pt idx="118">
                <c:v>2020.833333</c:v>
              </c:pt>
              <c:pt idx="119">
                <c:v>2020.916667</c:v>
              </c:pt>
              <c:pt idx="120">
                <c:v>2021</c:v>
              </c:pt>
              <c:pt idx="121">
                <c:v>2021.083333</c:v>
              </c:pt>
              <c:pt idx="122">
                <c:v>2021.166667</c:v>
              </c:pt>
              <c:pt idx="123">
                <c:v>2021.25</c:v>
              </c:pt>
              <c:pt idx="124">
                <c:v>2021.333333</c:v>
              </c:pt>
              <c:pt idx="125">
                <c:v>2021.416667</c:v>
              </c:pt>
              <c:pt idx="126">
                <c:v>2021.5</c:v>
              </c:pt>
              <c:pt idx="127">
                <c:v>2021.583333</c:v>
              </c:pt>
              <c:pt idx="128">
                <c:v>2021.666667</c:v>
              </c:pt>
              <c:pt idx="129">
                <c:v>2021.75</c:v>
              </c:pt>
              <c:pt idx="130">
                <c:v>2021.833333</c:v>
              </c:pt>
              <c:pt idx="131">
                <c:v>2021.916667</c:v>
              </c:pt>
              <c:pt idx="132">
                <c:v>2022</c:v>
              </c:pt>
              <c:pt idx="133">
                <c:v>2022.083333</c:v>
              </c:pt>
              <c:pt idx="134">
                <c:v>2022.166667</c:v>
              </c:pt>
              <c:pt idx="135">
                <c:v>2022.25</c:v>
              </c:pt>
              <c:pt idx="136">
                <c:v>2022.333333</c:v>
              </c:pt>
              <c:pt idx="137">
                <c:v>2022.416667</c:v>
              </c:pt>
              <c:pt idx="138">
                <c:v>2022.5</c:v>
              </c:pt>
              <c:pt idx="139">
                <c:v>2022.583333</c:v>
              </c:pt>
              <c:pt idx="140">
                <c:v>2022.666667</c:v>
              </c:pt>
              <c:pt idx="141">
                <c:v>2022.75</c:v>
              </c:pt>
              <c:pt idx="142">
                <c:v>2022.833333</c:v>
              </c:pt>
              <c:pt idx="143">
                <c:v>2022.916667</c:v>
              </c:pt>
              <c:pt idx="144">
                <c:v>2023</c:v>
              </c:pt>
              <c:pt idx="145">
                <c:v>2023.083333</c:v>
              </c:pt>
              <c:pt idx="146">
                <c:v>2023.166667</c:v>
              </c:pt>
              <c:pt idx="147">
                <c:v>2023.25</c:v>
              </c:pt>
              <c:pt idx="148">
                <c:v>2023.333333</c:v>
              </c:pt>
              <c:pt idx="149">
                <c:v>2023.416667</c:v>
              </c:pt>
              <c:pt idx="150">
                <c:v>2023.5</c:v>
              </c:pt>
              <c:pt idx="151">
                <c:v>2023.583333</c:v>
              </c:pt>
              <c:pt idx="152">
                <c:v>2023.666667</c:v>
              </c:pt>
              <c:pt idx="153">
                <c:v>2023.75</c:v>
              </c:pt>
              <c:pt idx="154">
                <c:v>2023.833333</c:v>
              </c:pt>
              <c:pt idx="155">
                <c:v>2023.916667</c:v>
              </c:pt>
              <c:pt idx="156">
                <c:v>2024</c:v>
              </c:pt>
              <c:pt idx="157">
                <c:v>2024.083333</c:v>
              </c:pt>
              <c:pt idx="158">
                <c:v>2024.166667</c:v>
              </c:pt>
              <c:pt idx="159">
                <c:v>2024.25</c:v>
              </c:pt>
              <c:pt idx="160">
                <c:v>2024.333333</c:v>
              </c:pt>
              <c:pt idx="161">
                <c:v>2024.416667</c:v>
              </c:pt>
              <c:pt idx="162">
                <c:v>2024.5</c:v>
              </c:pt>
              <c:pt idx="163">
                <c:v>2024.583333</c:v>
              </c:pt>
              <c:pt idx="164">
                <c:v>2024.666667</c:v>
              </c:pt>
              <c:pt idx="165">
                <c:v>2024.75</c:v>
              </c:pt>
              <c:pt idx="166">
                <c:v>2024.833333</c:v>
              </c:pt>
              <c:pt idx="167">
                <c:v>2024.916667</c:v>
              </c:pt>
              <c:pt idx="168">
                <c:v>2025</c:v>
              </c:pt>
              <c:pt idx="169">
                <c:v>2025.083333</c:v>
              </c:pt>
              <c:pt idx="170">
                <c:v>2025.166667</c:v>
              </c:pt>
              <c:pt idx="171">
                <c:v>2025.25</c:v>
              </c:pt>
              <c:pt idx="172">
                <c:v>2025.333333</c:v>
              </c:pt>
              <c:pt idx="173">
                <c:v>2025.416667</c:v>
              </c:pt>
              <c:pt idx="174">
                <c:v>2025.5</c:v>
              </c:pt>
              <c:pt idx="175">
                <c:v>2025.583333</c:v>
              </c:pt>
              <c:pt idx="176">
                <c:v>2025.666667</c:v>
              </c:pt>
              <c:pt idx="177">
                <c:v>2025.75</c:v>
              </c:pt>
              <c:pt idx="178">
                <c:v>2025.833333</c:v>
              </c:pt>
              <c:pt idx="179">
                <c:v>2025.916667</c:v>
              </c:pt>
            </c:numLit>
          </c:xVal>
          <c:yVal>
            <c:numLit>
              <c:formatCode>#,##0</c:formatCode>
              <c:ptCount val="180"/>
              <c:pt idx="0">
                <c:v>896.07487400000002</c:v>
              </c:pt>
              <c:pt idx="1">
                <c:v>912.933401</c:v>
              </c:pt>
              <c:pt idx="2">
                <c:v>926.53356900000006</c:v>
              </c:pt>
              <c:pt idx="3">
                <c:v>940.78375900000003</c:v>
              </c:pt>
              <c:pt idx="4">
                <c:v>953.11257999999998</c:v>
              </c:pt>
              <c:pt idx="5">
                <c:v>956.171606</c:v>
              </c:pt>
              <c:pt idx="6">
                <c:v>963.80533500000001</c:v>
              </c:pt>
              <c:pt idx="7">
                <c:v>968.69881099999998</c:v>
              </c:pt>
              <c:pt idx="8">
                <c:v>981.939708</c:v>
              </c:pt>
              <c:pt idx="9">
                <c:v>989.77277000000004</c:v>
              </c:pt>
              <c:pt idx="10">
                <c:v>1004.131351</c:v>
              </c:pt>
              <c:pt idx="11">
                <c:v>1012.653906</c:v>
              </c:pt>
              <c:pt idx="12">
                <c:v>1024.6267310000001</c:v>
              </c:pt>
              <c:pt idx="13">
                <c:v>1037.209357</c:v>
              </c:pt>
              <c:pt idx="14">
                <c:v>1040.9626510000001</c:v>
              </c:pt>
              <c:pt idx="15">
                <c:v>1052.6464249999999</c:v>
              </c:pt>
              <c:pt idx="16">
                <c:v>1042.697635</c:v>
              </c:pt>
              <c:pt idx="17">
                <c:v>1030.757057</c:v>
              </c:pt>
              <c:pt idx="18">
                <c:v>1030.762307</c:v>
              </c:pt>
              <c:pt idx="19">
                <c:v>1061.142533</c:v>
              </c:pt>
              <c:pt idx="20">
                <c:v>1082.6769300000001</c:v>
              </c:pt>
              <c:pt idx="21">
                <c:v>1095.772688</c:v>
              </c:pt>
              <c:pt idx="22">
                <c:v>1065.7727319999999</c:v>
              </c:pt>
              <c:pt idx="23">
                <c:v>1068.132515</c:v>
              </c:pt>
              <c:pt idx="24">
                <c:v>1080.1707839999999</c:v>
              </c:pt>
              <c:pt idx="25">
                <c:v>1112.9852370000001</c:v>
              </c:pt>
              <c:pt idx="26">
                <c:v>1096.7500090000001</c:v>
              </c:pt>
              <c:pt idx="27">
                <c:v>1093.8098729999999</c:v>
              </c:pt>
              <c:pt idx="28">
                <c:v>1104.5038520000001</c:v>
              </c:pt>
              <c:pt idx="29">
                <c:v>1115.2718</c:v>
              </c:pt>
              <c:pt idx="30">
                <c:v>1125.4893930000001</c:v>
              </c:pt>
              <c:pt idx="31">
                <c:v>1134.863355</c:v>
              </c:pt>
              <c:pt idx="32">
                <c:v>1135.9148439999999</c:v>
              </c:pt>
              <c:pt idx="33">
                <c:v>1129.5742110000001</c:v>
              </c:pt>
              <c:pt idx="34">
                <c:v>1140.6034629999999</c:v>
              </c:pt>
              <c:pt idx="35">
                <c:v>1158.7717829999999</c:v>
              </c:pt>
              <c:pt idx="36">
                <c:v>1170.4698060000001</c:v>
              </c:pt>
              <c:pt idx="37">
                <c:v>1166.1911789999999</c:v>
              </c:pt>
              <c:pt idx="38">
                <c:v>1184.8136629999999</c:v>
              </c:pt>
              <c:pt idx="39">
                <c:v>1196.618101</c:v>
              </c:pt>
              <c:pt idx="40">
                <c:v>1210.7465999999999</c:v>
              </c:pt>
              <c:pt idx="41">
                <c:v>1213.8288749999999</c:v>
              </c:pt>
              <c:pt idx="42">
                <c:v>1221.2449959999999</c:v>
              </c:pt>
              <c:pt idx="43">
                <c:v>1220.0416190000001</c:v>
              </c:pt>
              <c:pt idx="44">
                <c:v>1218.1457479999999</c:v>
              </c:pt>
              <c:pt idx="45">
                <c:v>1219.9619250000001</c:v>
              </c:pt>
              <c:pt idx="46">
                <c:v>1218.1469729999999</c:v>
              </c:pt>
              <c:pt idx="47">
                <c:v>1213.6004929999999</c:v>
              </c:pt>
              <c:pt idx="48">
                <c:v>1174.4951020000001</c:v>
              </c:pt>
              <c:pt idx="49">
                <c:v>1187.5886109999999</c:v>
              </c:pt>
              <c:pt idx="50">
                <c:v>1190.5794679999999</c:v>
              </c:pt>
              <c:pt idx="51">
                <c:v>1198.458001</c:v>
              </c:pt>
              <c:pt idx="52">
                <c:v>1219.0390749999999</c:v>
              </c:pt>
              <c:pt idx="53">
                <c:v>1219.0111280000001</c:v>
              </c:pt>
              <c:pt idx="54">
                <c:v>1230.500542</c:v>
              </c:pt>
              <c:pt idx="55">
                <c:v>1230.423098</c:v>
              </c:pt>
              <c:pt idx="56">
                <c:v>1221.361161</c:v>
              </c:pt>
              <c:pt idx="57">
                <c:v>1225.7927</c:v>
              </c:pt>
              <c:pt idx="58">
                <c:v>1225.62084</c:v>
              </c:pt>
              <c:pt idx="59">
                <c:v>1223.161865</c:v>
              </c:pt>
              <c:pt idx="60">
                <c:v>1215.990074</c:v>
              </c:pt>
              <c:pt idx="61">
                <c:v>1206.286364</c:v>
              </c:pt>
              <c:pt idx="62">
                <c:v>1219.3524</c:v>
              </c:pt>
              <c:pt idx="63">
                <c:v>1240.988713</c:v>
              </c:pt>
              <c:pt idx="64">
                <c:v>1252.880345</c:v>
              </c:pt>
              <c:pt idx="65">
                <c:v>1268.41858</c:v>
              </c:pt>
              <c:pt idx="66">
                <c:v>1266.4734880000001</c:v>
              </c:pt>
              <c:pt idx="67">
                <c:v>1274.4452140000001</c:v>
              </c:pt>
              <c:pt idx="68">
                <c:v>1285.4507430000001</c:v>
              </c:pt>
              <c:pt idx="69">
                <c:v>1299.4713260000001</c:v>
              </c:pt>
              <c:pt idx="70">
                <c:v>1318.7765529999999</c:v>
              </c:pt>
              <c:pt idx="71">
                <c:v>1359.015576</c:v>
              </c:pt>
              <c:pt idx="72">
                <c:v>1378.333828</c:v>
              </c:pt>
              <c:pt idx="73">
                <c:v>1383.667968</c:v>
              </c:pt>
              <c:pt idx="74">
                <c:v>1378.973626</c:v>
              </c:pt>
              <c:pt idx="75">
                <c:v>1384.1461300000001</c:v>
              </c:pt>
              <c:pt idx="76">
                <c:v>1380.530749</c:v>
              </c:pt>
              <c:pt idx="77">
                <c:v>1380.000642</c:v>
              </c:pt>
              <c:pt idx="78">
                <c:v>1387.94462</c:v>
              </c:pt>
              <c:pt idx="79">
                <c:v>1406.5241570000001</c:v>
              </c:pt>
              <c:pt idx="80">
                <c:v>1421.991223</c:v>
              </c:pt>
              <c:pt idx="81">
                <c:v>1428.8205170000001</c:v>
              </c:pt>
              <c:pt idx="82">
                <c:v>1455.8196680000001</c:v>
              </c:pt>
              <c:pt idx="83">
                <c:v>1455.97558</c:v>
              </c:pt>
              <c:pt idx="84">
                <c:v>1484.088941</c:v>
              </c:pt>
              <c:pt idx="85">
                <c:v>1500.13131</c:v>
              </c:pt>
              <c:pt idx="86">
                <c:v>1489.563995</c:v>
              </c:pt>
              <c:pt idx="87">
                <c:v>1502.58456</c:v>
              </c:pt>
              <c:pt idx="88">
                <c:v>1525.2401150000001</c:v>
              </c:pt>
              <c:pt idx="89">
                <c:v>1527.4645089999999</c:v>
              </c:pt>
              <c:pt idx="90">
                <c:v>1533.6742529999999</c:v>
              </c:pt>
              <c:pt idx="91">
                <c:v>1545.9053819999999</c:v>
              </c:pt>
              <c:pt idx="92">
                <c:v>1552.6432580000001</c:v>
              </c:pt>
              <c:pt idx="93">
                <c:v>1562.2905229999999</c:v>
              </c:pt>
              <c:pt idx="94">
                <c:v>1548.4146029999999</c:v>
              </c:pt>
              <c:pt idx="95">
                <c:v>1550.596526</c:v>
              </c:pt>
              <c:pt idx="96">
                <c:v>1534.0852709999999</c:v>
              </c:pt>
              <c:pt idx="97">
                <c:v>1550.8313820000001</c:v>
              </c:pt>
              <c:pt idx="98">
                <c:v>1569.9545250000001</c:v>
              </c:pt>
              <c:pt idx="99">
                <c:v>1594.8077510000001</c:v>
              </c:pt>
              <c:pt idx="100">
                <c:v>1601.9378200000001</c:v>
              </c:pt>
              <c:pt idx="101">
                <c:v>1593.722039</c:v>
              </c:pt>
              <c:pt idx="102">
                <c:v>1610.532845</c:v>
              </c:pt>
              <c:pt idx="103">
                <c:v>1609.1181349999999</c:v>
              </c:pt>
              <c:pt idx="104">
                <c:v>1611.5481380000001</c:v>
              </c:pt>
              <c:pt idx="105">
                <c:v>1628.1758339999999</c:v>
              </c:pt>
              <c:pt idx="106">
                <c:v>1650.8821089999999</c:v>
              </c:pt>
              <c:pt idx="107">
                <c:v>1657.7921220000001</c:v>
              </c:pt>
              <c:pt idx="108">
                <c:v>1673.7830200000001</c:v>
              </c:pt>
              <c:pt idx="109">
                <c:v>1677.044654</c:v>
              </c:pt>
              <c:pt idx="110">
                <c:v>1622.939936</c:v>
              </c:pt>
              <c:pt idx="111">
                <c:v>1561.566959</c:v>
              </c:pt>
              <c:pt idx="112">
                <c:v>1570.6493439999999</c:v>
              </c:pt>
              <c:pt idx="113">
                <c:v>1619.0284790000001</c:v>
              </c:pt>
              <c:pt idx="114">
                <c:v>1637.442155</c:v>
              </c:pt>
              <c:pt idx="115">
                <c:v>1661.522444</c:v>
              </c:pt>
              <c:pt idx="116">
                <c:v>1689.4144470000001</c:v>
              </c:pt>
              <c:pt idx="117">
                <c:v>1695.595219</c:v>
              </c:pt>
              <c:pt idx="118">
                <c:v>1697.0334519999999</c:v>
              </c:pt>
              <c:pt idx="119">
                <c:v>1698.086992</c:v>
              </c:pt>
              <c:pt idx="120">
                <c:v>1706.924847</c:v>
              </c:pt>
              <c:pt idx="121">
                <c:v>1727.2431180000001</c:v>
              </c:pt>
              <c:pt idx="122">
                <c:v>1763.3966479999999</c:v>
              </c:pt>
              <c:pt idx="123">
                <c:v>1801.7388510000001</c:v>
              </c:pt>
              <c:pt idx="124">
                <c:v>1835.365988</c:v>
              </c:pt>
              <c:pt idx="125">
                <c:v>1890.7148549999999</c:v>
              </c:pt>
              <c:pt idx="126">
                <c:v>1904.167635</c:v>
              </c:pt>
              <c:pt idx="127">
                <c:v>1920.8765249999999</c:v>
              </c:pt>
              <c:pt idx="128">
                <c:v>1940.910519</c:v>
              </c:pt>
              <c:pt idx="129">
                <c:v>1988.7363740000001</c:v>
              </c:pt>
              <c:pt idx="130">
                <c:v>2035.5739349999999</c:v>
              </c:pt>
              <c:pt idx="131">
                <c:v>2075.0213480000002</c:v>
              </c:pt>
              <c:pt idx="132">
                <c:v>2100.8981159999998</c:v>
              </c:pt>
              <c:pt idx="133">
                <c:v>2133.4940120000001</c:v>
              </c:pt>
              <c:pt idx="134">
                <c:v>2185.502853</c:v>
              </c:pt>
              <c:pt idx="135">
                <c:v>2202.6459319999999</c:v>
              </c:pt>
              <c:pt idx="136">
                <c:v>2255.6292920000001</c:v>
              </c:pt>
              <c:pt idx="137">
                <c:v>2312.8636069999998</c:v>
              </c:pt>
              <c:pt idx="138">
                <c:v>2313.440685</c:v>
              </c:pt>
              <c:pt idx="139">
                <c:v>2324.4906599999999</c:v>
              </c:pt>
              <c:pt idx="140">
                <c:v>2349.947212</c:v>
              </c:pt>
              <c:pt idx="141">
                <c:v>2378.9969219999998</c:v>
              </c:pt>
              <c:pt idx="142">
                <c:v>2396.5964140000001</c:v>
              </c:pt>
              <c:pt idx="143">
                <c:v>2389.2422630000001</c:v>
              </c:pt>
              <c:pt idx="144">
                <c:v>2422.0814639999999</c:v>
              </c:pt>
              <c:pt idx="145">
                <c:v>2444.423769</c:v>
              </c:pt>
              <c:pt idx="146">
                <c:v>2448.5173110000001</c:v>
              </c:pt>
              <c:pt idx="147">
                <c:v>2464.2769029999999</c:v>
              </c:pt>
              <c:pt idx="148">
                <c:v>2475.155017</c:v>
              </c:pt>
              <c:pt idx="149">
                <c:v>2494.4507709999998</c:v>
              </c:pt>
              <c:pt idx="150">
                <c:v>2509.6747310000001</c:v>
              </c:pt>
              <c:pt idx="151">
                <c:v>2535.9609399999999</c:v>
              </c:pt>
              <c:pt idx="152">
                <c:v>2557.347949</c:v>
              </c:pt>
              <c:pt idx="153">
                <c:v>2565.2012589999999</c:v>
              </c:pt>
              <c:pt idx="154">
                <c:v>2573.4440380000001</c:v>
              </c:pt>
              <c:pt idx="155">
                <c:v>2589.9837910000001</c:v>
              </c:pt>
              <c:pt idx="156">
                <c:v>2600.7817369999998</c:v>
              </c:pt>
              <c:pt idx="157">
                <c:v>2623.567982</c:v>
              </c:pt>
              <c:pt idx="158">
                <c:v>2646.9820249999998</c:v>
              </c:pt>
              <c:pt idx="159">
                <c:v>2664.6119899999999</c:v>
              </c:pt>
              <c:pt idx="160">
                <c:v>2670.8582059999999</c:v>
              </c:pt>
              <c:pt idx="161">
                <c:v>2672.0093619999998</c:v>
              </c:pt>
              <c:pt idx="162">
                <c:v>2690.9066480000001</c:v>
              </c:pt>
              <c:pt idx="163">
                <c:v>2690.6723419999998</c:v>
              </c:pt>
              <c:pt idx="164">
                <c:v>2704.7011750000001</c:v>
              </c:pt>
              <c:pt idx="165">
                <c:v>2731.0220810000001</c:v>
              </c:pt>
              <c:pt idx="166">
                <c:v>2779.1433870000001</c:v>
              </c:pt>
              <c:pt idx="167">
                <c:v>2813.4537420000001</c:v>
              </c:pt>
              <c:pt idx="168">
                <c:v>2830.9805660000002</c:v>
              </c:pt>
              <c:pt idx="169">
                <c:v>2836.7266730000001</c:v>
              </c:pt>
              <c:pt idx="170">
                <c:v>2825.8540840000001</c:v>
              </c:pt>
              <c:pt idx="171">
                <c:v>2829.8032370000001</c:v>
              </c:pt>
              <c:pt idx="172">
                <c:v>2847.4456749999999</c:v>
              </c:pt>
              <c:pt idx="173">
                <c:v>2862.5699690000001</c:v>
              </c:pt>
              <c:pt idx="174">
                <c:v>2883.5345109999998</c:v>
              </c:pt>
              <c:pt idx="175">
                <c:v>2907.2388310000001</c:v>
              </c:pt>
              <c:pt idx="176">
                <c:v>2917.998055</c:v>
              </c:pt>
              <c:pt idx="177">
                <c:v>2923.798358</c:v>
              </c:pt>
              <c:pt idx="178">
                <c:v>2934.6317509999999</c:v>
              </c:pt>
              <c:pt idx="179">
                <c:v>2955.381961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1-3389-F842-ADD0-EFF775476F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D9E2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3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Fee revenue (source units)</a:t>
                </a:r>
              </a:p>
            </c:rich>
          </c:tx>
          <c:overlay val="0"/>
        </c:title>
        <c:numFmt formatCode="#,##0" sourceLinked="0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2026"/>
          <c:min val="2011"/>
        </c:scaling>
        <c:delete val="0"/>
        <c:axPos val="b"/>
        <c:numFmt formatCode="0" sourceLinked="0"/>
        <c:majorTickMark val="none"/>
        <c:minorTickMark val="none"/>
        <c:tickLblPos val="nextTo"/>
        <c:spPr>
          <a:ln w="9525">
            <a:solidFill>
              <a:srgbClr val="D9E2E8"/>
            </a:solidFill>
          </a:ln>
        </c:spPr>
        <c:txPr>
          <a:bodyPr anchorCtr="1"/>
          <a:lstStyle/>
          <a:p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2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425">
              <a:solidFill>
                <a:srgbClr val="252F38"/>
              </a:solidFill>
              <a:latin typeface="Arial"/>
              <a:ea typeface="Arial"/>
              <a:cs typeface="Arial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en" sz="1725">
                <a:solidFill>
                  <a:srgbClr val="252F38"/>
                </a:solidFill>
                <a:latin typeface="Arial"/>
                <a:ea typeface="Arial"/>
                <a:cs typeface="Arial"/>
              </a:rPr>
              <a:t>CPI coefficient</a:t>
            </a:r>
          </a:p>
        </c:rich>
      </c:tx>
      <c:overlay val="0"/>
    </c:title>
    <c:autoTitleDeleted val="0"/>
    <c:plotArea>
      <c:layout/>
      <c:scatterChart>
        <c:scatterStyle val="lineMarker"/>
        <c:varyColors val="1"/>
        <c:ser>
          <c:idx val="0"/>
          <c:order val="0"/>
          <c:tx>
            <c:v>CPI</c:v>
          </c:tx>
          <c:spPr>
            <a:ln w="23813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151"/>
              <c:pt idx="0">
                <c:v>2013.416667</c:v>
              </c:pt>
              <c:pt idx="1">
                <c:v>2013.5</c:v>
              </c:pt>
              <c:pt idx="2">
                <c:v>2013.583333</c:v>
              </c:pt>
              <c:pt idx="3">
                <c:v>2013.666667</c:v>
              </c:pt>
              <c:pt idx="4">
                <c:v>2013.75</c:v>
              </c:pt>
              <c:pt idx="5">
                <c:v>2013.833333</c:v>
              </c:pt>
              <c:pt idx="6">
                <c:v>2013.916667</c:v>
              </c:pt>
              <c:pt idx="7">
                <c:v>2014</c:v>
              </c:pt>
              <c:pt idx="8">
                <c:v>2014.083333</c:v>
              </c:pt>
              <c:pt idx="9">
                <c:v>2014.166667</c:v>
              </c:pt>
              <c:pt idx="10">
                <c:v>2014.25</c:v>
              </c:pt>
              <c:pt idx="11">
                <c:v>2014.333333</c:v>
              </c:pt>
              <c:pt idx="12">
                <c:v>2014.416667</c:v>
              </c:pt>
              <c:pt idx="13">
                <c:v>2014.5</c:v>
              </c:pt>
              <c:pt idx="14">
                <c:v>2014.583333</c:v>
              </c:pt>
              <c:pt idx="15">
                <c:v>2014.666667</c:v>
              </c:pt>
              <c:pt idx="16">
                <c:v>2014.75</c:v>
              </c:pt>
              <c:pt idx="17">
                <c:v>2014.833333</c:v>
              </c:pt>
              <c:pt idx="18">
                <c:v>2014.916667</c:v>
              </c:pt>
              <c:pt idx="19">
                <c:v>2015</c:v>
              </c:pt>
              <c:pt idx="20">
                <c:v>2015.083333</c:v>
              </c:pt>
              <c:pt idx="21">
                <c:v>2015.166667</c:v>
              </c:pt>
              <c:pt idx="22">
                <c:v>2015.25</c:v>
              </c:pt>
              <c:pt idx="23">
                <c:v>2015.333333</c:v>
              </c:pt>
              <c:pt idx="24">
                <c:v>2015.416667</c:v>
              </c:pt>
              <c:pt idx="25">
                <c:v>2015.5</c:v>
              </c:pt>
              <c:pt idx="26">
                <c:v>2015.583333</c:v>
              </c:pt>
              <c:pt idx="27">
                <c:v>2015.666667</c:v>
              </c:pt>
              <c:pt idx="28">
                <c:v>2015.75</c:v>
              </c:pt>
              <c:pt idx="29">
                <c:v>2015.833333</c:v>
              </c:pt>
              <c:pt idx="30">
                <c:v>2015.916667</c:v>
              </c:pt>
              <c:pt idx="31">
                <c:v>2016</c:v>
              </c:pt>
              <c:pt idx="32">
                <c:v>2016.083333</c:v>
              </c:pt>
              <c:pt idx="33">
                <c:v>2016.166667</c:v>
              </c:pt>
              <c:pt idx="34">
                <c:v>2016.25</c:v>
              </c:pt>
              <c:pt idx="35">
                <c:v>2016.333333</c:v>
              </c:pt>
              <c:pt idx="36">
                <c:v>2016.416667</c:v>
              </c:pt>
              <c:pt idx="37">
                <c:v>2016.5</c:v>
              </c:pt>
              <c:pt idx="38">
                <c:v>2016.583333</c:v>
              </c:pt>
              <c:pt idx="39">
                <c:v>2016.666667</c:v>
              </c:pt>
              <c:pt idx="40">
                <c:v>2016.75</c:v>
              </c:pt>
              <c:pt idx="41">
                <c:v>2016.833333</c:v>
              </c:pt>
              <c:pt idx="42">
                <c:v>2016.916667</c:v>
              </c:pt>
              <c:pt idx="43">
                <c:v>2017</c:v>
              </c:pt>
              <c:pt idx="44">
                <c:v>2017.083333</c:v>
              </c:pt>
              <c:pt idx="45">
                <c:v>2017.166667</c:v>
              </c:pt>
              <c:pt idx="46">
                <c:v>2017.25</c:v>
              </c:pt>
              <c:pt idx="47">
                <c:v>2017.333333</c:v>
              </c:pt>
              <c:pt idx="48">
                <c:v>2017.416667</c:v>
              </c:pt>
              <c:pt idx="49">
                <c:v>2017.5</c:v>
              </c:pt>
              <c:pt idx="50">
                <c:v>2017.583333</c:v>
              </c:pt>
              <c:pt idx="51">
                <c:v>2017.666667</c:v>
              </c:pt>
              <c:pt idx="52">
                <c:v>2017.75</c:v>
              </c:pt>
              <c:pt idx="53">
                <c:v>2017.833333</c:v>
              </c:pt>
              <c:pt idx="54">
                <c:v>2017.916667</c:v>
              </c:pt>
              <c:pt idx="55">
                <c:v>2018</c:v>
              </c:pt>
              <c:pt idx="56">
                <c:v>2018.083333</c:v>
              </c:pt>
              <c:pt idx="57">
                <c:v>2018.166667</c:v>
              </c:pt>
              <c:pt idx="58">
                <c:v>2018.25</c:v>
              </c:pt>
              <c:pt idx="59">
                <c:v>2018.333333</c:v>
              </c:pt>
              <c:pt idx="60">
                <c:v>2018.416667</c:v>
              </c:pt>
              <c:pt idx="61">
                <c:v>2018.5</c:v>
              </c:pt>
              <c:pt idx="62">
                <c:v>2018.583333</c:v>
              </c:pt>
              <c:pt idx="63">
                <c:v>2018.666667</c:v>
              </c:pt>
              <c:pt idx="64">
                <c:v>2018.75</c:v>
              </c:pt>
              <c:pt idx="65">
                <c:v>2018.833333</c:v>
              </c:pt>
              <c:pt idx="66">
                <c:v>2018.916667</c:v>
              </c:pt>
              <c:pt idx="67">
                <c:v>2019</c:v>
              </c:pt>
              <c:pt idx="68">
                <c:v>2019.083333</c:v>
              </c:pt>
              <c:pt idx="69">
                <c:v>2019.166667</c:v>
              </c:pt>
              <c:pt idx="70">
                <c:v>2019.25</c:v>
              </c:pt>
              <c:pt idx="71">
                <c:v>2019.333333</c:v>
              </c:pt>
              <c:pt idx="72">
                <c:v>2019.416667</c:v>
              </c:pt>
              <c:pt idx="73">
                <c:v>2019.5</c:v>
              </c:pt>
              <c:pt idx="74">
                <c:v>2019.583333</c:v>
              </c:pt>
              <c:pt idx="75">
                <c:v>2019.666667</c:v>
              </c:pt>
              <c:pt idx="76">
                <c:v>2019.75</c:v>
              </c:pt>
              <c:pt idx="77">
                <c:v>2019.833333</c:v>
              </c:pt>
              <c:pt idx="78">
                <c:v>2019.916667</c:v>
              </c:pt>
              <c:pt idx="79">
                <c:v>2020</c:v>
              </c:pt>
              <c:pt idx="80">
                <c:v>2020.083333</c:v>
              </c:pt>
              <c:pt idx="81">
                <c:v>2020.166667</c:v>
              </c:pt>
              <c:pt idx="82">
                <c:v>2020.25</c:v>
              </c:pt>
              <c:pt idx="83">
                <c:v>2020.333333</c:v>
              </c:pt>
              <c:pt idx="84">
                <c:v>2020.416667</c:v>
              </c:pt>
              <c:pt idx="85">
                <c:v>2020.5</c:v>
              </c:pt>
              <c:pt idx="86">
                <c:v>2020.583333</c:v>
              </c:pt>
              <c:pt idx="87">
                <c:v>2020.666667</c:v>
              </c:pt>
              <c:pt idx="88">
                <c:v>2020.75</c:v>
              </c:pt>
              <c:pt idx="89">
                <c:v>2020.833333</c:v>
              </c:pt>
              <c:pt idx="90">
                <c:v>2020.916667</c:v>
              </c:pt>
              <c:pt idx="91">
                <c:v>2021</c:v>
              </c:pt>
              <c:pt idx="92">
                <c:v>2021.083333</c:v>
              </c:pt>
              <c:pt idx="93">
                <c:v>2021.166667</c:v>
              </c:pt>
              <c:pt idx="94">
                <c:v>2021.25</c:v>
              </c:pt>
              <c:pt idx="95">
                <c:v>2021.333333</c:v>
              </c:pt>
              <c:pt idx="96">
                <c:v>2021.416667</c:v>
              </c:pt>
              <c:pt idx="97">
                <c:v>2021.5</c:v>
              </c:pt>
              <c:pt idx="98">
                <c:v>2021.583333</c:v>
              </c:pt>
              <c:pt idx="99">
                <c:v>2021.666667</c:v>
              </c:pt>
              <c:pt idx="100">
                <c:v>2021.75</c:v>
              </c:pt>
              <c:pt idx="101">
                <c:v>2021.833333</c:v>
              </c:pt>
              <c:pt idx="102">
                <c:v>2021.916667</c:v>
              </c:pt>
              <c:pt idx="103">
                <c:v>2022</c:v>
              </c:pt>
              <c:pt idx="104">
                <c:v>2022.083333</c:v>
              </c:pt>
              <c:pt idx="105">
                <c:v>2022.166667</c:v>
              </c:pt>
              <c:pt idx="106">
                <c:v>2022.25</c:v>
              </c:pt>
              <c:pt idx="107">
                <c:v>2022.333333</c:v>
              </c:pt>
              <c:pt idx="108">
                <c:v>2022.416667</c:v>
              </c:pt>
              <c:pt idx="109">
                <c:v>2022.5</c:v>
              </c:pt>
              <c:pt idx="110">
                <c:v>2022.583333</c:v>
              </c:pt>
              <c:pt idx="111">
                <c:v>2022.666667</c:v>
              </c:pt>
              <c:pt idx="112">
                <c:v>2022.75</c:v>
              </c:pt>
              <c:pt idx="113">
                <c:v>2022.833333</c:v>
              </c:pt>
              <c:pt idx="114">
                <c:v>2022.916667</c:v>
              </c:pt>
              <c:pt idx="115">
                <c:v>2023</c:v>
              </c:pt>
              <c:pt idx="116">
                <c:v>2023.083333</c:v>
              </c:pt>
              <c:pt idx="117">
                <c:v>2023.166667</c:v>
              </c:pt>
              <c:pt idx="118">
                <c:v>2023.25</c:v>
              </c:pt>
              <c:pt idx="119">
                <c:v>2023.333333</c:v>
              </c:pt>
              <c:pt idx="120">
                <c:v>2023.416667</c:v>
              </c:pt>
              <c:pt idx="121">
                <c:v>2023.5</c:v>
              </c:pt>
              <c:pt idx="122">
                <c:v>2023.583333</c:v>
              </c:pt>
              <c:pt idx="123">
                <c:v>2023.666667</c:v>
              </c:pt>
              <c:pt idx="124">
                <c:v>2023.75</c:v>
              </c:pt>
              <c:pt idx="125">
                <c:v>2023.833333</c:v>
              </c:pt>
              <c:pt idx="126">
                <c:v>2023.916667</c:v>
              </c:pt>
              <c:pt idx="127">
                <c:v>2024</c:v>
              </c:pt>
              <c:pt idx="128">
                <c:v>2024.083333</c:v>
              </c:pt>
              <c:pt idx="129">
                <c:v>2024.166667</c:v>
              </c:pt>
              <c:pt idx="130">
                <c:v>2024.25</c:v>
              </c:pt>
              <c:pt idx="131">
                <c:v>2024.333333</c:v>
              </c:pt>
              <c:pt idx="132">
                <c:v>2024.416667</c:v>
              </c:pt>
              <c:pt idx="133">
                <c:v>2024.5</c:v>
              </c:pt>
              <c:pt idx="134">
                <c:v>2024.583333</c:v>
              </c:pt>
              <c:pt idx="135">
                <c:v>2024.666667</c:v>
              </c:pt>
              <c:pt idx="136">
                <c:v>2024.75</c:v>
              </c:pt>
              <c:pt idx="137">
                <c:v>2024.833333</c:v>
              </c:pt>
              <c:pt idx="138">
                <c:v>2024.916667</c:v>
              </c:pt>
              <c:pt idx="139">
                <c:v>2025</c:v>
              </c:pt>
              <c:pt idx="140">
                <c:v>2025.083333</c:v>
              </c:pt>
              <c:pt idx="141">
                <c:v>2025.166667</c:v>
              </c:pt>
              <c:pt idx="142">
                <c:v>2025.25</c:v>
              </c:pt>
              <c:pt idx="143">
                <c:v>2025.333333</c:v>
              </c:pt>
              <c:pt idx="144">
                <c:v>2025.416667</c:v>
              </c:pt>
              <c:pt idx="145">
                <c:v>2025.5</c:v>
              </c:pt>
              <c:pt idx="146">
                <c:v>2025.583333</c:v>
              </c:pt>
              <c:pt idx="147">
                <c:v>2025.666667</c:v>
              </c:pt>
              <c:pt idx="148">
                <c:v>2025.75</c:v>
              </c:pt>
              <c:pt idx="149">
                <c:v>2025.833333</c:v>
              </c:pt>
              <c:pt idx="150">
                <c:v>2025.916667</c:v>
              </c:pt>
            </c:numLit>
          </c:xVal>
          <c:yVal>
            <c:numLit>
              <c:formatCode>#,##0</c:formatCode>
              <c:ptCount val="151"/>
              <c:pt idx="0">
                <c:v>13.980406</c:v>
              </c:pt>
              <c:pt idx="1">
                <c:v>10.966827</c:v>
              </c:pt>
              <c:pt idx="2">
                <c:v>5.6718500000000001</c:v>
              </c:pt>
              <c:pt idx="3">
                <c:v>8.0023409999999995</c:v>
              </c:pt>
              <c:pt idx="4">
                <c:v>11.311202</c:v>
              </c:pt>
              <c:pt idx="5">
                <c:v>12.822177999999999</c:v>
              </c:pt>
              <c:pt idx="6">
                <c:v>14.065026</c:v>
              </c:pt>
              <c:pt idx="7">
                <c:v>11.298018000000001</c:v>
              </c:pt>
              <c:pt idx="8">
                <c:v>11.865097</c:v>
              </c:pt>
              <c:pt idx="9">
                <c:v>12.330990999999999</c:v>
              </c:pt>
              <c:pt idx="10">
                <c:v>13.910235</c:v>
              </c:pt>
              <c:pt idx="11">
                <c:v>13.289638</c:v>
              </c:pt>
              <c:pt idx="12">
                <c:v>12.644762999999999</c:v>
              </c:pt>
              <c:pt idx="13">
                <c:v>12.784818</c:v>
              </c:pt>
              <c:pt idx="14">
                <c:v>8.664104</c:v>
              </c:pt>
              <c:pt idx="15">
                <c:v>8.5075959999999995</c:v>
              </c:pt>
              <c:pt idx="16">
                <c:v>9.0958360000000003</c:v>
              </c:pt>
              <c:pt idx="17">
                <c:v>12.370979999999999</c:v>
              </c:pt>
              <c:pt idx="18">
                <c:v>12.120279</c:v>
              </c:pt>
              <c:pt idx="19">
                <c:v>19.151152</c:v>
              </c:pt>
              <c:pt idx="20">
                <c:v>26.380481</c:v>
              </c:pt>
              <c:pt idx="21">
                <c:v>26.082303</c:v>
              </c:pt>
              <c:pt idx="22">
                <c:v>30.612684000000002</c:v>
              </c:pt>
              <c:pt idx="23">
                <c:v>30.716146999999999</c:v>
              </c:pt>
              <c:pt idx="24">
                <c:v>39.543658999999998</c:v>
              </c:pt>
              <c:pt idx="25">
                <c:v>41.198644999999999</c:v>
              </c:pt>
              <c:pt idx="26">
                <c:v>39.446846000000001</c:v>
              </c:pt>
              <c:pt idx="27">
                <c:v>40.695245</c:v>
              </c:pt>
              <c:pt idx="28">
                <c:v>44.101697000000001</c:v>
              </c:pt>
              <c:pt idx="29">
                <c:v>43.079121999999998</c:v>
              </c:pt>
              <c:pt idx="30">
                <c:v>38.052477000000003</c:v>
              </c:pt>
              <c:pt idx="31">
                <c:v>38.139820999999998</c:v>
              </c:pt>
              <c:pt idx="32">
                <c:v>33.807274</c:v>
              </c:pt>
              <c:pt idx="33">
                <c:v>38.368889000000003</c:v>
              </c:pt>
              <c:pt idx="34">
                <c:v>45.584619000000004</c:v>
              </c:pt>
              <c:pt idx="35">
                <c:v>46.512504999999997</c:v>
              </c:pt>
              <c:pt idx="36">
                <c:v>40.610308000000003</c:v>
              </c:pt>
              <c:pt idx="37">
                <c:v>25.429755</c:v>
              </c:pt>
              <c:pt idx="38">
                <c:v>16.792755</c:v>
              </c:pt>
              <c:pt idx="39">
                <c:v>7.4505840000000001</c:v>
              </c:pt>
              <c:pt idx="40">
                <c:v>-0.224743</c:v>
              </c:pt>
              <c:pt idx="41">
                <c:v>-5.7379959999999999</c:v>
              </c:pt>
              <c:pt idx="42">
                <c:v>0.16606399999999999</c:v>
              </c:pt>
              <c:pt idx="43">
                <c:v>2.2522470000000001</c:v>
              </c:pt>
              <c:pt idx="44">
                <c:v>0.80712899999999999</c:v>
              </c:pt>
              <c:pt idx="45">
                <c:v>2.6699090000000001</c:v>
              </c:pt>
              <c:pt idx="46">
                <c:v>1.881915</c:v>
              </c:pt>
              <c:pt idx="47">
                <c:v>1.7924180000000001</c:v>
              </c:pt>
              <c:pt idx="48">
                <c:v>5.625362</c:v>
              </c:pt>
              <c:pt idx="49">
                <c:v>-0.95769599999999999</c:v>
              </c:pt>
              <c:pt idx="50">
                <c:v>-9.9797410000000006</c:v>
              </c:pt>
              <c:pt idx="51">
                <c:v>-6.2744210000000002</c:v>
              </c:pt>
              <c:pt idx="52">
                <c:v>4.2997360000000002</c:v>
              </c:pt>
              <c:pt idx="53">
                <c:v>4.4417350000000004</c:v>
              </c:pt>
              <c:pt idx="54">
                <c:v>11.074187999999999</c:v>
              </c:pt>
              <c:pt idx="55">
                <c:v>16.075313000000001</c:v>
              </c:pt>
              <c:pt idx="56">
                <c:v>15.631424000000001</c:v>
              </c:pt>
              <c:pt idx="57">
                <c:v>30.171897000000001</c:v>
              </c:pt>
              <c:pt idx="58">
                <c:v>31.845829999999999</c:v>
              </c:pt>
              <c:pt idx="59">
                <c:v>36.785134999999997</c:v>
              </c:pt>
              <c:pt idx="60">
                <c:v>38.080565999999997</c:v>
              </c:pt>
              <c:pt idx="61">
                <c:v>36.990200999999999</c:v>
              </c:pt>
              <c:pt idx="62">
                <c:v>41.336865000000003</c:v>
              </c:pt>
              <c:pt idx="63">
                <c:v>44.418135999999997</c:v>
              </c:pt>
              <c:pt idx="64">
                <c:v>43.514266999999997</c:v>
              </c:pt>
              <c:pt idx="65">
                <c:v>39.419846999999997</c:v>
              </c:pt>
              <c:pt idx="66">
                <c:v>40.185879</c:v>
              </c:pt>
              <c:pt idx="67">
                <c:v>37.450138000000003</c:v>
              </c:pt>
              <c:pt idx="68">
                <c:v>35.508609</c:v>
              </c:pt>
              <c:pt idx="69">
                <c:v>39.701416000000002</c:v>
              </c:pt>
              <c:pt idx="70">
                <c:v>36.519632999999999</c:v>
              </c:pt>
              <c:pt idx="71">
                <c:v>35.84131</c:v>
              </c:pt>
              <c:pt idx="72">
                <c:v>36.872011000000001</c:v>
              </c:pt>
              <c:pt idx="73">
                <c:v>35.318047999999997</c:v>
              </c:pt>
              <c:pt idx="74">
                <c:v>35.482393000000002</c:v>
              </c:pt>
              <c:pt idx="75">
                <c:v>36.257137999999998</c:v>
              </c:pt>
              <c:pt idx="76">
                <c:v>33.696235000000001</c:v>
              </c:pt>
              <c:pt idx="77">
                <c:v>33.899962000000002</c:v>
              </c:pt>
              <c:pt idx="78">
                <c:v>30.806853</c:v>
              </c:pt>
              <c:pt idx="79">
                <c:v>28.370920000000002</c:v>
              </c:pt>
              <c:pt idx="80">
                <c:v>27.900558</c:v>
              </c:pt>
              <c:pt idx="81">
                <c:v>24.252272999999999</c:v>
              </c:pt>
              <c:pt idx="82">
                <c:v>30.921939999999999</c:v>
              </c:pt>
              <c:pt idx="83">
                <c:v>28.192208000000001</c:v>
              </c:pt>
              <c:pt idx="84">
                <c:v>24.832377999999999</c:v>
              </c:pt>
              <c:pt idx="85">
                <c:v>21.443577999999999</c:v>
              </c:pt>
              <c:pt idx="86">
                <c:v>14.885265</c:v>
              </c:pt>
              <c:pt idx="87">
                <c:v>17.972564999999999</c:v>
              </c:pt>
              <c:pt idx="88">
                <c:v>14.281981999999999</c:v>
              </c:pt>
              <c:pt idx="89">
                <c:v>15.439548</c:v>
              </c:pt>
              <c:pt idx="90">
                <c:v>13.376485000000001</c:v>
              </c:pt>
              <c:pt idx="91">
                <c:v>13.052167000000001</c:v>
              </c:pt>
              <c:pt idx="92">
                <c:v>12.807129</c:v>
              </c:pt>
              <c:pt idx="93">
                <c:v>16.832021999999998</c:v>
              </c:pt>
              <c:pt idx="94">
                <c:v>17.257778999999999</c:v>
              </c:pt>
              <c:pt idx="95">
                <c:v>19.817350000000001</c:v>
              </c:pt>
              <c:pt idx="96">
                <c:v>20.350559000000001</c:v>
              </c:pt>
              <c:pt idx="97">
                <c:v>24.119938999999999</c:v>
              </c:pt>
              <c:pt idx="98">
                <c:v>25.875945999999999</c:v>
              </c:pt>
              <c:pt idx="99">
                <c:v>28.536944999999999</c:v>
              </c:pt>
              <c:pt idx="100">
                <c:v>28.830670000000001</c:v>
              </c:pt>
              <c:pt idx="101">
                <c:v>26.112995999999999</c:v>
              </c:pt>
              <c:pt idx="102">
                <c:v>27.794222999999999</c:v>
              </c:pt>
              <c:pt idx="103">
                <c:v>27.783021000000002</c:v>
              </c:pt>
              <c:pt idx="104">
                <c:v>28.70543</c:v>
              </c:pt>
              <c:pt idx="105">
                <c:v>30.486208999999999</c:v>
              </c:pt>
              <c:pt idx="106">
                <c:v>31.413792999999998</c:v>
              </c:pt>
              <c:pt idx="107">
                <c:v>31.860838999999999</c:v>
              </c:pt>
              <c:pt idx="108">
                <c:v>31.253765999999999</c:v>
              </c:pt>
              <c:pt idx="109">
                <c:v>31.102319000000001</c:v>
              </c:pt>
              <c:pt idx="110">
                <c:v>31.1325</c:v>
              </c:pt>
              <c:pt idx="111">
                <c:v>31.31352</c:v>
              </c:pt>
              <c:pt idx="112">
                <c:v>31.547602999999999</c:v>
              </c:pt>
              <c:pt idx="113">
                <c:v>30.129740000000002</c:v>
              </c:pt>
              <c:pt idx="114">
                <c:v>29.361149999999999</c:v>
              </c:pt>
              <c:pt idx="115">
                <c:v>28.353662</c:v>
              </c:pt>
              <c:pt idx="116">
                <c:v>26.560348000000001</c:v>
              </c:pt>
              <c:pt idx="117">
                <c:v>26.925172</c:v>
              </c:pt>
              <c:pt idx="118">
                <c:v>27.072355999999999</c:v>
              </c:pt>
              <c:pt idx="119">
                <c:v>27.055396000000002</c:v>
              </c:pt>
              <c:pt idx="120">
                <c:v>24.557376000000001</c:v>
              </c:pt>
              <c:pt idx="121">
                <c:v>22.238054000000002</c:v>
              </c:pt>
              <c:pt idx="122">
                <c:v>12.852474000000001</c:v>
              </c:pt>
              <c:pt idx="123">
                <c:v>8.9218679999999999</c:v>
              </c:pt>
              <c:pt idx="124">
                <c:v>7.1952259999999999</c:v>
              </c:pt>
              <c:pt idx="125">
                <c:v>4.3427530000000001</c:v>
              </c:pt>
              <c:pt idx="126">
                <c:v>6.7983289999999998</c:v>
              </c:pt>
              <c:pt idx="127">
                <c:v>4.2416669999999996</c:v>
              </c:pt>
              <c:pt idx="128">
                <c:v>3.166032</c:v>
              </c:pt>
              <c:pt idx="129">
                <c:v>3.1010930000000001</c:v>
              </c:pt>
              <c:pt idx="130">
                <c:v>1.005333</c:v>
              </c:pt>
              <c:pt idx="131">
                <c:v>0.402283</c:v>
              </c:pt>
              <c:pt idx="132">
                <c:v>-1.2613529999999999</c:v>
              </c:pt>
              <c:pt idx="133">
                <c:v>-0.84954799999999997</c:v>
              </c:pt>
              <c:pt idx="134">
                <c:v>-2.1360299999999999</c:v>
              </c:pt>
              <c:pt idx="135">
                <c:v>-3.5344039999999999</c:v>
              </c:pt>
              <c:pt idx="136">
                <c:v>-4.2527520000000001</c:v>
              </c:pt>
              <c:pt idx="137">
                <c:v>-4.1175139999999999</c:v>
              </c:pt>
              <c:pt idx="138">
                <c:v>-5.4537690000000003</c:v>
              </c:pt>
              <c:pt idx="139">
                <c:v>-6.8973230000000001</c:v>
              </c:pt>
              <c:pt idx="140">
                <c:v>-7.4886140000000001</c:v>
              </c:pt>
              <c:pt idx="141">
                <c:v>-7.2145049999999999</c:v>
              </c:pt>
              <c:pt idx="142">
                <c:v>-4.9450089999999998</c:v>
              </c:pt>
              <c:pt idx="143">
                <c:v>-6.7666430000000002</c:v>
              </c:pt>
              <c:pt idx="144">
                <c:v>-6.626093</c:v>
              </c:pt>
              <c:pt idx="145">
                <c:v>-9.1425789999999996</c:v>
              </c:pt>
              <c:pt idx="146">
                <c:v>-12.087916999999999</c:v>
              </c:pt>
              <c:pt idx="147">
                <c:v>-11.763911</c:v>
              </c:pt>
              <c:pt idx="148">
                <c:v>-8.9825700000000008</c:v>
              </c:pt>
              <c:pt idx="149">
                <c:v>-8.5602479999999996</c:v>
              </c:pt>
              <c:pt idx="150">
                <c:v>-11.931380000000001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C95C-ED44-8BCC-625DDD546E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D9E2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3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Fee units per CPI index point</a:t>
                </a:r>
              </a:p>
            </c:rich>
          </c:tx>
          <c:overlay val="0"/>
        </c:title>
        <c:numFmt formatCode="#,##0" sourceLinked="0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2026"/>
          <c:min val="2013"/>
        </c:scaling>
        <c:delete val="0"/>
        <c:axPos val="b"/>
        <c:numFmt formatCode="0" sourceLinked="0"/>
        <c:majorTickMark val="none"/>
        <c:minorTickMark val="none"/>
        <c:tickLblPos val="nextTo"/>
        <c:spPr>
          <a:ln w="9525">
            <a:solidFill>
              <a:srgbClr val="D9E2E8"/>
            </a:solidFill>
          </a:ln>
        </c:spPr>
        <c:txPr>
          <a:bodyPr anchorCtr="1"/>
          <a:lstStyle/>
          <a:p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3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en" sz="1725">
                <a:solidFill>
                  <a:srgbClr val="252F38"/>
                </a:solidFill>
                <a:latin typeface="Arial"/>
                <a:ea typeface="Arial"/>
                <a:cs typeface="Arial"/>
              </a:rPr>
              <a:t>Small-business optimism coefficient</a:t>
            </a:r>
          </a:p>
        </c:rich>
      </c:tx>
      <c:overlay val="0"/>
    </c:title>
    <c:autoTitleDeleted val="0"/>
    <c:plotArea>
      <c:layout/>
      <c:scatterChart>
        <c:scatterStyle val="lineMarker"/>
        <c:varyColors val="1"/>
        <c:ser>
          <c:idx val="0"/>
          <c:order val="0"/>
          <c:tx>
            <c:v>SBOpt</c:v>
          </c:tx>
          <c:spPr>
            <a:ln w="23813">
              <a:solidFill>
                <a:srgbClr val="C77933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151"/>
              <c:pt idx="0">
                <c:v>2013.416667</c:v>
              </c:pt>
              <c:pt idx="1">
                <c:v>2013.5</c:v>
              </c:pt>
              <c:pt idx="2">
                <c:v>2013.583333</c:v>
              </c:pt>
              <c:pt idx="3">
                <c:v>2013.666667</c:v>
              </c:pt>
              <c:pt idx="4">
                <c:v>2013.75</c:v>
              </c:pt>
              <c:pt idx="5">
                <c:v>2013.833333</c:v>
              </c:pt>
              <c:pt idx="6">
                <c:v>2013.916667</c:v>
              </c:pt>
              <c:pt idx="7">
                <c:v>2014</c:v>
              </c:pt>
              <c:pt idx="8">
                <c:v>2014.083333</c:v>
              </c:pt>
              <c:pt idx="9">
                <c:v>2014.166667</c:v>
              </c:pt>
              <c:pt idx="10">
                <c:v>2014.25</c:v>
              </c:pt>
              <c:pt idx="11">
                <c:v>2014.333333</c:v>
              </c:pt>
              <c:pt idx="12">
                <c:v>2014.416667</c:v>
              </c:pt>
              <c:pt idx="13">
                <c:v>2014.5</c:v>
              </c:pt>
              <c:pt idx="14">
                <c:v>2014.583333</c:v>
              </c:pt>
              <c:pt idx="15">
                <c:v>2014.666667</c:v>
              </c:pt>
              <c:pt idx="16">
                <c:v>2014.75</c:v>
              </c:pt>
              <c:pt idx="17">
                <c:v>2014.833333</c:v>
              </c:pt>
              <c:pt idx="18">
                <c:v>2014.916667</c:v>
              </c:pt>
              <c:pt idx="19">
                <c:v>2015</c:v>
              </c:pt>
              <c:pt idx="20">
                <c:v>2015.083333</c:v>
              </c:pt>
              <c:pt idx="21">
                <c:v>2015.166667</c:v>
              </c:pt>
              <c:pt idx="22">
                <c:v>2015.25</c:v>
              </c:pt>
              <c:pt idx="23">
                <c:v>2015.333333</c:v>
              </c:pt>
              <c:pt idx="24">
                <c:v>2015.416667</c:v>
              </c:pt>
              <c:pt idx="25">
                <c:v>2015.5</c:v>
              </c:pt>
              <c:pt idx="26">
                <c:v>2015.583333</c:v>
              </c:pt>
              <c:pt idx="27">
                <c:v>2015.666667</c:v>
              </c:pt>
              <c:pt idx="28">
                <c:v>2015.75</c:v>
              </c:pt>
              <c:pt idx="29">
                <c:v>2015.833333</c:v>
              </c:pt>
              <c:pt idx="30">
                <c:v>2015.916667</c:v>
              </c:pt>
              <c:pt idx="31">
                <c:v>2016</c:v>
              </c:pt>
              <c:pt idx="32">
                <c:v>2016.083333</c:v>
              </c:pt>
              <c:pt idx="33">
                <c:v>2016.166667</c:v>
              </c:pt>
              <c:pt idx="34">
                <c:v>2016.25</c:v>
              </c:pt>
              <c:pt idx="35">
                <c:v>2016.333333</c:v>
              </c:pt>
              <c:pt idx="36">
                <c:v>2016.416667</c:v>
              </c:pt>
              <c:pt idx="37">
                <c:v>2016.5</c:v>
              </c:pt>
              <c:pt idx="38">
                <c:v>2016.583333</c:v>
              </c:pt>
              <c:pt idx="39">
                <c:v>2016.666667</c:v>
              </c:pt>
              <c:pt idx="40">
                <c:v>2016.75</c:v>
              </c:pt>
              <c:pt idx="41">
                <c:v>2016.833333</c:v>
              </c:pt>
              <c:pt idx="42">
                <c:v>2016.916667</c:v>
              </c:pt>
              <c:pt idx="43">
                <c:v>2017</c:v>
              </c:pt>
              <c:pt idx="44">
                <c:v>2017.083333</c:v>
              </c:pt>
              <c:pt idx="45">
                <c:v>2017.166667</c:v>
              </c:pt>
              <c:pt idx="46">
                <c:v>2017.25</c:v>
              </c:pt>
              <c:pt idx="47">
                <c:v>2017.333333</c:v>
              </c:pt>
              <c:pt idx="48">
                <c:v>2017.416667</c:v>
              </c:pt>
              <c:pt idx="49">
                <c:v>2017.5</c:v>
              </c:pt>
              <c:pt idx="50">
                <c:v>2017.583333</c:v>
              </c:pt>
              <c:pt idx="51">
                <c:v>2017.666667</c:v>
              </c:pt>
              <c:pt idx="52">
                <c:v>2017.75</c:v>
              </c:pt>
              <c:pt idx="53">
                <c:v>2017.833333</c:v>
              </c:pt>
              <c:pt idx="54">
                <c:v>2017.916667</c:v>
              </c:pt>
              <c:pt idx="55">
                <c:v>2018</c:v>
              </c:pt>
              <c:pt idx="56">
                <c:v>2018.083333</c:v>
              </c:pt>
              <c:pt idx="57">
                <c:v>2018.166667</c:v>
              </c:pt>
              <c:pt idx="58">
                <c:v>2018.25</c:v>
              </c:pt>
              <c:pt idx="59">
                <c:v>2018.333333</c:v>
              </c:pt>
              <c:pt idx="60">
                <c:v>2018.416667</c:v>
              </c:pt>
              <c:pt idx="61">
                <c:v>2018.5</c:v>
              </c:pt>
              <c:pt idx="62">
                <c:v>2018.583333</c:v>
              </c:pt>
              <c:pt idx="63">
                <c:v>2018.666667</c:v>
              </c:pt>
              <c:pt idx="64">
                <c:v>2018.75</c:v>
              </c:pt>
              <c:pt idx="65">
                <c:v>2018.833333</c:v>
              </c:pt>
              <c:pt idx="66">
                <c:v>2018.916667</c:v>
              </c:pt>
              <c:pt idx="67">
                <c:v>2019</c:v>
              </c:pt>
              <c:pt idx="68">
                <c:v>2019.083333</c:v>
              </c:pt>
              <c:pt idx="69">
                <c:v>2019.166667</c:v>
              </c:pt>
              <c:pt idx="70">
                <c:v>2019.25</c:v>
              </c:pt>
              <c:pt idx="71">
                <c:v>2019.333333</c:v>
              </c:pt>
              <c:pt idx="72">
                <c:v>2019.416667</c:v>
              </c:pt>
              <c:pt idx="73">
                <c:v>2019.5</c:v>
              </c:pt>
              <c:pt idx="74">
                <c:v>2019.583333</c:v>
              </c:pt>
              <c:pt idx="75">
                <c:v>2019.666667</c:v>
              </c:pt>
              <c:pt idx="76">
                <c:v>2019.75</c:v>
              </c:pt>
              <c:pt idx="77">
                <c:v>2019.833333</c:v>
              </c:pt>
              <c:pt idx="78">
                <c:v>2019.916667</c:v>
              </c:pt>
              <c:pt idx="79">
                <c:v>2020</c:v>
              </c:pt>
              <c:pt idx="80">
                <c:v>2020.083333</c:v>
              </c:pt>
              <c:pt idx="81">
                <c:v>2020.166667</c:v>
              </c:pt>
              <c:pt idx="82">
                <c:v>2020.25</c:v>
              </c:pt>
              <c:pt idx="83">
                <c:v>2020.333333</c:v>
              </c:pt>
              <c:pt idx="84">
                <c:v>2020.416667</c:v>
              </c:pt>
              <c:pt idx="85">
                <c:v>2020.5</c:v>
              </c:pt>
              <c:pt idx="86">
                <c:v>2020.583333</c:v>
              </c:pt>
              <c:pt idx="87">
                <c:v>2020.666667</c:v>
              </c:pt>
              <c:pt idx="88">
                <c:v>2020.75</c:v>
              </c:pt>
              <c:pt idx="89">
                <c:v>2020.833333</c:v>
              </c:pt>
              <c:pt idx="90">
                <c:v>2020.916667</c:v>
              </c:pt>
              <c:pt idx="91">
                <c:v>2021</c:v>
              </c:pt>
              <c:pt idx="92">
                <c:v>2021.083333</c:v>
              </c:pt>
              <c:pt idx="93">
                <c:v>2021.166667</c:v>
              </c:pt>
              <c:pt idx="94">
                <c:v>2021.25</c:v>
              </c:pt>
              <c:pt idx="95">
                <c:v>2021.333333</c:v>
              </c:pt>
              <c:pt idx="96">
                <c:v>2021.416667</c:v>
              </c:pt>
              <c:pt idx="97">
                <c:v>2021.5</c:v>
              </c:pt>
              <c:pt idx="98">
                <c:v>2021.583333</c:v>
              </c:pt>
              <c:pt idx="99">
                <c:v>2021.666667</c:v>
              </c:pt>
              <c:pt idx="100">
                <c:v>2021.75</c:v>
              </c:pt>
              <c:pt idx="101">
                <c:v>2021.833333</c:v>
              </c:pt>
              <c:pt idx="102">
                <c:v>2021.916667</c:v>
              </c:pt>
              <c:pt idx="103">
                <c:v>2022</c:v>
              </c:pt>
              <c:pt idx="104">
                <c:v>2022.083333</c:v>
              </c:pt>
              <c:pt idx="105">
                <c:v>2022.166667</c:v>
              </c:pt>
              <c:pt idx="106">
                <c:v>2022.25</c:v>
              </c:pt>
              <c:pt idx="107">
                <c:v>2022.333333</c:v>
              </c:pt>
              <c:pt idx="108">
                <c:v>2022.416667</c:v>
              </c:pt>
              <c:pt idx="109">
                <c:v>2022.5</c:v>
              </c:pt>
              <c:pt idx="110">
                <c:v>2022.583333</c:v>
              </c:pt>
              <c:pt idx="111">
                <c:v>2022.666667</c:v>
              </c:pt>
              <c:pt idx="112">
                <c:v>2022.75</c:v>
              </c:pt>
              <c:pt idx="113">
                <c:v>2022.833333</c:v>
              </c:pt>
              <c:pt idx="114">
                <c:v>2022.916667</c:v>
              </c:pt>
              <c:pt idx="115">
                <c:v>2023</c:v>
              </c:pt>
              <c:pt idx="116">
                <c:v>2023.083333</c:v>
              </c:pt>
              <c:pt idx="117">
                <c:v>2023.166667</c:v>
              </c:pt>
              <c:pt idx="118">
                <c:v>2023.25</c:v>
              </c:pt>
              <c:pt idx="119">
                <c:v>2023.333333</c:v>
              </c:pt>
              <c:pt idx="120">
                <c:v>2023.416667</c:v>
              </c:pt>
              <c:pt idx="121">
                <c:v>2023.5</c:v>
              </c:pt>
              <c:pt idx="122">
                <c:v>2023.583333</c:v>
              </c:pt>
              <c:pt idx="123">
                <c:v>2023.666667</c:v>
              </c:pt>
              <c:pt idx="124">
                <c:v>2023.75</c:v>
              </c:pt>
              <c:pt idx="125">
                <c:v>2023.833333</c:v>
              </c:pt>
              <c:pt idx="126">
                <c:v>2023.916667</c:v>
              </c:pt>
              <c:pt idx="127">
                <c:v>2024</c:v>
              </c:pt>
              <c:pt idx="128">
                <c:v>2024.083333</c:v>
              </c:pt>
              <c:pt idx="129">
                <c:v>2024.166667</c:v>
              </c:pt>
              <c:pt idx="130">
                <c:v>2024.25</c:v>
              </c:pt>
              <c:pt idx="131">
                <c:v>2024.333333</c:v>
              </c:pt>
              <c:pt idx="132">
                <c:v>2024.416667</c:v>
              </c:pt>
              <c:pt idx="133">
                <c:v>2024.5</c:v>
              </c:pt>
              <c:pt idx="134">
                <c:v>2024.583333</c:v>
              </c:pt>
              <c:pt idx="135">
                <c:v>2024.666667</c:v>
              </c:pt>
              <c:pt idx="136">
                <c:v>2024.75</c:v>
              </c:pt>
              <c:pt idx="137">
                <c:v>2024.833333</c:v>
              </c:pt>
              <c:pt idx="138">
                <c:v>2024.916667</c:v>
              </c:pt>
              <c:pt idx="139">
                <c:v>2025</c:v>
              </c:pt>
              <c:pt idx="140">
                <c:v>2025.083333</c:v>
              </c:pt>
              <c:pt idx="141">
                <c:v>2025.166667</c:v>
              </c:pt>
              <c:pt idx="142">
                <c:v>2025.25</c:v>
              </c:pt>
              <c:pt idx="143">
                <c:v>2025.333333</c:v>
              </c:pt>
              <c:pt idx="144">
                <c:v>2025.416667</c:v>
              </c:pt>
              <c:pt idx="145">
                <c:v>2025.5</c:v>
              </c:pt>
              <c:pt idx="146">
                <c:v>2025.583333</c:v>
              </c:pt>
              <c:pt idx="147">
                <c:v>2025.666667</c:v>
              </c:pt>
              <c:pt idx="148">
                <c:v>2025.75</c:v>
              </c:pt>
              <c:pt idx="149">
                <c:v>2025.833333</c:v>
              </c:pt>
              <c:pt idx="150">
                <c:v>2025.916667</c:v>
              </c:pt>
            </c:numLit>
          </c:xVal>
          <c:yVal>
            <c:numLit>
              <c:formatCode>#,##0</c:formatCode>
              <c:ptCount val="151"/>
              <c:pt idx="0">
                <c:v>3.688625</c:v>
              </c:pt>
              <c:pt idx="1">
                <c:v>7.4950099999999997</c:v>
              </c:pt>
              <c:pt idx="2">
                <c:v>10.668884</c:v>
              </c:pt>
              <c:pt idx="3">
                <c:v>8.4484940000000002</c:v>
              </c:pt>
              <c:pt idx="4">
                <c:v>6.8508469999999999</c:v>
              </c:pt>
              <c:pt idx="5">
                <c:v>7.1955070000000001</c:v>
              </c:pt>
              <c:pt idx="6">
                <c:v>7.7395230000000002</c:v>
              </c:pt>
              <c:pt idx="7">
                <c:v>6.9738660000000001</c:v>
              </c:pt>
              <c:pt idx="8">
                <c:v>10.163907</c:v>
              </c:pt>
              <c:pt idx="9">
                <c:v>10.432674</c:v>
              </c:pt>
              <c:pt idx="10">
                <c:v>11.744088</c:v>
              </c:pt>
              <c:pt idx="11">
                <c:v>12.506399</c:v>
              </c:pt>
              <c:pt idx="12">
                <c:v>13.869899</c:v>
              </c:pt>
              <c:pt idx="13">
                <c:v>15.732021</c:v>
              </c:pt>
              <c:pt idx="14">
                <c:v>19.012024</c:v>
              </c:pt>
              <c:pt idx="15">
                <c:v>19.275362999999999</c:v>
              </c:pt>
              <c:pt idx="16">
                <c:v>20.759644999999999</c:v>
              </c:pt>
              <c:pt idx="17">
                <c:v>15.696400000000001</c:v>
              </c:pt>
              <c:pt idx="18">
                <c:v>19.016735000000001</c:v>
              </c:pt>
              <c:pt idx="19">
                <c:v>14.445695000000001</c:v>
              </c:pt>
              <c:pt idx="20">
                <c:v>9.1929569999999998</c:v>
              </c:pt>
              <c:pt idx="21">
                <c:v>10.962066</c:v>
              </c:pt>
              <c:pt idx="22">
                <c:v>10.719839</c:v>
              </c:pt>
              <c:pt idx="23">
                <c:v>11.076917</c:v>
              </c:pt>
              <c:pt idx="24">
                <c:v>8.0345700000000004</c:v>
              </c:pt>
              <c:pt idx="25">
                <c:v>7.1264779999999996</c:v>
              </c:pt>
              <c:pt idx="26">
                <c:v>4.3943209999999997</c:v>
              </c:pt>
              <c:pt idx="27">
                <c:v>5.4873339999999997</c:v>
              </c:pt>
              <c:pt idx="28">
                <c:v>7.1178660000000002</c:v>
              </c:pt>
              <c:pt idx="29">
                <c:v>8.4018890000000006</c:v>
              </c:pt>
              <c:pt idx="30">
                <c:v>9.3924800000000008</c:v>
              </c:pt>
              <c:pt idx="31">
                <c:v>11.599613</c:v>
              </c:pt>
              <c:pt idx="32">
                <c:v>11.729146</c:v>
              </c:pt>
              <c:pt idx="33">
                <c:v>3.5351750000000002</c:v>
              </c:pt>
              <c:pt idx="34">
                <c:v>10.509214</c:v>
              </c:pt>
              <c:pt idx="35">
                <c:v>10.003602000000001</c:v>
              </c:pt>
              <c:pt idx="36">
                <c:v>10.641619</c:v>
              </c:pt>
              <c:pt idx="37">
                <c:v>7.4653640000000001</c:v>
              </c:pt>
              <c:pt idx="38">
                <c:v>-4.0736179999999997</c:v>
              </c:pt>
              <c:pt idx="39">
                <c:v>-10.48319</c:v>
              </c:pt>
              <c:pt idx="40">
                <c:v>-14.401695999999999</c:v>
              </c:pt>
              <c:pt idx="41">
                <c:v>-18.748643999999999</c:v>
              </c:pt>
              <c:pt idx="42">
                <c:v>-9.5177370000000003</c:v>
              </c:pt>
              <c:pt idx="43">
                <c:v>-7.0484010000000001</c:v>
              </c:pt>
              <c:pt idx="44">
                <c:v>-7.6734049999999998</c:v>
              </c:pt>
              <c:pt idx="45">
                <c:v>-5.9835269999999996</c:v>
              </c:pt>
              <c:pt idx="46">
                <c:v>-6.5302720000000001</c:v>
              </c:pt>
              <c:pt idx="47">
                <c:v>-4.2478350000000002</c:v>
              </c:pt>
              <c:pt idx="48">
                <c:v>-5.8706990000000001</c:v>
              </c:pt>
              <c:pt idx="49">
                <c:v>-3.1094189999999999</c:v>
              </c:pt>
              <c:pt idx="50">
                <c:v>3.20275</c:v>
              </c:pt>
              <c:pt idx="51">
                <c:v>1.6060140000000001</c:v>
              </c:pt>
              <c:pt idx="52">
                <c:v>-2.3486630000000002</c:v>
              </c:pt>
              <c:pt idx="53">
                <c:v>-2.5422319999999998</c:v>
              </c:pt>
              <c:pt idx="54">
                <c:v>-4.6399210000000002</c:v>
              </c:pt>
              <c:pt idx="55">
                <c:v>-6.2999609999999997</c:v>
              </c:pt>
              <c:pt idx="56">
                <c:v>-6.1829530000000004</c:v>
              </c:pt>
              <c:pt idx="57">
                <c:v>-13.105513999999999</c:v>
              </c:pt>
              <c:pt idx="58">
                <c:v>-13.724665999999999</c:v>
              </c:pt>
              <c:pt idx="59">
                <c:v>-15.318593</c:v>
              </c:pt>
              <c:pt idx="60">
                <c:v>-15.771162</c:v>
              </c:pt>
              <c:pt idx="61">
                <c:v>-15.735446</c:v>
              </c:pt>
              <c:pt idx="62">
                <c:v>-16.792930999999999</c:v>
              </c:pt>
              <c:pt idx="63">
                <c:v>-14.565868999999999</c:v>
              </c:pt>
              <c:pt idx="64">
                <c:v>-13.882361</c:v>
              </c:pt>
              <c:pt idx="65">
                <c:v>-9.0800649999999994</c:v>
              </c:pt>
              <c:pt idx="66">
                <c:v>-8.8222930000000002</c:v>
              </c:pt>
              <c:pt idx="67">
                <c:v>-7.2542530000000003</c:v>
              </c:pt>
              <c:pt idx="68">
                <c:v>-0.30551400000000001</c:v>
              </c:pt>
              <c:pt idx="69">
                <c:v>0.20087099999999999</c:v>
              </c:pt>
              <c:pt idx="70">
                <c:v>5.3351940000000004</c:v>
              </c:pt>
              <c:pt idx="71">
                <c:v>4.374771</c:v>
              </c:pt>
              <c:pt idx="72">
                <c:v>3.272999</c:v>
              </c:pt>
              <c:pt idx="73">
                <c:v>3.5290940000000002</c:v>
              </c:pt>
              <c:pt idx="74">
                <c:v>1.7751710000000001</c:v>
              </c:pt>
              <c:pt idx="75">
                <c:v>3.1734550000000001</c:v>
              </c:pt>
              <c:pt idx="76">
                <c:v>3.1479680000000001</c:v>
              </c:pt>
              <c:pt idx="77">
                <c:v>3.7021670000000002</c:v>
              </c:pt>
              <c:pt idx="78">
                <c:v>6.0456620000000001</c:v>
              </c:pt>
              <c:pt idx="79">
                <c:v>4.7470970000000001</c:v>
              </c:pt>
              <c:pt idx="80">
                <c:v>4.3937929999999996</c:v>
              </c:pt>
              <c:pt idx="81">
                <c:v>8.4287609999999997</c:v>
              </c:pt>
              <c:pt idx="82">
                <c:v>24.647470999999999</c:v>
              </c:pt>
              <c:pt idx="83">
                <c:v>27.937580000000001</c:v>
              </c:pt>
              <c:pt idx="84">
                <c:v>28.318116</c:v>
              </c:pt>
              <c:pt idx="85">
                <c:v>28.717116000000001</c:v>
              </c:pt>
              <c:pt idx="86">
                <c:v>29.380565000000001</c:v>
              </c:pt>
              <c:pt idx="87">
                <c:v>30.013929999999998</c:v>
              </c:pt>
              <c:pt idx="88">
                <c:v>29.043845000000001</c:v>
              </c:pt>
              <c:pt idx="89">
                <c:v>29.182396000000001</c:v>
              </c:pt>
              <c:pt idx="90">
                <c:v>29.826781</c:v>
              </c:pt>
              <c:pt idx="91">
                <c:v>29.785810000000001</c:v>
              </c:pt>
              <c:pt idx="92">
                <c:v>29.790414999999999</c:v>
              </c:pt>
              <c:pt idx="93">
                <c:v>30.720348000000001</c:v>
              </c:pt>
              <c:pt idx="94">
                <c:v>32.322448999999999</c:v>
              </c:pt>
              <c:pt idx="95">
                <c:v>33.763477999999999</c:v>
              </c:pt>
              <c:pt idx="96">
                <c:v>33.323951999999998</c:v>
              </c:pt>
              <c:pt idx="97">
                <c:v>33.752496999999998</c:v>
              </c:pt>
              <c:pt idx="98">
                <c:v>33.968195999999999</c:v>
              </c:pt>
              <c:pt idx="99">
                <c:v>33.518357000000002</c:v>
              </c:pt>
              <c:pt idx="100">
                <c:v>33.938321000000002</c:v>
              </c:pt>
              <c:pt idx="101">
                <c:v>33.715330000000002</c:v>
              </c:pt>
              <c:pt idx="102">
                <c:v>32.387971999999998</c:v>
              </c:pt>
              <c:pt idx="103">
                <c:v>32.672972000000001</c:v>
              </c:pt>
              <c:pt idx="104">
                <c:v>30.391923999999999</c:v>
              </c:pt>
              <c:pt idx="105">
                <c:v>27.746120999999999</c:v>
              </c:pt>
              <c:pt idx="106">
                <c:v>26.030778999999999</c:v>
              </c:pt>
              <c:pt idx="107">
                <c:v>24.759293</c:v>
              </c:pt>
              <c:pt idx="108">
                <c:v>26.877869</c:v>
              </c:pt>
              <c:pt idx="109">
                <c:v>26.066065999999999</c:v>
              </c:pt>
              <c:pt idx="110">
                <c:v>25.707408000000001</c:v>
              </c:pt>
              <c:pt idx="111">
                <c:v>26.896471999999999</c:v>
              </c:pt>
              <c:pt idx="112">
                <c:v>25.741966000000001</c:v>
              </c:pt>
              <c:pt idx="113">
                <c:v>24.747935999999999</c:v>
              </c:pt>
              <c:pt idx="114">
                <c:v>23.814823000000001</c:v>
              </c:pt>
              <c:pt idx="115">
                <c:v>23.510262999999998</c:v>
              </c:pt>
              <c:pt idx="116">
                <c:v>21.939872000000001</c:v>
              </c:pt>
              <c:pt idx="117">
                <c:v>21.757023</c:v>
              </c:pt>
              <c:pt idx="118">
                <c:v>23.121677999999999</c:v>
              </c:pt>
              <c:pt idx="119">
                <c:v>23.150100999999999</c:v>
              </c:pt>
              <c:pt idx="120">
                <c:v>17.373068</c:v>
              </c:pt>
              <c:pt idx="121">
                <c:v>11.381462000000001</c:v>
              </c:pt>
              <c:pt idx="122">
                <c:v>-14.682817999999999</c:v>
              </c:pt>
              <c:pt idx="123">
                <c:v>-24.571987</c:v>
              </c:pt>
              <c:pt idx="124">
                <c:v>-27.64594</c:v>
              </c:pt>
              <c:pt idx="125">
                <c:v>-33.805912999999997</c:v>
              </c:pt>
              <c:pt idx="126">
                <c:v>-27.169513999999999</c:v>
              </c:pt>
              <c:pt idx="127">
                <c:v>-32.286673999999998</c:v>
              </c:pt>
              <c:pt idx="128">
                <c:v>-34.395454000000001</c:v>
              </c:pt>
              <c:pt idx="129">
                <c:v>-33.01596</c:v>
              </c:pt>
              <c:pt idx="130">
                <c:v>-36.459673000000002</c:v>
              </c:pt>
              <c:pt idx="131">
                <c:v>-27.324797</c:v>
              </c:pt>
              <c:pt idx="132">
                <c:v>-34.833177999999997</c:v>
              </c:pt>
              <c:pt idx="133">
                <c:v>-26.179198</c:v>
              </c:pt>
              <c:pt idx="134">
                <c:v>-15.765402999999999</c:v>
              </c:pt>
              <c:pt idx="135">
                <c:v>-16.744730000000001</c:v>
              </c:pt>
              <c:pt idx="136">
                <c:v>-13.60134</c:v>
              </c:pt>
              <c:pt idx="137">
                <c:v>-5.4558410000000004</c:v>
              </c:pt>
              <c:pt idx="138">
                <c:v>-17.323640000000001</c:v>
              </c:pt>
              <c:pt idx="139">
                <c:v>-16.102803999999999</c:v>
              </c:pt>
              <c:pt idx="140">
                <c:v>-16.617224</c:v>
              </c:pt>
              <c:pt idx="141">
                <c:v>-15.879308</c:v>
              </c:pt>
              <c:pt idx="142">
                <c:v>-17.755258999999999</c:v>
              </c:pt>
              <c:pt idx="143">
                <c:v>-15.346503</c:v>
              </c:pt>
              <c:pt idx="144">
                <c:v>-15.353032000000001</c:v>
              </c:pt>
              <c:pt idx="145">
                <c:v>-14.227205</c:v>
              </c:pt>
              <c:pt idx="146">
                <c:v>-10.899692</c:v>
              </c:pt>
              <c:pt idx="147">
                <c:v>-11.346087000000001</c:v>
              </c:pt>
              <c:pt idx="148">
                <c:v>-12.915433</c:v>
              </c:pt>
              <c:pt idx="149">
                <c:v>-13.028997</c:v>
              </c:pt>
              <c:pt idx="150">
                <c:v>-11.351428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B296-B247-8500-33580C6979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D9E2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3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Fee units per optimism index point</a:t>
                </a:r>
              </a:p>
            </c:rich>
          </c:tx>
          <c:overlay val="0"/>
        </c:title>
        <c:numFmt formatCode="#,##0" sourceLinked="0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2026"/>
          <c:min val="2013"/>
        </c:scaling>
        <c:delete val="0"/>
        <c:axPos val="b"/>
        <c:numFmt formatCode="0" sourceLinked="0"/>
        <c:majorTickMark val="none"/>
        <c:minorTickMark val="none"/>
        <c:tickLblPos val="nextTo"/>
        <c:spPr>
          <a:ln w="9525">
            <a:solidFill>
              <a:srgbClr val="D9E2E8"/>
            </a:solidFill>
          </a:ln>
        </c:spPr>
        <c:txPr>
          <a:bodyPr anchorCtr="1"/>
          <a:lstStyle/>
          <a:p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3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en" sz="1650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CPI coefficient</a:t>
            </a:r>
          </a:p>
        </c:rich>
      </c:tx>
      <c:overlay val="0"/>
    </c:title>
    <c:autoTitleDeleted val="0"/>
    <c:plotArea>
      <c:layout/>
      <c:scatterChart>
        <c:scatterStyle val="lineMarker"/>
        <c:varyColors val="1"/>
        <c:ser>
          <c:idx val="0"/>
          <c:order val="0"/>
          <c:tx>
            <c:v>30-month rolling</c:v>
          </c:tx>
          <c:spPr>
            <a:ln w="19050">
              <a:solidFill>
                <a:srgbClr val="97A5AF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151"/>
              <c:pt idx="0">
                <c:v>2013.4166666666667</c:v>
              </c:pt>
              <c:pt idx="1">
                <c:v>2013.5</c:v>
              </c:pt>
              <c:pt idx="2">
                <c:v>2013.5833333333333</c:v>
              </c:pt>
              <c:pt idx="3">
                <c:v>2013.6666666666667</c:v>
              </c:pt>
              <c:pt idx="4">
                <c:v>2013.75</c:v>
              </c:pt>
              <c:pt idx="5">
                <c:v>2013.8333333333333</c:v>
              </c:pt>
              <c:pt idx="6">
                <c:v>2013.9166666666667</c:v>
              </c:pt>
              <c:pt idx="7">
                <c:v>2014</c:v>
              </c:pt>
              <c:pt idx="8">
                <c:v>2014.0833333333333</c:v>
              </c:pt>
              <c:pt idx="9">
                <c:v>2014.1666666666667</c:v>
              </c:pt>
              <c:pt idx="10">
                <c:v>2014.25</c:v>
              </c:pt>
              <c:pt idx="11">
                <c:v>2014.3333333333333</c:v>
              </c:pt>
              <c:pt idx="12">
                <c:v>2014.4166666666667</c:v>
              </c:pt>
              <c:pt idx="13">
                <c:v>2014.5</c:v>
              </c:pt>
              <c:pt idx="14">
                <c:v>2014.5833333333333</c:v>
              </c:pt>
              <c:pt idx="15">
                <c:v>2014.6666666666667</c:v>
              </c:pt>
              <c:pt idx="16">
                <c:v>2014.75</c:v>
              </c:pt>
              <c:pt idx="17">
                <c:v>2014.8333333333333</c:v>
              </c:pt>
              <c:pt idx="18">
                <c:v>2014.9166666666667</c:v>
              </c:pt>
              <c:pt idx="19">
                <c:v>2015</c:v>
              </c:pt>
              <c:pt idx="20">
                <c:v>2015.0833333333333</c:v>
              </c:pt>
              <c:pt idx="21">
                <c:v>2015.1666666666667</c:v>
              </c:pt>
              <c:pt idx="22">
                <c:v>2015.25</c:v>
              </c:pt>
              <c:pt idx="23">
                <c:v>2015.3333333333333</c:v>
              </c:pt>
              <c:pt idx="24">
                <c:v>2015.4166666666667</c:v>
              </c:pt>
              <c:pt idx="25">
                <c:v>2015.5</c:v>
              </c:pt>
              <c:pt idx="26">
                <c:v>2015.5833333333333</c:v>
              </c:pt>
              <c:pt idx="27">
                <c:v>2015.6666666666667</c:v>
              </c:pt>
              <c:pt idx="28">
                <c:v>2015.75</c:v>
              </c:pt>
              <c:pt idx="29">
                <c:v>2015.8333333333333</c:v>
              </c:pt>
              <c:pt idx="30">
                <c:v>2015.9166666666667</c:v>
              </c:pt>
              <c:pt idx="31">
                <c:v>2016</c:v>
              </c:pt>
              <c:pt idx="32">
                <c:v>2016.0833333333333</c:v>
              </c:pt>
              <c:pt idx="33">
                <c:v>2016.1666666666667</c:v>
              </c:pt>
              <c:pt idx="34">
                <c:v>2016.25</c:v>
              </c:pt>
              <c:pt idx="35">
                <c:v>2016.3333333333333</c:v>
              </c:pt>
              <c:pt idx="36">
                <c:v>2016.4166666666667</c:v>
              </c:pt>
              <c:pt idx="37">
                <c:v>2016.5</c:v>
              </c:pt>
              <c:pt idx="38">
                <c:v>2016.5833333333333</c:v>
              </c:pt>
              <c:pt idx="39">
                <c:v>2016.6666666666667</c:v>
              </c:pt>
              <c:pt idx="40">
                <c:v>2016.75</c:v>
              </c:pt>
              <c:pt idx="41">
                <c:v>2016.8333333333333</c:v>
              </c:pt>
              <c:pt idx="42">
                <c:v>2016.9166666666667</c:v>
              </c:pt>
              <c:pt idx="43">
                <c:v>2017</c:v>
              </c:pt>
              <c:pt idx="44">
                <c:v>2017.0833333333333</c:v>
              </c:pt>
              <c:pt idx="45">
                <c:v>2017.1666666666667</c:v>
              </c:pt>
              <c:pt idx="46">
                <c:v>2017.25</c:v>
              </c:pt>
              <c:pt idx="47">
                <c:v>2017.3333333333333</c:v>
              </c:pt>
              <c:pt idx="48">
                <c:v>2017.4166666666667</c:v>
              </c:pt>
              <c:pt idx="49">
                <c:v>2017.5</c:v>
              </c:pt>
              <c:pt idx="50">
                <c:v>2017.5833333333333</c:v>
              </c:pt>
              <c:pt idx="51">
                <c:v>2017.6666666666667</c:v>
              </c:pt>
              <c:pt idx="52">
                <c:v>2017.75</c:v>
              </c:pt>
              <c:pt idx="53">
                <c:v>2017.8333333333333</c:v>
              </c:pt>
              <c:pt idx="54">
                <c:v>2017.9166666666667</c:v>
              </c:pt>
              <c:pt idx="55">
                <c:v>2018</c:v>
              </c:pt>
              <c:pt idx="56">
                <c:v>2018.0833333333333</c:v>
              </c:pt>
              <c:pt idx="57">
                <c:v>2018.1666666666667</c:v>
              </c:pt>
              <c:pt idx="58">
                <c:v>2018.25</c:v>
              </c:pt>
              <c:pt idx="59">
                <c:v>2018.3333333333333</c:v>
              </c:pt>
              <c:pt idx="60">
                <c:v>2018.4166666666667</c:v>
              </c:pt>
              <c:pt idx="61">
                <c:v>2018.5</c:v>
              </c:pt>
              <c:pt idx="62">
                <c:v>2018.5833333333333</c:v>
              </c:pt>
              <c:pt idx="63">
                <c:v>2018.6666666666667</c:v>
              </c:pt>
              <c:pt idx="64">
                <c:v>2018.75</c:v>
              </c:pt>
              <c:pt idx="65">
                <c:v>2018.8333333333333</c:v>
              </c:pt>
              <c:pt idx="66">
                <c:v>2018.9166666666667</c:v>
              </c:pt>
              <c:pt idx="67">
                <c:v>2019</c:v>
              </c:pt>
              <c:pt idx="68">
                <c:v>2019.0833333333333</c:v>
              </c:pt>
              <c:pt idx="69">
                <c:v>2019.1666666666667</c:v>
              </c:pt>
              <c:pt idx="70">
                <c:v>2019.25</c:v>
              </c:pt>
              <c:pt idx="71">
                <c:v>2019.3333333333333</c:v>
              </c:pt>
              <c:pt idx="72">
                <c:v>2019.4166666666667</c:v>
              </c:pt>
              <c:pt idx="73">
                <c:v>2019.5</c:v>
              </c:pt>
              <c:pt idx="74">
                <c:v>2019.5833333333333</c:v>
              </c:pt>
              <c:pt idx="75">
                <c:v>2019.6666666666667</c:v>
              </c:pt>
              <c:pt idx="76">
                <c:v>2019.75</c:v>
              </c:pt>
              <c:pt idx="77">
                <c:v>2019.8333333333333</c:v>
              </c:pt>
              <c:pt idx="78">
                <c:v>2019.9166666666667</c:v>
              </c:pt>
              <c:pt idx="79">
                <c:v>2020</c:v>
              </c:pt>
              <c:pt idx="80">
                <c:v>2020.0833333333333</c:v>
              </c:pt>
              <c:pt idx="81">
                <c:v>2020.1666666666667</c:v>
              </c:pt>
              <c:pt idx="82">
                <c:v>2020.25</c:v>
              </c:pt>
              <c:pt idx="83">
                <c:v>2020.3333333333333</c:v>
              </c:pt>
              <c:pt idx="84">
                <c:v>2020.4166666666667</c:v>
              </c:pt>
              <c:pt idx="85">
                <c:v>2020.5</c:v>
              </c:pt>
              <c:pt idx="86">
                <c:v>2020.5833333333333</c:v>
              </c:pt>
              <c:pt idx="87">
                <c:v>2020.6666666666667</c:v>
              </c:pt>
              <c:pt idx="88">
                <c:v>2020.75</c:v>
              </c:pt>
              <c:pt idx="89">
                <c:v>2020.8333333333333</c:v>
              </c:pt>
              <c:pt idx="90">
                <c:v>2020.9166666666667</c:v>
              </c:pt>
              <c:pt idx="91">
                <c:v>2021</c:v>
              </c:pt>
              <c:pt idx="92">
                <c:v>2021.0833333333333</c:v>
              </c:pt>
              <c:pt idx="93">
                <c:v>2021.1666666666667</c:v>
              </c:pt>
              <c:pt idx="94">
                <c:v>2021.25</c:v>
              </c:pt>
              <c:pt idx="95">
                <c:v>2021.3333333333333</c:v>
              </c:pt>
              <c:pt idx="96">
                <c:v>2021.4166666666667</c:v>
              </c:pt>
              <c:pt idx="97">
                <c:v>2021.5</c:v>
              </c:pt>
              <c:pt idx="98">
                <c:v>2021.5833333333333</c:v>
              </c:pt>
              <c:pt idx="99">
                <c:v>2021.6666666666667</c:v>
              </c:pt>
              <c:pt idx="100">
                <c:v>2021.75</c:v>
              </c:pt>
              <c:pt idx="101">
                <c:v>2021.8333333333333</c:v>
              </c:pt>
              <c:pt idx="102">
                <c:v>2021.9166666666667</c:v>
              </c:pt>
              <c:pt idx="103">
                <c:v>2022</c:v>
              </c:pt>
              <c:pt idx="104">
                <c:v>2022.0833333333333</c:v>
              </c:pt>
              <c:pt idx="105">
                <c:v>2022.1666666666667</c:v>
              </c:pt>
              <c:pt idx="106">
                <c:v>2022.25</c:v>
              </c:pt>
              <c:pt idx="107">
                <c:v>2022.3333333333333</c:v>
              </c:pt>
              <c:pt idx="108">
                <c:v>2022.4166666666667</c:v>
              </c:pt>
              <c:pt idx="109">
                <c:v>2022.5</c:v>
              </c:pt>
              <c:pt idx="110">
                <c:v>2022.5833333333333</c:v>
              </c:pt>
              <c:pt idx="111">
                <c:v>2022.6666666666667</c:v>
              </c:pt>
              <c:pt idx="112">
                <c:v>2022.75</c:v>
              </c:pt>
              <c:pt idx="113">
                <c:v>2022.8333333333333</c:v>
              </c:pt>
              <c:pt idx="114">
                <c:v>2022.9166666666667</c:v>
              </c:pt>
              <c:pt idx="115">
                <c:v>2023</c:v>
              </c:pt>
              <c:pt idx="116">
                <c:v>2023.0833333333333</c:v>
              </c:pt>
              <c:pt idx="117">
                <c:v>2023.1666666666667</c:v>
              </c:pt>
              <c:pt idx="118">
                <c:v>2023.25</c:v>
              </c:pt>
              <c:pt idx="119">
                <c:v>2023.3333333333333</c:v>
              </c:pt>
              <c:pt idx="120">
                <c:v>2023.4166666666667</c:v>
              </c:pt>
              <c:pt idx="121">
                <c:v>2023.5</c:v>
              </c:pt>
              <c:pt idx="122">
                <c:v>2023.5833333333333</c:v>
              </c:pt>
              <c:pt idx="123">
                <c:v>2023.6666666666667</c:v>
              </c:pt>
              <c:pt idx="124">
                <c:v>2023.75</c:v>
              </c:pt>
              <c:pt idx="125">
                <c:v>2023.8333333333333</c:v>
              </c:pt>
              <c:pt idx="126">
                <c:v>2023.9166666666667</c:v>
              </c:pt>
              <c:pt idx="127">
                <c:v>2024</c:v>
              </c:pt>
              <c:pt idx="128">
                <c:v>2024.0833333333333</c:v>
              </c:pt>
              <c:pt idx="129">
                <c:v>2024.1666666666667</c:v>
              </c:pt>
              <c:pt idx="130">
                <c:v>2024.25</c:v>
              </c:pt>
              <c:pt idx="131">
                <c:v>2024.3333333333333</c:v>
              </c:pt>
              <c:pt idx="132">
                <c:v>2024.4166666666667</c:v>
              </c:pt>
              <c:pt idx="133">
                <c:v>2024.5</c:v>
              </c:pt>
              <c:pt idx="134">
                <c:v>2024.5833333333333</c:v>
              </c:pt>
              <c:pt idx="135">
                <c:v>2024.6666666666667</c:v>
              </c:pt>
              <c:pt idx="136">
                <c:v>2024.75</c:v>
              </c:pt>
              <c:pt idx="137">
                <c:v>2024.8333333333333</c:v>
              </c:pt>
              <c:pt idx="138">
                <c:v>2024.9166666666667</c:v>
              </c:pt>
              <c:pt idx="139">
                <c:v>2025</c:v>
              </c:pt>
              <c:pt idx="140">
                <c:v>2025.0833333333333</c:v>
              </c:pt>
              <c:pt idx="141">
                <c:v>2025.1666666666667</c:v>
              </c:pt>
              <c:pt idx="142">
                <c:v>2025.25</c:v>
              </c:pt>
              <c:pt idx="143">
                <c:v>2025.3333333333333</c:v>
              </c:pt>
              <c:pt idx="144">
                <c:v>2025.4166666666667</c:v>
              </c:pt>
              <c:pt idx="145">
                <c:v>2025.5</c:v>
              </c:pt>
              <c:pt idx="146">
                <c:v>2025.5833333333333</c:v>
              </c:pt>
              <c:pt idx="147">
                <c:v>2025.6666666666667</c:v>
              </c:pt>
              <c:pt idx="148">
                <c:v>2025.75</c:v>
              </c:pt>
              <c:pt idx="149">
                <c:v>2025.8333333333333</c:v>
              </c:pt>
              <c:pt idx="150">
                <c:v>2025.9166666666667</c:v>
              </c:pt>
            </c:numLit>
          </c:xVal>
          <c:yVal>
            <c:numLit>
              <c:formatCode>#,##0</c:formatCode>
              <c:ptCount val="151"/>
              <c:pt idx="0">
                <c:v>13.980406021284544</c:v>
              </c:pt>
              <c:pt idx="1">
                <c:v>10.966826710908144</c:v>
              </c:pt>
              <c:pt idx="2">
                <c:v>5.6718498385027321</c:v>
              </c:pt>
              <c:pt idx="3">
                <c:v>8.0023407960163251</c:v>
              </c:pt>
              <c:pt idx="4">
                <c:v>11.311201758062351</c:v>
              </c:pt>
              <c:pt idx="5">
                <c:v>12.822178253739063</c:v>
              </c:pt>
              <c:pt idx="6">
                <c:v>14.065025734121127</c:v>
              </c:pt>
              <c:pt idx="7">
                <c:v>11.298018166045507</c:v>
              </c:pt>
              <c:pt idx="8">
                <c:v>11.865097187826203</c:v>
              </c:pt>
              <c:pt idx="9">
                <c:v>12.330991362972911</c:v>
              </c:pt>
              <c:pt idx="10">
                <c:v>13.910234960748159</c:v>
              </c:pt>
              <c:pt idx="11">
                <c:v>13.289637977815449</c:v>
              </c:pt>
              <c:pt idx="12">
                <c:v>12.644763082306609</c:v>
              </c:pt>
              <c:pt idx="13">
                <c:v>12.784818382528311</c:v>
              </c:pt>
              <c:pt idx="14">
                <c:v>8.664103842092409</c:v>
              </c:pt>
              <c:pt idx="15">
                <c:v>8.5075959036218283</c:v>
              </c:pt>
              <c:pt idx="16">
                <c:v>9.095835865882357</c:v>
              </c:pt>
              <c:pt idx="17">
                <c:v>12.370980472015079</c:v>
              </c:pt>
              <c:pt idx="18">
                <c:v>12.120279385465977</c:v>
              </c:pt>
              <c:pt idx="19">
                <c:v>19.151151718976443</c:v>
              </c:pt>
              <c:pt idx="20">
                <c:v>26.380480711039869</c:v>
              </c:pt>
              <c:pt idx="21">
                <c:v>26.08230349899965</c:v>
              </c:pt>
              <c:pt idx="22">
                <c:v>30.612684404451535</c:v>
              </c:pt>
              <c:pt idx="23">
                <c:v>30.716146662032827</c:v>
              </c:pt>
              <c:pt idx="24">
                <c:v>39.543659170347887</c:v>
              </c:pt>
              <c:pt idx="25">
                <c:v>41.198645353937493</c:v>
              </c:pt>
              <c:pt idx="26">
                <c:v>39.446846307810162</c:v>
              </c:pt>
              <c:pt idx="27">
                <c:v>40.695245474027026</c:v>
              </c:pt>
              <c:pt idx="28">
                <c:v>44.101697333782433</c:v>
              </c:pt>
              <c:pt idx="29">
                <c:v>43.079121512042576</c:v>
              </c:pt>
              <c:pt idx="30">
                <c:v>38.052477282460416</c:v>
              </c:pt>
              <c:pt idx="31">
                <c:v>38.139821134289548</c:v>
              </c:pt>
              <c:pt idx="32">
                <c:v>33.807274465382349</c:v>
              </c:pt>
              <c:pt idx="33">
                <c:v>38.368888991566308</c:v>
              </c:pt>
              <c:pt idx="34">
                <c:v>45.584619383402064</c:v>
              </c:pt>
              <c:pt idx="35">
                <c:v>46.512504977879381</c:v>
              </c:pt>
              <c:pt idx="36">
                <c:v>40.610307741977991</c:v>
              </c:pt>
              <c:pt idx="37">
                <c:v>25.429755255641407</c:v>
              </c:pt>
              <c:pt idx="38">
                <c:v>16.792755104089331</c:v>
              </c:pt>
              <c:pt idx="39">
                <c:v>7.4505837584066228</c:v>
              </c:pt>
              <c:pt idx="40">
                <c:v>-0.22474327791580723</c:v>
              </c:pt>
              <c:pt idx="41">
                <c:v>-5.7379957595824198</c:v>
              </c:pt>
              <c:pt idx="42">
                <c:v>0.16606357858218568</c:v>
              </c:pt>
              <c:pt idx="43">
                <c:v>2.2522469468786355</c:v>
              </c:pt>
              <c:pt idx="44">
                <c:v>0.80712942883857597</c:v>
              </c:pt>
              <c:pt idx="45">
                <c:v>2.6699085720821532</c:v>
              </c:pt>
              <c:pt idx="46">
                <c:v>1.8819151006728689</c:v>
              </c:pt>
              <c:pt idx="47">
                <c:v>1.7924184041802114</c:v>
              </c:pt>
              <c:pt idx="48">
                <c:v>5.6253622263018901</c:v>
              </c:pt>
              <c:pt idx="49">
                <c:v>-0.95769565189690742</c:v>
              </c:pt>
              <c:pt idx="50">
                <c:v>-9.9797410534696418</c:v>
              </c:pt>
              <c:pt idx="51">
                <c:v>-6.2744207925580078</c:v>
              </c:pt>
              <c:pt idx="52">
                <c:v>4.2997364893637071</c:v>
              </c:pt>
              <c:pt idx="53">
                <c:v>4.4417350600556587</c:v>
              </c:pt>
              <c:pt idx="54">
                <c:v>11.074187810739449</c:v>
              </c:pt>
              <c:pt idx="55">
                <c:v>16.075313024799868</c:v>
              </c:pt>
              <c:pt idx="56">
                <c:v>15.631423563831188</c:v>
              </c:pt>
              <c:pt idx="57">
                <c:v>30.171896906349279</c:v>
              </c:pt>
              <c:pt idx="58">
                <c:v>31.845830219376715</c:v>
              </c:pt>
              <c:pt idx="59">
                <c:v>36.785135204499753</c:v>
              </c:pt>
              <c:pt idx="60">
                <c:v>38.080566488478723</c:v>
              </c:pt>
              <c:pt idx="61">
                <c:v>36.990200978729057</c:v>
              </c:pt>
              <c:pt idx="62">
                <c:v>41.336865302254253</c:v>
              </c:pt>
              <c:pt idx="63">
                <c:v>44.418135569746241</c:v>
              </c:pt>
              <c:pt idx="64">
                <c:v>43.514267023392073</c:v>
              </c:pt>
              <c:pt idx="65">
                <c:v>39.419847014792701</c:v>
              </c:pt>
              <c:pt idx="66">
                <c:v>40.185879083006625</c:v>
              </c:pt>
              <c:pt idx="67">
                <c:v>37.450138113449171</c:v>
              </c:pt>
              <c:pt idx="68">
                <c:v>35.508609424610832</c:v>
              </c:pt>
              <c:pt idx="69">
                <c:v>39.701416177744804</c:v>
              </c:pt>
              <c:pt idx="70">
                <c:v>36.519632547451607</c:v>
              </c:pt>
              <c:pt idx="71">
                <c:v>35.841309912590702</c:v>
              </c:pt>
              <c:pt idx="72">
                <c:v>36.872010849734593</c:v>
              </c:pt>
              <c:pt idx="73">
                <c:v>35.318048016590751</c:v>
              </c:pt>
              <c:pt idx="74">
                <c:v>35.482393238198583</c:v>
              </c:pt>
              <c:pt idx="75">
                <c:v>36.257137831062032</c:v>
              </c:pt>
              <c:pt idx="76">
                <c:v>33.696234816617306</c:v>
              </c:pt>
              <c:pt idx="77">
                <c:v>33.899962379005792</c:v>
              </c:pt>
              <c:pt idx="78">
                <c:v>30.806852733383899</c:v>
              </c:pt>
              <c:pt idx="79">
                <c:v>28.37091971752691</c:v>
              </c:pt>
              <c:pt idx="80">
                <c:v>27.900558006336965</c:v>
              </c:pt>
              <c:pt idx="81">
                <c:v>24.252273237601933</c:v>
              </c:pt>
              <c:pt idx="82">
                <c:v>30.921940430619379</c:v>
              </c:pt>
              <c:pt idx="83">
                <c:v>28.192208337738649</c:v>
              </c:pt>
              <c:pt idx="84">
                <c:v>24.832378377089217</c:v>
              </c:pt>
              <c:pt idx="85">
                <c:v>21.443578459237472</c:v>
              </c:pt>
              <c:pt idx="86">
                <c:v>14.885264577487629</c:v>
              </c:pt>
              <c:pt idx="87">
                <c:v>17.972564581094176</c:v>
              </c:pt>
              <c:pt idx="88">
                <c:v>14.281981814763551</c:v>
              </c:pt>
              <c:pt idx="89">
                <c:v>15.439548477580141</c:v>
              </c:pt>
              <c:pt idx="90">
                <c:v>13.376484952447832</c:v>
              </c:pt>
              <c:pt idx="91">
                <c:v>13.052167390602282</c:v>
              </c:pt>
              <c:pt idx="92">
                <c:v>12.807128759601976</c:v>
              </c:pt>
              <c:pt idx="93">
                <c:v>16.832021752598493</c:v>
              </c:pt>
              <c:pt idx="94">
                <c:v>17.257778938899495</c:v>
              </c:pt>
              <c:pt idx="95">
                <c:v>19.817349976409997</c:v>
              </c:pt>
              <c:pt idx="96">
                <c:v>20.350559238041885</c:v>
              </c:pt>
              <c:pt idx="97">
                <c:v>24.119939261207062</c:v>
              </c:pt>
              <c:pt idx="98">
                <c:v>25.875946388408046</c:v>
              </c:pt>
              <c:pt idx="99">
                <c:v>28.536945425871885</c:v>
              </c:pt>
              <c:pt idx="100">
                <c:v>28.830669927101297</c:v>
              </c:pt>
              <c:pt idx="101">
                <c:v>26.112996321347381</c:v>
              </c:pt>
              <c:pt idx="102">
                <c:v>27.794223287762655</c:v>
              </c:pt>
              <c:pt idx="103">
                <c:v>27.783020887412146</c:v>
              </c:pt>
              <c:pt idx="104">
                <c:v>28.705430475066191</c:v>
              </c:pt>
              <c:pt idx="105">
                <c:v>30.486209000277583</c:v>
              </c:pt>
              <c:pt idx="106">
                <c:v>31.413792962544406</c:v>
              </c:pt>
              <c:pt idx="107">
                <c:v>31.860838508550099</c:v>
              </c:pt>
              <c:pt idx="108">
                <c:v>31.253766148172879</c:v>
              </c:pt>
              <c:pt idx="109">
                <c:v>31.1023191257426</c:v>
              </c:pt>
              <c:pt idx="110">
                <c:v>31.132500166976346</c:v>
              </c:pt>
              <c:pt idx="111">
                <c:v>31.313520003179896</c:v>
              </c:pt>
              <c:pt idx="112">
                <c:v>31.547602778539986</c:v>
              </c:pt>
              <c:pt idx="113">
                <c:v>30.12973989868048</c:v>
              </c:pt>
              <c:pt idx="114">
                <c:v>29.361150243719116</c:v>
              </c:pt>
              <c:pt idx="115">
                <c:v>28.353661745353211</c:v>
              </c:pt>
              <c:pt idx="116">
                <c:v>26.560348028084537</c:v>
              </c:pt>
              <c:pt idx="117">
                <c:v>26.925172091353602</c:v>
              </c:pt>
              <c:pt idx="118">
                <c:v>27.07235568434491</c:v>
              </c:pt>
              <c:pt idx="119">
                <c:v>27.055395601785303</c:v>
              </c:pt>
              <c:pt idx="120">
                <c:v>24.557375744270086</c:v>
              </c:pt>
              <c:pt idx="121">
                <c:v>22.23805369998496</c:v>
              </c:pt>
              <c:pt idx="122">
                <c:v>12.852474370593535</c:v>
              </c:pt>
              <c:pt idx="123">
                <c:v>8.9218681238599622</c:v>
              </c:pt>
              <c:pt idx="124">
                <c:v>7.1952259450990042</c:v>
              </c:pt>
              <c:pt idx="125">
                <c:v>4.3427528379543805</c:v>
              </c:pt>
              <c:pt idx="126">
                <c:v>6.7983294504288123</c:v>
              </c:pt>
              <c:pt idx="127">
                <c:v>4.2416668451858737</c:v>
              </c:pt>
              <c:pt idx="128">
                <c:v>3.1660316837508584</c:v>
              </c:pt>
              <c:pt idx="129">
                <c:v>3.1010927754966073</c:v>
              </c:pt>
              <c:pt idx="130">
                <c:v>1.0053334220254386</c:v>
              </c:pt>
              <c:pt idx="131">
                <c:v>0.40228265283188874</c:v>
              </c:pt>
              <c:pt idx="132">
                <c:v>-1.2613527264365516</c:v>
              </c:pt>
              <c:pt idx="133">
                <c:v>-0.84954842782110296</c:v>
              </c:pt>
              <c:pt idx="134">
                <c:v>-2.1360301490173819</c:v>
              </c:pt>
              <c:pt idx="135">
                <c:v>-3.5344043571588957</c:v>
              </c:pt>
              <c:pt idx="136">
                <c:v>-4.2527517428048904</c:v>
              </c:pt>
              <c:pt idx="137">
                <c:v>-4.1175140873314593</c:v>
              </c:pt>
              <c:pt idx="138">
                <c:v>-5.4537694943458259</c:v>
              </c:pt>
              <c:pt idx="139">
                <c:v>-6.8973226818434323</c:v>
              </c:pt>
              <c:pt idx="140">
                <c:v>-7.4886139126794991</c:v>
              </c:pt>
              <c:pt idx="141">
                <c:v>-7.2145053187861503</c:v>
              </c:pt>
              <c:pt idx="142">
                <c:v>-4.9450091989582985</c:v>
              </c:pt>
              <c:pt idx="143">
                <c:v>-6.7666426520558396</c:v>
              </c:pt>
              <c:pt idx="144">
                <c:v>-6.6260929453504707</c:v>
              </c:pt>
              <c:pt idx="145">
                <c:v>-9.1425792372323507</c:v>
              </c:pt>
              <c:pt idx="146">
                <c:v>-12.087917446268834</c:v>
              </c:pt>
              <c:pt idx="147">
                <c:v>-11.763910772834768</c:v>
              </c:pt>
              <c:pt idx="148">
                <c:v>-8.9825701082155707</c:v>
              </c:pt>
              <c:pt idx="149">
                <c:v>-8.5602477678484217</c:v>
              </c:pt>
              <c:pt idx="150">
                <c:v>-11.931380226143583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F07F-1B4A-8B68-56DFB39253BD}"/>
            </c:ext>
          </c:extLst>
        </c:ser>
        <c:ser>
          <c:idx val="1"/>
          <c:order val="1"/>
          <c:tx>
            <c:v>Expanding</c:v>
          </c:tx>
          <c:spPr>
            <a:ln w="28575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151"/>
              <c:pt idx="0">
                <c:v>2013.4166666666667</c:v>
              </c:pt>
              <c:pt idx="1">
                <c:v>2013.5</c:v>
              </c:pt>
              <c:pt idx="2">
                <c:v>2013.5833333333333</c:v>
              </c:pt>
              <c:pt idx="3">
                <c:v>2013.6666666666667</c:v>
              </c:pt>
              <c:pt idx="4">
                <c:v>2013.75</c:v>
              </c:pt>
              <c:pt idx="5">
                <c:v>2013.8333333333333</c:v>
              </c:pt>
              <c:pt idx="6">
                <c:v>2013.9166666666667</c:v>
              </c:pt>
              <c:pt idx="7">
                <c:v>2014</c:v>
              </c:pt>
              <c:pt idx="8">
                <c:v>2014.0833333333333</c:v>
              </c:pt>
              <c:pt idx="9">
                <c:v>2014.1666666666667</c:v>
              </c:pt>
              <c:pt idx="10">
                <c:v>2014.25</c:v>
              </c:pt>
              <c:pt idx="11">
                <c:v>2014.3333333333333</c:v>
              </c:pt>
              <c:pt idx="12">
                <c:v>2014.4166666666667</c:v>
              </c:pt>
              <c:pt idx="13">
                <c:v>2014.5</c:v>
              </c:pt>
              <c:pt idx="14">
                <c:v>2014.5833333333333</c:v>
              </c:pt>
              <c:pt idx="15">
                <c:v>2014.6666666666667</c:v>
              </c:pt>
              <c:pt idx="16">
                <c:v>2014.75</c:v>
              </c:pt>
              <c:pt idx="17">
                <c:v>2014.8333333333333</c:v>
              </c:pt>
              <c:pt idx="18">
                <c:v>2014.9166666666667</c:v>
              </c:pt>
              <c:pt idx="19">
                <c:v>2015</c:v>
              </c:pt>
              <c:pt idx="20">
                <c:v>2015.0833333333333</c:v>
              </c:pt>
              <c:pt idx="21">
                <c:v>2015.1666666666667</c:v>
              </c:pt>
              <c:pt idx="22">
                <c:v>2015.25</c:v>
              </c:pt>
              <c:pt idx="23">
                <c:v>2015.3333333333333</c:v>
              </c:pt>
              <c:pt idx="24">
                <c:v>2015.4166666666667</c:v>
              </c:pt>
              <c:pt idx="25">
                <c:v>2015.5</c:v>
              </c:pt>
              <c:pt idx="26">
                <c:v>2015.5833333333333</c:v>
              </c:pt>
              <c:pt idx="27">
                <c:v>2015.6666666666667</c:v>
              </c:pt>
              <c:pt idx="28">
                <c:v>2015.75</c:v>
              </c:pt>
              <c:pt idx="29">
                <c:v>2015.8333333333333</c:v>
              </c:pt>
              <c:pt idx="30">
                <c:v>2015.9166666666667</c:v>
              </c:pt>
              <c:pt idx="31">
                <c:v>2016</c:v>
              </c:pt>
              <c:pt idx="32">
                <c:v>2016.0833333333333</c:v>
              </c:pt>
              <c:pt idx="33">
                <c:v>2016.1666666666667</c:v>
              </c:pt>
              <c:pt idx="34">
                <c:v>2016.25</c:v>
              </c:pt>
              <c:pt idx="35">
                <c:v>2016.3333333333333</c:v>
              </c:pt>
              <c:pt idx="36">
                <c:v>2016.4166666666667</c:v>
              </c:pt>
              <c:pt idx="37">
                <c:v>2016.5</c:v>
              </c:pt>
              <c:pt idx="38">
                <c:v>2016.5833333333333</c:v>
              </c:pt>
              <c:pt idx="39">
                <c:v>2016.6666666666667</c:v>
              </c:pt>
              <c:pt idx="40">
                <c:v>2016.75</c:v>
              </c:pt>
              <c:pt idx="41">
                <c:v>2016.8333333333333</c:v>
              </c:pt>
              <c:pt idx="42">
                <c:v>2016.9166666666667</c:v>
              </c:pt>
              <c:pt idx="43">
                <c:v>2017</c:v>
              </c:pt>
              <c:pt idx="44">
                <c:v>2017.0833333333333</c:v>
              </c:pt>
              <c:pt idx="45">
                <c:v>2017.1666666666667</c:v>
              </c:pt>
              <c:pt idx="46">
                <c:v>2017.25</c:v>
              </c:pt>
              <c:pt idx="47">
                <c:v>2017.3333333333333</c:v>
              </c:pt>
              <c:pt idx="48">
                <c:v>2017.4166666666667</c:v>
              </c:pt>
              <c:pt idx="49">
                <c:v>2017.5</c:v>
              </c:pt>
              <c:pt idx="50">
                <c:v>2017.5833333333333</c:v>
              </c:pt>
              <c:pt idx="51">
                <c:v>2017.6666666666667</c:v>
              </c:pt>
              <c:pt idx="52">
                <c:v>2017.75</c:v>
              </c:pt>
              <c:pt idx="53">
                <c:v>2017.8333333333333</c:v>
              </c:pt>
              <c:pt idx="54">
                <c:v>2017.9166666666667</c:v>
              </c:pt>
              <c:pt idx="55">
                <c:v>2018</c:v>
              </c:pt>
              <c:pt idx="56">
                <c:v>2018.0833333333333</c:v>
              </c:pt>
              <c:pt idx="57">
                <c:v>2018.1666666666667</c:v>
              </c:pt>
              <c:pt idx="58">
                <c:v>2018.25</c:v>
              </c:pt>
              <c:pt idx="59">
                <c:v>2018.3333333333333</c:v>
              </c:pt>
              <c:pt idx="60">
                <c:v>2018.4166666666667</c:v>
              </c:pt>
              <c:pt idx="61">
                <c:v>2018.5</c:v>
              </c:pt>
              <c:pt idx="62">
                <c:v>2018.5833333333333</c:v>
              </c:pt>
              <c:pt idx="63">
                <c:v>2018.6666666666667</c:v>
              </c:pt>
              <c:pt idx="64">
                <c:v>2018.75</c:v>
              </c:pt>
              <c:pt idx="65">
                <c:v>2018.8333333333333</c:v>
              </c:pt>
              <c:pt idx="66">
                <c:v>2018.9166666666667</c:v>
              </c:pt>
              <c:pt idx="67">
                <c:v>2019</c:v>
              </c:pt>
              <c:pt idx="68">
                <c:v>2019.0833333333333</c:v>
              </c:pt>
              <c:pt idx="69">
                <c:v>2019.1666666666667</c:v>
              </c:pt>
              <c:pt idx="70">
                <c:v>2019.25</c:v>
              </c:pt>
              <c:pt idx="71">
                <c:v>2019.3333333333333</c:v>
              </c:pt>
              <c:pt idx="72">
                <c:v>2019.4166666666667</c:v>
              </c:pt>
              <c:pt idx="73">
                <c:v>2019.5</c:v>
              </c:pt>
              <c:pt idx="74">
                <c:v>2019.5833333333333</c:v>
              </c:pt>
              <c:pt idx="75">
                <c:v>2019.6666666666667</c:v>
              </c:pt>
              <c:pt idx="76">
                <c:v>2019.75</c:v>
              </c:pt>
              <c:pt idx="77">
                <c:v>2019.8333333333333</c:v>
              </c:pt>
              <c:pt idx="78">
                <c:v>2019.9166666666667</c:v>
              </c:pt>
              <c:pt idx="79">
                <c:v>2020</c:v>
              </c:pt>
              <c:pt idx="80">
                <c:v>2020.0833333333333</c:v>
              </c:pt>
              <c:pt idx="81">
                <c:v>2020.1666666666667</c:v>
              </c:pt>
              <c:pt idx="82">
                <c:v>2020.25</c:v>
              </c:pt>
              <c:pt idx="83">
                <c:v>2020.3333333333333</c:v>
              </c:pt>
              <c:pt idx="84">
                <c:v>2020.4166666666667</c:v>
              </c:pt>
              <c:pt idx="85">
                <c:v>2020.5</c:v>
              </c:pt>
              <c:pt idx="86">
                <c:v>2020.5833333333333</c:v>
              </c:pt>
              <c:pt idx="87">
                <c:v>2020.6666666666667</c:v>
              </c:pt>
              <c:pt idx="88">
                <c:v>2020.75</c:v>
              </c:pt>
              <c:pt idx="89">
                <c:v>2020.8333333333333</c:v>
              </c:pt>
              <c:pt idx="90">
                <c:v>2020.9166666666667</c:v>
              </c:pt>
              <c:pt idx="91">
                <c:v>2021</c:v>
              </c:pt>
              <c:pt idx="92">
                <c:v>2021.0833333333333</c:v>
              </c:pt>
              <c:pt idx="93">
                <c:v>2021.1666666666667</c:v>
              </c:pt>
              <c:pt idx="94">
                <c:v>2021.25</c:v>
              </c:pt>
              <c:pt idx="95">
                <c:v>2021.3333333333333</c:v>
              </c:pt>
              <c:pt idx="96">
                <c:v>2021.4166666666667</c:v>
              </c:pt>
              <c:pt idx="97">
                <c:v>2021.5</c:v>
              </c:pt>
              <c:pt idx="98">
                <c:v>2021.5833333333333</c:v>
              </c:pt>
              <c:pt idx="99">
                <c:v>2021.6666666666667</c:v>
              </c:pt>
              <c:pt idx="100">
                <c:v>2021.75</c:v>
              </c:pt>
              <c:pt idx="101">
                <c:v>2021.8333333333333</c:v>
              </c:pt>
              <c:pt idx="102">
                <c:v>2021.9166666666667</c:v>
              </c:pt>
              <c:pt idx="103">
                <c:v>2022</c:v>
              </c:pt>
              <c:pt idx="104">
                <c:v>2022.0833333333333</c:v>
              </c:pt>
              <c:pt idx="105">
                <c:v>2022.1666666666667</c:v>
              </c:pt>
              <c:pt idx="106">
                <c:v>2022.25</c:v>
              </c:pt>
              <c:pt idx="107">
                <c:v>2022.3333333333333</c:v>
              </c:pt>
              <c:pt idx="108">
                <c:v>2022.4166666666667</c:v>
              </c:pt>
              <c:pt idx="109">
                <c:v>2022.5</c:v>
              </c:pt>
              <c:pt idx="110">
                <c:v>2022.5833333333333</c:v>
              </c:pt>
              <c:pt idx="111">
                <c:v>2022.6666666666667</c:v>
              </c:pt>
              <c:pt idx="112">
                <c:v>2022.75</c:v>
              </c:pt>
              <c:pt idx="113">
                <c:v>2022.8333333333333</c:v>
              </c:pt>
              <c:pt idx="114">
                <c:v>2022.9166666666667</c:v>
              </c:pt>
              <c:pt idx="115">
                <c:v>2023</c:v>
              </c:pt>
              <c:pt idx="116">
                <c:v>2023.0833333333333</c:v>
              </c:pt>
              <c:pt idx="117">
                <c:v>2023.1666666666667</c:v>
              </c:pt>
              <c:pt idx="118">
                <c:v>2023.25</c:v>
              </c:pt>
              <c:pt idx="119">
                <c:v>2023.3333333333333</c:v>
              </c:pt>
              <c:pt idx="120">
                <c:v>2023.4166666666667</c:v>
              </c:pt>
              <c:pt idx="121">
                <c:v>2023.5</c:v>
              </c:pt>
              <c:pt idx="122">
                <c:v>2023.5833333333333</c:v>
              </c:pt>
              <c:pt idx="123">
                <c:v>2023.6666666666667</c:v>
              </c:pt>
              <c:pt idx="124">
                <c:v>2023.75</c:v>
              </c:pt>
              <c:pt idx="125">
                <c:v>2023.8333333333333</c:v>
              </c:pt>
              <c:pt idx="126">
                <c:v>2023.9166666666667</c:v>
              </c:pt>
              <c:pt idx="127">
                <c:v>2024</c:v>
              </c:pt>
              <c:pt idx="128">
                <c:v>2024.0833333333333</c:v>
              </c:pt>
              <c:pt idx="129">
                <c:v>2024.1666666666667</c:v>
              </c:pt>
              <c:pt idx="130">
                <c:v>2024.25</c:v>
              </c:pt>
              <c:pt idx="131">
                <c:v>2024.3333333333333</c:v>
              </c:pt>
              <c:pt idx="132">
                <c:v>2024.4166666666667</c:v>
              </c:pt>
              <c:pt idx="133">
                <c:v>2024.5</c:v>
              </c:pt>
              <c:pt idx="134">
                <c:v>2024.5833333333333</c:v>
              </c:pt>
              <c:pt idx="135">
                <c:v>2024.6666666666667</c:v>
              </c:pt>
              <c:pt idx="136">
                <c:v>2024.75</c:v>
              </c:pt>
              <c:pt idx="137">
                <c:v>2024.8333333333333</c:v>
              </c:pt>
              <c:pt idx="138">
                <c:v>2024.9166666666667</c:v>
              </c:pt>
              <c:pt idx="139">
                <c:v>2025</c:v>
              </c:pt>
              <c:pt idx="140">
                <c:v>2025.0833333333333</c:v>
              </c:pt>
              <c:pt idx="141">
                <c:v>2025.1666666666667</c:v>
              </c:pt>
              <c:pt idx="142">
                <c:v>2025.25</c:v>
              </c:pt>
              <c:pt idx="143">
                <c:v>2025.3333333333333</c:v>
              </c:pt>
              <c:pt idx="144">
                <c:v>2025.4166666666667</c:v>
              </c:pt>
              <c:pt idx="145">
                <c:v>2025.5</c:v>
              </c:pt>
              <c:pt idx="146">
                <c:v>2025.5833333333333</c:v>
              </c:pt>
              <c:pt idx="147">
                <c:v>2025.6666666666667</c:v>
              </c:pt>
              <c:pt idx="148">
                <c:v>2025.75</c:v>
              </c:pt>
              <c:pt idx="149">
                <c:v>2025.8333333333333</c:v>
              </c:pt>
              <c:pt idx="150">
                <c:v>2025.9166666666667</c:v>
              </c:pt>
            </c:numLit>
          </c:xVal>
          <c:yVal>
            <c:numLit>
              <c:formatCode>#,##0</c:formatCode>
              <c:ptCount val="151"/>
              <c:pt idx="0">
                <c:v>13.980406021284544</c:v>
              </c:pt>
              <c:pt idx="1">
                <c:v>14.986609243644272</c:v>
              </c:pt>
              <c:pt idx="2">
                <c:v>13.954194811508161</c:v>
              </c:pt>
              <c:pt idx="3">
                <c:v>13.014060306668535</c:v>
              </c:pt>
              <c:pt idx="4">
                <c:v>15.345593681010959</c:v>
              </c:pt>
              <c:pt idx="5">
                <c:v>15.120313363957889</c:v>
              </c:pt>
              <c:pt idx="6">
                <c:v>15.853878179057455</c:v>
              </c:pt>
              <c:pt idx="7">
                <c:v>15.669452091777915</c:v>
              </c:pt>
              <c:pt idx="8">
                <c:v>14.829019759909972</c:v>
              </c:pt>
              <c:pt idx="9">
                <c:v>15.012902477810012</c:v>
              </c:pt>
              <c:pt idx="10">
                <c:v>16.076632566789439</c:v>
              </c:pt>
              <c:pt idx="11">
                <c:v>16.490251881485474</c:v>
              </c:pt>
              <c:pt idx="12">
                <c:v>16.794564724460649</c:v>
              </c:pt>
              <c:pt idx="13">
                <c:v>17.329438880799231</c:v>
              </c:pt>
              <c:pt idx="14">
                <c:v>17.202629115803813</c:v>
              </c:pt>
              <c:pt idx="15">
                <c:v>17.226595852209091</c:v>
              </c:pt>
              <c:pt idx="16">
                <c:v>17.718628922768445</c:v>
              </c:pt>
              <c:pt idx="17">
                <c:v>17.599120332749258</c:v>
              </c:pt>
              <c:pt idx="18">
                <c:v>17.405207614524159</c:v>
              </c:pt>
              <c:pt idx="19">
                <c:v>17.42932266554844</c:v>
              </c:pt>
              <c:pt idx="20">
                <c:v>17.440465562569273</c:v>
              </c:pt>
              <c:pt idx="21">
                <c:v>18.315272592128721</c:v>
              </c:pt>
              <c:pt idx="22">
                <c:v>18.811511736392173</c:v>
              </c:pt>
              <c:pt idx="23">
                <c:v>18.888260035319604</c:v>
              </c:pt>
              <c:pt idx="24">
                <c:v>20.374770447145668</c:v>
              </c:pt>
              <c:pt idx="25">
                <c:v>20.872699598344884</c:v>
              </c:pt>
              <c:pt idx="26">
                <c:v>20.934044951035631</c:v>
              </c:pt>
              <c:pt idx="27">
                <c:v>21.213711358123671</c:v>
              </c:pt>
              <c:pt idx="28">
                <c:v>21.396211145283239</c:v>
              </c:pt>
              <c:pt idx="29">
                <c:v>21.250968514459984</c:v>
              </c:pt>
              <c:pt idx="30">
                <c:v>21.134720667128491</c:v>
              </c:pt>
              <c:pt idx="31">
                <c:v>20.640416841169191</c:v>
              </c:pt>
              <c:pt idx="32">
                <c:v>20.731711622801797</c:v>
              </c:pt>
              <c:pt idx="33">
                <c:v>22.745828080678727</c:v>
              </c:pt>
              <c:pt idx="34">
                <c:v>22.550465611674269</c:v>
              </c:pt>
              <c:pt idx="35">
                <c:v>23.124203355680759</c:v>
              </c:pt>
              <c:pt idx="36">
                <c:v>22.892131064550082</c:v>
              </c:pt>
              <c:pt idx="37">
                <c:v>22.195383835559095</c:v>
              </c:pt>
              <c:pt idx="38">
                <c:v>22.747495296890701</c:v>
              </c:pt>
              <c:pt idx="39">
                <c:v>22.599636689142727</c:v>
              </c:pt>
              <c:pt idx="40">
                <c:v>21.913603028045163</c:v>
              </c:pt>
              <c:pt idx="41">
                <c:v>21.36325829246293</c:v>
              </c:pt>
              <c:pt idx="42">
                <c:v>21.805314846935978</c:v>
              </c:pt>
              <c:pt idx="43">
                <c:v>21.988423010922009</c:v>
              </c:pt>
              <c:pt idx="44">
                <c:v>22.093914782837775</c:v>
              </c:pt>
              <c:pt idx="45">
                <c:v>22.091996301649651</c:v>
              </c:pt>
              <c:pt idx="46">
                <c:v>22.063701423588185</c:v>
              </c:pt>
              <c:pt idx="47">
                <c:v>22.064389391225387</c:v>
              </c:pt>
              <c:pt idx="48">
                <c:v>22.043206348481782</c:v>
              </c:pt>
              <c:pt idx="49">
                <c:v>22.083263157366918</c:v>
              </c:pt>
              <c:pt idx="50">
                <c:v>22.100783185204605</c:v>
              </c:pt>
              <c:pt idx="51">
                <c:v>21.662567487520395</c:v>
              </c:pt>
              <c:pt idx="52">
                <c:v>21.788502344769537</c:v>
              </c:pt>
              <c:pt idx="53">
                <c:v>21.80691700891062</c:v>
              </c:pt>
              <c:pt idx="54">
                <c:v>21.776707859553184</c:v>
              </c:pt>
              <c:pt idx="55">
                <c:v>21.790921024132309</c:v>
              </c:pt>
              <c:pt idx="56">
                <c:v>21.697977015619099</c:v>
              </c:pt>
              <c:pt idx="57">
                <c:v>22.402387578706712</c:v>
              </c:pt>
              <c:pt idx="58">
                <c:v>22.370551068079564</c:v>
              </c:pt>
              <c:pt idx="59">
                <c:v>22.611245088930762</c:v>
              </c:pt>
              <c:pt idx="60">
                <c:v>22.697058544351609</c:v>
              </c:pt>
              <c:pt idx="61">
                <c:v>22.71089893580989</c:v>
              </c:pt>
              <c:pt idx="62">
                <c:v>22.903314311515899</c:v>
              </c:pt>
              <c:pt idx="63">
                <c:v>23.112255708858321</c:v>
              </c:pt>
              <c:pt idx="64">
                <c:v>23.209024305149612</c:v>
              </c:pt>
              <c:pt idx="65">
                <c:v>23.009615139895175</c:v>
              </c:pt>
              <c:pt idx="66">
                <c:v>23.46879431488895</c:v>
              </c:pt>
              <c:pt idx="67">
                <c:v>23.408687645027644</c:v>
              </c:pt>
              <c:pt idx="68">
                <c:v>23.146429174705567</c:v>
              </c:pt>
              <c:pt idx="69">
                <c:v>24.559055928721193</c:v>
              </c:pt>
              <c:pt idx="70">
                <c:v>23.896245978630667</c:v>
              </c:pt>
              <c:pt idx="71">
                <c:v>24.034695266087603</c:v>
              </c:pt>
              <c:pt idx="72">
                <c:v>24.574221776633685</c:v>
              </c:pt>
              <c:pt idx="73">
                <c:v>24.391974543036365</c:v>
              </c:pt>
              <c:pt idx="74">
                <c:v>25.139159412961298</c:v>
              </c:pt>
              <c:pt idx="75">
                <c:v>25.171264704476183</c:v>
              </c:pt>
              <c:pt idx="76">
                <c:v>25.048976254408903</c:v>
              </c:pt>
              <c:pt idx="77">
                <c:v>24.889886311694944</c:v>
              </c:pt>
              <c:pt idx="78">
                <c:v>23.937545571847604</c:v>
              </c:pt>
              <c:pt idx="79">
                <c:v>23.991125663677476</c:v>
              </c:pt>
              <c:pt idx="80">
                <c:v>23.785250838656498</c:v>
              </c:pt>
              <c:pt idx="81">
                <c:v>22.442712876525814</c:v>
              </c:pt>
              <c:pt idx="82">
                <c:v>19.395074395317074</c:v>
              </c:pt>
              <c:pt idx="83">
                <c:v>17.989898775493305</c:v>
              </c:pt>
              <c:pt idx="84">
                <c:v>17.243285222164282</c:v>
              </c:pt>
              <c:pt idx="85">
                <c:v>16.727028156772942</c:v>
              </c:pt>
              <c:pt idx="86">
                <c:v>16.346259049843379</c:v>
              </c:pt>
              <c:pt idx="87">
                <c:v>16.414673499242916</c:v>
              </c:pt>
              <c:pt idx="88">
                <c:v>16.363582084030298</c:v>
              </c:pt>
              <c:pt idx="89">
                <c:v>16.423239827304148</c:v>
              </c:pt>
              <c:pt idx="90">
                <c:v>15.83144100173625</c:v>
              </c:pt>
              <c:pt idx="91">
                <c:v>15.77788728722099</c:v>
              </c:pt>
              <c:pt idx="92">
                <c:v>15.273335913515433</c:v>
              </c:pt>
              <c:pt idx="93">
                <c:v>15.609634402493921</c:v>
              </c:pt>
              <c:pt idx="94">
                <c:v>15.712318083654562</c:v>
              </c:pt>
              <c:pt idx="95">
                <c:v>16.1121126211412</c:v>
              </c:pt>
              <c:pt idx="96">
                <c:v>16.316918523848265</c:v>
              </c:pt>
              <c:pt idx="97">
                <c:v>16.817061312066869</c:v>
              </c:pt>
              <c:pt idx="98">
                <c:v>17.223968056170126</c:v>
              </c:pt>
              <c:pt idx="99">
                <c:v>17.460395078280797</c:v>
              </c:pt>
              <c:pt idx="100">
                <c:v>17.833032529024695</c:v>
              </c:pt>
              <c:pt idx="101">
                <c:v>17.543029421166228</c:v>
              </c:pt>
              <c:pt idx="102">
                <c:v>17.989788271725146</c:v>
              </c:pt>
              <c:pt idx="103">
                <c:v>18.215556142526292</c:v>
              </c:pt>
              <c:pt idx="104">
                <c:v>18.37865005087048</c:v>
              </c:pt>
              <c:pt idx="105">
                <c:v>18.899360992303617</c:v>
              </c:pt>
              <c:pt idx="106">
                <c:v>19.27711099837504</c:v>
              </c:pt>
              <c:pt idx="107">
                <c:v>19.645444505756938</c:v>
              </c:pt>
              <c:pt idx="108">
                <c:v>19.559460933524488</c:v>
              </c:pt>
              <c:pt idx="109">
                <c:v>19.583359573071657</c:v>
              </c:pt>
              <c:pt idx="110">
                <c:v>19.750901397262883</c:v>
              </c:pt>
              <c:pt idx="111">
                <c:v>19.816251215392302</c:v>
              </c:pt>
              <c:pt idx="112">
                <c:v>20.12019124269121</c:v>
              </c:pt>
              <c:pt idx="113">
                <c:v>19.915570716052681</c:v>
              </c:pt>
              <c:pt idx="114">
                <c:v>19.976439463464931</c:v>
              </c:pt>
              <c:pt idx="115">
                <c:v>19.826966741585508</c:v>
              </c:pt>
              <c:pt idx="116">
                <c:v>19.587470899999609</c:v>
              </c:pt>
              <c:pt idx="117">
                <c:v>19.752741384274689</c:v>
              </c:pt>
              <c:pt idx="118">
                <c:v>19.79615627037095</c:v>
              </c:pt>
              <c:pt idx="119">
                <c:v>19.816147379516153</c:v>
              </c:pt>
              <c:pt idx="120">
                <c:v>19.731133617152341</c:v>
              </c:pt>
              <c:pt idx="121">
                <c:v>19.650220904796548</c:v>
              </c:pt>
              <c:pt idx="122">
                <c:v>19.545993162524372</c:v>
              </c:pt>
              <c:pt idx="123">
                <c:v>19.435917352816688</c:v>
              </c:pt>
              <c:pt idx="124">
                <c:v>19.404612315237287</c:v>
              </c:pt>
              <c:pt idx="125">
                <c:v>19.243622018503824</c:v>
              </c:pt>
              <c:pt idx="126">
                <c:v>19.243290236507516</c:v>
              </c:pt>
              <c:pt idx="127">
                <c:v>19.004140610817654</c:v>
              </c:pt>
              <c:pt idx="128">
                <c:v>18.863121256161619</c:v>
              </c:pt>
              <c:pt idx="129">
                <c:v>18.839104317092691</c:v>
              </c:pt>
              <c:pt idx="130">
                <c:v>18.647596862008406</c:v>
              </c:pt>
              <c:pt idx="131">
                <c:v>18.519609246122183</c:v>
              </c:pt>
              <c:pt idx="132">
                <c:v>18.339376361070613</c:v>
              </c:pt>
              <c:pt idx="133">
                <c:v>18.195037748153791</c:v>
              </c:pt>
              <c:pt idx="134">
                <c:v>18.063674012334364</c:v>
              </c:pt>
              <c:pt idx="135">
                <c:v>17.891049139986617</c:v>
              </c:pt>
              <c:pt idx="136">
                <c:v>17.743346768055819</c:v>
              </c:pt>
              <c:pt idx="137">
                <c:v>17.562205657640476</c:v>
              </c:pt>
              <c:pt idx="138">
                <c:v>17.174718574164107</c:v>
              </c:pt>
              <c:pt idx="139">
                <c:v>16.91482977117796</c:v>
              </c:pt>
              <c:pt idx="140">
                <c:v>16.646706383847139</c:v>
              </c:pt>
              <c:pt idx="141">
                <c:v>16.512505777929103</c:v>
              </c:pt>
              <c:pt idx="142">
                <c:v>16.339648777956853</c:v>
              </c:pt>
              <c:pt idx="143">
                <c:v>16.193353941930344</c:v>
              </c:pt>
              <c:pt idx="144">
                <c:v>16.020591641708499</c:v>
              </c:pt>
              <c:pt idx="145">
                <c:v>15.800325904291828</c:v>
              </c:pt>
              <c:pt idx="146">
                <c:v>15.655343115558651</c:v>
              </c:pt>
              <c:pt idx="147">
                <c:v>15.412824946626197</c:v>
              </c:pt>
              <c:pt idx="148">
                <c:v>15.296212979358758</c:v>
              </c:pt>
              <c:pt idx="149">
                <c:v>15.114398252589078</c:v>
              </c:pt>
              <c:pt idx="150">
                <c:v>14.849276311440008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1-F07F-1B4A-8B68-56DFB39253BD}"/>
            </c:ext>
          </c:extLst>
        </c:ser>
        <c:ser>
          <c:idx val="2"/>
          <c:order val="2"/>
          <c:tx>
            <c:v>Zero</c:v>
          </c:tx>
          <c:spPr>
            <a:ln w="9525">
              <a:solidFill>
                <a:srgbClr val="5D6B75"/>
              </a:solidFill>
              <a:prstDash val="dot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2013</c:v>
              </c:pt>
              <c:pt idx="1">
                <c:v>2026</c:v>
              </c:pt>
            </c:numLit>
          </c:xVal>
          <c:yVal>
            <c:numLit>
              <c:formatCode>#,##0</c:formatCode>
              <c:ptCount val="2"/>
              <c:pt idx="0">
                <c:v>0</c:v>
              </c:pt>
              <c:pt idx="1">
                <c:v>0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2-F07F-1B4A-8B68-56DFB39253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60"/>
          <c:min val="-20"/>
        </c:scaling>
        <c:delete val="0"/>
        <c:axPos val="l"/>
        <c:majorGridlines>
          <c:spPr>
            <a:ln w="9525">
              <a:solidFill>
                <a:srgbClr val="D7DE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125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Fee units per index point</a:t>
                </a:r>
              </a:p>
            </c:rich>
          </c:tx>
          <c:overlay val="0"/>
        </c:title>
        <c:numFmt formatCode="#,##0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12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  <c:majorUnit val="20"/>
      </c:valAx>
      <c:valAx>
        <c:axId val="48650112"/>
        <c:scaling>
          <c:orientation val="minMax"/>
          <c:max val="2026"/>
          <c:min val="2013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7DEE3"/>
            </a:solidFill>
          </a:ln>
        </c:spPr>
        <c:txPr>
          <a:bodyPr anchorCtr="1"/>
          <a:lstStyle/>
          <a:p>
            <a:pPr>
              <a:defRPr sz="112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3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125">
              <a:solidFill>
                <a:srgbClr val="252F38"/>
              </a:solidFill>
              <a:latin typeface="Arial"/>
              <a:ea typeface="Arial"/>
              <a:cs typeface="Arial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en" sz="1650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Small-business optimism coefficient</a:t>
            </a:r>
          </a:p>
        </c:rich>
      </c:tx>
      <c:overlay val="0"/>
    </c:title>
    <c:autoTitleDeleted val="0"/>
    <c:plotArea>
      <c:layout/>
      <c:scatterChart>
        <c:scatterStyle val="lineMarker"/>
        <c:varyColors val="1"/>
        <c:ser>
          <c:idx val="0"/>
          <c:order val="0"/>
          <c:tx>
            <c:v>30-month rolling</c:v>
          </c:tx>
          <c:spPr>
            <a:ln w="19050">
              <a:solidFill>
                <a:srgbClr val="97A5AF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151"/>
              <c:pt idx="0">
                <c:v>2013.4166666666667</c:v>
              </c:pt>
              <c:pt idx="1">
                <c:v>2013.5</c:v>
              </c:pt>
              <c:pt idx="2">
                <c:v>2013.5833333333333</c:v>
              </c:pt>
              <c:pt idx="3">
                <c:v>2013.6666666666667</c:v>
              </c:pt>
              <c:pt idx="4">
                <c:v>2013.75</c:v>
              </c:pt>
              <c:pt idx="5">
                <c:v>2013.8333333333333</c:v>
              </c:pt>
              <c:pt idx="6">
                <c:v>2013.9166666666667</c:v>
              </c:pt>
              <c:pt idx="7">
                <c:v>2014</c:v>
              </c:pt>
              <c:pt idx="8">
                <c:v>2014.0833333333333</c:v>
              </c:pt>
              <c:pt idx="9">
                <c:v>2014.1666666666667</c:v>
              </c:pt>
              <c:pt idx="10">
                <c:v>2014.25</c:v>
              </c:pt>
              <c:pt idx="11">
                <c:v>2014.3333333333333</c:v>
              </c:pt>
              <c:pt idx="12">
                <c:v>2014.4166666666667</c:v>
              </c:pt>
              <c:pt idx="13">
                <c:v>2014.5</c:v>
              </c:pt>
              <c:pt idx="14">
                <c:v>2014.5833333333333</c:v>
              </c:pt>
              <c:pt idx="15">
                <c:v>2014.6666666666667</c:v>
              </c:pt>
              <c:pt idx="16">
                <c:v>2014.75</c:v>
              </c:pt>
              <c:pt idx="17">
                <c:v>2014.8333333333333</c:v>
              </c:pt>
              <c:pt idx="18">
                <c:v>2014.9166666666667</c:v>
              </c:pt>
              <c:pt idx="19">
                <c:v>2015</c:v>
              </c:pt>
              <c:pt idx="20">
                <c:v>2015.0833333333333</c:v>
              </c:pt>
              <c:pt idx="21">
                <c:v>2015.1666666666667</c:v>
              </c:pt>
              <c:pt idx="22">
                <c:v>2015.25</c:v>
              </c:pt>
              <c:pt idx="23">
                <c:v>2015.3333333333333</c:v>
              </c:pt>
              <c:pt idx="24">
                <c:v>2015.4166666666667</c:v>
              </c:pt>
              <c:pt idx="25">
                <c:v>2015.5</c:v>
              </c:pt>
              <c:pt idx="26">
                <c:v>2015.5833333333333</c:v>
              </c:pt>
              <c:pt idx="27">
                <c:v>2015.6666666666667</c:v>
              </c:pt>
              <c:pt idx="28">
                <c:v>2015.75</c:v>
              </c:pt>
              <c:pt idx="29">
                <c:v>2015.8333333333333</c:v>
              </c:pt>
              <c:pt idx="30">
                <c:v>2015.9166666666667</c:v>
              </c:pt>
              <c:pt idx="31">
                <c:v>2016</c:v>
              </c:pt>
              <c:pt idx="32">
                <c:v>2016.0833333333333</c:v>
              </c:pt>
              <c:pt idx="33">
                <c:v>2016.1666666666667</c:v>
              </c:pt>
              <c:pt idx="34">
                <c:v>2016.25</c:v>
              </c:pt>
              <c:pt idx="35">
                <c:v>2016.3333333333333</c:v>
              </c:pt>
              <c:pt idx="36">
                <c:v>2016.4166666666667</c:v>
              </c:pt>
              <c:pt idx="37">
                <c:v>2016.5</c:v>
              </c:pt>
              <c:pt idx="38">
                <c:v>2016.5833333333333</c:v>
              </c:pt>
              <c:pt idx="39">
                <c:v>2016.6666666666667</c:v>
              </c:pt>
              <c:pt idx="40">
                <c:v>2016.75</c:v>
              </c:pt>
              <c:pt idx="41">
                <c:v>2016.8333333333333</c:v>
              </c:pt>
              <c:pt idx="42">
                <c:v>2016.9166666666667</c:v>
              </c:pt>
              <c:pt idx="43">
                <c:v>2017</c:v>
              </c:pt>
              <c:pt idx="44">
                <c:v>2017.0833333333333</c:v>
              </c:pt>
              <c:pt idx="45">
                <c:v>2017.1666666666667</c:v>
              </c:pt>
              <c:pt idx="46">
                <c:v>2017.25</c:v>
              </c:pt>
              <c:pt idx="47">
                <c:v>2017.3333333333333</c:v>
              </c:pt>
              <c:pt idx="48">
                <c:v>2017.4166666666667</c:v>
              </c:pt>
              <c:pt idx="49">
                <c:v>2017.5</c:v>
              </c:pt>
              <c:pt idx="50">
                <c:v>2017.5833333333333</c:v>
              </c:pt>
              <c:pt idx="51">
                <c:v>2017.6666666666667</c:v>
              </c:pt>
              <c:pt idx="52">
                <c:v>2017.75</c:v>
              </c:pt>
              <c:pt idx="53">
                <c:v>2017.8333333333333</c:v>
              </c:pt>
              <c:pt idx="54">
                <c:v>2017.9166666666667</c:v>
              </c:pt>
              <c:pt idx="55">
                <c:v>2018</c:v>
              </c:pt>
              <c:pt idx="56">
                <c:v>2018.0833333333333</c:v>
              </c:pt>
              <c:pt idx="57">
                <c:v>2018.1666666666667</c:v>
              </c:pt>
              <c:pt idx="58">
                <c:v>2018.25</c:v>
              </c:pt>
              <c:pt idx="59">
                <c:v>2018.3333333333333</c:v>
              </c:pt>
              <c:pt idx="60">
                <c:v>2018.4166666666667</c:v>
              </c:pt>
              <c:pt idx="61">
                <c:v>2018.5</c:v>
              </c:pt>
              <c:pt idx="62">
                <c:v>2018.5833333333333</c:v>
              </c:pt>
              <c:pt idx="63">
                <c:v>2018.6666666666667</c:v>
              </c:pt>
              <c:pt idx="64">
                <c:v>2018.75</c:v>
              </c:pt>
              <c:pt idx="65">
                <c:v>2018.8333333333333</c:v>
              </c:pt>
              <c:pt idx="66">
                <c:v>2018.9166666666667</c:v>
              </c:pt>
              <c:pt idx="67">
                <c:v>2019</c:v>
              </c:pt>
              <c:pt idx="68">
                <c:v>2019.0833333333333</c:v>
              </c:pt>
              <c:pt idx="69">
                <c:v>2019.1666666666667</c:v>
              </c:pt>
              <c:pt idx="70">
                <c:v>2019.25</c:v>
              </c:pt>
              <c:pt idx="71">
                <c:v>2019.3333333333333</c:v>
              </c:pt>
              <c:pt idx="72">
                <c:v>2019.4166666666667</c:v>
              </c:pt>
              <c:pt idx="73">
                <c:v>2019.5</c:v>
              </c:pt>
              <c:pt idx="74">
                <c:v>2019.5833333333333</c:v>
              </c:pt>
              <c:pt idx="75">
                <c:v>2019.6666666666667</c:v>
              </c:pt>
              <c:pt idx="76">
                <c:v>2019.75</c:v>
              </c:pt>
              <c:pt idx="77">
                <c:v>2019.8333333333333</c:v>
              </c:pt>
              <c:pt idx="78">
                <c:v>2019.9166666666667</c:v>
              </c:pt>
              <c:pt idx="79">
                <c:v>2020</c:v>
              </c:pt>
              <c:pt idx="80">
                <c:v>2020.0833333333333</c:v>
              </c:pt>
              <c:pt idx="81">
                <c:v>2020.1666666666667</c:v>
              </c:pt>
              <c:pt idx="82">
                <c:v>2020.25</c:v>
              </c:pt>
              <c:pt idx="83">
                <c:v>2020.3333333333333</c:v>
              </c:pt>
              <c:pt idx="84">
                <c:v>2020.4166666666667</c:v>
              </c:pt>
              <c:pt idx="85">
                <c:v>2020.5</c:v>
              </c:pt>
              <c:pt idx="86">
                <c:v>2020.5833333333333</c:v>
              </c:pt>
              <c:pt idx="87">
                <c:v>2020.6666666666667</c:v>
              </c:pt>
              <c:pt idx="88">
                <c:v>2020.75</c:v>
              </c:pt>
              <c:pt idx="89">
                <c:v>2020.8333333333333</c:v>
              </c:pt>
              <c:pt idx="90">
                <c:v>2020.9166666666667</c:v>
              </c:pt>
              <c:pt idx="91">
                <c:v>2021</c:v>
              </c:pt>
              <c:pt idx="92">
                <c:v>2021.0833333333333</c:v>
              </c:pt>
              <c:pt idx="93">
                <c:v>2021.1666666666667</c:v>
              </c:pt>
              <c:pt idx="94">
                <c:v>2021.25</c:v>
              </c:pt>
              <c:pt idx="95">
                <c:v>2021.3333333333333</c:v>
              </c:pt>
              <c:pt idx="96">
                <c:v>2021.4166666666667</c:v>
              </c:pt>
              <c:pt idx="97">
                <c:v>2021.5</c:v>
              </c:pt>
              <c:pt idx="98">
                <c:v>2021.5833333333333</c:v>
              </c:pt>
              <c:pt idx="99">
                <c:v>2021.6666666666667</c:v>
              </c:pt>
              <c:pt idx="100">
                <c:v>2021.75</c:v>
              </c:pt>
              <c:pt idx="101">
                <c:v>2021.8333333333333</c:v>
              </c:pt>
              <c:pt idx="102">
                <c:v>2021.9166666666667</c:v>
              </c:pt>
              <c:pt idx="103">
                <c:v>2022</c:v>
              </c:pt>
              <c:pt idx="104">
                <c:v>2022.0833333333333</c:v>
              </c:pt>
              <c:pt idx="105">
                <c:v>2022.1666666666667</c:v>
              </c:pt>
              <c:pt idx="106">
                <c:v>2022.25</c:v>
              </c:pt>
              <c:pt idx="107">
                <c:v>2022.3333333333333</c:v>
              </c:pt>
              <c:pt idx="108">
                <c:v>2022.4166666666667</c:v>
              </c:pt>
              <c:pt idx="109">
                <c:v>2022.5</c:v>
              </c:pt>
              <c:pt idx="110">
                <c:v>2022.5833333333333</c:v>
              </c:pt>
              <c:pt idx="111">
                <c:v>2022.6666666666667</c:v>
              </c:pt>
              <c:pt idx="112">
                <c:v>2022.75</c:v>
              </c:pt>
              <c:pt idx="113">
                <c:v>2022.8333333333333</c:v>
              </c:pt>
              <c:pt idx="114">
                <c:v>2022.9166666666667</c:v>
              </c:pt>
              <c:pt idx="115">
                <c:v>2023</c:v>
              </c:pt>
              <c:pt idx="116">
                <c:v>2023.0833333333333</c:v>
              </c:pt>
              <c:pt idx="117">
                <c:v>2023.1666666666667</c:v>
              </c:pt>
              <c:pt idx="118">
                <c:v>2023.25</c:v>
              </c:pt>
              <c:pt idx="119">
                <c:v>2023.3333333333333</c:v>
              </c:pt>
              <c:pt idx="120">
                <c:v>2023.4166666666667</c:v>
              </c:pt>
              <c:pt idx="121">
                <c:v>2023.5</c:v>
              </c:pt>
              <c:pt idx="122">
                <c:v>2023.5833333333333</c:v>
              </c:pt>
              <c:pt idx="123">
                <c:v>2023.6666666666667</c:v>
              </c:pt>
              <c:pt idx="124">
                <c:v>2023.75</c:v>
              </c:pt>
              <c:pt idx="125">
                <c:v>2023.8333333333333</c:v>
              </c:pt>
              <c:pt idx="126">
                <c:v>2023.9166666666667</c:v>
              </c:pt>
              <c:pt idx="127">
                <c:v>2024</c:v>
              </c:pt>
              <c:pt idx="128">
                <c:v>2024.0833333333333</c:v>
              </c:pt>
              <c:pt idx="129">
                <c:v>2024.1666666666667</c:v>
              </c:pt>
              <c:pt idx="130">
                <c:v>2024.25</c:v>
              </c:pt>
              <c:pt idx="131">
                <c:v>2024.3333333333333</c:v>
              </c:pt>
              <c:pt idx="132">
                <c:v>2024.4166666666667</c:v>
              </c:pt>
              <c:pt idx="133">
                <c:v>2024.5</c:v>
              </c:pt>
              <c:pt idx="134">
                <c:v>2024.5833333333333</c:v>
              </c:pt>
              <c:pt idx="135">
                <c:v>2024.6666666666667</c:v>
              </c:pt>
              <c:pt idx="136">
                <c:v>2024.75</c:v>
              </c:pt>
              <c:pt idx="137">
                <c:v>2024.8333333333333</c:v>
              </c:pt>
              <c:pt idx="138">
                <c:v>2024.9166666666667</c:v>
              </c:pt>
              <c:pt idx="139">
                <c:v>2025</c:v>
              </c:pt>
              <c:pt idx="140">
                <c:v>2025.0833333333333</c:v>
              </c:pt>
              <c:pt idx="141">
                <c:v>2025.1666666666667</c:v>
              </c:pt>
              <c:pt idx="142">
                <c:v>2025.25</c:v>
              </c:pt>
              <c:pt idx="143">
                <c:v>2025.3333333333333</c:v>
              </c:pt>
              <c:pt idx="144">
                <c:v>2025.4166666666667</c:v>
              </c:pt>
              <c:pt idx="145">
                <c:v>2025.5</c:v>
              </c:pt>
              <c:pt idx="146">
                <c:v>2025.5833333333333</c:v>
              </c:pt>
              <c:pt idx="147">
                <c:v>2025.6666666666667</c:v>
              </c:pt>
              <c:pt idx="148">
                <c:v>2025.75</c:v>
              </c:pt>
              <c:pt idx="149">
                <c:v>2025.8333333333333</c:v>
              </c:pt>
              <c:pt idx="150">
                <c:v>2025.9166666666667</c:v>
              </c:pt>
            </c:numLit>
          </c:xVal>
          <c:yVal>
            <c:numLit>
              <c:formatCode>#,##0</c:formatCode>
              <c:ptCount val="151"/>
              <c:pt idx="0">
                <c:v>3.6886252455755817</c:v>
              </c:pt>
              <c:pt idx="1">
                <c:v>7.4950095027651056</c:v>
              </c:pt>
              <c:pt idx="2">
                <c:v>10.668883600144449</c:v>
              </c:pt>
              <c:pt idx="3">
                <c:v>8.4484937748003137</c:v>
              </c:pt>
              <c:pt idx="4">
                <c:v>6.8508470104743218</c:v>
              </c:pt>
              <c:pt idx="5">
                <c:v>7.1955074433779842</c:v>
              </c:pt>
              <c:pt idx="6">
                <c:v>7.739523041991573</c:v>
              </c:pt>
              <c:pt idx="7">
                <c:v>6.9738659762617354</c:v>
              </c:pt>
              <c:pt idx="8">
                <c:v>10.163906785031468</c:v>
              </c:pt>
              <c:pt idx="9">
                <c:v>10.43267421854949</c:v>
              </c:pt>
              <c:pt idx="10">
                <c:v>11.744088221118252</c:v>
              </c:pt>
              <c:pt idx="11">
                <c:v>12.50639900971662</c:v>
              </c:pt>
              <c:pt idx="12">
                <c:v>13.869898758903046</c:v>
              </c:pt>
              <c:pt idx="13">
                <c:v>15.73202113076421</c:v>
              </c:pt>
              <c:pt idx="14">
                <c:v>19.0120242361442</c:v>
              </c:pt>
              <c:pt idx="15">
                <c:v>19.275363389782235</c:v>
              </c:pt>
              <c:pt idx="16">
                <c:v>20.759644853481479</c:v>
              </c:pt>
              <c:pt idx="17">
                <c:v>15.69639991790142</c:v>
              </c:pt>
              <c:pt idx="18">
                <c:v>19.016735270672605</c:v>
              </c:pt>
              <c:pt idx="19">
                <c:v>14.44569513311613</c:v>
              </c:pt>
              <c:pt idx="20">
                <c:v>9.1929574429153398</c:v>
              </c:pt>
              <c:pt idx="21">
                <c:v>10.96206637833725</c:v>
              </c:pt>
              <c:pt idx="22">
                <c:v>10.719839196968451</c:v>
              </c:pt>
              <c:pt idx="23">
                <c:v>11.076916616329179</c:v>
              </c:pt>
              <c:pt idx="24">
                <c:v>8.0345699729964046</c:v>
              </c:pt>
              <c:pt idx="25">
                <c:v>7.1264779993675615</c:v>
              </c:pt>
              <c:pt idx="26">
                <c:v>4.3943206383469446</c:v>
              </c:pt>
              <c:pt idx="27">
                <c:v>5.4873342172189492</c:v>
              </c:pt>
              <c:pt idx="28">
                <c:v>7.1178660117117563</c:v>
              </c:pt>
              <c:pt idx="29">
                <c:v>8.4018887045489787</c:v>
              </c:pt>
              <c:pt idx="30">
                <c:v>9.39248044352634</c:v>
              </c:pt>
              <c:pt idx="31">
                <c:v>11.599612734961275</c:v>
              </c:pt>
              <c:pt idx="32">
                <c:v>11.72914554105542</c:v>
              </c:pt>
              <c:pt idx="33">
                <c:v>3.535175330750608</c:v>
              </c:pt>
              <c:pt idx="34">
                <c:v>10.509213711582174</c:v>
              </c:pt>
              <c:pt idx="35">
                <c:v>10.003601583745022</c:v>
              </c:pt>
              <c:pt idx="36">
                <c:v>10.641619131713606</c:v>
              </c:pt>
              <c:pt idx="37">
                <c:v>7.4653639579947342</c:v>
              </c:pt>
              <c:pt idx="38">
                <c:v>-4.0736183475139027</c:v>
              </c:pt>
              <c:pt idx="39">
                <c:v>-10.483189726189019</c:v>
              </c:pt>
              <c:pt idx="40">
                <c:v>-14.401696326674323</c:v>
              </c:pt>
              <c:pt idx="41">
                <c:v>-18.748644106914139</c:v>
              </c:pt>
              <c:pt idx="42">
                <c:v>-9.5177374808566935</c:v>
              </c:pt>
              <c:pt idx="43">
                <c:v>-7.0484008239744105</c:v>
              </c:pt>
              <c:pt idx="44">
                <c:v>-7.6734053075223239</c:v>
              </c:pt>
              <c:pt idx="45">
                <c:v>-5.9835271515817334</c:v>
              </c:pt>
              <c:pt idx="46">
                <c:v>-6.5302724030075066</c:v>
              </c:pt>
              <c:pt idx="47">
                <c:v>-4.2478345463459197</c:v>
              </c:pt>
              <c:pt idx="48">
                <c:v>-5.8706993923388078</c:v>
              </c:pt>
              <c:pt idx="49">
                <c:v>-3.1094193194926407</c:v>
              </c:pt>
              <c:pt idx="50">
                <c:v>3.20275025180849</c:v>
              </c:pt>
              <c:pt idx="51">
                <c:v>1.6060137726938628</c:v>
              </c:pt>
              <c:pt idx="52">
                <c:v>-2.3486628968634911</c:v>
              </c:pt>
              <c:pt idx="53">
                <c:v>-2.5422324014730049</c:v>
              </c:pt>
              <c:pt idx="54">
                <c:v>-4.6399211830293039</c:v>
              </c:pt>
              <c:pt idx="55">
                <c:v>-6.2999607916096005</c:v>
              </c:pt>
              <c:pt idx="56">
                <c:v>-6.1829531771210284</c:v>
              </c:pt>
              <c:pt idx="57">
                <c:v>-13.105513675129147</c:v>
              </c:pt>
              <c:pt idx="58">
                <c:v>-13.724666021789044</c:v>
              </c:pt>
              <c:pt idx="59">
                <c:v>-15.318592552054724</c:v>
              </c:pt>
              <c:pt idx="60">
                <c:v>-15.771162263845978</c:v>
              </c:pt>
              <c:pt idx="61">
                <c:v>-15.73544624647012</c:v>
              </c:pt>
              <c:pt idx="62">
                <c:v>-16.79293065358997</c:v>
              </c:pt>
              <c:pt idx="63">
                <c:v>-14.565869086128163</c:v>
              </c:pt>
              <c:pt idx="64">
                <c:v>-13.882361042142124</c:v>
              </c:pt>
              <c:pt idx="65">
                <c:v>-9.0800647268268282</c:v>
              </c:pt>
              <c:pt idx="66">
                <c:v>-8.8222933281241076</c:v>
              </c:pt>
              <c:pt idx="67">
                <c:v>-7.2542533366781159</c:v>
              </c:pt>
              <c:pt idx="68">
                <c:v>-0.30551418993650353</c:v>
              </c:pt>
              <c:pt idx="69">
                <c:v>0.20087095167449981</c:v>
              </c:pt>
              <c:pt idx="70">
                <c:v>5.3351936865410448</c:v>
              </c:pt>
              <c:pt idx="71">
                <c:v>4.3747706339915799</c:v>
              </c:pt>
              <c:pt idx="72">
                <c:v>3.2729993559843984</c:v>
              </c:pt>
              <c:pt idx="73">
                <c:v>3.529093907998829</c:v>
              </c:pt>
              <c:pt idx="74">
                <c:v>1.7751709910477715</c:v>
              </c:pt>
              <c:pt idx="75">
                <c:v>3.1734546943570052</c:v>
              </c:pt>
              <c:pt idx="76">
                <c:v>3.1479678428305156</c:v>
              </c:pt>
              <c:pt idx="77">
                <c:v>3.7021667024069163</c:v>
              </c:pt>
              <c:pt idx="78">
                <c:v>6.0456617267221526</c:v>
              </c:pt>
              <c:pt idx="79">
                <c:v>4.7470971742002828</c:v>
              </c:pt>
              <c:pt idx="80">
                <c:v>4.3937932873106513</c:v>
              </c:pt>
              <c:pt idx="81">
                <c:v>8.4287610873675245</c:v>
              </c:pt>
              <c:pt idx="82">
                <c:v>24.647471474117527</c:v>
              </c:pt>
              <c:pt idx="83">
                <c:v>27.937580365348925</c:v>
              </c:pt>
              <c:pt idx="84">
                <c:v>28.318116404586561</c:v>
              </c:pt>
              <c:pt idx="85">
                <c:v>28.71711551973749</c:v>
              </c:pt>
              <c:pt idx="86">
                <c:v>29.380565369149153</c:v>
              </c:pt>
              <c:pt idx="87">
                <c:v>30.013929934374843</c:v>
              </c:pt>
              <c:pt idx="88">
                <c:v>29.04384497123181</c:v>
              </c:pt>
              <c:pt idx="89">
                <c:v>29.182395718432495</c:v>
              </c:pt>
              <c:pt idx="90">
                <c:v>29.826780993660105</c:v>
              </c:pt>
              <c:pt idx="91">
                <c:v>29.785810325329752</c:v>
              </c:pt>
              <c:pt idx="92">
                <c:v>29.790414888483539</c:v>
              </c:pt>
              <c:pt idx="93">
                <c:v>30.720348056486621</c:v>
              </c:pt>
              <c:pt idx="94">
                <c:v>32.322449204377037</c:v>
              </c:pt>
              <c:pt idx="95">
                <c:v>33.763477523886557</c:v>
              </c:pt>
              <c:pt idx="96">
                <c:v>33.323951841257802</c:v>
              </c:pt>
              <c:pt idx="97">
                <c:v>33.752497291788302</c:v>
              </c:pt>
              <c:pt idx="98">
                <c:v>33.968196181414939</c:v>
              </c:pt>
              <c:pt idx="99">
                <c:v>33.518357371642239</c:v>
              </c:pt>
              <c:pt idx="100">
                <c:v>33.938320880527257</c:v>
              </c:pt>
              <c:pt idx="101">
                <c:v>33.715329787521853</c:v>
              </c:pt>
              <c:pt idx="102">
                <c:v>32.387972478551603</c:v>
              </c:pt>
              <c:pt idx="103">
                <c:v>32.672971619400606</c:v>
              </c:pt>
              <c:pt idx="104">
                <c:v>30.391924326310672</c:v>
              </c:pt>
              <c:pt idx="105">
                <c:v>27.746121295068544</c:v>
              </c:pt>
              <c:pt idx="106">
                <c:v>26.030778854047593</c:v>
              </c:pt>
              <c:pt idx="107">
                <c:v>24.759292939574912</c:v>
              </c:pt>
              <c:pt idx="108">
                <c:v>26.877868804066399</c:v>
              </c:pt>
              <c:pt idx="109">
                <c:v>26.06606631620361</c:v>
              </c:pt>
              <c:pt idx="110">
                <c:v>25.707407649169706</c:v>
              </c:pt>
              <c:pt idx="111">
                <c:v>26.896472005976172</c:v>
              </c:pt>
              <c:pt idx="112">
                <c:v>25.741965780909194</c:v>
              </c:pt>
              <c:pt idx="113">
                <c:v>24.747935782420381</c:v>
              </c:pt>
              <c:pt idx="114">
                <c:v>23.814823295559062</c:v>
              </c:pt>
              <c:pt idx="115">
                <c:v>23.51026313012537</c:v>
              </c:pt>
              <c:pt idx="116">
                <c:v>21.939871937792617</c:v>
              </c:pt>
              <c:pt idx="117">
                <c:v>21.757022953766832</c:v>
              </c:pt>
              <c:pt idx="118">
                <c:v>23.121677625738322</c:v>
              </c:pt>
              <c:pt idx="119">
                <c:v>23.150101054709911</c:v>
              </c:pt>
              <c:pt idx="120">
                <c:v>17.373068216129361</c:v>
              </c:pt>
              <c:pt idx="121">
                <c:v>11.381461694404196</c:v>
              </c:pt>
              <c:pt idx="122">
                <c:v>-14.682818437689084</c:v>
              </c:pt>
              <c:pt idx="123">
                <c:v>-24.571986629514896</c:v>
              </c:pt>
              <c:pt idx="124">
                <c:v>-27.645939502839607</c:v>
              </c:pt>
              <c:pt idx="125">
                <c:v>-33.80591340763484</c:v>
              </c:pt>
              <c:pt idx="126">
                <c:v>-27.169513616647986</c:v>
              </c:pt>
              <c:pt idx="127">
                <c:v>-32.286674384527274</c:v>
              </c:pt>
              <c:pt idx="128">
                <c:v>-34.395454417453863</c:v>
              </c:pt>
              <c:pt idx="129">
                <c:v>-33.01596005437483</c:v>
              </c:pt>
              <c:pt idx="130">
                <c:v>-36.459672829726351</c:v>
              </c:pt>
              <c:pt idx="131">
                <c:v>-27.324797431838252</c:v>
              </c:pt>
              <c:pt idx="132">
                <c:v>-34.833177747907847</c:v>
              </c:pt>
              <c:pt idx="133">
                <c:v>-26.1791979371217</c:v>
              </c:pt>
              <c:pt idx="134">
                <c:v>-15.765403220243405</c:v>
              </c:pt>
              <c:pt idx="135">
                <c:v>-16.744729629263141</c:v>
              </c:pt>
              <c:pt idx="136">
                <c:v>-13.601340027534658</c:v>
              </c:pt>
              <c:pt idx="137">
                <c:v>-5.4558408241546328</c:v>
              </c:pt>
              <c:pt idx="138">
                <c:v>-17.32363967661593</c:v>
              </c:pt>
              <c:pt idx="139">
                <c:v>-16.102803956687943</c:v>
              </c:pt>
              <c:pt idx="140">
                <c:v>-16.617223674300174</c:v>
              </c:pt>
              <c:pt idx="141">
                <c:v>-15.879308491348155</c:v>
              </c:pt>
              <c:pt idx="142">
                <c:v>-17.755259116178546</c:v>
              </c:pt>
              <c:pt idx="143">
                <c:v>-15.346502755371853</c:v>
              </c:pt>
              <c:pt idx="144">
                <c:v>-15.353032104494654</c:v>
              </c:pt>
              <c:pt idx="145">
                <c:v>-14.227204903140693</c:v>
              </c:pt>
              <c:pt idx="146">
                <c:v>-10.899692074425863</c:v>
              </c:pt>
              <c:pt idx="147">
                <c:v>-11.346086819921057</c:v>
              </c:pt>
              <c:pt idx="148">
                <c:v>-12.915432791918182</c:v>
              </c:pt>
              <c:pt idx="149">
                <c:v>-13.028997198283705</c:v>
              </c:pt>
              <c:pt idx="150">
                <c:v>-11.351428202320742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EF7B-A044-89DE-10FFEBFE8764}"/>
            </c:ext>
          </c:extLst>
        </c:ser>
        <c:ser>
          <c:idx val="1"/>
          <c:order val="1"/>
          <c:tx>
            <c:v>Expanding</c:v>
          </c:tx>
          <c:spPr>
            <a:ln w="28575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151"/>
              <c:pt idx="0">
                <c:v>2013.4166666666667</c:v>
              </c:pt>
              <c:pt idx="1">
                <c:v>2013.5</c:v>
              </c:pt>
              <c:pt idx="2">
                <c:v>2013.5833333333333</c:v>
              </c:pt>
              <c:pt idx="3">
                <c:v>2013.6666666666667</c:v>
              </c:pt>
              <c:pt idx="4">
                <c:v>2013.75</c:v>
              </c:pt>
              <c:pt idx="5">
                <c:v>2013.8333333333333</c:v>
              </c:pt>
              <c:pt idx="6">
                <c:v>2013.9166666666667</c:v>
              </c:pt>
              <c:pt idx="7">
                <c:v>2014</c:v>
              </c:pt>
              <c:pt idx="8">
                <c:v>2014.0833333333333</c:v>
              </c:pt>
              <c:pt idx="9">
                <c:v>2014.1666666666667</c:v>
              </c:pt>
              <c:pt idx="10">
                <c:v>2014.25</c:v>
              </c:pt>
              <c:pt idx="11">
                <c:v>2014.3333333333333</c:v>
              </c:pt>
              <c:pt idx="12">
                <c:v>2014.4166666666667</c:v>
              </c:pt>
              <c:pt idx="13">
                <c:v>2014.5</c:v>
              </c:pt>
              <c:pt idx="14">
                <c:v>2014.5833333333333</c:v>
              </c:pt>
              <c:pt idx="15">
                <c:v>2014.6666666666667</c:v>
              </c:pt>
              <c:pt idx="16">
                <c:v>2014.75</c:v>
              </c:pt>
              <c:pt idx="17">
                <c:v>2014.8333333333333</c:v>
              </c:pt>
              <c:pt idx="18">
                <c:v>2014.9166666666667</c:v>
              </c:pt>
              <c:pt idx="19">
                <c:v>2015</c:v>
              </c:pt>
              <c:pt idx="20">
                <c:v>2015.0833333333333</c:v>
              </c:pt>
              <c:pt idx="21">
                <c:v>2015.1666666666667</c:v>
              </c:pt>
              <c:pt idx="22">
                <c:v>2015.25</c:v>
              </c:pt>
              <c:pt idx="23">
                <c:v>2015.3333333333333</c:v>
              </c:pt>
              <c:pt idx="24">
                <c:v>2015.4166666666667</c:v>
              </c:pt>
              <c:pt idx="25">
                <c:v>2015.5</c:v>
              </c:pt>
              <c:pt idx="26">
                <c:v>2015.5833333333333</c:v>
              </c:pt>
              <c:pt idx="27">
                <c:v>2015.6666666666667</c:v>
              </c:pt>
              <c:pt idx="28">
                <c:v>2015.75</c:v>
              </c:pt>
              <c:pt idx="29">
                <c:v>2015.8333333333333</c:v>
              </c:pt>
              <c:pt idx="30">
                <c:v>2015.9166666666667</c:v>
              </c:pt>
              <c:pt idx="31">
                <c:v>2016</c:v>
              </c:pt>
              <c:pt idx="32">
                <c:v>2016.0833333333333</c:v>
              </c:pt>
              <c:pt idx="33">
                <c:v>2016.1666666666667</c:v>
              </c:pt>
              <c:pt idx="34">
                <c:v>2016.25</c:v>
              </c:pt>
              <c:pt idx="35">
                <c:v>2016.3333333333333</c:v>
              </c:pt>
              <c:pt idx="36">
                <c:v>2016.4166666666667</c:v>
              </c:pt>
              <c:pt idx="37">
                <c:v>2016.5</c:v>
              </c:pt>
              <c:pt idx="38">
                <c:v>2016.5833333333333</c:v>
              </c:pt>
              <c:pt idx="39">
                <c:v>2016.6666666666667</c:v>
              </c:pt>
              <c:pt idx="40">
                <c:v>2016.75</c:v>
              </c:pt>
              <c:pt idx="41">
                <c:v>2016.8333333333333</c:v>
              </c:pt>
              <c:pt idx="42">
                <c:v>2016.9166666666667</c:v>
              </c:pt>
              <c:pt idx="43">
                <c:v>2017</c:v>
              </c:pt>
              <c:pt idx="44">
                <c:v>2017.0833333333333</c:v>
              </c:pt>
              <c:pt idx="45">
                <c:v>2017.1666666666667</c:v>
              </c:pt>
              <c:pt idx="46">
                <c:v>2017.25</c:v>
              </c:pt>
              <c:pt idx="47">
                <c:v>2017.3333333333333</c:v>
              </c:pt>
              <c:pt idx="48">
                <c:v>2017.4166666666667</c:v>
              </c:pt>
              <c:pt idx="49">
                <c:v>2017.5</c:v>
              </c:pt>
              <c:pt idx="50">
                <c:v>2017.5833333333333</c:v>
              </c:pt>
              <c:pt idx="51">
                <c:v>2017.6666666666667</c:v>
              </c:pt>
              <c:pt idx="52">
                <c:v>2017.75</c:v>
              </c:pt>
              <c:pt idx="53">
                <c:v>2017.8333333333333</c:v>
              </c:pt>
              <c:pt idx="54">
                <c:v>2017.9166666666667</c:v>
              </c:pt>
              <c:pt idx="55">
                <c:v>2018</c:v>
              </c:pt>
              <c:pt idx="56">
                <c:v>2018.0833333333333</c:v>
              </c:pt>
              <c:pt idx="57">
                <c:v>2018.1666666666667</c:v>
              </c:pt>
              <c:pt idx="58">
                <c:v>2018.25</c:v>
              </c:pt>
              <c:pt idx="59">
                <c:v>2018.3333333333333</c:v>
              </c:pt>
              <c:pt idx="60">
                <c:v>2018.4166666666667</c:v>
              </c:pt>
              <c:pt idx="61">
                <c:v>2018.5</c:v>
              </c:pt>
              <c:pt idx="62">
                <c:v>2018.5833333333333</c:v>
              </c:pt>
              <c:pt idx="63">
                <c:v>2018.6666666666667</c:v>
              </c:pt>
              <c:pt idx="64">
                <c:v>2018.75</c:v>
              </c:pt>
              <c:pt idx="65">
                <c:v>2018.8333333333333</c:v>
              </c:pt>
              <c:pt idx="66">
                <c:v>2018.9166666666667</c:v>
              </c:pt>
              <c:pt idx="67">
                <c:v>2019</c:v>
              </c:pt>
              <c:pt idx="68">
                <c:v>2019.0833333333333</c:v>
              </c:pt>
              <c:pt idx="69">
                <c:v>2019.1666666666667</c:v>
              </c:pt>
              <c:pt idx="70">
                <c:v>2019.25</c:v>
              </c:pt>
              <c:pt idx="71">
                <c:v>2019.3333333333333</c:v>
              </c:pt>
              <c:pt idx="72">
                <c:v>2019.4166666666667</c:v>
              </c:pt>
              <c:pt idx="73">
                <c:v>2019.5</c:v>
              </c:pt>
              <c:pt idx="74">
                <c:v>2019.5833333333333</c:v>
              </c:pt>
              <c:pt idx="75">
                <c:v>2019.6666666666667</c:v>
              </c:pt>
              <c:pt idx="76">
                <c:v>2019.75</c:v>
              </c:pt>
              <c:pt idx="77">
                <c:v>2019.8333333333333</c:v>
              </c:pt>
              <c:pt idx="78">
                <c:v>2019.9166666666667</c:v>
              </c:pt>
              <c:pt idx="79">
                <c:v>2020</c:v>
              </c:pt>
              <c:pt idx="80">
                <c:v>2020.0833333333333</c:v>
              </c:pt>
              <c:pt idx="81">
                <c:v>2020.1666666666667</c:v>
              </c:pt>
              <c:pt idx="82">
                <c:v>2020.25</c:v>
              </c:pt>
              <c:pt idx="83">
                <c:v>2020.3333333333333</c:v>
              </c:pt>
              <c:pt idx="84">
                <c:v>2020.4166666666667</c:v>
              </c:pt>
              <c:pt idx="85">
                <c:v>2020.5</c:v>
              </c:pt>
              <c:pt idx="86">
                <c:v>2020.5833333333333</c:v>
              </c:pt>
              <c:pt idx="87">
                <c:v>2020.6666666666667</c:v>
              </c:pt>
              <c:pt idx="88">
                <c:v>2020.75</c:v>
              </c:pt>
              <c:pt idx="89">
                <c:v>2020.8333333333333</c:v>
              </c:pt>
              <c:pt idx="90">
                <c:v>2020.9166666666667</c:v>
              </c:pt>
              <c:pt idx="91">
                <c:v>2021</c:v>
              </c:pt>
              <c:pt idx="92">
                <c:v>2021.0833333333333</c:v>
              </c:pt>
              <c:pt idx="93">
                <c:v>2021.1666666666667</c:v>
              </c:pt>
              <c:pt idx="94">
                <c:v>2021.25</c:v>
              </c:pt>
              <c:pt idx="95">
                <c:v>2021.3333333333333</c:v>
              </c:pt>
              <c:pt idx="96">
                <c:v>2021.4166666666667</c:v>
              </c:pt>
              <c:pt idx="97">
                <c:v>2021.5</c:v>
              </c:pt>
              <c:pt idx="98">
                <c:v>2021.5833333333333</c:v>
              </c:pt>
              <c:pt idx="99">
                <c:v>2021.6666666666667</c:v>
              </c:pt>
              <c:pt idx="100">
                <c:v>2021.75</c:v>
              </c:pt>
              <c:pt idx="101">
                <c:v>2021.8333333333333</c:v>
              </c:pt>
              <c:pt idx="102">
                <c:v>2021.9166666666667</c:v>
              </c:pt>
              <c:pt idx="103">
                <c:v>2022</c:v>
              </c:pt>
              <c:pt idx="104">
                <c:v>2022.0833333333333</c:v>
              </c:pt>
              <c:pt idx="105">
                <c:v>2022.1666666666667</c:v>
              </c:pt>
              <c:pt idx="106">
                <c:v>2022.25</c:v>
              </c:pt>
              <c:pt idx="107">
                <c:v>2022.3333333333333</c:v>
              </c:pt>
              <c:pt idx="108">
                <c:v>2022.4166666666667</c:v>
              </c:pt>
              <c:pt idx="109">
                <c:v>2022.5</c:v>
              </c:pt>
              <c:pt idx="110">
                <c:v>2022.5833333333333</c:v>
              </c:pt>
              <c:pt idx="111">
                <c:v>2022.6666666666667</c:v>
              </c:pt>
              <c:pt idx="112">
                <c:v>2022.75</c:v>
              </c:pt>
              <c:pt idx="113">
                <c:v>2022.8333333333333</c:v>
              </c:pt>
              <c:pt idx="114">
                <c:v>2022.9166666666667</c:v>
              </c:pt>
              <c:pt idx="115">
                <c:v>2023</c:v>
              </c:pt>
              <c:pt idx="116">
                <c:v>2023.0833333333333</c:v>
              </c:pt>
              <c:pt idx="117">
                <c:v>2023.1666666666667</c:v>
              </c:pt>
              <c:pt idx="118">
                <c:v>2023.25</c:v>
              </c:pt>
              <c:pt idx="119">
                <c:v>2023.3333333333333</c:v>
              </c:pt>
              <c:pt idx="120">
                <c:v>2023.4166666666667</c:v>
              </c:pt>
              <c:pt idx="121">
                <c:v>2023.5</c:v>
              </c:pt>
              <c:pt idx="122">
                <c:v>2023.5833333333333</c:v>
              </c:pt>
              <c:pt idx="123">
                <c:v>2023.6666666666667</c:v>
              </c:pt>
              <c:pt idx="124">
                <c:v>2023.75</c:v>
              </c:pt>
              <c:pt idx="125">
                <c:v>2023.8333333333333</c:v>
              </c:pt>
              <c:pt idx="126">
                <c:v>2023.9166666666667</c:v>
              </c:pt>
              <c:pt idx="127">
                <c:v>2024</c:v>
              </c:pt>
              <c:pt idx="128">
                <c:v>2024.0833333333333</c:v>
              </c:pt>
              <c:pt idx="129">
                <c:v>2024.1666666666667</c:v>
              </c:pt>
              <c:pt idx="130">
                <c:v>2024.25</c:v>
              </c:pt>
              <c:pt idx="131">
                <c:v>2024.3333333333333</c:v>
              </c:pt>
              <c:pt idx="132">
                <c:v>2024.4166666666667</c:v>
              </c:pt>
              <c:pt idx="133">
                <c:v>2024.5</c:v>
              </c:pt>
              <c:pt idx="134">
                <c:v>2024.5833333333333</c:v>
              </c:pt>
              <c:pt idx="135">
                <c:v>2024.6666666666667</c:v>
              </c:pt>
              <c:pt idx="136">
                <c:v>2024.75</c:v>
              </c:pt>
              <c:pt idx="137">
                <c:v>2024.8333333333333</c:v>
              </c:pt>
              <c:pt idx="138">
                <c:v>2024.9166666666667</c:v>
              </c:pt>
              <c:pt idx="139">
                <c:v>2025</c:v>
              </c:pt>
              <c:pt idx="140">
                <c:v>2025.0833333333333</c:v>
              </c:pt>
              <c:pt idx="141">
                <c:v>2025.1666666666667</c:v>
              </c:pt>
              <c:pt idx="142">
                <c:v>2025.25</c:v>
              </c:pt>
              <c:pt idx="143">
                <c:v>2025.3333333333333</c:v>
              </c:pt>
              <c:pt idx="144">
                <c:v>2025.4166666666667</c:v>
              </c:pt>
              <c:pt idx="145">
                <c:v>2025.5</c:v>
              </c:pt>
              <c:pt idx="146">
                <c:v>2025.5833333333333</c:v>
              </c:pt>
              <c:pt idx="147">
                <c:v>2025.6666666666667</c:v>
              </c:pt>
              <c:pt idx="148">
                <c:v>2025.75</c:v>
              </c:pt>
              <c:pt idx="149">
                <c:v>2025.8333333333333</c:v>
              </c:pt>
              <c:pt idx="150">
                <c:v>2025.9166666666667</c:v>
              </c:pt>
            </c:numLit>
          </c:xVal>
          <c:yVal>
            <c:numLit>
              <c:formatCode>#,##0</c:formatCode>
              <c:ptCount val="151"/>
              <c:pt idx="0">
                <c:v>3.6886252455755817</c:v>
              </c:pt>
              <c:pt idx="1">
                <c:v>5.071101681628555</c:v>
              </c:pt>
              <c:pt idx="2">
                <c:v>3.9635351922610469</c:v>
              </c:pt>
              <c:pt idx="3">
                <c:v>3.030532275897472</c:v>
              </c:pt>
              <c:pt idx="4">
                <c:v>2.4504638973481452</c:v>
              </c:pt>
              <c:pt idx="5">
                <c:v>2.4205837661749157</c:v>
              </c:pt>
              <c:pt idx="6">
                <c:v>3.1089449076387314</c:v>
              </c:pt>
              <c:pt idx="7">
                <c:v>2.9384731742473886</c:v>
              </c:pt>
              <c:pt idx="8">
                <c:v>3.2954762247065115</c:v>
              </c:pt>
              <c:pt idx="9">
                <c:v>3.4633431078918875</c:v>
              </c:pt>
              <c:pt idx="10">
                <c:v>4.9091955492194534</c:v>
              </c:pt>
              <c:pt idx="11">
                <c:v>5.8398283541357889</c:v>
              </c:pt>
              <c:pt idx="12">
                <c:v>6.2903382198550029</c:v>
              </c:pt>
              <c:pt idx="13">
                <c:v>7.2870959531501152</c:v>
              </c:pt>
              <c:pt idx="14">
                <c:v>7.0624800629539974</c:v>
              </c:pt>
              <c:pt idx="15">
                <c:v>7.0901314613976201</c:v>
              </c:pt>
              <c:pt idx="16">
                <c:v>8.088299922843122</c:v>
              </c:pt>
              <c:pt idx="17">
                <c:v>7.1084058191096648</c:v>
              </c:pt>
              <c:pt idx="18">
                <c:v>10.577978981118491</c:v>
              </c:pt>
              <c:pt idx="19">
                <c:v>9.8030109890247559</c:v>
              </c:pt>
              <c:pt idx="20">
                <c:v>8.512372645927238</c:v>
              </c:pt>
              <c:pt idx="21">
                <c:v>9.6043920215577092</c:v>
              </c:pt>
              <c:pt idx="22">
                <c:v>10.884013924280868</c:v>
              </c:pt>
              <c:pt idx="23">
                <c:v>11.305653670052164</c:v>
              </c:pt>
              <c:pt idx="24">
                <c:v>10.724699035847038</c:v>
              </c:pt>
              <c:pt idx="25">
                <c:v>10.822995272532548</c:v>
              </c:pt>
              <c:pt idx="26">
                <c:v>10.834208751529518</c:v>
              </c:pt>
              <c:pt idx="27">
                <c:v>11.024933058365342</c:v>
              </c:pt>
              <c:pt idx="28">
                <c:v>11.126425280513899</c:v>
              </c:pt>
              <c:pt idx="29">
                <c:v>11.21217613589095</c:v>
              </c:pt>
              <c:pt idx="30">
                <c:v>11.229606515186106</c:v>
              </c:pt>
              <c:pt idx="31">
                <c:v>11.665446909961851</c:v>
              </c:pt>
              <c:pt idx="32">
                <c:v>11.551149804440442</c:v>
              </c:pt>
              <c:pt idx="33">
                <c:v>8.8838276518256549</c:v>
              </c:pt>
              <c:pt idx="34">
                <c:v>9.0730775313504104</c:v>
              </c:pt>
              <c:pt idx="35">
                <c:v>8.5589886611669765</c:v>
              </c:pt>
              <c:pt idx="36">
                <c:v>8.7054596113013591</c:v>
              </c:pt>
              <c:pt idx="37">
                <c:v>9.1067861717267924</c:v>
              </c:pt>
              <c:pt idx="38">
                <c:v>8.7210026950404238</c:v>
              </c:pt>
              <c:pt idx="39">
                <c:v>8.8478605236747381</c:v>
              </c:pt>
              <c:pt idx="40">
                <c:v>9.2099710437150453</c:v>
              </c:pt>
              <c:pt idx="41">
                <c:v>7.5766742394501803</c:v>
              </c:pt>
              <c:pt idx="42">
                <c:v>3.5014173329328444</c:v>
              </c:pt>
              <c:pt idx="43">
                <c:v>1.2036086447981946</c:v>
              </c:pt>
              <c:pt idx="44">
                <c:v>-1.3704600215004179</c:v>
              </c:pt>
              <c:pt idx="45">
                <c:v>-1.2424313500037905</c:v>
              </c:pt>
              <c:pt idx="46">
                <c:v>-2.7609115639997062</c:v>
              </c:pt>
              <c:pt idx="47">
                <c:v>-2.2452123134330768</c:v>
              </c:pt>
              <c:pt idx="48">
                <c:v>-2.419647481722258</c:v>
              </c:pt>
              <c:pt idx="49">
                <c:v>-3.2864969094932874</c:v>
              </c:pt>
              <c:pt idx="50">
                <c:v>-2.8232676131096199</c:v>
              </c:pt>
              <c:pt idx="51">
                <c:v>-3.2003887930183987</c:v>
              </c:pt>
              <c:pt idx="52">
                <c:v>-3.0148626864657686</c:v>
              </c:pt>
              <c:pt idx="53">
                <c:v>-3.7580665104659956</c:v>
              </c:pt>
              <c:pt idx="54">
                <c:v>-3.8016619930363946</c:v>
              </c:pt>
              <c:pt idx="55">
                <c:v>-3.7492837042641489</c:v>
              </c:pt>
              <c:pt idx="56">
                <c:v>-4.1688615822570263</c:v>
              </c:pt>
              <c:pt idx="57">
                <c:v>-4.0272642184169944</c:v>
              </c:pt>
              <c:pt idx="58">
                <c:v>-4.0295789329193825</c:v>
              </c:pt>
              <c:pt idx="59">
                <c:v>-3.3702199091075387</c:v>
              </c:pt>
              <c:pt idx="60">
                <c:v>-3.2541640802976088</c:v>
              </c:pt>
              <c:pt idx="61">
                <c:v>-3.2235857804089645</c:v>
              </c:pt>
              <c:pt idx="62">
                <c:v>-2.446090532012581</c:v>
              </c:pt>
              <c:pt idx="63">
                <c:v>-2.2361227422923675</c:v>
              </c:pt>
              <c:pt idx="64">
                <c:v>-2.2082816106099217</c:v>
              </c:pt>
              <c:pt idx="65">
                <c:v>-2.0963296161341844</c:v>
              </c:pt>
              <c:pt idx="66">
                <c:v>-2.3886711421758102</c:v>
              </c:pt>
              <c:pt idx="67">
                <c:v>-2.3297557994450551</c:v>
              </c:pt>
              <c:pt idx="68">
                <c:v>-2.0785068487127578</c:v>
              </c:pt>
              <c:pt idx="69">
                <c:v>-3.4506425235245013</c:v>
              </c:pt>
              <c:pt idx="70">
                <c:v>-2.8908072579481119</c:v>
              </c:pt>
              <c:pt idx="71">
                <c:v>-2.9785381074015609</c:v>
              </c:pt>
              <c:pt idx="72">
                <c:v>-3.4509007536981207</c:v>
              </c:pt>
              <c:pt idx="73">
                <c:v>-3.3214492231572321</c:v>
              </c:pt>
              <c:pt idx="74">
                <c:v>-4.0237686205319712</c:v>
              </c:pt>
              <c:pt idx="75">
                <c:v>-4.0583684922015264</c:v>
              </c:pt>
              <c:pt idx="76">
                <c:v>-3.9313047280959452</c:v>
              </c:pt>
              <c:pt idx="77">
                <c:v>-3.8058307622832022</c:v>
              </c:pt>
              <c:pt idx="78">
                <c:v>-2.7930421231850522</c:v>
              </c:pt>
              <c:pt idx="79">
                <c:v>-2.840919830802874</c:v>
              </c:pt>
              <c:pt idx="80">
                <c:v>-2.6630300966217066</c:v>
              </c:pt>
              <c:pt idx="81">
                <c:v>-0.69194040919232347</c:v>
              </c:pt>
              <c:pt idx="82">
                <c:v>4.3378158962452549</c:v>
              </c:pt>
              <c:pt idx="83">
                <c:v>6.4966626381137935</c:v>
              </c:pt>
              <c:pt idx="84">
                <c:v>7.294008053178862</c:v>
              </c:pt>
              <c:pt idx="85">
                <c:v>7.9494842643580599</c:v>
              </c:pt>
              <c:pt idx="86">
                <c:v>8.3881940637383217</c:v>
              </c:pt>
              <c:pt idx="87">
                <c:v>8.3483341582858852</c:v>
              </c:pt>
              <c:pt idx="88">
                <c:v>8.3794470143783037</c:v>
              </c:pt>
              <c:pt idx="89">
                <c:v>8.3152077692874382</c:v>
              </c:pt>
              <c:pt idx="90">
                <c:v>9.2244311277087245</c:v>
              </c:pt>
              <c:pt idx="91">
                <c:v>9.3092745134136745</c:v>
              </c:pt>
              <c:pt idx="92">
                <c:v>10.082227354111879</c:v>
              </c:pt>
              <c:pt idx="93">
                <c:v>9.6296474244015755</c:v>
              </c:pt>
              <c:pt idx="94">
                <c:v>9.506781252738417</c:v>
              </c:pt>
              <c:pt idx="95">
                <c:v>9.0142029431867101</c:v>
              </c:pt>
              <c:pt idx="96">
                <c:v>8.8268161902635356</c:v>
              </c:pt>
              <c:pt idx="97">
                <c:v>8.1933160617235732</c:v>
              </c:pt>
              <c:pt idx="98">
                <c:v>7.6928712040317677</c:v>
              </c:pt>
              <c:pt idx="99">
                <c:v>7.3748254472254606</c:v>
              </c:pt>
              <c:pt idx="100">
                <c:v>6.8377045652462929</c:v>
              </c:pt>
              <c:pt idx="101">
                <c:v>7.2510413242382876</c:v>
              </c:pt>
              <c:pt idx="102">
                <c:v>6.6353530391452749</c:v>
              </c:pt>
              <c:pt idx="103">
                <c:v>6.2822186933492921</c:v>
              </c:pt>
              <c:pt idx="104">
                <c:v>6.0058365634706661</c:v>
              </c:pt>
              <c:pt idx="105">
                <c:v>5.0186311062587574</c:v>
              </c:pt>
              <c:pt idx="106">
                <c:v>4.3043477702156334</c:v>
              </c:pt>
              <c:pt idx="107">
                <c:v>3.6157367682093557</c:v>
              </c:pt>
              <c:pt idx="108">
                <c:v>3.8030561653274626</c:v>
              </c:pt>
              <c:pt idx="109">
                <c:v>3.7519708892947605</c:v>
              </c:pt>
              <c:pt idx="110">
                <c:v>3.4338232455779609</c:v>
              </c:pt>
              <c:pt idx="111">
                <c:v>3.313811266580617</c:v>
              </c:pt>
              <c:pt idx="112">
                <c:v>2.7264588594270385</c:v>
              </c:pt>
              <c:pt idx="113">
                <c:v>3.0981186064063522</c:v>
              </c:pt>
              <c:pt idx="114">
                <c:v>2.9657180690629814</c:v>
              </c:pt>
              <c:pt idx="115">
                <c:v>3.2712819737467735</c:v>
              </c:pt>
              <c:pt idx="116">
                <c:v>3.7268576606188741</c:v>
              </c:pt>
              <c:pt idx="117">
                <c:v>3.3867394517186922</c:v>
              </c:pt>
              <c:pt idx="118">
                <c:v>3.2884289644977991</c:v>
              </c:pt>
              <c:pt idx="119">
                <c:v>3.245323236303173</c:v>
              </c:pt>
              <c:pt idx="120">
                <c:v>3.3940357460179182</c:v>
              </c:pt>
              <c:pt idx="121">
                <c:v>3.514898215452205</c:v>
              </c:pt>
              <c:pt idx="122">
                <c:v>3.6831056506879496</c:v>
              </c:pt>
              <c:pt idx="123">
                <c:v>3.8721845454813391</c:v>
              </c:pt>
              <c:pt idx="124">
                <c:v>3.9262650126854011</c:v>
              </c:pt>
              <c:pt idx="125">
                <c:v>4.2083076610280532</c:v>
              </c:pt>
              <c:pt idx="126">
                <c:v>4.2087450218045692</c:v>
              </c:pt>
              <c:pt idx="127">
                <c:v>4.675919904896527</c:v>
              </c:pt>
              <c:pt idx="128">
                <c:v>4.9674874083860798</c:v>
              </c:pt>
              <c:pt idx="129">
                <c:v>5.02309995987153</c:v>
              </c:pt>
              <c:pt idx="130">
                <c:v>5.3769726489605052</c:v>
              </c:pt>
              <c:pt idx="131">
                <c:v>5.5738633652040992</c:v>
              </c:pt>
              <c:pt idx="132">
                <c:v>5.7830695959970813</c:v>
              </c:pt>
              <c:pt idx="133">
                <c:v>5.8264181286628745</c:v>
              </c:pt>
              <c:pt idx="134">
                <c:v>5.9947180523288761</c:v>
              </c:pt>
              <c:pt idx="135">
                <c:v>6.1928488682903904</c:v>
              </c:pt>
              <c:pt idx="136">
                <c:v>6.2201349915663</c:v>
              </c:pt>
              <c:pt idx="137">
                <c:v>5.7368985253877414</c:v>
              </c:pt>
              <c:pt idx="138">
                <c:v>4.2877870368269662</c:v>
              </c:pt>
              <c:pt idx="139">
                <c:v>3.5241080987846911</c:v>
              </c:pt>
              <c:pt idx="140">
                <c:v>2.9428145151201477</c:v>
              </c:pt>
              <c:pt idx="141">
                <c:v>2.8251528872395069</c:v>
              </c:pt>
              <c:pt idx="142">
                <c:v>2.783743776037424</c:v>
              </c:pt>
              <c:pt idx="143">
                <c:v>2.5679116399792838</c:v>
              </c:pt>
              <c:pt idx="144">
                <c:v>2.3301529109851966</c:v>
              </c:pt>
              <c:pt idx="145">
                <c:v>1.8669080528626523</c:v>
              </c:pt>
              <c:pt idx="146">
                <c:v>1.5354170080710452</c:v>
              </c:pt>
              <c:pt idx="147">
                <c:v>1.2025660726734142</c:v>
              </c:pt>
              <c:pt idx="148">
                <c:v>1.0729071696994223</c:v>
              </c:pt>
              <c:pt idx="149">
                <c:v>0.80459949838226108</c:v>
              </c:pt>
              <c:pt idx="150">
                <c:v>0.35648854904306676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1-EF7B-A044-89DE-10FFEBFE8764}"/>
            </c:ext>
          </c:extLst>
        </c:ser>
        <c:ser>
          <c:idx val="2"/>
          <c:order val="2"/>
          <c:tx>
            <c:v>Zero</c:v>
          </c:tx>
          <c:spPr>
            <a:ln w="9525">
              <a:solidFill>
                <a:srgbClr val="5D6B75"/>
              </a:solidFill>
              <a:prstDash val="dot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2013</c:v>
              </c:pt>
              <c:pt idx="1">
                <c:v>2026</c:v>
              </c:pt>
            </c:numLit>
          </c:xVal>
          <c:yVal>
            <c:numLit>
              <c:formatCode>#,##0</c:formatCode>
              <c:ptCount val="2"/>
              <c:pt idx="0">
                <c:v>0</c:v>
              </c:pt>
              <c:pt idx="1">
                <c:v>0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2-EF7B-A044-89DE-10FFEBFE87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40"/>
          <c:min val="-40"/>
        </c:scaling>
        <c:delete val="0"/>
        <c:axPos val="l"/>
        <c:majorGridlines>
          <c:spPr>
            <a:ln w="9525">
              <a:solidFill>
                <a:srgbClr val="D7DE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125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Fee units per index point</a:t>
                </a:r>
              </a:p>
            </c:rich>
          </c:tx>
          <c:overlay val="0"/>
        </c:title>
        <c:numFmt formatCode="#,##0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12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  <c:majorUnit val="20"/>
      </c:valAx>
      <c:valAx>
        <c:axId val="48650112"/>
        <c:scaling>
          <c:orientation val="minMax"/>
          <c:max val="2026"/>
          <c:min val="2013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7DEE3"/>
            </a:solidFill>
          </a:ln>
        </c:spPr>
        <c:txPr>
          <a:bodyPr anchorCtr="1"/>
          <a:lstStyle/>
          <a:p>
            <a:pPr>
              <a:defRPr sz="112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3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125">
              <a:solidFill>
                <a:srgbClr val="252F38"/>
              </a:solidFill>
              <a:latin typeface="Arial"/>
              <a:ea typeface="Arial"/>
              <a:cs typeface="Arial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Actual fee</c:v>
          </c:tx>
          <c:spPr>
            <a:ln w="23813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135"/>
              <c:pt idx="0">
                <c:v>2012.5</c:v>
              </c:pt>
              <c:pt idx="1">
                <c:v>2012.583333</c:v>
              </c:pt>
              <c:pt idx="2">
                <c:v>2012.666667</c:v>
              </c:pt>
              <c:pt idx="3">
                <c:v>2012.75</c:v>
              </c:pt>
              <c:pt idx="4">
                <c:v>2012.833333</c:v>
              </c:pt>
              <c:pt idx="5">
                <c:v>2012.916667</c:v>
              </c:pt>
              <c:pt idx="6">
                <c:v>2013</c:v>
              </c:pt>
              <c:pt idx="7">
                <c:v>2013.083333</c:v>
              </c:pt>
              <c:pt idx="8">
                <c:v>2013.166667</c:v>
              </c:pt>
              <c:pt idx="9">
                <c:v>2013.25</c:v>
              </c:pt>
              <c:pt idx="10">
                <c:v>2013.333333</c:v>
              </c:pt>
              <c:pt idx="11">
                <c:v>2013.416667</c:v>
              </c:pt>
              <c:pt idx="12">
                <c:v>2013.5</c:v>
              </c:pt>
              <c:pt idx="13">
                <c:v>2013.583333</c:v>
              </c:pt>
              <c:pt idx="14">
                <c:v>2013.666667</c:v>
              </c:pt>
              <c:pt idx="15">
                <c:v>2013.75</c:v>
              </c:pt>
              <c:pt idx="16">
                <c:v>2013.833333</c:v>
              </c:pt>
              <c:pt idx="17">
                <c:v>2013.916667</c:v>
              </c:pt>
              <c:pt idx="18">
                <c:v>2014</c:v>
              </c:pt>
              <c:pt idx="19">
                <c:v>2014.083333</c:v>
              </c:pt>
              <c:pt idx="20">
                <c:v>2014.166667</c:v>
              </c:pt>
              <c:pt idx="21">
                <c:v>2014.25</c:v>
              </c:pt>
              <c:pt idx="22">
                <c:v>2014.333333</c:v>
              </c:pt>
              <c:pt idx="23">
                <c:v>2014.416667</c:v>
              </c:pt>
              <c:pt idx="24">
                <c:v>2014.5</c:v>
              </c:pt>
              <c:pt idx="25">
                <c:v>2014.583333</c:v>
              </c:pt>
              <c:pt idx="26">
                <c:v>2014.666667</c:v>
              </c:pt>
              <c:pt idx="27">
                <c:v>2014.75</c:v>
              </c:pt>
              <c:pt idx="28">
                <c:v>2014.833333</c:v>
              </c:pt>
              <c:pt idx="29">
                <c:v>2014.916667</c:v>
              </c:pt>
              <c:pt idx="30">
                <c:v>2015</c:v>
              </c:pt>
              <c:pt idx="31">
                <c:v>2015.083333</c:v>
              </c:pt>
              <c:pt idx="32">
                <c:v>2015.166667</c:v>
              </c:pt>
              <c:pt idx="33">
                <c:v>2015.25</c:v>
              </c:pt>
              <c:pt idx="34">
                <c:v>2015.333333</c:v>
              </c:pt>
              <c:pt idx="35">
                <c:v>2015.416667</c:v>
              </c:pt>
              <c:pt idx="36">
                <c:v>2015.5</c:v>
              </c:pt>
              <c:pt idx="37">
                <c:v>2015.583333</c:v>
              </c:pt>
              <c:pt idx="38">
                <c:v>2015.666667</c:v>
              </c:pt>
              <c:pt idx="39">
                <c:v>2015.75</c:v>
              </c:pt>
              <c:pt idx="40">
                <c:v>2015.833333</c:v>
              </c:pt>
              <c:pt idx="41">
                <c:v>2015.916667</c:v>
              </c:pt>
              <c:pt idx="42">
                <c:v>2016</c:v>
              </c:pt>
              <c:pt idx="43">
                <c:v>2016.083333</c:v>
              </c:pt>
              <c:pt idx="44">
                <c:v>2016.166667</c:v>
              </c:pt>
              <c:pt idx="45">
                <c:v>2016.25</c:v>
              </c:pt>
              <c:pt idx="46">
                <c:v>2016.333333</c:v>
              </c:pt>
              <c:pt idx="47">
                <c:v>2016.416667</c:v>
              </c:pt>
              <c:pt idx="48">
                <c:v>2016.5</c:v>
              </c:pt>
              <c:pt idx="49">
                <c:v>2016.583333</c:v>
              </c:pt>
              <c:pt idx="50">
                <c:v>2016.666667</c:v>
              </c:pt>
              <c:pt idx="51">
                <c:v>2016.75</c:v>
              </c:pt>
              <c:pt idx="52">
                <c:v>2016.833333</c:v>
              </c:pt>
              <c:pt idx="53">
                <c:v>2016.916667</c:v>
              </c:pt>
              <c:pt idx="54">
                <c:v>2017</c:v>
              </c:pt>
              <c:pt idx="55">
                <c:v>2017.083333</c:v>
              </c:pt>
              <c:pt idx="56">
                <c:v>2017.166667</c:v>
              </c:pt>
              <c:pt idx="57">
                <c:v>2017.25</c:v>
              </c:pt>
              <c:pt idx="58">
                <c:v>2017.333333</c:v>
              </c:pt>
              <c:pt idx="59">
                <c:v>2017.416667</c:v>
              </c:pt>
              <c:pt idx="60">
                <c:v>2017.5</c:v>
              </c:pt>
              <c:pt idx="61">
                <c:v>2017.583333</c:v>
              </c:pt>
              <c:pt idx="62">
                <c:v>2017.666667</c:v>
              </c:pt>
              <c:pt idx="63">
                <c:v>2017.75</c:v>
              </c:pt>
              <c:pt idx="64">
                <c:v>2017.833333</c:v>
              </c:pt>
              <c:pt idx="65">
                <c:v>2017.916667</c:v>
              </c:pt>
              <c:pt idx="66">
                <c:v>2018</c:v>
              </c:pt>
              <c:pt idx="67">
                <c:v>2018.083333</c:v>
              </c:pt>
              <c:pt idx="68">
                <c:v>2018.166667</c:v>
              </c:pt>
              <c:pt idx="69">
                <c:v>2018.25</c:v>
              </c:pt>
              <c:pt idx="70">
                <c:v>2018.333333</c:v>
              </c:pt>
              <c:pt idx="71">
                <c:v>2018.416667</c:v>
              </c:pt>
              <c:pt idx="72">
                <c:v>2018.5</c:v>
              </c:pt>
              <c:pt idx="73">
                <c:v>2018.583333</c:v>
              </c:pt>
              <c:pt idx="74">
                <c:v>2018.666667</c:v>
              </c:pt>
              <c:pt idx="75">
                <c:v>2018.75</c:v>
              </c:pt>
              <c:pt idx="76">
                <c:v>2018.833333</c:v>
              </c:pt>
              <c:pt idx="77">
                <c:v>2018.916667</c:v>
              </c:pt>
              <c:pt idx="78">
                <c:v>2019</c:v>
              </c:pt>
              <c:pt idx="79">
                <c:v>2019.083333</c:v>
              </c:pt>
              <c:pt idx="80">
                <c:v>2019.166667</c:v>
              </c:pt>
              <c:pt idx="81">
                <c:v>2019.25</c:v>
              </c:pt>
              <c:pt idx="82">
                <c:v>2019.333333</c:v>
              </c:pt>
              <c:pt idx="83">
                <c:v>2019.416667</c:v>
              </c:pt>
              <c:pt idx="84">
                <c:v>2019.5</c:v>
              </c:pt>
              <c:pt idx="85">
                <c:v>2019.583333</c:v>
              </c:pt>
              <c:pt idx="86">
                <c:v>2019.666667</c:v>
              </c:pt>
              <c:pt idx="87">
                <c:v>2019.75</c:v>
              </c:pt>
              <c:pt idx="88">
                <c:v>2019.833333</c:v>
              </c:pt>
              <c:pt idx="89">
                <c:v>2019.916667</c:v>
              </c:pt>
              <c:pt idx="90">
                <c:v>2020</c:v>
              </c:pt>
              <c:pt idx="91">
                <c:v>2020.083333</c:v>
              </c:pt>
              <c:pt idx="92">
                <c:v>2020.166667</c:v>
              </c:pt>
              <c:pt idx="93">
                <c:v>2020.25</c:v>
              </c:pt>
              <c:pt idx="94">
                <c:v>2020.333333</c:v>
              </c:pt>
              <c:pt idx="95">
                <c:v>2020.416667</c:v>
              </c:pt>
              <c:pt idx="96">
                <c:v>2020.5</c:v>
              </c:pt>
              <c:pt idx="97">
                <c:v>2020.583333</c:v>
              </c:pt>
              <c:pt idx="98">
                <c:v>2020.666667</c:v>
              </c:pt>
              <c:pt idx="99">
                <c:v>2020.75</c:v>
              </c:pt>
              <c:pt idx="100">
                <c:v>2020.833333</c:v>
              </c:pt>
              <c:pt idx="101">
                <c:v>2020.916667</c:v>
              </c:pt>
              <c:pt idx="102">
                <c:v>2021</c:v>
              </c:pt>
              <c:pt idx="103">
                <c:v>2021.083333</c:v>
              </c:pt>
              <c:pt idx="104">
                <c:v>2021.166667</c:v>
              </c:pt>
              <c:pt idx="105">
                <c:v>2021.25</c:v>
              </c:pt>
              <c:pt idx="106">
                <c:v>2021.333333</c:v>
              </c:pt>
              <c:pt idx="107">
                <c:v>2021.416667</c:v>
              </c:pt>
              <c:pt idx="108">
                <c:v>2021.5</c:v>
              </c:pt>
              <c:pt idx="109">
                <c:v>2021.583333</c:v>
              </c:pt>
              <c:pt idx="110">
                <c:v>2021.666667</c:v>
              </c:pt>
              <c:pt idx="111">
                <c:v>2021.75</c:v>
              </c:pt>
              <c:pt idx="112">
                <c:v>2021.833333</c:v>
              </c:pt>
              <c:pt idx="113">
                <c:v>2021.916667</c:v>
              </c:pt>
              <c:pt idx="114">
                <c:v>2022</c:v>
              </c:pt>
              <c:pt idx="115">
                <c:v>2022.083333</c:v>
              </c:pt>
              <c:pt idx="116">
                <c:v>2022.166667</c:v>
              </c:pt>
              <c:pt idx="117">
                <c:v>2022.25</c:v>
              </c:pt>
              <c:pt idx="118">
                <c:v>2022.333333</c:v>
              </c:pt>
              <c:pt idx="119">
                <c:v>2022.416667</c:v>
              </c:pt>
              <c:pt idx="120">
                <c:v>2022.5</c:v>
              </c:pt>
              <c:pt idx="121">
                <c:v>2022.583333</c:v>
              </c:pt>
              <c:pt idx="122">
                <c:v>2022.666667</c:v>
              </c:pt>
              <c:pt idx="123">
                <c:v>2022.75</c:v>
              </c:pt>
              <c:pt idx="124">
                <c:v>2022.833333</c:v>
              </c:pt>
              <c:pt idx="125">
                <c:v>2022.916667</c:v>
              </c:pt>
              <c:pt idx="126">
                <c:v>2023</c:v>
              </c:pt>
              <c:pt idx="127">
                <c:v>2023.083333</c:v>
              </c:pt>
              <c:pt idx="128">
                <c:v>2023.166667</c:v>
              </c:pt>
              <c:pt idx="129">
                <c:v>2023.25</c:v>
              </c:pt>
              <c:pt idx="130">
                <c:v>2023.333333</c:v>
              </c:pt>
              <c:pt idx="131">
                <c:v>2023.416667</c:v>
              </c:pt>
              <c:pt idx="132">
                <c:v>2023.5</c:v>
              </c:pt>
              <c:pt idx="133">
                <c:v>2023.583333</c:v>
              </c:pt>
              <c:pt idx="134">
                <c:v>2023.666667</c:v>
              </c:pt>
            </c:numLit>
          </c:xVal>
          <c:yVal>
            <c:numLit>
              <c:formatCode>#,##0</c:formatCode>
              <c:ptCount val="135"/>
              <c:pt idx="0">
                <c:v>1132</c:v>
              </c:pt>
              <c:pt idx="1">
                <c:v>1134</c:v>
              </c:pt>
              <c:pt idx="2">
                <c:v>983</c:v>
              </c:pt>
              <c:pt idx="3">
                <c:v>1150</c:v>
              </c:pt>
              <c:pt idx="4">
                <c:v>978</c:v>
              </c:pt>
              <c:pt idx="5">
                <c:v>1025</c:v>
              </c:pt>
              <c:pt idx="6">
                <c:v>989</c:v>
              </c:pt>
              <c:pt idx="7">
                <c:v>943</c:v>
              </c:pt>
              <c:pt idx="8">
                <c:v>1089</c:v>
              </c:pt>
              <c:pt idx="9">
                <c:v>1128</c:v>
              </c:pt>
              <c:pt idx="10">
                <c:v>1063</c:v>
              </c:pt>
              <c:pt idx="11">
                <c:v>999</c:v>
              </c:pt>
              <c:pt idx="12">
                <c:v>1160</c:v>
              </c:pt>
              <c:pt idx="13">
                <c:v>1032</c:v>
              </c:pt>
              <c:pt idx="14">
                <c:v>1022</c:v>
              </c:pt>
              <c:pt idx="15">
                <c:v>1280</c:v>
              </c:pt>
              <c:pt idx="16">
                <c:v>1090</c:v>
              </c:pt>
              <c:pt idx="17">
                <c:v>1184</c:v>
              </c:pt>
              <c:pt idx="18">
                <c:v>1121</c:v>
              </c:pt>
              <c:pt idx="19">
                <c:v>1059</c:v>
              </c:pt>
              <c:pt idx="20">
                <c:v>1158</c:v>
              </c:pt>
              <c:pt idx="21">
                <c:v>1264</c:v>
              </c:pt>
              <c:pt idx="22">
                <c:v>1231</c:v>
              </c:pt>
              <c:pt idx="23">
                <c:v>1226</c:v>
              </c:pt>
              <c:pt idx="24">
                <c:v>1277</c:v>
              </c:pt>
              <c:pt idx="25">
                <c:v>1188</c:v>
              </c:pt>
              <c:pt idx="26">
                <c:v>1206</c:v>
              </c:pt>
              <c:pt idx="27">
                <c:v>1305</c:v>
              </c:pt>
              <c:pt idx="28">
                <c:v>1166</c:v>
              </c:pt>
              <c:pt idx="29">
                <c:v>1362</c:v>
              </c:pt>
              <c:pt idx="30">
                <c:v>1140</c:v>
              </c:pt>
              <c:pt idx="31">
                <c:v>1111</c:v>
              </c:pt>
              <c:pt idx="32">
                <c:v>1455</c:v>
              </c:pt>
              <c:pt idx="33">
                <c:v>1409</c:v>
              </c:pt>
              <c:pt idx="34">
                <c:v>1294</c:v>
              </c:pt>
              <c:pt idx="35">
                <c:v>1472</c:v>
              </c:pt>
              <c:pt idx="36">
                <c:v>1360</c:v>
              </c:pt>
              <c:pt idx="37">
                <c:v>1279</c:v>
              </c:pt>
              <c:pt idx="38">
                <c:v>1336</c:v>
              </c:pt>
              <c:pt idx="39">
                <c:v>1316</c:v>
              </c:pt>
              <c:pt idx="40">
                <c:v>1233</c:v>
              </c:pt>
              <c:pt idx="41">
                <c:v>1233</c:v>
              </c:pt>
              <c:pt idx="42">
                <c:v>1151</c:v>
              </c:pt>
              <c:pt idx="43">
                <c:v>1236</c:v>
              </c:pt>
              <c:pt idx="44">
                <c:v>1539</c:v>
              </c:pt>
              <c:pt idx="45">
                <c:v>1249</c:v>
              </c:pt>
              <c:pt idx="46">
                <c:v>1388</c:v>
              </c:pt>
              <c:pt idx="47">
                <c:v>1280</c:v>
              </c:pt>
              <c:pt idx="48">
                <c:v>1184</c:v>
              </c:pt>
              <c:pt idx="49">
                <c:v>1418</c:v>
              </c:pt>
              <c:pt idx="50">
                <c:v>1310</c:v>
              </c:pt>
              <c:pt idx="51">
                <c:v>1226</c:v>
              </c:pt>
              <c:pt idx="52">
                <c:v>1166</c:v>
              </c:pt>
              <c:pt idx="53">
                <c:v>1253</c:v>
              </c:pt>
              <c:pt idx="54">
                <c:v>1278</c:v>
              </c:pt>
              <c:pt idx="55">
                <c:v>1198</c:v>
              </c:pt>
              <c:pt idx="56">
                <c:v>1373</c:v>
              </c:pt>
              <c:pt idx="57">
                <c:v>1202</c:v>
              </c:pt>
              <c:pt idx="58">
                <c:v>1409</c:v>
              </c:pt>
              <c:pt idx="59">
                <c:v>1331</c:v>
              </c:pt>
              <c:pt idx="60">
                <c:v>1245</c:v>
              </c:pt>
              <c:pt idx="61">
                <c:v>1434</c:v>
              </c:pt>
              <c:pt idx="62">
                <c:v>1245</c:v>
              </c:pt>
              <c:pt idx="63">
                <c:v>1456</c:v>
              </c:pt>
              <c:pt idx="64">
                <c:v>1298</c:v>
              </c:pt>
              <c:pt idx="65">
                <c:v>1400</c:v>
              </c:pt>
              <c:pt idx="66">
                <c:v>1441</c:v>
              </c:pt>
              <c:pt idx="67">
                <c:v>1349</c:v>
              </c:pt>
              <c:pt idx="68">
                <c:v>1673</c:v>
              </c:pt>
              <c:pt idx="69">
                <c:v>1466</c:v>
              </c:pt>
              <c:pt idx="70">
                <c:v>1667</c:v>
              </c:pt>
              <c:pt idx="71">
                <c:v>1545</c:v>
              </c:pt>
              <c:pt idx="72">
                <c:v>1512</c:v>
              </c:pt>
              <c:pt idx="73">
                <c:v>1739</c:v>
              </c:pt>
              <c:pt idx="74">
                <c:v>1656</c:v>
              </c:pt>
              <c:pt idx="75">
                <c:v>1600</c:v>
              </c:pt>
              <c:pt idx="76">
                <c:v>1516</c:v>
              </c:pt>
              <c:pt idx="77">
                <c:v>1673</c:v>
              </c:pt>
              <c:pt idx="78">
                <c:v>1565</c:v>
              </c:pt>
              <c:pt idx="79">
                <c:v>1545</c:v>
              </c:pt>
              <c:pt idx="80">
                <c:v>1856</c:v>
              </c:pt>
              <c:pt idx="81">
                <c:v>1508</c:v>
              </c:pt>
              <c:pt idx="82">
                <c:v>1672</c:v>
              </c:pt>
              <c:pt idx="83">
                <c:v>1762</c:v>
              </c:pt>
              <c:pt idx="84">
                <c:v>1606</c:v>
              </c:pt>
              <c:pt idx="85">
                <c:v>1835</c:v>
              </c:pt>
              <c:pt idx="86">
                <c:v>1697</c:v>
              </c:pt>
              <c:pt idx="87">
                <c:v>1680</c:v>
              </c:pt>
              <c:pt idx="88">
                <c:v>1668</c:v>
              </c:pt>
              <c:pt idx="89">
                <c:v>1523</c:v>
              </c:pt>
              <c:pt idx="90">
                <c:v>1745</c:v>
              </c:pt>
              <c:pt idx="91">
                <c:v>1671</c:v>
              </c:pt>
              <c:pt idx="92">
                <c:v>1497</c:v>
              </c:pt>
              <c:pt idx="93">
                <c:v>1167</c:v>
              </c:pt>
              <c:pt idx="94">
                <c:v>1265</c:v>
              </c:pt>
              <c:pt idx="95">
                <c:v>1336</c:v>
              </c:pt>
              <c:pt idx="96">
                <c:v>1450</c:v>
              </c:pt>
              <c:pt idx="97">
                <c:v>1494</c:v>
              </c:pt>
              <c:pt idx="98">
                <c:v>1691</c:v>
              </c:pt>
              <c:pt idx="99">
                <c:v>1638</c:v>
              </c:pt>
              <c:pt idx="100">
                <c:v>1673</c:v>
              </c:pt>
              <c:pt idx="101">
                <c:v>1471</c:v>
              </c:pt>
              <c:pt idx="102">
                <c:v>1597</c:v>
              </c:pt>
              <c:pt idx="103">
                <c:v>1481</c:v>
              </c:pt>
              <c:pt idx="104">
                <c:v>1780</c:v>
              </c:pt>
              <c:pt idx="105">
                <c:v>1752</c:v>
              </c:pt>
              <c:pt idx="106">
                <c:v>1892</c:v>
              </c:pt>
              <c:pt idx="107">
                <c:v>1904</c:v>
              </c:pt>
              <c:pt idx="108">
                <c:v>2006</c:v>
              </c:pt>
              <c:pt idx="109">
                <c:v>2013</c:v>
              </c:pt>
              <c:pt idx="110">
                <c:v>1968</c:v>
              </c:pt>
              <c:pt idx="111">
                <c:v>2065</c:v>
              </c:pt>
              <c:pt idx="112">
                <c:v>1860</c:v>
              </c:pt>
              <c:pt idx="113">
                <c:v>2195</c:v>
              </c:pt>
              <c:pt idx="114">
                <c:v>2135</c:v>
              </c:pt>
              <c:pt idx="115">
                <c:v>2146</c:v>
              </c:pt>
              <c:pt idx="116">
                <c:v>2349</c:v>
              </c:pt>
              <c:pt idx="117">
                <c:v>2351</c:v>
              </c:pt>
              <c:pt idx="118">
                <c:v>2432</c:v>
              </c:pt>
              <c:pt idx="119">
                <c:v>2282</c:v>
              </c:pt>
              <c:pt idx="120">
                <c:v>2334</c:v>
              </c:pt>
              <c:pt idx="121">
                <c:v>2444</c:v>
              </c:pt>
              <c:pt idx="122">
                <c:v>2416</c:v>
              </c:pt>
              <c:pt idx="123">
                <c:v>2633</c:v>
              </c:pt>
              <c:pt idx="124">
                <c:v>2274</c:v>
              </c:pt>
              <c:pt idx="125">
                <c:v>2475</c:v>
              </c:pt>
              <c:pt idx="126">
                <c:v>2322</c:v>
              </c:pt>
              <c:pt idx="127">
                <c:v>2236</c:v>
              </c:pt>
              <c:pt idx="128">
                <c:v>2631</c:v>
              </c:pt>
              <c:pt idx="129">
                <c:v>2535</c:v>
              </c:pt>
              <c:pt idx="130">
                <c:v>2525</c:v>
              </c:pt>
              <c:pt idx="131">
                <c:v>2417</c:v>
              </c:pt>
              <c:pt idx="132">
                <c:v>2426</c:v>
              </c:pt>
              <c:pt idx="133">
                <c:v>2413</c:v>
              </c:pt>
              <c:pt idx="134">
                <c:v>2414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EFED-7041-A1C5-01B79525E8D1}"/>
            </c:ext>
          </c:extLst>
        </c:ser>
        <c:ser>
          <c:idx val="1"/>
          <c:order val="1"/>
          <c:tx>
            <c:v>Fitted fee</c:v>
          </c:tx>
          <c:spPr>
            <a:ln w="23813">
              <a:solidFill>
                <a:srgbClr val="C77933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135"/>
              <c:pt idx="0">
                <c:v>2012.5</c:v>
              </c:pt>
              <c:pt idx="1">
                <c:v>2012.583333</c:v>
              </c:pt>
              <c:pt idx="2">
                <c:v>2012.666667</c:v>
              </c:pt>
              <c:pt idx="3">
                <c:v>2012.75</c:v>
              </c:pt>
              <c:pt idx="4">
                <c:v>2012.833333</c:v>
              </c:pt>
              <c:pt idx="5">
                <c:v>2012.916667</c:v>
              </c:pt>
              <c:pt idx="6">
                <c:v>2013</c:v>
              </c:pt>
              <c:pt idx="7">
                <c:v>2013.083333</c:v>
              </c:pt>
              <c:pt idx="8">
                <c:v>2013.166667</c:v>
              </c:pt>
              <c:pt idx="9">
                <c:v>2013.25</c:v>
              </c:pt>
              <c:pt idx="10">
                <c:v>2013.333333</c:v>
              </c:pt>
              <c:pt idx="11">
                <c:v>2013.416667</c:v>
              </c:pt>
              <c:pt idx="12">
                <c:v>2013.5</c:v>
              </c:pt>
              <c:pt idx="13">
                <c:v>2013.583333</c:v>
              </c:pt>
              <c:pt idx="14">
                <c:v>2013.666667</c:v>
              </c:pt>
              <c:pt idx="15">
                <c:v>2013.75</c:v>
              </c:pt>
              <c:pt idx="16">
                <c:v>2013.833333</c:v>
              </c:pt>
              <c:pt idx="17">
                <c:v>2013.916667</c:v>
              </c:pt>
              <c:pt idx="18">
                <c:v>2014</c:v>
              </c:pt>
              <c:pt idx="19">
                <c:v>2014.083333</c:v>
              </c:pt>
              <c:pt idx="20">
                <c:v>2014.166667</c:v>
              </c:pt>
              <c:pt idx="21">
                <c:v>2014.25</c:v>
              </c:pt>
              <c:pt idx="22">
                <c:v>2014.333333</c:v>
              </c:pt>
              <c:pt idx="23">
                <c:v>2014.416667</c:v>
              </c:pt>
              <c:pt idx="24">
                <c:v>2014.5</c:v>
              </c:pt>
              <c:pt idx="25">
                <c:v>2014.583333</c:v>
              </c:pt>
              <c:pt idx="26">
                <c:v>2014.666667</c:v>
              </c:pt>
              <c:pt idx="27">
                <c:v>2014.75</c:v>
              </c:pt>
              <c:pt idx="28">
                <c:v>2014.833333</c:v>
              </c:pt>
              <c:pt idx="29">
                <c:v>2014.916667</c:v>
              </c:pt>
              <c:pt idx="30">
                <c:v>2015</c:v>
              </c:pt>
              <c:pt idx="31">
                <c:v>2015.083333</c:v>
              </c:pt>
              <c:pt idx="32">
                <c:v>2015.166667</c:v>
              </c:pt>
              <c:pt idx="33">
                <c:v>2015.25</c:v>
              </c:pt>
              <c:pt idx="34">
                <c:v>2015.333333</c:v>
              </c:pt>
              <c:pt idx="35">
                <c:v>2015.416667</c:v>
              </c:pt>
              <c:pt idx="36">
                <c:v>2015.5</c:v>
              </c:pt>
              <c:pt idx="37">
                <c:v>2015.583333</c:v>
              </c:pt>
              <c:pt idx="38">
                <c:v>2015.666667</c:v>
              </c:pt>
              <c:pt idx="39">
                <c:v>2015.75</c:v>
              </c:pt>
              <c:pt idx="40">
                <c:v>2015.833333</c:v>
              </c:pt>
              <c:pt idx="41">
                <c:v>2015.916667</c:v>
              </c:pt>
              <c:pt idx="42">
                <c:v>2016</c:v>
              </c:pt>
              <c:pt idx="43">
                <c:v>2016.083333</c:v>
              </c:pt>
              <c:pt idx="44">
                <c:v>2016.166667</c:v>
              </c:pt>
              <c:pt idx="45">
                <c:v>2016.25</c:v>
              </c:pt>
              <c:pt idx="46">
                <c:v>2016.333333</c:v>
              </c:pt>
              <c:pt idx="47">
                <c:v>2016.416667</c:v>
              </c:pt>
              <c:pt idx="48">
                <c:v>2016.5</c:v>
              </c:pt>
              <c:pt idx="49">
                <c:v>2016.583333</c:v>
              </c:pt>
              <c:pt idx="50">
                <c:v>2016.666667</c:v>
              </c:pt>
              <c:pt idx="51">
                <c:v>2016.75</c:v>
              </c:pt>
              <c:pt idx="52">
                <c:v>2016.833333</c:v>
              </c:pt>
              <c:pt idx="53">
                <c:v>2016.916667</c:v>
              </c:pt>
              <c:pt idx="54">
                <c:v>2017</c:v>
              </c:pt>
              <c:pt idx="55">
                <c:v>2017.083333</c:v>
              </c:pt>
              <c:pt idx="56">
                <c:v>2017.166667</c:v>
              </c:pt>
              <c:pt idx="57">
                <c:v>2017.25</c:v>
              </c:pt>
              <c:pt idx="58">
                <c:v>2017.333333</c:v>
              </c:pt>
              <c:pt idx="59">
                <c:v>2017.416667</c:v>
              </c:pt>
              <c:pt idx="60">
                <c:v>2017.5</c:v>
              </c:pt>
              <c:pt idx="61">
                <c:v>2017.583333</c:v>
              </c:pt>
              <c:pt idx="62">
                <c:v>2017.666667</c:v>
              </c:pt>
              <c:pt idx="63">
                <c:v>2017.75</c:v>
              </c:pt>
              <c:pt idx="64">
                <c:v>2017.833333</c:v>
              </c:pt>
              <c:pt idx="65">
                <c:v>2017.916667</c:v>
              </c:pt>
              <c:pt idx="66">
                <c:v>2018</c:v>
              </c:pt>
              <c:pt idx="67">
                <c:v>2018.083333</c:v>
              </c:pt>
              <c:pt idx="68">
                <c:v>2018.166667</c:v>
              </c:pt>
              <c:pt idx="69">
                <c:v>2018.25</c:v>
              </c:pt>
              <c:pt idx="70">
                <c:v>2018.333333</c:v>
              </c:pt>
              <c:pt idx="71">
                <c:v>2018.416667</c:v>
              </c:pt>
              <c:pt idx="72">
                <c:v>2018.5</c:v>
              </c:pt>
              <c:pt idx="73">
                <c:v>2018.583333</c:v>
              </c:pt>
              <c:pt idx="74">
                <c:v>2018.666667</c:v>
              </c:pt>
              <c:pt idx="75">
                <c:v>2018.75</c:v>
              </c:pt>
              <c:pt idx="76">
                <c:v>2018.833333</c:v>
              </c:pt>
              <c:pt idx="77">
                <c:v>2018.916667</c:v>
              </c:pt>
              <c:pt idx="78">
                <c:v>2019</c:v>
              </c:pt>
              <c:pt idx="79">
                <c:v>2019.083333</c:v>
              </c:pt>
              <c:pt idx="80">
                <c:v>2019.166667</c:v>
              </c:pt>
              <c:pt idx="81">
                <c:v>2019.25</c:v>
              </c:pt>
              <c:pt idx="82">
                <c:v>2019.333333</c:v>
              </c:pt>
              <c:pt idx="83">
                <c:v>2019.416667</c:v>
              </c:pt>
              <c:pt idx="84">
                <c:v>2019.5</c:v>
              </c:pt>
              <c:pt idx="85">
                <c:v>2019.583333</c:v>
              </c:pt>
              <c:pt idx="86">
                <c:v>2019.666667</c:v>
              </c:pt>
              <c:pt idx="87">
                <c:v>2019.75</c:v>
              </c:pt>
              <c:pt idx="88">
                <c:v>2019.833333</c:v>
              </c:pt>
              <c:pt idx="89">
                <c:v>2019.916667</c:v>
              </c:pt>
              <c:pt idx="90">
                <c:v>2020</c:v>
              </c:pt>
              <c:pt idx="91">
                <c:v>2020.083333</c:v>
              </c:pt>
              <c:pt idx="92">
                <c:v>2020.166667</c:v>
              </c:pt>
              <c:pt idx="93">
                <c:v>2020.25</c:v>
              </c:pt>
              <c:pt idx="94">
                <c:v>2020.333333</c:v>
              </c:pt>
              <c:pt idx="95">
                <c:v>2020.416667</c:v>
              </c:pt>
              <c:pt idx="96">
                <c:v>2020.5</c:v>
              </c:pt>
              <c:pt idx="97">
                <c:v>2020.583333</c:v>
              </c:pt>
              <c:pt idx="98">
                <c:v>2020.666667</c:v>
              </c:pt>
              <c:pt idx="99">
                <c:v>2020.75</c:v>
              </c:pt>
              <c:pt idx="100">
                <c:v>2020.833333</c:v>
              </c:pt>
              <c:pt idx="101">
                <c:v>2020.916667</c:v>
              </c:pt>
              <c:pt idx="102">
                <c:v>2021</c:v>
              </c:pt>
              <c:pt idx="103">
                <c:v>2021.083333</c:v>
              </c:pt>
              <c:pt idx="104">
                <c:v>2021.166667</c:v>
              </c:pt>
              <c:pt idx="105">
                <c:v>2021.25</c:v>
              </c:pt>
              <c:pt idx="106">
                <c:v>2021.333333</c:v>
              </c:pt>
              <c:pt idx="107">
                <c:v>2021.416667</c:v>
              </c:pt>
              <c:pt idx="108">
                <c:v>2021.5</c:v>
              </c:pt>
              <c:pt idx="109">
                <c:v>2021.583333</c:v>
              </c:pt>
              <c:pt idx="110">
                <c:v>2021.666667</c:v>
              </c:pt>
              <c:pt idx="111">
                <c:v>2021.75</c:v>
              </c:pt>
              <c:pt idx="112">
                <c:v>2021.833333</c:v>
              </c:pt>
              <c:pt idx="113">
                <c:v>2021.916667</c:v>
              </c:pt>
              <c:pt idx="114">
                <c:v>2022</c:v>
              </c:pt>
              <c:pt idx="115">
                <c:v>2022.083333</c:v>
              </c:pt>
              <c:pt idx="116">
                <c:v>2022.166667</c:v>
              </c:pt>
              <c:pt idx="117">
                <c:v>2022.25</c:v>
              </c:pt>
              <c:pt idx="118">
                <c:v>2022.333333</c:v>
              </c:pt>
              <c:pt idx="119">
                <c:v>2022.416667</c:v>
              </c:pt>
              <c:pt idx="120">
                <c:v>2022.5</c:v>
              </c:pt>
              <c:pt idx="121">
                <c:v>2022.583333</c:v>
              </c:pt>
              <c:pt idx="122">
                <c:v>2022.666667</c:v>
              </c:pt>
              <c:pt idx="123">
                <c:v>2022.75</c:v>
              </c:pt>
              <c:pt idx="124">
                <c:v>2022.833333</c:v>
              </c:pt>
              <c:pt idx="125">
                <c:v>2022.916667</c:v>
              </c:pt>
              <c:pt idx="126">
                <c:v>2023</c:v>
              </c:pt>
              <c:pt idx="127">
                <c:v>2023.083333</c:v>
              </c:pt>
              <c:pt idx="128">
                <c:v>2023.166667</c:v>
              </c:pt>
              <c:pt idx="129">
                <c:v>2023.25</c:v>
              </c:pt>
              <c:pt idx="130">
                <c:v>2023.333333</c:v>
              </c:pt>
              <c:pt idx="131">
                <c:v>2023.416667</c:v>
              </c:pt>
              <c:pt idx="132">
                <c:v>2023.5</c:v>
              </c:pt>
              <c:pt idx="133">
                <c:v>2023.583333</c:v>
              </c:pt>
              <c:pt idx="134">
                <c:v>2023.666667</c:v>
              </c:pt>
            </c:numLit>
          </c:xVal>
          <c:yVal>
            <c:numLit>
              <c:formatCode>#,##0</c:formatCode>
              <c:ptCount val="135"/>
              <c:pt idx="0">
                <c:v>1058.3778850000001</c:v>
              </c:pt>
              <c:pt idx="1">
                <c:v>1208.307427</c:v>
              </c:pt>
              <c:pt idx="2">
                <c:v>1032.3612479999999</c:v>
              </c:pt>
              <c:pt idx="3">
                <c:v>1042.1145759999999</c:v>
              </c:pt>
              <c:pt idx="4">
                <c:v>1104.3619659999999</c:v>
              </c:pt>
              <c:pt idx="5">
                <c:v>1071.052099</c:v>
              </c:pt>
              <c:pt idx="6">
                <c:v>1127.907406</c:v>
              </c:pt>
              <c:pt idx="7">
                <c:v>1027.2980680000001</c:v>
              </c:pt>
              <c:pt idx="8">
                <c:v>1068.446412</c:v>
              </c:pt>
              <c:pt idx="9">
                <c:v>1145.426154</c:v>
              </c:pt>
              <c:pt idx="10">
                <c:v>1131.356503</c:v>
              </c:pt>
              <c:pt idx="11">
                <c:v>1047.540395</c:v>
              </c:pt>
              <c:pt idx="12">
                <c:v>1057.0978970000001</c:v>
              </c:pt>
              <c:pt idx="13">
                <c:v>1120.5960700000001</c:v>
              </c:pt>
              <c:pt idx="14">
                <c:v>1031.2461290000001</c:v>
              </c:pt>
              <c:pt idx="15">
                <c:v>1169.380189</c:v>
              </c:pt>
              <c:pt idx="16">
                <c:v>1073.2314679999999</c:v>
              </c:pt>
              <c:pt idx="17">
                <c:v>1106.685185</c:v>
              </c:pt>
              <c:pt idx="18">
                <c:v>1133.3359969999999</c:v>
              </c:pt>
              <c:pt idx="19">
                <c:v>1089.4913979999999</c:v>
              </c:pt>
              <c:pt idx="20">
                <c:v>1182.312563</c:v>
              </c:pt>
              <c:pt idx="21">
                <c:v>1184.049023</c:v>
              </c:pt>
              <c:pt idx="22">
                <c:v>1178.761974</c:v>
              </c:pt>
              <c:pt idx="23">
                <c:v>1174.856035</c:v>
              </c:pt>
              <c:pt idx="24">
                <c:v>1302.484134</c:v>
              </c:pt>
              <c:pt idx="25">
                <c:v>1195.6485110000001</c:v>
              </c:pt>
              <c:pt idx="26">
                <c:v>1202.2756139999999</c:v>
              </c:pt>
              <c:pt idx="27">
                <c:v>1354.3533910000001</c:v>
              </c:pt>
              <c:pt idx="28">
                <c:v>1217.101052</c:v>
              </c:pt>
              <c:pt idx="29">
                <c:v>1308.56123</c:v>
              </c:pt>
              <c:pt idx="30">
                <c:v>1282.4910640000001</c:v>
              </c:pt>
              <c:pt idx="31">
                <c:v>1204.436475</c:v>
              </c:pt>
              <c:pt idx="32">
                <c:v>1292.0364870000001</c:v>
              </c:pt>
              <c:pt idx="33">
                <c:v>1403.596847</c:v>
              </c:pt>
              <c:pt idx="34">
                <c:v>1349.7899540000001</c:v>
              </c:pt>
              <c:pt idx="35">
                <c:v>1334.8482799999999</c:v>
              </c:pt>
              <c:pt idx="36">
                <c:v>1378.52586</c:v>
              </c:pt>
              <c:pt idx="37">
                <c:v>1277.907627</c:v>
              </c:pt>
              <c:pt idx="38">
                <c:v>1338.5488829999999</c:v>
              </c:pt>
              <c:pt idx="39">
                <c:v>1350.275541</c:v>
              </c:pt>
              <c:pt idx="40">
                <c:v>1231.7172330000001</c:v>
              </c:pt>
              <c:pt idx="41">
                <c:v>1352.2110479999999</c:v>
              </c:pt>
              <c:pt idx="42">
                <c:v>1142.794402</c:v>
              </c:pt>
              <c:pt idx="43">
                <c:v>1183.4083700000001</c:v>
              </c:pt>
              <c:pt idx="44">
                <c:v>1350.448441</c:v>
              </c:pt>
              <c:pt idx="45">
                <c:v>1300.9088979999999</c:v>
              </c:pt>
              <c:pt idx="46">
                <c:v>1230.8314419999999</c:v>
              </c:pt>
              <c:pt idx="47">
                <c:v>1309.383879</c:v>
              </c:pt>
              <c:pt idx="48">
                <c:v>1228.3168539999999</c:v>
              </c:pt>
              <c:pt idx="49">
                <c:v>1237.397571</c:v>
              </c:pt>
              <c:pt idx="50">
                <c:v>1343.44685</c:v>
              </c:pt>
              <c:pt idx="51">
                <c:v>1231.712679</c:v>
              </c:pt>
              <c:pt idx="52">
                <c:v>1243.363057</c:v>
              </c:pt>
              <c:pt idx="53">
                <c:v>1200.472814</c:v>
              </c:pt>
              <c:pt idx="54">
                <c:v>1205.4791560000001</c:v>
              </c:pt>
              <c:pt idx="55">
                <c:v>1344.374341</c:v>
              </c:pt>
              <c:pt idx="56">
                <c:v>1310.1542830000001</c:v>
              </c:pt>
              <c:pt idx="57">
                <c:v>1226.6852429999999</c:v>
              </c:pt>
              <c:pt idx="58">
                <c:v>1306.371099</c:v>
              </c:pt>
              <c:pt idx="59">
                <c:v>1337.1944699999999</c:v>
              </c:pt>
              <c:pt idx="60">
                <c:v>1335.474631</c:v>
              </c:pt>
              <c:pt idx="61">
                <c:v>1388.855149</c:v>
              </c:pt>
              <c:pt idx="62">
                <c:v>1327.2278630000001</c:v>
              </c:pt>
              <c:pt idx="63">
                <c:v>1298.9693090000001</c:v>
              </c:pt>
              <c:pt idx="64">
                <c:v>1400.6267989999999</c:v>
              </c:pt>
              <c:pt idx="65">
                <c:v>1446.8429000000001</c:v>
              </c:pt>
              <c:pt idx="66">
                <c:v>1477.652597</c:v>
              </c:pt>
              <c:pt idx="67">
                <c:v>1433.39267</c:v>
              </c:pt>
              <c:pt idx="68">
                <c:v>1484.0225809999999</c:v>
              </c:pt>
              <c:pt idx="69">
                <c:v>1513.6885199999999</c:v>
              </c:pt>
              <c:pt idx="70">
                <c:v>1587.7038299999999</c:v>
              </c:pt>
              <c:pt idx="71">
                <c:v>1542.1018449999999</c:v>
              </c:pt>
              <c:pt idx="72">
                <c:v>1503.718445</c:v>
              </c:pt>
              <c:pt idx="73">
                <c:v>1630.392996</c:v>
              </c:pt>
              <c:pt idx="74">
                <c:v>1578.9825069999999</c:v>
              </c:pt>
              <c:pt idx="75">
                <c:v>1743.9507309999999</c:v>
              </c:pt>
              <c:pt idx="76">
                <c:v>1562.2384259999999</c:v>
              </c:pt>
              <c:pt idx="77">
                <c:v>1633.494285</c:v>
              </c:pt>
              <c:pt idx="78">
                <c:v>1701.564378</c:v>
              </c:pt>
              <c:pt idx="79">
                <c:v>1617.8146569999999</c:v>
              </c:pt>
              <c:pt idx="80">
                <c:v>1779.609886</c:v>
              </c:pt>
              <c:pt idx="81">
                <c:v>1640.62556</c:v>
              </c:pt>
              <c:pt idx="82">
                <c:v>1677.5935340000001</c:v>
              </c:pt>
              <c:pt idx="83">
                <c:v>1652.2572009999999</c:v>
              </c:pt>
              <c:pt idx="84">
                <c:v>1687.47792</c:v>
              </c:pt>
              <c:pt idx="85">
                <c:v>1709.7878330000001</c:v>
              </c:pt>
              <c:pt idx="86">
                <c:v>1694.523042</c:v>
              </c:pt>
              <c:pt idx="87">
                <c:v>1651.838139</c:v>
              </c:pt>
              <c:pt idx="88">
                <c:v>1631.1988429999999</c:v>
              </c:pt>
              <c:pt idx="89">
                <c:v>1740.44867</c:v>
              </c:pt>
              <c:pt idx="90">
                <c:v>1568.458153</c:v>
              </c:pt>
              <c:pt idx="91">
                <c:v>1688.758008</c:v>
              </c:pt>
              <c:pt idx="92">
                <c:v>1690.0665630000001</c:v>
              </c:pt>
              <c:pt idx="93">
                <c:v>1525.623349</c:v>
              </c:pt>
              <c:pt idx="94">
                <c:v>1526.1297790000001</c:v>
              </c:pt>
              <c:pt idx="95">
                <c:v>1398.9892150000001</c:v>
              </c:pt>
              <c:pt idx="96">
                <c:v>1478.6299590000001</c:v>
              </c:pt>
              <c:pt idx="97">
                <c:v>1545.8145910000001</c:v>
              </c:pt>
              <c:pt idx="98">
                <c:v>1439.5071519999999</c:v>
              </c:pt>
              <c:pt idx="99">
                <c:v>1605.2017599999999</c:v>
              </c:pt>
              <c:pt idx="100">
                <c:v>1636.0140289999999</c:v>
              </c:pt>
              <c:pt idx="101">
                <c:v>1629.1897449999999</c:v>
              </c:pt>
              <c:pt idx="102">
                <c:v>1673.049379</c:v>
              </c:pt>
              <c:pt idx="103">
                <c:v>1588.8667009999999</c:v>
              </c:pt>
              <c:pt idx="104">
                <c:v>1573.2558120000001</c:v>
              </c:pt>
              <c:pt idx="105">
                <c:v>1545.9794360000001</c:v>
              </c:pt>
              <c:pt idx="106">
                <c:v>1805.860103</c:v>
              </c:pt>
              <c:pt idx="107">
                <c:v>1927.1194539999999</c:v>
              </c:pt>
              <c:pt idx="108">
                <c:v>2007.570725</c:v>
              </c:pt>
              <c:pt idx="109">
                <c:v>2016.2678759999999</c:v>
              </c:pt>
              <c:pt idx="110">
                <c:v>2147.9058759999998</c:v>
              </c:pt>
              <c:pt idx="111">
                <c:v>2068.02484</c:v>
              </c:pt>
              <c:pt idx="112">
                <c:v>2104.5119749999999</c:v>
              </c:pt>
              <c:pt idx="113">
                <c:v>1918.3253569999999</c:v>
              </c:pt>
              <c:pt idx="114">
                <c:v>2219.746126</c:v>
              </c:pt>
              <c:pt idx="115">
                <c:v>2095.4837320000001</c:v>
              </c:pt>
              <c:pt idx="116">
                <c:v>2249.77187</c:v>
              </c:pt>
              <c:pt idx="117">
                <c:v>2193.4530519999998</c:v>
              </c:pt>
              <c:pt idx="118">
                <c:v>2178.3576039999998</c:v>
              </c:pt>
              <c:pt idx="119">
                <c:v>2344.2525049999999</c:v>
              </c:pt>
              <c:pt idx="120">
                <c:v>2242.9801539999999</c:v>
              </c:pt>
              <c:pt idx="121">
                <c:v>2296.2550649999998</c:v>
              </c:pt>
              <c:pt idx="122">
                <c:v>2306.8442879999998</c:v>
              </c:pt>
              <c:pt idx="123">
                <c:v>2393.8894780000001</c:v>
              </c:pt>
              <c:pt idx="124">
                <c:v>2421.3750110000001</c:v>
              </c:pt>
              <c:pt idx="125">
                <c:v>2409.2354110000001</c:v>
              </c:pt>
              <c:pt idx="126">
                <c:v>2341.9199509999999</c:v>
              </c:pt>
              <c:pt idx="127">
                <c:v>2370.436608</c:v>
              </c:pt>
              <c:pt idx="128">
                <c:v>2384.5669950000001</c:v>
              </c:pt>
              <c:pt idx="129">
                <c:v>2521.672822</c:v>
              </c:pt>
              <c:pt idx="130">
                <c:v>2520.5887659999999</c:v>
              </c:pt>
              <c:pt idx="131">
                <c:v>2536.1544899999999</c:v>
              </c:pt>
              <c:pt idx="132">
                <c:v>2506.4280530000001</c:v>
              </c:pt>
              <c:pt idx="133">
                <c:v>2430.1475</c:v>
              </c:pt>
              <c:pt idx="134">
                <c:v>2457.8392159999999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1-EFED-7041-A1C5-01B79525E8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in val="500"/>
        </c:scaling>
        <c:delete val="0"/>
        <c:axPos val="l"/>
        <c:majorGridlines>
          <c:spPr>
            <a:ln w="9525">
              <a:solidFill>
                <a:srgbClr val="D9E2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3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Fee revenue (source units)</a:t>
                </a:r>
              </a:p>
            </c:rich>
          </c:tx>
          <c:overlay val="0"/>
        </c:title>
        <c:numFmt formatCode="#,##0" sourceLinked="0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2024"/>
          <c:min val="2012"/>
        </c:scaling>
        <c:delete val="0"/>
        <c:axPos val="b"/>
        <c:numFmt formatCode="0" sourceLinked="0"/>
        <c:majorTickMark val="none"/>
        <c:minorTickMark val="none"/>
        <c:tickLblPos val="nextTo"/>
        <c:spPr>
          <a:ln w="9525">
            <a:solidFill>
              <a:srgbClr val="D9E2E8"/>
            </a:solidFill>
          </a:ln>
        </c:spPr>
        <c:txPr>
          <a:bodyPr anchorCtr="1"/>
          <a:lstStyle/>
          <a:p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2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425">
              <a:solidFill>
                <a:srgbClr val="252F38"/>
              </a:solidFill>
              <a:latin typeface="Arial"/>
              <a:ea typeface="Arial"/>
              <a:cs typeface="Arial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Actual fee</c:v>
          </c:tx>
          <c:spPr>
            <a:ln w="23813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27"/>
              <c:pt idx="0">
                <c:v>45200</c:v>
              </c:pt>
              <c:pt idx="1">
                <c:v>45231</c:v>
              </c:pt>
              <c:pt idx="2">
                <c:v>45261</c:v>
              </c:pt>
              <c:pt idx="3">
                <c:v>45292</c:v>
              </c:pt>
              <c:pt idx="4">
                <c:v>45323</c:v>
              </c:pt>
              <c:pt idx="5">
                <c:v>45352</c:v>
              </c:pt>
              <c:pt idx="6">
                <c:v>45383</c:v>
              </c:pt>
              <c:pt idx="7">
                <c:v>45413</c:v>
              </c:pt>
              <c:pt idx="8">
                <c:v>45444</c:v>
              </c:pt>
              <c:pt idx="9">
                <c:v>45474</c:v>
              </c:pt>
              <c:pt idx="10">
                <c:v>45505</c:v>
              </c:pt>
              <c:pt idx="11">
                <c:v>45536</c:v>
              </c:pt>
              <c:pt idx="12">
                <c:v>45566</c:v>
              </c:pt>
              <c:pt idx="13">
                <c:v>45597</c:v>
              </c:pt>
              <c:pt idx="14">
                <c:v>45627</c:v>
              </c:pt>
              <c:pt idx="15">
                <c:v>45658</c:v>
              </c:pt>
              <c:pt idx="16">
                <c:v>45689</c:v>
              </c:pt>
              <c:pt idx="17">
                <c:v>45717</c:v>
              </c:pt>
              <c:pt idx="18">
                <c:v>45748</c:v>
              </c:pt>
              <c:pt idx="19">
                <c:v>45778</c:v>
              </c:pt>
              <c:pt idx="20">
                <c:v>45809</c:v>
              </c:pt>
              <c:pt idx="21">
                <c:v>45839</c:v>
              </c:pt>
              <c:pt idx="22">
                <c:v>45870</c:v>
              </c:pt>
              <c:pt idx="23">
                <c:v>45901</c:v>
              </c:pt>
              <c:pt idx="24">
                <c:v>45931</c:v>
              </c:pt>
              <c:pt idx="25">
                <c:v>45962</c:v>
              </c:pt>
              <c:pt idx="26">
                <c:v>45992</c:v>
              </c:pt>
            </c:numLit>
          </c:xVal>
          <c:yVal>
            <c:numLit>
              <c:formatCode>#,##0</c:formatCode>
              <c:ptCount val="27"/>
              <c:pt idx="0">
                <c:v>2520</c:v>
              </c:pt>
              <c:pt idx="1">
                <c:v>2328</c:v>
              </c:pt>
              <c:pt idx="2">
                <c:v>2575</c:v>
              </c:pt>
              <c:pt idx="3">
                <c:v>2196</c:v>
              </c:pt>
              <c:pt idx="4">
                <c:v>2351</c:v>
              </c:pt>
              <c:pt idx="5">
                <c:v>2556</c:v>
              </c:pt>
              <c:pt idx="6">
                <c:v>2273</c:v>
              </c:pt>
              <c:pt idx="7">
                <c:v>2370</c:v>
              </c:pt>
              <c:pt idx="8">
                <c:v>2256</c:v>
              </c:pt>
              <c:pt idx="9">
                <c:v>2333</c:v>
              </c:pt>
              <c:pt idx="10">
                <c:v>2325</c:v>
              </c:pt>
              <c:pt idx="11">
                <c:v>2237</c:v>
              </c:pt>
              <c:pt idx="12">
                <c:v>2310</c:v>
              </c:pt>
              <c:pt idx="13">
                <c:v>2326</c:v>
              </c:pt>
              <c:pt idx="14">
                <c:v>1964</c:v>
              </c:pt>
              <c:pt idx="15">
                <c:v>2150</c:v>
              </c:pt>
              <c:pt idx="16">
                <c:v>2087</c:v>
              </c:pt>
              <c:pt idx="17">
                <c:v>2316</c:v>
              </c:pt>
              <c:pt idx="18">
                <c:v>2209</c:v>
              </c:pt>
              <c:pt idx="19">
                <c:v>2270</c:v>
              </c:pt>
              <c:pt idx="20">
                <c:v>2201</c:v>
              </c:pt>
              <c:pt idx="21">
                <c:v>2086</c:v>
              </c:pt>
              <c:pt idx="22">
                <c:v>2260</c:v>
              </c:pt>
              <c:pt idx="23">
                <c:v>2004</c:v>
              </c:pt>
              <c:pt idx="24">
                <c:v>2296</c:v>
              </c:pt>
              <c:pt idx="25">
                <c:v>2116</c:v>
              </c:pt>
              <c:pt idx="26">
                <c:v>1887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8008-A141-8CAF-7BE2D245F951}"/>
            </c:ext>
          </c:extLst>
        </c:ser>
        <c:ser>
          <c:idx val="1"/>
          <c:order val="1"/>
          <c:tx>
            <c:v>Static forecast</c:v>
          </c:tx>
          <c:spPr>
            <a:ln w="23813">
              <a:solidFill>
                <a:srgbClr val="C77933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27"/>
              <c:pt idx="0">
                <c:v>45200</c:v>
              </c:pt>
              <c:pt idx="1">
                <c:v>45231</c:v>
              </c:pt>
              <c:pt idx="2">
                <c:v>45261</c:v>
              </c:pt>
              <c:pt idx="3">
                <c:v>45292</c:v>
              </c:pt>
              <c:pt idx="4">
                <c:v>45323</c:v>
              </c:pt>
              <c:pt idx="5">
                <c:v>45352</c:v>
              </c:pt>
              <c:pt idx="6">
                <c:v>45383</c:v>
              </c:pt>
              <c:pt idx="7">
                <c:v>45413</c:v>
              </c:pt>
              <c:pt idx="8">
                <c:v>45444</c:v>
              </c:pt>
              <c:pt idx="9">
                <c:v>45474</c:v>
              </c:pt>
              <c:pt idx="10">
                <c:v>45505</c:v>
              </c:pt>
              <c:pt idx="11">
                <c:v>45536</c:v>
              </c:pt>
              <c:pt idx="12">
                <c:v>45566</c:v>
              </c:pt>
              <c:pt idx="13">
                <c:v>45597</c:v>
              </c:pt>
              <c:pt idx="14">
                <c:v>45627</c:v>
              </c:pt>
              <c:pt idx="15">
                <c:v>45658</c:v>
              </c:pt>
              <c:pt idx="16">
                <c:v>45689</c:v>
              </c:pt>
              <c:pt idx="17">
                <c:v>45717</c:v>
              </c:pt>
              <c:pt idx="18">
                <c:v>45748</c:v>
              </c:pt>
              <c:pt idx="19">
                <c:v>45778</c:v>
              </c:pt>
              <c:pt idx="20">
                <c:v>45809</c:v>
              </c:pt>
              <c:pt idx="21">
                <c:v>45839</c:v>
              </c:pt>
              <c:pt idx="22">
                <c:v>45870</c:v>
              </c:pt>
              <c:pt idx="23">
                <c:v>45901</c:v>
              </c:pt>
              <c:pt idx="24">
                <c:v>45931</c:v>
              </c:pt>
              <c:pt idx="25">
                <c:v>45962</c:v>
              </c:pt>
              <c:pt idx="26">
                <c:v>45992</c:v>
              </c:pt>
            </c:numLit>
          </c:xVal>
          <c:yVal>
            <c:numLit>
              <c:formatCode>#,##0</c:formatCode>
              <c:ptCount val="27"/>
              <c:pt idx="0">
                <c:v>2395.7604919999999</c:v>
              </c:pt>
              <c:pt idx="1">
                <c:v>2491.5482470000002</c:v>
              </c:pt>
              <c:pt idx="2">
                <c:v>2520.7033929999998</c:v>
              </c:pt>
              <c:pt idx="3">
                <c:v>2621.262917</c:v>
              </c:pt>
              <c:pt idx="4">
                <c:v>2557.3990680000002</c:v>
              </c:pt>
              <c:pt idx="5">
                <c:v>2539.5354459999999</c:v>
              </c:pt>
              <c:pt idx="6">
                <c:v>2479.5362169999999</c:v>
              </c:pt>
              <c:pt idx="7">
                <c:v>2451.8485310000001</c:v>
              </c:pt>
              <c:pt idx="8">
                <c:v>2564.0379710000002</c:v>
              </c:pt>
              <c:pt idx="9">
                <c:v>2538.7201409999998</c:v>
              </c:pt>
              <c:pt idx="10">
                <c:v>2665.291698</c:v>
              </c:pt>
              <c:pt idx="11">
                <c:v>2645.6595769999999</c:v>
              </c:pt>
              <c:pt idx="12">
                <c:v>2536.005341</c:v>
              </c:pt>
              <c:pt idx="13">
                <c:v>2599.4777989999998</c:v>
              </c:pt>
              <c:pt idx="14">
                <c:v>2625.7115869999998</c:v>
              </c:pt>
              <c:pt idx="15">
                <c:v>2537.7517979999998</c:v>
              </c:pt>
              <c:pt idx="16">
                <c:v>2745.4130070000001</c:v>
              </c:pt>
              <c:pt idx="17">
                <c:v>2636.7908400000001</c:v>
              </c:pt>
              <c:pt idx="18">
                <c:v>2735.2420240000001</c:v>
              </c:pt>
              <c:pt idx="19">
                <c:v>2834.687488</c:v>
              </c:pt>
              <c:pt idx="20">
                <c:v>2703.468488</c:v>
              </c:pt>
              <c:pt idx="21">
                <c:v>2838.576184</c:v>
              </c:pt>
              <c:pt idx="22">
                <c:v>2720.0632730000002</c:v>
              </c:pt>
              <c:pt idx="23">
                <c:v>2823.1997390000001</c:v>
              </c:pt>
              <c:pt idx="24">
                <c:v>2840.7944969999999</c:v>
              </c:pt>
              <c:pt idx="25">
                <c:v>2990.3423429999998</c:v>
              </c:pt>
              <c:pt idx="26">
                <c:v>2899.4224859999999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1-8008-A141-8CAF-7BE2D245F951}"/>
            </c:ext>
          </c:extLst>
        </c:ser>
        <c:ser>
          <c:idx val="2"/>
          <c:order val="2"/>
          <c:tx>
            <c:v>Recursive forecast</c:v>
          </c:tx>
          <c:spPr>
            <a:ln w="23813">
              <a:solidFill>
                <a:srgbClr val="A5483C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27"/>
              <c:pt idx="0">
                <c:v>45200</c:v>
              </c:pt>
              <c:pt idx="1">
                <c:v>45231</c:v>
              </c:pt>
              <c:pt idx="2">
                <c:v>45261</c:v>
              </c:pt>
              <c:pt idx="3">
                <c:v>45292</c:v>
              </c:pt>
              <c:pt idx="4">
                <c:v>45323</c:v>
              </c:pt>
              <c:pt idx="5">
                <c:v>45352</c:v>
              </c:pt>
              <c:pt idx="6">
                <c:v>45383</c:v>
              </c:pt>
              <c:pt idx="7">
                <c:v>45413</c:v>
              </c:pt>
              <c:pt idx="8">
                <c:v>45444</c:v>
              </c:pt>
              <c:pt idx="9">
                <c:v>45474</c:v>
              </c:pt>
              <c:pt idx="10">
                <c:v>45505</c:v>
              </c:pt>
              <c:pt idx="11">
                <c:v>45536</c:v>
              </c:pt>
              <c:pt idx="12">
                <c:v>45566</c:v>
              </c:pt>
              <c:pt idx="13">
                <c:v>45597</c:v>
              </c:pt>
              <c:pt idx="14">
                <c:v>45627</c:v>
              </c:pt>
              <c:pt idx="15">
                <c:v>45658</c:v>
              </c:pt>
              <c:pt idx="16">
                <c:v>45689</c:v>
              </c:pt>
              <c:pt idx="17">
                <c:v>45717</c:v>
              </c:pt>
              <c:pt idx="18">
                <c:v>45748</c:v>
              </c:pt>
              <c:pt idx="19">
                <c:v>45778</c:v>
              </c:pt>
              <c:pt idx="20">
                <c:v>45809</c:v>
              </c:pt>
              <c:pt idx="21">
                <c:v>45839</c:v>
              </c:pt>
              <c:pt idx="22">
                <c:v>45870</c:v>
              </c:pt>
              <c:pt idx="23">
                <c:v>45901</c:v>
              </c:pt>
              <c:pt idx="24">
                <c:v>45931</c:v>
              </c:pt>
              <c:pt idx="25">
                <c:v>45962</c:v>
              </c:pt>
              <c:pt idx="26">
                <c:v>45992</c:v>
              </c:pt>
            </c:numLit>
          </c:xVal>
          <c:yVal>
            <c:numLit>
              <c:formatCode>#,##0</c:formatCode>
              <c:ptCount val="27"/>
              <c:pt idx="0">
                <c:v>2395.7604919999999</c:v>
              </c:pt>
              <c:pt idx="1">
                <c:v>2452.2834699999999</c:v>
              </c:pt>
              <c:pt idx="2">
                <c:v>2570.2030199999999</c:v>
              </c:pt>
              <c:pt idx="3">
                <c:v>2619.6160490000002</c:v>
              </c:pt>
              <c:pt idx="4">
                <c:v>2706.673628</c:v>
              </c:pt>
              <c:pt idx="5">
                <c:v>2692.6810460000002</c:v>
              </c:pt>
              <c:pt idx="6">
                <c:v>2501.3821419999999</c:v>
              </c:pt>
              <c:pt idx="7">
                <c:v>2565.4868999999999</c:v>
              </c:pt>
              <c:pt idx="8">
                <c:v>2631.481929</c:v>
              </c:pt>
              <c:pt idx="9">
                <c:v>2774.1146269999999</c:v>
              </c:pt>
              <c:pt idx="10">
                <c:v>2910.3846920000001</c:v>
              </c:pt>
              <c:pt idx="11">
                <c:v>2887.5822800000001</c:v>
              </c:pt>
              <c:pt idx="12">
                <c:v>2857.3269289999998</c:v>
              </c:pt>
              <c:pt idx="13">
                <c:v>2861.3069959999998</c:v>
              </c:pt>
              <c:pt idx="14">
                <c:v>2873.176547</c:v>
              </c:pt>
              <c:pt idx="15">
                <c:v>2866.6721499999999</c:v>
              </c:pt>
              <c:pt idx="16">
                <c:v>2893.8306400000001</c:v>
              </c:pt>
              <c:pt idx="17">
                <c:v>2915.4278079999999</c:v>
              </c:pt>
              <c:pt idx="18">
                <c:v>3011.8300819999999</c:v>
              </c:pt>
              <c:pt idx="19">
                <c:v>3107.3774579999999</c:v>
              </c:pt>
              <c:pt idx="20">
                <c:v>3063.733702</c:v>
              </c:pt>
              <c:pt idx="21">
                <c:v>2968.9644859999999</c:v>
              </c:pt>
              <c:pt idx="22">
                <c:v>2778.42841</c:v>
              </c:pt>
              <c:pt idx="23">
                <c:v>2712.3554810000001</c:v>
              </c:pt>
              <c:pt idx="24">
                <c:v>2851.4785189999998</c:v>
              </c:pt>
              <c:pt idx="25">
                <c:v>3006.0310899999999</c:v>
              </c:pt>
              <c:pt idx="26">
                <c:v>3082.6214960000002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2-8008-A141-8CAF-7BE2D245F9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in val="1200"/>
        </c:scaling>
        <c:delete val="0"/>
        <c:axPos val="l"/>
        <c:majorGridlines>
          <c:spPr>
            <a:ln w="9525">
              <a:solidFill>
                <a:srgbClr val="D9E2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3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Fee revenue (source units)</a:t>
                </a:r>
              </a:p>
            </c:rich>
          </c:tx>
          <c:overlay val="0"/>
        </c:title>
        <c:numFmt formatCode="#,##0" sourceLinked="0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46023"/>
          <c:min val="45200"/>
        </c:scaling>
        <c:delete val="0"/>
        <c:axPos val="b"/>
        <c:numFmt formatCode="yyyy\-mm" sourceLinked="0"/>
        <c:majorTickMark val="none"/>
        <c:minorTickMark val="none"/>
        <c:tickLblPos val="nextTo"/>
        <c:spPr>
          <a:ln w="9525">
            <a:solidFill>
              <a:srgbClr val="D9E2E8"/>
            </a:solidFill>
          </a:ln>
        </c:spPr>
        <c:txPr>
          <a:bodyPr anchorCtr="1"/>
          <a:lstStyle/>
          <a:p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183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425">
              <a:solidFill>
                <a:srgbClr val="252F38"/>
              </a:solidFill>
              <a:latin typeface="Arial"/>
              <a:ea typeface="Arial"/>
              <a:cs typeface="Arial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Actual fee</c:v>
          </c:tx>
          <c:spPr>
            <a:ln w="22860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27"/>
              <c:pt idx="0">
                <c:v>45200</c:v>
              </c:pt>
              <c:pt idx="1">
                <c:v>45231</c:v>
              </c:pt>
              <c:pt idx="2">
                <c:v>45261</c:v>
              </c:pt>
              <c:pt idx="3">
                <c:v>45292</c:v>
              </c:pt>
              <c:pt idx="4">
                <c:v>45323</c:v>
              </c:pt>
              <c:pt idx="5">
                <c:v>45352</c:v>
              </c:pt>
              <c:pt idx="6">
                <c:v>45383</c:v>
              </c:pt>
              <c:pt idx="7">
                <c:v>45413</c:v>
              </c:pt>
              <c:pt idx="8">
                <c:v>45444</c:v>
              </c:pt>
              <c:pt idx="9">
                <c:v>45474</c:v>
              </c:pt>
              <c:pt idx="10">
                <c:v>45505</c:v>
              </c:pt>
              <c:pt idx="11">
                <c:v>45536</c:v>
              </c:pt>
              <c:pt idx="12">
                <c:v>45566</c:v>
              </c:pt>
              <c:pt idx="13">
                <c:v>45597</c:v>
              </c:pt>
              <c:pt idx="14">
                <c:v>45627</c:v>
              </c:pt>
              <c:pt idx="15">
                <c:v>45658</c:v>
              </c:pt>
              <c:pt idx="16">
                <c:v>45689</c:v>
              </c:pt>
              <c:pt idx="17">
                <c:v>45717</c:v>
              </c:pt>
              <c:pt idx="18">
                <c:v>45748</c:v>
              </c:pt>
              <c:pt idx="19">
                <c:v>45778</c:v>
              </c:pt>
              <c:pt idx="20">
                <c:v>45809</c:v>
              </c:pt>
              <c:pt idx="21">
                <c:v>45839</c:v>
              </c:pt>
              <c:pt idx="22">
                <c:v>45870</c:v>
              </c:pt>
              <c:pt idx="23">
                <c:v>45901</c:v>
              </c:pt>
              <c:pt idx="24">
                <c:v>45931</c:v>
              </c:pt>
              <c:pt idx="25">
                <c:v>45962</c:v>
              </c:pt>
              <c:pt idx="26">
                <c:v>45992</c:v>
              </c:pt>
            </c:numLit>
          </c:xVal>
          <c:yVal>
            <c:numLit>
              <c:formatCode>#,##0</c:formatCode>
              <c:ptCount val="27"/>
              <c:pt idx="0">
                <c:v>2520</c:v>
              </c:pt>
              <c:pt idx="1">
                <c:v>2328</c:v>
              </c:pt>
              <c:pt idx="2">
                <c:v>2575</c:v>
              </c:pt>
              <c:pt idx="3">
                <c:v>2196</c:v>
              </c:pt>
              <c:pt idx="4">
                <c:v>2351</c:v>
              </c:pt>
              <c:pt idx="5">
                <c:v>2556</c:v>
              </c:pt>
              <c:pt idx="6">
                <c:v>2273</c:v>
              </c:pt>
              <c:pt idx="7">
                <c:v>2370</c:v>
              </c:pt>
              <c:pt idx="8">
                <c:v>2256</c:v>
              </c:pt>
              <c:pt idx="9">
                <c:v>2333</c:v>
              </c:pt>
              <c:pt idx="10">
                <c:v>2325</c:v>
              </c:pt>
              <c:pt idx="11">
                <c:v>2237</c:v>
              </c:pt>
              <c:pt idx="12">
                <c:v>2310</c:v>
              </c:pt>
              <c:pt idx="13">
                <c:v>2326</c:v>
              </c:pt>
              <c:pt idx="14">
                <c:v>1964</c:v>
              </c:pt>
              <c:pt idx="15">
                <c:v>2150</c:v>
              </c:pt>
              <c:pt idx="16">
                <c:v>2087</c:v>
              </c:pt>
              <c:pt idx="17">
                <c:v>2316</c:v>
              </c:pt>
              <c:pt idx="18">
                <c:v>2209</c:v>
              </c:pt>
              <c:pt idx="19">
                <c:v>2270</c:v>
              </c:pt>
              <c:pt idx="20">
                <c:v>2201</c:v>
              </c:pt>
              <c:pt idx="21">
                <c:v>2086</c:v>
              </c:pt>
              <c:pt idx="22">
                <c:v>2260</c:v>
              </c:pt>
              <c:pt idx="23">
                <c:v>2004</c:v>
              </c:pt>
              <c:pt idx="24">
                <c:v>2296</c:v>
              </c:pt>
              <c:pt idx="25">
                <c:v>2116</c:v>
              </c:pt>
              <c:pt idx="26">
                <c:v>1887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8A4D-1342-A5FC-B81839AFE365}"/>
            </c:ext>
          </c:extLst>
        </c:ser>
        <c:ser>
          <c:idx val="1"/>
          <c:order val="1"/>
          <c:tx>
            <c:v>Long-run level</c:v>
          </c:tx>
          <c:spPr>
            <a:ln w="23813">
              <a:solidFill>
                <a:srgbClr val="C77933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27"/>
              <c:pt idx="0">
                <c:v>45200</c:v>
              </c:pt>
              <c:pt idx="1">
                <c:v>45231</c:v>
              </c:pt>
              <c:pt idx="2">
                <c:v>45261</c:v>
              </c:pt>
              <c:pt idx="3">
                <c:v>45292</c:v>
              </c:pt>
              <c:pt idx="4">
                <c:v>45323</c:v>
              </c:pt>
              <c:pt idx="5">
                <c:v>45352</c:v>
              </c:pt>
              <c:pt idx="6">
                <c:v>45383</c:v>
              </c:pt>
              <c:pt idx="7">
                <c:v>45413</c:v>
              </c:pt>
              <c:pt idx="8">
                <c:v>45444</c:v>
              </c:pt>
              <c:pt idx="9">
                <c:v>45474</c:v>
              </c:pt>
              <c:pt idx="10">
                <c:v>45505</c:v>
              </c:pt>
              <c:pt idx="11">
                <c:v>45536</c:v>
              </c:pt>
              <c:pt idx="12">
                <c:v>45566</c:v>
              </c:pt>
              <c:pt idx="13">
                <c:v>45597</c:v>
              </c:pt>
              <c:pt idx="14">
                <c:v>45627</c:v>
              </c:pt>
              <c:pt idx="15">
                <c:v>45658</c:v>
              </c:pt>
              <c:pt idx="16">
                <c:v>45689</c:v>
              </c:pt>
              <c:pt idx="17">
                <c:v>45717</c:v>
              </c:pt>
              <c:pt idx="18">
                <c:v>45748</c:v>
              </c:pt>
              <c:pt idx="19">
                <c:v>45778</c:v>
              </c:pt>
              <c:pt idx="20">
                <c:v>45809</c:v>
              </c:pt>
              <c:pt idx="21">
                <c:v>45839</c:v>
              </c:pt>
              <c:pt idx="22">
                <c:v>45870</c:v>
              </c:pt>
              <c:pt idx="23">
                <c:v>45901</c:v>
              </c:pt>
              <c:pt idx="24">
                <c:v>45931</c:v>
              </c:pt>
              <c:pt idx="25">
                <c:v>45962</c:v>
              </c:pt>
              <c:pt idx="26">
                <c:v>45992</c:v>
              </c:pt>
            </c:numLit>
          </c:xVal>
          <c:yVal>
            <c:numLit>
              <c:formatCode>#,##0</c:formatCode>
              <c:ptCount val="27"/>
              <c:pt idx="0">
                <c:v>2565.2012594226044</c:v>
              </c:pt>
              <c:pt idx="1">
                <c:v>2573.4440382404587</c:v>
              </c:pt>
              <c:pt idx="2">
                <c:v>2589.9837912332014</c:v>
              </c:pt>
              <c:pt idx="3">
                <c:v>2600.7817372645786</c:v>
              </c:pt>
              <c:pt idx="4">
                <c:v>2623.5679818753711</c:v>
              </c:pt>
              <c:pt idx="5">
                <c:v>2646.9820254222345</c:v>
              </c:pt>
              <c:pt idx="6">
                <c:v>2664.6119896577434</c:v>
              </c:pt>
              <c:pt idx="7">
                <c:v>2670.8582059160344</c:v>
              </c:pt>
              <c:pt idx="8">
                <c:v>2672.0093620321213</c:v>
              </c:pt>
              <c:pt idx="9">
                <c:v>2690.9066479200824</c:v>
              </c:pt>
              <c:pt idx="10">
                <c:v>2690.6723423683493</c:v>
              </c:pt>
              <c:pt idx="11">
                <c:v>2704.7011749765625</c:v>
              </c:pt>
              <c:pt idx="12">
                <c:v>2731.0220813577939</c:v>
              </c:pt>
              <c:pt idx="13">
                <c:v>2779.1433867300852</c:v>
              </c:pt>
              <c:pt idx="14">
                <c:v>2813.4537423613306</c:v>
              </c:pt>
              <c:pt idx="15">
                <c:v>2830.9805655065534</c:v>
              </c:pt>
              <c:pt idx="16">
                <c:v>2836.7266729187063</c:v>
              </c:pt>
              <c:pt idx="17">
                <c:v>2825.8540837546993</c:v>
              </c:pt>
              <c:pt idx="18">
                <c:v>2829.8032374045947</c:v>
              </c:pt>
              <c:pt idx="19">
                <c:v>2847.4456753666659</c:v>
              </c:pt>
              <c:pt idx="20">
                <c:v>2862.5699688414243</c:v>
              </c:pt>
              <c:pt idx="21">
                <c:v>2883.5345114635734</c:v>
              </c:pt>
              <c:pt idx="22">
                <c:v>2907.2388311714685</c:v>
              </c:pt>
              <c:pt idx="23">
                <c:v>2917.9980553573901</c:v>
              </c:pt>
              <c:pt idx="24">
                <c:v>2923.7983581265762</c:v>
              </c:pt>
              <c:pt idx="25">
                <c:v>2934.6317508586321</c:v>
              </c:pt>
              <c:pt idx="26">
                <c:v>2955.3819611181502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1-8A4D-1342-A5FC-B81839AFE365}"/>
            </c:ext>
          </c:extLst>
        </c:ser>
        <c:ser>
          <c:idx val="2"/>
          <c:order val="2"/>
          <c:tx>
            <c:v>Trend-adjusted level</c:v>
          </c:tx>
          <c:spPr>
            <a:ln w="26670">
              <a:solidFill>
                <a:srgbClr val="237F83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27"/>
              <c:pt idx="0">
                <c:v>45200</c:v>
              </c:pt>
              <c:pt idx="1">
                <c:v>45231</c:v>
              </c:pt>
              <c:pt idx="2">
                <c:v>45261</c:v>
              </c:pt>
              <c:pt idx="3">
                <c:v>45292</c:v>
              </c:pt>
              <c:pt idx="4">
                <c:v>45323</c:v>
              </c:pt>
              <c:pt idx="5">
                <c:v>45352</c:v>
              </c:pt>
              <c:pt idx="6">
                <c:v>45383</c:v>
              </c:pt>
              <c:pt idx="7">
                <c:v>45413</c:v>
              </c:pt>
              <c:pt idx="8">
                <c:v>45444</c:v>
              </c:pt>
              <c:pt idx="9">
                <c:v>45474</c:v>
              </c:pt>
              <c:pt idx="10">
                <c:v>45505</c:v>
              </c:pt>
              <c:pt idx="11">
                <c:v>45536</c:v>
              </c:pt>
              <c:pt idx="12">
                <c:v>45566</c:v>
              </c:pt>
              <c:pt idx="13">
                <c:v>45597</c:v>
              </c:pt>
              <c:pt idx="14">
                <c:v>45627</c:v>
              </c:pt>
              <c:pt idx="15">
                <c:v>45658</c:v>
              </c:pt>
              <c:pt idx="16">
                <c:v>45689</c:v>
              </c:pt>
              <c:pt idx="17">
                <c:v>45717</c:v>
              </c:pt>
              <c:pt idx="18">
                <c:v>45748</c:v>
              </c:pt>
              <c:pt idx="19">
                <c:v>45778</c:v>
              </c:pt>
              <c:pt idx="20">
                <c:v>45809</c:v>
              </c:pt>
              <c:pt idx="21">
                <c:v>45839</c:v>
              </c:pt>
              <c:pt idx="22">
                <c:v>45870</c:v>
              </c:pt>
              <c:pt idx="23">
                <c:v>45901</c:v>
              </c:pt>
              <c:pt idx="24">
                <c:v>45931</c:v>
              </c:pt>
              <c:pt idx="25">
                <c:v>45962</c:v>
              </c:pt>
              <c:pt idx="26">
                <c:v>45992</c:v>
              </c:pt>
            </c:numLit>
          </c:xVal>
          <c:yVal>
            <c:numLit>
              <c:formatCode>#,##0</c:formatCode>
              <c:ptCount val="27"/>
              <c:pt idx="0">
                <c:v>2467.7587923095662</c:v>
              </c:pt>
              <c:pt idx="1">
                <c:v>2441.4660372651733</c:v>
              </c:pt>
              <c:pt idx="2">
                <c:v>2423.4702563956689</c:v>
              </c:pt>
              <c:pt idx="3">
                <c:v>2399.7326685647986</c:v>
              </c:pt>
              <c:pt idx="4">
                <c:v>2387.9833793133439</c:v>
              </c:pt>
              <c:pt idx="5">
                <c:v>2376.8618889979602</c:v>
              </c:pt>
              <c:pt idx="6">
                <c:v>2359.956319371222</c:v>
              </c:pt>
              <c:pt idx="7">
                <c:v>2331.6670017672659</c:v>
              </c:pt>
              <c:pt idx="8">
                <c:v>2298.2826240211057</c:v>
              </c:pt>
              <c:pt idx="9">
                <c:v>2282.6443760468196</c:v>
              </c:pt>
              <c:pt idx="10">
                <c:v>2247.8745366328394</c:v>
              </c:pt>
              <c:pt idx="11">
                <c:v>2227.367835378805</c:v>
              </c:pt>
              <c:pt idx="12">
                <c:v>2219.1532078977893</c:v>
              </c:pt>
              <c:pt idx="13">
                <c:v>2232.7389794078335</c:v>
              </c:pt>
              <c:pt idx="14">
                <c:v>2232.5138011768317</c:v>
              </c:pt>
              <c:pt idx="15">
                <c:v>2215.5050904598074</c:v>
              </c:pt>
              <c:pt idx="16">
                <c:v>2186.7156640097132</c:v>
              </c:pt>
              <c:pt idx="17">
                <c:v>2141.3075409834591</c:v>
              </c:pt>
              <c:pt idx="18">
                <c:v>2110.721160771107</c:v>
              </c:pt>
              <c:pt idx="19">
                <c:v>2093.828064870931</c:v>
              </c:pt>
              <c:pt idx="20">
                <c:v>2074.4168244834423</c:v>
              </c:pt>
              <c:pt idx="21">
                <c:v>2060.8458332433443</c:v>
              </c:pt>
              <c:pt idx="22">
                <c:v>2050.0146190889923</c:v>
              </c:pt>
              <c:pt idx="23">
                <c:v>2026.2383094126667</c:v>
              </c:pt>
              <c:pt idx="24">
                <c:v>1997.5030783196057</c:v>
              </c:pt>
              <c:pt idx="25">
                <c:v>1973.8009371894145</c:v>
              </c:pt>
              <c:pt idx="26">
                <c:v>1960.0156135866853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2-8A4D-1342-A5FC-B81839AFE3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3200"/>
          <c:min val="1200"/>
        </c:scaling>
        <c:delete val="0"/>
        <c:axPos val="l"/>
        <c:majorGridlines>
          <c:spPr>
            <a:ln w="9525">
              <a:solidFill>
                <a:srgbClr val="D7DE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20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Fee revenue (source units)</a:t>
                </a:r>
              </a:p>
            </c:rich>
          </c:tx>
          <c:overlay val="0"/>
        </c:title>
        <c:numFmt formatCode="#,##0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20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  <c:majorUnit val="500"/>
      </c:valAx>
      <c:valAx>
        <c:axId val="48650112"/>
        <c:scaling>
          <c:orientation val="minMax"/>
          <c:max val="46023"/>
          <c:min val="45200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7DEE3"/>
            </a:solidFill>
          </a:ln>
        </c:spPr>
        <c:txPr>
          <a:bodyPr anchorCtr="1"/>
          <a:lstStyle/>
          <a:p>
            <a:pPr>
              <a:defRPr sz="120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183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200">
              <a:solidFill>
                <a:srgbClr val="252F38"/>
              </a:solidFill>
              <a:latin typeface="Arial"/>
              <a:ea typeface="Arial"/>
              <a:cs typeface="Arial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en" sz="157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CPI and SBOpt (Jan 2026 = 100)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CPI</c:v>
          </c:tx>
          <c:spPr>
            <a:ln w="25718">
              <a:solidFill>
                <a:srgbClr val="006C98"/>
              </a:solidFill>
              <a:prstDash val="solid"/>
            </a:ln>
          </c:spPr>
          <c:marker>
            <c:symbol val="none"/>
          </c:marker>
          <c:cat>
            <c:strLit>
              <c:ptCount val="27"/>
              <c:pt idx="0">
                <c:v>Jan-26</c:v>
              </c:pt>
              <c:pt idx="1">
                <c:v>Feb-26</c:v>
              </c:pt>
              <c:pt idx="2">
                <c:v>Mar-26</c:v>
              </c:pt>
              <c:pt idx="3">
                <c:v>Apr-26</c:v>
              </c:pt>
              <c:pt idx="4">
                <c:v>May-26</c:v>
              </c:pt>
              <c:pt idx="5">
                <c:v>Jun-26</c:v>
              </c:pt>
              <c:pt idx="6">
                <c:v>Jul-26</c:v>
              </c:pt>
              <c:pt idx="7">
                <c:v>Aug-26</c:v>
              </c:pt>
              <c:pt idx="8">
                <c:v>Sep-26</c:v>
              </c:pt>
              <c:pt idx="9">
                <c:v>Oct-26</c:v>
              </c:pt>
              <c:pt idx="10">
                <c:v>Nov-26</c:v>
              </c:pt>
              <c:pt idx="11">
                <c:v>Dec-26</c:v>
              </c:pt>
              <c:pt idx="12">
                <c:v>Jan-27</c:v>
              </c:pt>
              <c:pt idx="13">
                <c:v>Feb-27</c:v>
              </c:pt>
              <c:pt idx="14">
                <c:v>Mar-27</c:v>
              </c:pt>
              <c:pt idx="15">
                <c:v>Apr-27</c:v>
              </c:pt>
              <c:pt idx="16">
                <c:v>May-27</c:v>
              </c:pt>
              <c:pt idx="17">
                <c:v>Jun-27</c:v>
              </c:pt>
              <c:pt idx="18">
                <c:v>Jul-27</c:v>
              </c:pt>
              <c:pt idx="19">
                <c:v>Aug-27</c:v>
              </c:pt>
              <c:pt idx="20">
                <c:v>Sep-27</c:v>
              </c:pt>
              <c:pt idx="21">
                <c:v>Oct-27</c:v>
              </c:pt>
              <c:pt idx="22">
                <c:v>Nov-27</c:v>
              </c:pt>
              <c:pt idx="23">
                <c:v>Dec-27</c:v>
              </c:pt>
              <c:pt idx="24">
                <c:v>Jan-28</c:v>
              </c:pt>
              <c:pt idx="25">
                <c:v>Feb-28</c:v>
              </c:pt>
              <c:pt idx="26">
                <c:v>Mar-28</c:v>
              </c:pt>
            </c:strLit>
          </c:cat>
          <c:val>
            <c:numLit>
              <c:formatCode>0.0</c:formatCode>
              <c:ptCount val="27"/>
              <c:pt idx="0">
                <c:v>100</c:v>
              </c:pt>
              <c:pt idx="1">
                <c:v>100.26638905049144</c:v>
              </c:pt>
              <c:pt idx="2">
                <c:v>101.13291895036591</c:v>
              </c:pt>
              <c:pt idx="3">
                <c:v>101.78205088949449</c:v>
              </c:pt>
              <c:pt idx="4">
                <c:v>102.26277595762272</c:v>
              </c:pt>
              <c:pt idx="5">
                <c:v>101.83104197924003</c:v>
              </c:pt>
              <c:pt idx="6">
                <c:v>102.39750145442298</c:v>
              </c:pt>
              <c:pt idx="7">
                <c:v>102.4893597476959</c:v>
              </c:pt>
              <c:pt idx="8">
                <c:v>102.66082856180533</c:v>
              </c:pt>
              <c:pt idx="9">
                <c:v>102.90272206742399</c:v>
              </c:pt>
              <c:pt idx="10">
                <c:v>103.16298723169724</c:v>
              </c:pt>
              <c:pt idx="11">
                <c:v>103.4110046235341</c:v>
              </c:pt>
              <c:pt idx="12">
                <c:v>103.64677424293457</c:v>
              </c:pt>
              <c:pt idx="13">
                <c:v>103.87029608989866</c:v>
              </c:pt>
              <c:pt idx="14">
                <c:v>104.09994182308094</c:v>
              </c:pt>
              <c:pt idx="15">
                <c:v>104.3418353286996</c:v>
              </c:pt>
              <c:pt idx="16">
                <c:v>104.57760494810007</c:v>
              </c:pt>
              <c:pt idx="17">
                <c:v>104.80112679506415</c:v>
              </c:pt>
              <c:pt idx="18">
                <c:v>105.01852475581005</c:v>
              </c:pt>
              <c:pt idx="19">
                <c:v>105.23286077344683</c:v>
              </c:pt>
              <c:pt idx="20">
                <c:v>105.43494901864725</c:v>
              </c:pt>
              <c:pt idx="21">
                <c:v>105.63091337762945</c:v>
              </c:pt>
              <c:pt idx="22">
                <c:v>105.82381579350256</c:v>
              </c:pt>
              <c:pt idx="23">
                <c:v>106.01365626626658</c:v>
              </c:pt>
              <c:pt idx="24">
                <c:v>106.2065586821397</c:v>
              </c:pt>
              <c:pt idx="25">
                <c:v>106.38721332557643</c:v>
              </c:pt>
              <c:pt idx="26">
                <c:v>106.57092991212224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94D5-5D44-95DB-137DA1ECFD36}"/>
            </c:ext>
          </c:extLst>
        </c:ser>
        <c:ser>
          <c:idx val="1"/>
          <c:order val="1"/>
          <c:tx>
            <c:v>SBOpt</c:v>
          </c:tx>
          <c:spPr>
            <a:ln w="25718">
              <a:solidFill>
                <a:srgbClr val="C77933"/>
              </a:solidFill>
              <a:prstDash val="solid"/>
            </a:ln>
          </c:spPr>
          <c:marker>
            <c:symbol val="none"/>
          </c:marker>
          <c:cat>
            <c:strLit>
              <c:ptCount val="27"/>
              <c:pt idx="0">
                <c:v>Jan-26</c:v>
              </c:pt>
              <c:pt idx="1">
                <c:v>Feb-26</c:v>
              </c:pt>
              <c:pt idx="2">
                <c:v>Mar-26</c:v>
              </c:pt>
              <c:pt idx="3">
                <c:v>Apr-26</c:v>
              </c:pt>
              <c:pt idx="4">
                <c:v>May-26</c:v>
              </c:pt>
              <c:pt idx="5">
                <c:v>Jun-26</c:v>
              </c:pt>
              <c:pt idx="6">
                <c:v>Jul-26</c:v>
              </c:pt>
              <c:pt idx="7">
                <c:v>Aug-26</c:v>
              </c:pt>
              <c:pt idx="8">
                <c:v>Sep-26</c:v>
              </c:pt>
              <c:pt idx="9">
                <c:v>Oct-26</c:v>
              </c:pt>
              <c:pt idx="10">
                <c:v>Nov-26</c:v>
              </c:pt>
              <c:pt idx="11">
                <c:v>Dec-26</c:v>
              </c:pt>
              <c:pt idx="12">
                <c:v>Jan-27</c:v>
              </c:pt>
              <c:pt idx="13">
                <c:v>Feb-27</c:v>
              </c:pt>
              <c:pt idx="14">
                <c:v>Mar-27</c:v>
              </c:pt>
              <c:pt idx="15">
                <c:v>Apr-27</c:v>
              </c:pt>
              <c:pt idx="16">
                <c:v>May-27</c:v>
              </c:pt>
              <c:pt idx="17">
                <c:v>Jun-27</c:v>
              </c:pt>
              <c:pt idx="18">
                <c:v>Jul-27</c:v>
              </c:pt>
              <c:pt idx="19">
                <c:v>Aug-27</c:v>
              </c:pt>
              <c:pt idx="20">
                <c:v>Sep-27</c:v>
              </c:pt>
              <c:pt idx="21">
                <c:v>Oct-27</c:v>
              </c:pt>
              <c:pt idx="22">
                <c:v>Nov-27</c:v>
              </c:pt>
              <c:pt idx="23">
                <c:v>Dec-27</c:v>
              </c:pt>
              <c:pt idx="24">
                <c:v>Jan-28</c:v>
              </c:pt>
              <c:pt idx="25">
                <c:v>Feb-28</c:v>
              </c:pt>
              <c:pt idx="26">
                <c:v>Mar-28</c:v>
              </c:pt>
            </c:strLit>
          </c:cat>
          <c:val>
            <c:numLit>
              <c:formatCode>0.0</c:formatCode>
              <c:ptCount val="27"/>
              <c:pt idx="0">
                <c:v>100</c:v>
              </c:pt>
              <c:pt idx="1">
                <c:v>99.476334340382678</c:v>
              </c:pt>
              <c:pt idx="2">
                <c:v>96.47532729103726</c:v>
              </c:pt>
              <c:pt idx="3">
                <c:v>96.576032225579056</c:v>
              </c:pt>
              <c:pt idx="4">
                <c:v>95.961732124874118</c:v>
              </c:pt>
              <c:pt idx="5">
                <c:v>98.046324269889226</c:v>
              </c:pt>
              <c:pt idx="6">
                <c:v>97.069486404833839</c:v>
              </c:pt>
              <c:pt idx="7">
                <c:v>97.502517623363545</c:v>
              </c:pt>
              <c:pt idx="8">
                <c:v>97.683786505538777</c:v>
              </c:pt>
              <c:pt idx="9">
                <c:v>97.693856998992956</c:v>
              </c:pt>
              <c:pt idx="10">
                <c:v>97.693856998992956</c:v>
              </c:pt>
              <c:pt idx="11">
                <c:v>97.804632426988931</c:v>
              </c:pt>
              <c:pt idx="12">
                <c:v>97.96576032225579</c:v>
              </c:pt>
              <c:pt idx="13">
                <c:v>98.066465256797585</c:v>
              </c:pt>
              <c:pt idx="14">
                <c:v>98.056394763343405</c:v>
              </c:pt>
              <c:pt idx="15">
                <c:v>97.995971802618328</c:v>
              </c:pt>
              <c:pt idx="16">
                <c:v>97.975830815709969</c:v>
              </c:pt>
              <c:pt idx="17">
                <c:v>98.066465256797585</c:v>
              </c:pt>
              <c:pt idx="18">
                <c:v>98.217522658610278</c:v>
              </c:pt>
              <c:pt idx="19">
                <c:v>98.348439073514612</c:v>
              </c:pt>
              <c:pt idx="20">
                <c:v>98.398791540785496</c:v>
              </c:pt>
              <c:pt idx="21">
                <c:v>98.408862034239675</c:v>
              </c:pt>
              <c:pt idx="22">
                <c:v>98.418932527693855</c:v>
              </c:pt>
              <c:pt idx="23">
                <c:v>98.459214501510573</c:v>
              </c:pt>
              <c:pt idx="24">
                <c:v>98.539778449144009</c:v>
              </c:pt>
              <c:pt idx="25">
                <c:v>98.620342396777446</c:v>
              </c:pt>
              <c:pt idx="26">
                <c:v>98.690835850956702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94D5-5D44-95DB-137DA1ECFD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7DEE3"/>
            </a:solidFill>
          </a:ln>
        </c:spPr>
        <c:txPr>
          <a:bodyPr anchorCtr="1"/>
          <a:lstStyle/>
          <a:p>
            <a:pPr>
              <a:defRPr sz="97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8"/>
          <c:min val="94"/>
        </c:scaling>
        <c:delete val="0"/>
        <c:axPos val="l"/>
        <c:majorGridlines>
          <c:spPr>
            <a:ln w="9525">
              <a:solidFill>
                <a:srgbClr val="D7DEE3"/>
              </a:solidFill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7DEE3"/>
            </a:solidFill>
          </a:ln>
        </c:spPr>
        <c:txPr>
          <a:bodyPr anchorCtr="1"/>
          <a:lstStyle/>
          <a:p>
            <a:pPr>
              <a:defRPr sz="97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between"/>
        <c:majorUnit val="2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125">
              <a:solidFill>
                <a:srgbClr val="252F38"/>
              </a:solidFill>
              <a:latin typeface="Arial"/>
              <a:ea typeface="Arial"/>
              <a:cs typeface="Arial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en" sz="157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Corporate Profits YoY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Corporate Profits YoY</c:v>
          </c:tx>
          <c:spPr>
            <a:ln w="25718">
              <a:solidFill>
                <a:srgbClr val="4EA72E"/>
              </a:solidFill>
              <a:prstDash val="solid"/>
            </a:ln>
          </c:spPr>
          <c:marker>
            <c:symbol val="none"/>
          </c:marker>
          <c:cat>
            <c:strLit>
              <c:ptCount val="27"/>
              <c:pt idx="0">
                <c:v>Jan-26</c:v>
              </c:pt>
              <c:pt idx="1">
                <c:v>Feb-26</c:v>
              </c:pt>
              <c:pt idx="2">
                <c:v>Mar-26</c:v>
              </c:pt>
              <c:pt idx="3">
                <c:v>Apr-26</c:v>
              </c:pt>
              <c:pt idx="4">
                <c:v>May-26</c:v>
              </c:pt>
              <c:pt idx="5">
                <c:v>Jun-26</c:v>
              </c:pt>
              <c:pt idx="6">
                <c:v>Jul-26</c:v>
              </c:pt>
              <c:pt idx="7">
                <c:v>Aug-26</c:v>
              </c:pt>
              <c:pt idx="8">
                <c:v>Sep-26</c:v>
              </c:pt>
              <c:pt idx="9">
                <c:v>Oct-26</c:v>
              </c:pt>
              <c:pt idx="10">
                <c:v>Nov-26</c:v>
              </c:pt>
              <c:pt idx="11">
                <c:v>Dec-26</c:v>
              </c:pt>
              <c:pt idx="12">
                <c:v>Jan-27</c:v>
              </c:pt>
              <c:pt idx="13">
                <c:v>Feb-27</c:v>
              </c:pt>
              <c:pt idx="14">
                <c:v>Mar-27</c:v>
              </c:pt>
              <c:pt idx="15">
                <c:v>Apr-27</c:v>
              </c:pt>
              <c:pt idx="16">
                <c:v>May-27</c:v>
              </c:pt>
              <c:pt idx="17">
                <c:v>Jun-27</c:v>
              </c:pt>
              <c:pt idx="18">
                <c:v>Jul-27</c:v>
              </c:pt>
              <c:pt idx="19">
                <c:v>Aug-27</c:v>
              </c:pt>
              <c:pt idx="20">
                <c:v>Sep-27</c:v>
              </c:pt>
              <c:pt idx="21">
                <c:v>Oct-27</c:v>
              </c:pt>
              <c:pt idx="22">
                <c:v>Nov-27</c:v>
              </c:pt>
              <c:pt idx="23">
                <c:v>Dec-27</c:v>
              </c:pt>
              <c:pt idx="24">
                <c:v>Jan-28</c:v>
              </c:pt>
              <c:pt idx="25">
                <c:v>Feb-28</c:v>
              </c:pt>
              <c:pt idx="26">
                <c:v>Mar-28</c:v>
              </c:pt>
            </c:strLit>
          </c:cat>
          <c:val>
            <c:numLit>
              <c:formatCode>0.0%</c:formatCode>
              <c:ptCount val="27"/>
              <c:pt idx="0">
                <c:v>9.8831750057924772E-2</c:v>
              </c:pt>
              <c:pt idx="1">
                <c:v>0.11140064745254218</c:v>
              </c:pt>
              <c:pt idx="2">
                <c:v>0.13247880444371529</c:v>
              </c:pt>
              <c:pt idx="3">
                <c:v>0.1557720903057076</c:v>
              </c:pt>
              <c:pt idx="4">
                <c:v>0.17119588591651413</c:v>
              </c:pt>
              <c:pt idx="5">
                <c:v>0.17252285403222367</c:v>
              </c:pt>
              <c:pt idx="6">
                <c:v>0.16212133926323724</c:v>
              </c:pt>
              <c:pt idx="7">
                <c:v>0.14517686917053951</c:v>
              </c:pt>
              <c:pt idx="8">
                <c:v>0.12783754914791179</c:v>
              </c:pt>
              <c:pt idx="9">
                <c:v>0.11563692948380666</c:v>
              </c:pt>
              <c:pt idx="10">
                <c:v>0.11360642836432921</c:v>
              </c:pt>
              <c:pt idx="11">
                <c:v>0.12333021391481512</c:v>
              </c:pt>
              <c:pt idx="12">
                <c:v>0.13587381738479043</c:v>
              </c:pt>
              <c:pt idx="13">
                <c:v>0.138228055783429</c:v>
              </c:pt>
              <c:pt idx="14">
                <c:v>0.12378164444517337</c:v>
              </c:pt>
              <c:pt idx="15">
                <c:v>0.10042314399734664</c:v>
              </c:pt>
              <c:pt idx="16">
                <c:v>8.1480840303953084E-2</c:v>
              </c:pt>
              <c:pt idx="17">
                <c:v>7.4728444117067472E-2</c:v>
              </c:pt>
              <c:pt idx="18">
                <c:v>7.5990530517933363E-2</c:v>
              </c:pt>
              <c:pt idx="19">
                <c:v>7.7488854535992191E-2</c:v>
              </c:pt>
              <c:pt idx="20">
                <c:v>7.3874802585808474E-2</c:v>
              </c:pt>
              <c:pt idx="21">
                <c:v>6.6706637299122518E-2</c:v>
              </c:pt>
              <c:pt idx="22">
                <c:v>5.9555601841864592E-2</c:v>
              </c:pt>
              <c:pt idx="23">
                <c:v>5.5091503798015751E-2</c:v>
              </c:pt>
              <c:pt idx="24">
                <c:v>5.3780749041897558E-2</c:v>
              </c:pt>
              <c:pt idx="25">
                <c:v>5.5456537618699731E-2</c:v>
              </c:pt>
              <c:pt idx="26">
                <c:v>5.9418848154805248E-2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D100-A94D-B5A0-C761EAC0BC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7DEE3"/>
            </a:solidFill>
          </a:ln>
        </c:spPr>
        <c:txPr>
          <a:bodyPr anchorCtr="1"/>
          <a:lstStyle/>
          <a:p>
            <a:pPr>
              <a:defRPr sz="97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18"/>
          <c:min val="0.04"/>
        </c:scaling>
        <c:delete val="0"/>
        <c:axPos val="l"/>
        <c:majorGridlines>
          <c:spPr>
            <a:ln w="9525">
              <a:solidFill>
                <a:srgbClr val="D7DEE3"/>
              </a:solidFill>
            </a:ln>
          </c:spPr>
        </c:majorGridlines>
        <c:numFmt formatCode="0.0%" sourceLinked="1"/>
        <c:majorTickMark val="none"/>
        <c:minorTickMark val="none"/>
        <c:tickLblPos val="nextTo"/>
        <c:spPr>
          <a:ln w="9525">
            <a:solidFill>
              <a:srgbClr val="D7DEE3"/>
            </a:solidFill>
          </a:ln>
        </c:spPr>
        <c:txPr>
          <a:bodyPr anchorCtr="1"/>
          <a:lstStyle/>
          <a:p>
            <a:pPr>
              <a:defRPr sz="97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between"/>
        <c:majorUnit val="0.02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en" sz="157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Monthly fee revenue (source units)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Recursive forecast</c:v>
          </c:tx>
          <c:spPr>
            <a:ln w="25718">
              <a:solidFill>
                <a:srgbClr val="006C98"/>
              </a:solidFill>
              <a:prstDash val="solid"/>
            </a:ln>
          </c:spPr>
          <c:marker>
            <c:symbol val="none"/>
          </c:marker>
          <c:cat>
            <c:strLit>
              <c:ptCount val="27"/>
              <c:pt idx="0">
                <c:v>Jan-26</c:v>
              </c:pt>
              <c:pt idx="1">
                <c:v>Feb-26</c:v>
              </c:pt>
              <c:pt idx="2">
                <c:v>Mar-26</c:v>
              </c:pt>
              <c:pt idx="3">
                <c:v>Apr-26</c:v>
              </c:pt>
              <c:pt idx="4">
                <c:v>May-26</c:v>
              </c:pt>
              <c:pt idx="5">
                <c:v>Jun-26</c:v>
              </c:pt>
              <c:pt idx="6">
                <c:v>Jul-26</c:v>
              </c:pt>
              <c:pt idx="7">
                <c:v>Aug-26</c:v>
              </c:pt>
              <c:pt idx="8">
                <c:v>Sep-26</c:v>
              </c:pt>
              <c:pt idx="9">
                <c:v>Oct-26</c:v>
              </c:pt>
              <c:pt idx="10">
                <c:v>Nov-26</c:v>
              </c:pt>
              <c:pt idx="11">
                <c:v>Dec-26</c:v>
              </c:pt>
              <c:pt idx="12">
                <c:v>Jan-27</c:v>
              </c:pt>
              <c:pt idx="13">
                <c:v>Feb-27</c:v>
              </c:pt>
              <c:pt idx="14">
                <c:v>Mar-27</c:v>
              </c:pt>
              <c:pt idx="15">
                <c:v>Apr-27</c:v>
              </c:pt>
              <c:pt idx="16">
                <c:v>May-27</c:v>
              </c:pt>
              <c:pt idx="17">
                <c:v>Jun-27</c:v>
              </c:pt>
              <c:pt idx="18">
                <c:v>Jul-27</c:v>
              </c:pt>
              <c:pt idx="19">
                <c:v>Aug-27</c:v>
              </c:pt>
              <c:pt idx="20">
                <c:v>Sep-27</c:v>
              </c:pt>
              <c:pt idx="21">
                <c:v>Oct-27</c:v>
              </c:pt>
              <c:pt idx="22">
                <c:v>Nov-27</c:v>
              </c:pt>
              <c:pt idx="23">
                <c:v>Dec-27</c:v>
              </c:pt>
              <c:pt idx="24">
                <c:v>Jan-28</c:v>
              </c:pt>
              <c:pt idx="25">
                <c:v>Feb-28</c:v>
              </c:pt>
              <c:pt idx="26">
                <c:v>Mar-28</c:v>
              </c:pt>
            </c:strLit>
          </c:cat>
          <c:val>
            <c:numLit>
              <c:formatCode>#,##0;\(#,##0\)</c:formatCode>
              <c:ptCount val="27"/>
              <c:pt idx="0">
                <c:v>2973.8171231077868</c:v>
              </c:pt>
              <c:pt idx="1">
                <c:v>3318.4828981891392</c:v>
              </c:pt>
              <c:pt idx="2">
                <c:v>3513.1711440040567</c:v>
              </c:pt>
              <c:pt idx="3">
                <c:v>3474.9047030977213</c:v>
              </c:pt>
              <c:pt idx="4">
                <c:v>3527.7426164486892</c:v>
              </c:pt>
              <c:pt idx="5">
                <c:v>3540.9884341505895</c:v>
              </c:pt>
              <c:pt idx="6">
                <c:v>3757.0701589745045</c:v>
              </c:pt>
              <c:pt idx="7">
                <c:v>4154.4218282016336</c:v>
              </c:pt>
              <c:pt idx="8">
                <c:v>3971.2793139767628</c:v>
              </c:pt>
              <c:pt idx="9">
                <c:v>4334.9037039155501</c:v>
              </c:pt>
              <c:pt idx="10">
                <c:v>4126.5449319720301</c:v>
              </c:pt>
              <c:pt idx="11">
                <c:v>3995.9861744208442</c:v>
              </c:pt>
              <c:pt idx="12">
                <c:v>4849.5360353125789</c:v>
              </c:pt>
              <c:pt idx="13">
                <c:v>4248.4578507593851</c:v>
              </c:pt>
              <c:pt idx="14">
                <c:v>3875.2638509155154</c:v>
              </c:pt>
              <c:pt idx="15">
                <c:v>3696.9255677657034</c:v>
              </c:pt>
              <c:pt idx="16">
                <c:v>3705.0672422229186</c:v>
              </c:pt>
              <c:pt idx="17">
                <c:v>3757.9124024123744</c:v>
              </c:pt>
              <c:pt idx="18">
                <c:v>3203.4456734086193</c:v>
              </c:pt>
              <c:pt idx="19">
                <c:v>2003.135860487492</c:v>
              </c:pt>
              <c:pt idx="20">
                <c:v>1638.0345758898204</c:v>
              </c:pt>
              <c:pt idx="21">
                <c:v>816.8861597684762</c:v>
              </c:pt>
              <c:pt idx="22">
                <c:v>935.01493812001706</c:v>
              </c:pt>
              <c:pt idx="23">
                <c:v>1287.9782986314374</c:v>
              </c:pt>
              <c:pt idx="24">
                <c:v>-716.39290516168501</c:v>
              </c:pt>
              <c:pt idx="25">
                <c:v>-283.18913924731504</c:v>
              </c:pt>
              <c:pt idx="26">
                <c:v>613.9842546656937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8DA5-2D41-9AD4-6DF258F44BE3}"/>
            </c:ext>
          </c:extLst>
        </c:ser>
        <c:ser>
          <c:idx val="1"/>
          <c:order val="1"/>
          <c:tx>
            <c:v>Long-run baseline</c:v>
          </c:tx>
          <c:spPr>
            <a:ln w="25718">
              <a:solidFill>
                <a:srgbClr val="C77933"/>
              </a:solidFill>
              <a:prstDash val="dash"/>
            </a:ln>
          </c:spPr>
          <c:marker>
            <c:symbol val="none"/>
          </c:marker>
          <c:cat>
            <c:strLit>
              <c:ptCount val="27"/>
              <c:pt idx="0">
                <c:v>Jan-26</c:v>
              </c:pt>
              <c:pt idx="1">
                <c:v>Feb-26</c:v>
              </c:pt>
              <c:pt idx="2">
                <c:v>Mar-26</c:v>
              </c:pt>
              <c:pt idx="3">
                <c:v>Apr-26</c:v>
              </c:pt>
              <c:pt idx="4">
                <c:v>May-26</c:v>
              </c:pt>
              <c:pt idx="5">
                <c:v>Jun-26</c:v>
              </c:pt>
              <c:pt idx="6">
                <c:v>Jul-26</c:v>
              </c:pt>
              <c:pt idx="7">
                <c:v>Aug-26</c:v>
              </c:pt>
              <c:pt idx="8">
                <c:v>Sep-26</c:v>
              </c:pt>
              <c:pt idx="9">
                <c:v>Oct-26</c:v>
              </c:pt>
              <c:pt idx="10">
                <c:v>Nov-26</c:v>
              </c:pt>
              <c:pt idx="11">
                <c:v>Dec-26</c:v>
              </c:pt>
              <c:pt idx="12">
                <c:v>Jan-27</c:v>
              </c:pt>
              <c:pt idx="13">
                <c:v>Feb-27</c:v>
              </c:pt>
              <c:pt idx="14">
                <c:v>Mar-27</c:v>
              </c:pt>
              <c:pt idx="15">
                <c:v>Apr-27</c:v>
              </c:pt>
              <c:pt idx="16">
                <c:v>May-27</c:v>
              </c:pt>
              <c:pt idx="17">
                <c:v>Jun-27</c:v>
              </c:pt>
              <c:pt idx="18">
                <c:v>Jul-27</c:v>
              </c:pt>
              <c:pt idx="19">
                <c:v>Aug-27</c:v>
              </c:pt>
              <c:pt idx="20">
                <c:v>Sep-27</c:v>
              </c:pt>
              <c:pt idx="21">
                <c:v>Oct-27</c:v>
              </c:pt>
              <c:pt idx="22">
                <c:v>Nov-27</c:v>
              </c:pt>
              <c:pt idx="23">
                <c:v>Dec-27</c:v>
              </c:pt>
              <c:pt idx="24">
                <c:v>Jan-28</c:v>
              </c:pt>
              <c:pt idx="25">
                <c:v>Feb-28</c:v>
              </c:pt>
              <c:pt idx="26">
                <c:v>Mar-28</c:v>
              </c:pt>
            </c:strLit>
          </c:cat>
          <c:val>
            <c:numLit>
              <c:formatCode>#,##0;\(#,##0\)</c:formatCode>
              <c:ptCount val="27"/>
              <c:pt idx="0">
                <c:v>2965.5690816175406</c:v>
              </c:pt>
              <c:pt idx="1">
                <c:v>2980.4647937508412</c:v>
              </c:pt>
              <c:pt idx="2">
                <c:v>3023.9293299137789</c:v>
              </c:pt>
              <c:pt idx="3">
                <c:v>3065.520693156298</c:v>
              </c:pt>
              <c:pt idx="4">
                <c:v>3093.6730508274768</c:v>
              </c:pt>
              <c:pt idx="5">
                <c:v>3074.2838293691511</c:v>
              </c:pt>
              <c:pt idx="6">
                <c:v>3106.484257462746</c:v>
              </c:pt>
              <c:pt idx="7">
                <c:v>3113.9800720231483</c:v>
              </c:pt>
              <c:pt idx="8">
                <c:v>3125.5611789589107</c:v>
              </c:pt>
              <c:pt idx="9">
                <c:v>3140.9542755130906</c:v>
              </c:pt>
              <c:pt idx="10">
                <c:v>3157.4748052629857</c:v>
              </c:pt>
              <c:pt idx="11">
                <c:v>3173.6438386187701</c:v>
              </c:pt>
              <c:pt idx="12">
                <c:v>3189.229044507716</c:v>
              </c:pt>
              <c:pt idx="13">
                <c:v>3203.8044826298201</c:v>
              </c:pt>
              <c:pt idx="14">
                <c:v>3218.3426987989783</c:v>
              </c:pt>
              <c:pt idx="15">
                <c:v>3233.4647424349737</c:v>
              </c:pt>
              <c:pt idx="16">
                <c:v>3248.3529551057341</c:v>
              </c:pt>
              <c:pt idx="17">
                <c:v>3262.8896713823824</c:v>
              </c:pt>
              <c:pt idx="18">
                <c:v>3277.2700003847053</c:v>
              </c:pt>
              <c:pt idx="19">
                <c:v>3291.3785265225893</c:v>
              </c:pt>
              <c:pt idx="20">
                <c:v>3304.3998412027213</c:v>
              </c:pt>
              <c:pt idx="21">
                <c:v>3316.8775501539799</c:v>
              </c:pt>
              <c:pt idx="22">
                <c:v>3329.1608999317095</c:v>
              </c:pt>
              <c:pt idx="23">
                <c:v>3341.3660560722747</c:v>
              </c:pt>
              <c:pt idx="24">
                <c:v>3353.9204587681879</c:v>
              </c:pt>
              <c:pt idx="25">
                <c:v>3365.6974247699873</c:v>
              </c:pt>
              <c:pt idx="26">
                <c:v>3377.6300280998621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8DA5-2D41-9AD4-6DF258F44B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7DEE3"/>
            </a:solidFill>
          </a:ln>
        </c:spPr>
        <c:txPr>
          <a:bodyPr anchorCtr="1"/>
          <a:lstStyle/>
          <a:p>
            <a:pPr>
              <a:defRPr sz="97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000"/>
          <c:min val="-1000"/>
        </c:scaling>
        <c:delete val="0"/>
        <c:axPos val="l"/>
        <c:majorGridlines>
          <c:spPr>
            <a:ln w="9525">
              <a:solidFill>
                <a:srgbClr val="D7DEE3"/>
              </a:solidFill>
            </a:ln>
          </c:spPr>
        </c:majorGridlines>
        <c:numFmt formatCode="#,##0;\(#,##0\)" sourceLinked="1"/>
        <c:majorTickMark val="none"/>
        <c:minorTickMark val="none"/>
        <c:tickLblPos val="nextTo"/>
        <c:spPr>
          <a:ln w="9525">
            <a:solidFill>
              <a:srgbClr val="D7DEE3"/>
            </a:solidFill>
          </a:ln>
        </c:spPr>
        <c:txPr>
          <a:bodyPr anchorCtr="1"/>
          <a:lstStyle/>
          <a:p>
            <a:pPr>
              <a:defRPr sz="97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between"/>
        <c:majorUnit val="1000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125">
              <a:solidFill>
                <a:srgbClr val="252F38"/>
              </a:solidFill>
              <a:latin typeface="Arial"/>
              <a:ea typeface="Arial"/>
              <a:cs typeface="Arial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en" sz="1650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Monthly fee revenue (source units)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Original ECM</c:v>
          </c:tx>
          <c:spPr>
            <a:ln w="25718">
              <a:solidFill>
                <a:srgbClr val="A5483C"/>
              </a:solidFill>
              <a:prstDash val="solid"/>
            </a:ln>
          </c:spPr>
          <c:marker>
            <c:symbol val="none"/>
          </c:marker>
          <c:cat>
            <c:strLit>
              <c:ptCount val="27"/>
              <c:pt idx="0">
                <c:v>Jan-26</c:v>
              </c:pt>
              <c:pt idx="1">
                <c:v>Feb-26</c:v>
              </c:pt>
              <c:pt idx="2">
                <c:v>Mar-26</c:v>
              </c:pt>
              <c:pt idx="3">
                <c:v>Apr-26</c:v>
              </c:pt>
              <c:pt idx="4">
                <c:v>May-26</c:v>
              </c:pt>
              <c:pt idx="5">
                <c:v>Jun-26</c:v>
              </c:pt>
              <c:pt idx="6">
                <c:v>Jul-26</c:v>
              </c:pt>
              <c:pt idx="7">
                <c:v>Aug-26</c:v>
              </c:pt>
              <c:pt idx="8">
                <c:v>Sep-26</c:v>
              </c:pt>
              <c:pt idx="9">
                <c:v>Oct-26</c:v>
              </c:pt>
              <c:pt idx="10">
                <c:v>Nov-26</c:v>
              </c:pt>
              <c:pt idx="11">
                <c:v>Dec-26</c:v>
              </c:pt>
              <c:pt idx="12">
                <c:v>Jan-27</c:v>
              </c:pt>
              <c:pt idx="13">
                <c:v>Feb-27</c:v>
              </c:pt>
              <c:pt idx="14">
                <c:v>Mar-27</c:v>
              </c:pt>
              <c:pt idx="15">
                <c:v>Apr-27</c:v>
              </c:pt>
              <c:pt idx="16">
                <c:v>May-27</c:v>
              </c:pt>
              <c:pt idx="17">
                <c:v>Jun-27</c:v>
              </c:pt>
              <c:pt idx="18">
                <c:v>Jul-27</c:v>
              </c:pt>
              <c:pt idx="19">
                <c:v>Aug-27</c:v>
              </c:pt>
              <c:pt idx="20">
                <c:v>Sep-27</c:v>
              </c:pt>
              <c:pt idx="21">
                <c:v>Oct-27</c:v>
              </c:pt>
              <c:pt idx="22">
                <c:v>Nov-27</c:v>
              </c:pt>
              <c:pt idx="23">
                <c:v>Dec-27</c:v>
              </c:pt>
              <c:pt idx="24">
                <c:v>Jan-28</c:v>
              </c:pt>
              <c:pt idx="25">
                <c:v>Feb-28</c:v>
              </c:pt>
              <c:pt idx="26">
                <c:v>Mar-28</c:v>
              </c:pt>
            </c:strLit>
          </c:cat>
          <c:val>
            <c:numLit>
              <c:formatCode>#,##0;\(#,##0\)</c:formatCode>
              <c:ptCount val="27"/>
              <c:pt idx="0">
                <c:v>2973.8171231077868</c:v>
              </c:pt>
              <c:pt idx="1">
                <c:v>3318.4828981891392</c:v>
              </c:pt>
              <c:pt idx="2">
                <c:v>3513.1711440040567</c:v>
              </c:pt>
              <c:pt idx="3">
                <c:v>3474.9047030977213</c:v>
              </c:pt>
              <c:pt idx="4">
                <c:v>3527.7426164486892</c:v>
              </c:pt>
              <c:pt idx="5">
                <c:v>3540.9884341505895</c:v>
              </c:pt>
              <c:pt idx="6">
                <c:v>3757.0701589745045</c:v>
              </c:pt>
              <c:pt idx="7">
                <c:v>4154.4218282016336</c:v>
              </c:pt>
              <c:pt idx="8">
                <c:v>3971.2793139767628</c:v>
              </c:pt>
              <c:pt idx="9">
                <c:v>4334.9037039155501</c:v>
              </c:pt>
              <c:pt idx="10">
                <c:v>4126.5449319720301</c:v>
              </c:pt>
              <c:pt idx="11">
                <c:v>3995.9861744208442</c:v>
              </c:pt>
              <c:pt idx="12">
                <c:v>4849.5360353125789</c:v>
              </c:pt>
              <c:pt idx="13">
                <c:v>4248.4578507593851</c:v>
              </c:pt>
              <c:pt idx="14">
                <c:v>3875.2638509155154</c:v>
              </c:pt>
              <c:pt idx="15">
                <c:v>3696.9255677657034</c:v>
              </c:pt>
              <c:pt idx="16">
                <c:v>3705.0672422229186</c:v>
              </c:pt>
              <c:pt idx="17">
                <c:v>3757.9124024123744</c:v>
              </c:pt>
              <c:pt idx="18">
                <c:v>3203.4456734086193</c:v>
              </c:pt>
              <c:pt idx="19">
                <c:v>2003.135860487492</c:v>
              </c:pt>
              <c:pt idx="20">
                <c:v>1638.0345758898204</c:v>
              </c:pt>
              <c:pt idx="21">
                <c:v>816.8861597684762</c:v>
              </c:pt>
              <c:pt idx="22">
                <c:v>935.01493812001706</c:v>
              </c:pt>
              <c:pt idx="23">
                <c:v>1287.9782986314374</c:v>
              </c:pt>
              <c:pt idx="24">
                <c:v>-716.39290516168501</c:v>
              </c:pt>
              <c:pt idx="25">
                <c:v>-283.18913924731504</c:v>
              </c:pt>
              <c:pt idx="26">
                <c:v>613.9842546656937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A7E9-0D42-80E9-2DBA4186990F}"/>
            </c:ext>
          </c:extLst>
        </c:ser>
        <c:ser>
          <c:idx val="1"/>
          <c:order val="1"/>
          <c:tx>
            <c:v>Fixed-ratio forecast</c:v>
          </c:tx>
          <c:spPr>
            <a:ln w="25718">
              <a:solidFill>
                <a:srgbClr val="237F83"/>
              </a:solidFill>
              <a:prstDash val="solid"/>
            </a:ln>
          </c:spPr>
          <c:marker>
            <c:symbol val="none"/>
          </c:marker>
          <c:cat>
            <c:strLit>
              <c:ptCount val="27"/>
              <c:pt idx="0">
                <c:v>Jan-26</c:v>
              </c:pt>
              <c:pt idx="1">
                <c:v>Feb-26</c:v>
              </c:pt>
              <c:pt idx="2">
                <c:v>Mar-26</c:v>
              </c:pt>
              <c:pt idx="3">
                <c:v>Apr-26</c:v>
              </c:pt>
              <c:pt idx="4">
                <c:v>May-26</c:v>
              </c:pt>
              <c:pt idx="5">
                <c:v>Jun-26</c:v>
              </c:pt>
              <c:pt idx="6">
                <c:v>Jul-26</c:v>
              </c:pt>
              <c:pt idx="7">
                <c:v>Aug-26</c:v>
              </c:pt>
              <c:pt idx="8">
                <c:v>Sep-26</c:v>
              </c:pt>
              <c:pt idx="9">
                <c:v>Oct-26</c:v>
              </c:pt>
              <c:pt idx="10">
                <c:v>Nov-26</c:v>
              </c:pt>
              <c:pt idx="11">
                <c:v>Dec-26</c:v>
              </c:pt>
              <c:pt idx="12">
                <c:v>Jan-27</c:v>
              </c:pt>
              <c:pt idx="13">
                <c:v>Feb-27</c:v>
              </c:pt>
              <c:pt idx="14">
                <c:v>Mar-27</c:v>
              </c:pt>
              <c:pt idx="15">
                <c:v>Apr-27</c:v>
              </c:pt>
              <c:pt idx="16">
                <c:v>May-27</c:v>
              </c:pt>
              <c:pt idx="17">
                <c:v>Jun-27</c:v>
              </c:pt>
              <c:pt idx="18">
                <c:v>Jul-27</c:v>
              </c:pt>
              <c:pt idx="19">
                <c:v>Aug-27</c:v>
              </c:pt>
              <c:pt idx="20">
                <c:v>Sep-27</c:v>
              </c:pt>
              <c:pt idx="21">
                <c:v>Oct-27</c:v>
              </c:pt>
              <c:pt idx="22">
                <c:v>Nov-27</c:v>
              </c:pt>
              <c:pt idx="23">
                <c:v>Dec-27</c:v>
              </c:pt>
              <c:pt idx="24">
                <c:v>Jan-28</c:v>
              </c:pt>
              <c:pt idx="25">
                <c:v>Feb-28</c:v>
              </c:pt>
              <c:pt idx="26">
                <c:v>Mar-28</c:v>
              </c:pt>
            </c:strLit>
          </c:cat>
          <c:val>
            <c:numLit>
              <c:formatCode>#,##0;\(#,##0\)</c:formatCode>
              <c:ptCount val="27"/>
              <c:pt idx="0">
                <c:v>2119.4143347431082</c:v>
              </c:pt>
              <c:pt idx="1">
                <c:v>2130.0599089828775</c:v>
              </c:pt>
              <c:pt idx="2">
                <c:v>2161.1228714232752</c:v>
              </c:pt>
              <c:pt idx="3">
                <c:v>2190.8471263745787</c:v>
              </c:pt>
              <c:pt idx="4">
                <c:v>2210.9668770069147</c:v>
              </c:pt>
              <c:pt idx="5">
                <c:v>2197.1099096703556</c:v>
              </c:pt>
              <c:pt idx="6">
                <c:v>2220.1227099148218</c:v>
              </c:pt>
              <c:pt idx="7">
                <c:v>2225.4797717106062</c:v>
              </c:pt>
              <c:pt idx="8">
                <c:v>2233.75648467069</c:v>
              </c:pt>
              <c:pt idx="9">
                <c:v>2244.7575264927268</c:v>
              </c:pt>
              <c:pt idx="10">
                <c:v>2256.5643152087664</c:v>
              </c:pt>
              <c:pt idx="11">
                <c:v>2268.119898683658</c:v>
              </c:pt>
              <c:pt idx="12">
                <c:v>2279.2582360016804</c:v>
              </c:pt>
              <c:pt idx="13">
                <c:v>2289.674918817344</c:v>
              </c:pt>
              <c:pt idx="14">
                <c:v>2300.0650000808369</c:v>
              </c:pt>
              <c:pt idx="15">
                <c:v>2310.8723275011976</c:v>
              </c:pt>
              <c:pt idx="16">
                <c:v>2321.512542072056</c:v>
              </c:pt>
              <c:pt idx="17">
                <c:v>2331.9015514017651</c:v>
              </c:pt>
              <c:pt idx="18">
                <c:v>2342.178794853879</c:v>
              </c:pt>
              <c:pt idx="19">
                <c:v>2352.2617879374257</c:v>
              </c:pt>
              <c:pt idx="20">
                <c:v>2361.5677795467054</c:v>
              </c:pt>
              <c:pt idx="21">
                <c:v>2370.4852704188538</c:v>
              </c:pt>
              <c:pt idx="22">
                <c:v>2379.2638578943424</c:v>
              </c:pt>
              <c:pt idx="23">
                <c:v>2387.9865624310319</c:v>
              </c:pt>
              <c:pt idx="24">
                <c:v>2396.9588643081956</c:v>
              </c:pt>
              <c:pt idx="25">
                <c:v>2405.3755525987217</c:v>
              </c:pt>
              <c:pt idx="26">
                <c:v>2413.9034707999544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A7E9-0D42-80E9-2DBA4186990F}"/>
            </c:ext>
          </c:extLst>
        </c:ser>
        <c:ser>
          <c:idx val="2"/>
          <c:order val="2"/>
          <c:tx>
            <c:v>Long-run level</c:v>
          </c:tx>
          <c:spPr>
            <a:ln w="25718">
              <a:solidFill>
                <a:srgbClr val="C77933"/>
              </a:solidFill>
              <a:prstDash val="dash"/>
            </a:ln>
          </c:spPr>
          <c:marker>
            <c:symbol val="none"/>
          </c:marker>
          <c:cat>
            <c:strLit>
              <c:ptCount val="27"/>
              <c:pt idx="0">
                <c:v>Jan-26</c:v>
              </c:pt>
              <c:pt idx="1">
                <c:v>Feb-26</c:v>
              </c:pt>
              <c:pt idx="2">
                <c:v>Mar-26</c:v>
              </c:pt>
              <c:pt idx="3">
                <c:v>Apr-26</c:v>
              </c:pt>
              <c:pt idx="4">
                <c:v>May-26</c:v>
              </c:pt>
              <c:pt idx="5">
                <c:v>Jun-26</c:v>
              </c:pt>
              <c:pt idx="6">
                <c:v>Jul-26</c:v>
              </c:pt>
              <c:pt idx="7">
                <c:v>Aug-26</c:v>
              </c:pt>
              <c:pt idx="8">
                <c:v>Sep-26</c:v>
              </c:pt>
              <c:pt idx="9">
                <c:v>Oct-26</c:v>
              </c:pt>
              <c:pt idx="10">
                <c:v>Nov-26</c:v>
              </c:pt>
              <c:pt idx="11">
                <c:v>Dec-26</c:v>
              </c:pt>
              <c:pt idx="12">
                <c:v>Jan-27</c:v>
              </c:pt>
              <c:pt idx="13">
                <c:v>Feb-27</c:v>
              </c:pt>
              <c:pt idx="14">
                <c:v>Mar-27</c:v>
              </c:pt>
              <c:pt idx="15">
                <c:v>Apr-27</c:v>
              </c:pt>
              <c:pt idx="16">
                <c:v>May-27</c:v>
              </c:pt>
              <c:pt idx="17">
                <c:v>Jun-27</c:v>
              </c:pt>
              <c:pt idx="18">
                <c:v>Jul-27</c:v>
              </c:pt>
              <c:pt idx="19">
                <c:v>Aug-27</c:v>
              </c:pt>
              <c:pt idx="20">
                <c:v>Sep-27</c:v>
              </c:pt>
              <c:pt idx="21">
                <c:v>Oct-27</c:v>
              </c:pt>
              <c:pt idx="22">
                <c:v>Nov-27</c:v>
              </c:pt>
              <c:pt idx="23">
                <c:v>Dec-27</c:v>
              </c:pt>
              <c:pt idx="24">
                <c:v>Jan-28</c:v>
              </c:pt>
              <c:pt idx="25">
                <c:v>Feb-28</c:v>
              </c:pt>
              <c:pt idx="26">
                <c:v>Mar-28</c:v>
              </c:pt>
            </c:strLit>
          </c:cat>
          <c:val>
            <c:numLit>
              <c:formatCode>#,##0;\(#,##0\)</c:formatCode>
              <c:ptCount val="27"/>
              <c:pt idx="0">
                <c:v>2965.5690816175406</c:v>
              </c:pt>
              <c:pt idx="1">
                <c:v>2980.4647937508412</c:v>
              </c:pt>
              <c:pt idx="2">
                <c:v>3023.9293299137789</c:v>
              </c:pt>
              <c:pt idx="3">
                <c:v>3065.520693156298</c:v>
              </c:pt>
              <c:pt idx="4">
                <c:v>3093.6730508274768</c:v>
              </c:pt>
              <c:pt idx="5">
                <c:v>3074.2838293691511</c:v>
              </c:pt>
              <c:pt idx="6">
                <c:v>3106.484257462746</c:v>
              </c:pt>
              <c:pt idx="7">
                <c:v>3113.9800720231483</c:v>
              </c:pt>
              <c:pt idx="8">
                <c:v>3125.5611789589107</c:v>
              </c:pt>
              <c:pt idx="9">
                <c:v>3140.9542755130906</c:v>
              </c:pt>
              <c:pt idx="10">
                <c:v>3157.4748052629857</c:v>
              </c:pt>
              <c:pt idx="11">
                <c:v>3173.6438386187701</c:v>
              </c:pt>
              <c:pt idx="12">
                <c:v>3189.229044507716</c:v>
              </c:pt>
              <c:pt idx="13">
                <c:v>3203.8044826298201</c:v>
              </c:pt>
              <c:pt idx="14">
                <c:v>3218.3426987989783</c:v>
              </c:pt>
              <c:pt idx="15">
                <c:v>3233.4647424349737</c:v>
              </c:pt>
              <c:pt idx="16">
                <c:v>3248.3529551057341</c:v>
              </c:pt>
              <c:pt idx="17">
                <c:v>3262.8896713823824</c:v>
              </c:pt>
              <c:pt idx="18">
                <c:v>3277.2700003847053</c:v>
              </c:pt>
              <c:pt idx="19">
                <c:v>3291.3785265225893</c:v>
              </c:pt>
              <c:pt idx="20">
                <c:v>3304.3998412027213</c:v>
              </c:pt>
              <c:pt idx="21">
                <c:v>3316.8775501539799</c:v>
              </c:pt>
              <c:pt idx="22">
                <c:v>3329.1608999317095</c:v>
              </c:pt>
              <c:pt idx="23">
                <c:v>3341.3660560722747</c:v>
              </c:pt>
              <c:pt idx="24">
                <c:v>3353.9204587681879</c:v>
              </c:pt>
              <c:pt idx="25">
                <c:v>3365.6974247699873</c:v>
              </c:pt>
              <c:pt idx="26">
                <c:v>3377.6300280998621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2-A7E9-0D42-80E9-2DBA418699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7DEE3"/>
            </a:solidFill>
          </a:ln>
        </c:spPr>
        <c:txPr>
          <a:bodyPr anchorCtr="1"/>
          <a:lstStyle/>
          <a:p>
            <a:pPr>
              <a:defRPr sz="97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000"/>
          <c:min val="-1000"/>
        </c:scaling>
        <c:delete val="0"/>
        <c:axPos val="l"/>
        <c:majorGridlines>
          <c:spPr>
            <a:ln w="9525">
              <a:solidFill>
                <a:srgbClr val="D7DEE3"/>
              </a:solidFill>
            </a:ln>
          </c:spPr>
        </c:majorGridlines>
        <c:numFmt formatCode="#,##0;\(#,##0\)" sourceLinked="1"/>
        <c:majorTickMark val="none"/>
        <c:minorTickMark val="none"/>
        <c:tickLblPos val="nextTo"/>
        <c:spPr>
          <a:ln w="9525">
            <a:solidFill>
              <a:srgbClr val="D7DEE3"/>
            </a:solidFill>
          </a:ln>
        </c:spPr>
        <c:txPr>
          <a:bodyPr anchorCtr="1"/>
          <a:lstStyle/>
          <a:p>
            <a:pPr>
              <a:defRPr sz="10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between"/>
        <c:majorUnit val="1000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125">
              <a:solidFill>
                <a:srgbClr val="252F38"/>
              </a:solidFill>
              <a:latin typeface="Arial"/>
              <a:ea typeface="Arial"/>
              <a:cs typeface="Arial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Replace this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n-Interest Income">
            <a:extLst>
              <a:ext uri="{FF2B5EF4-FFF2-40B4-BE49-F238E27FC236}">
                <a16:creationId xmlns:a16="http://schemas.microsoft.com/office/drawing/2014/main" id="{EB96CD7F-DDE9-4EE8-AB10-F92DC897A09E}"/>
              </a:ext>
            </a:extLst>
          </p:cNvPr>
          <p:cNvSpPr>
            <a:spLocks noGrp="1"/>
          </p:cNvSpPr>
          <p:nvPr/>
        </p:nvSpPr>
        <p:spPr>
          <a:xfrm>
            <a:off x="742950" y="2143125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55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Non-Interest Income</a:t>
            </a:r>
          </a:p>
        </p:txBody>
      </p:sp>
      <p:sp>
        <p:nvSpPr>
          <p:cNvPr id="4" name="Commercial Card&#10;Fee Revenue Modeling">
            <a:extLst>
              <a:ext uri="{FF2B5EF4-FFF2-40B4-BE49-F238E27FC236}">
                <a16:creationId xmlns:a16="http://schemas.microsoft.com/office/drawing/2014/main" id="{2B2941FA-FEA4-4756-8BE5-AEB8DE759756}"/>
              </a:ext>
            </a:extLst>
          </p:cNvPr>
          <p:cNvSpPr>
            <a:spLocks noGrp="1"/>
          </p:cNvSpPr>
          <p:nvPr/>
        </p:nvSpPr>
        <p:spPr>
          <a:xfrm>
            <a:off x="742950" y="2914650"/>
            <a:ext cx="10668000" cy="1409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97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Commercial Card</a:t>
            </a:r>
          </a:p>
          <a:p>
            <a:pPr algn="l">
              <a:buNone/>
              <a:defRPr sz="397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Fee Revenue Modeling</a:t>
            </a:r>
          </a:p>
        </p:txBody>
      </p:sp>
      <p:sp>
        <p:nvSpPr>
          <p:cNvPr id="5" name="Small Business + Commercial Card">
            <a:extLst>
              <a:ext uri="{FF2B5EF4-FFF2-40B4-BE49-F238E27FC236}">
                <a16:creationId xmlns:a16="http://schemas.microsoft.com/office/drawing/2014/main" id="{D07C77B4-83A1-471B-B1E5-C9B0BCD47105}"/>
              </a:ext>
            </a:extLst>
          </p:cNvPr>
          <p:cNvSpPr>
            <a:spLocks noGrp="1"/>
          </p:cNvSpPr>
          <p:nvPr/>
        </p:nvSpPr>
        <p:spPr>
          <a:xfrm>
            <a:off x="762000" y="4638675"/>
            <a:ext cx="101917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Small Business + Commercial Card</a:t>
            </a:r>
          </a:p>
        </p:txBody>
      </p:sp>
      <p:sp>
        <p:nvSpPr>
          <p:cNvPr id="6" name="PPNR / CCAR Model Development Review&#10;September 24, 2026">
            <a:extLst>
              <a:ext uri="{FF2B5EF4-FFF2-40B4-BE49-F238E27FC236}">
                <a16:creationId xmlns:a16="http://schemas.microsoft.com/office/drawing/2014/main" id="{015241B9-DB50-4CF5-9750-4C00960542B9}"/>
              </a:ext>
            </a:extLst>
          </p:cNvPr>
          <p:cNvSpPr>
            <a:spLocks noGrp="1"/>
          </p:cNvSpPr>
          <p:nvPr/>
        </p:nvSpPr>
        <p:spPr>
          <a:xfrm>
            <a:off x="762000" y="5562600"/>
            <a:ext cx="1019175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PPNR / CCAR Model Development Review</a:t>
            </a:r>
          </a:p>
          <a:p>
            <a:pPr algn="l">
              <a:buNone/>
              <a:defRPr sz="180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September 24, 2026</a:t>
            </a:r>
          </a:p>
        </p:txBody>
      </p:sp>
    </p:spTree>
    <p:extLst>
      <p:ext uri="{BB962C8B-B14F-4D97-AF65-F5344CB8AC3E}">
        <p14:creationId xmlns:p14="http://schemas.microsoft.com/office/powerpoint/2010/main" val="1609394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">
            <a:extLst>
              <a:ext uri="{FF2B5EF4-FFF2-40B4-BE49-F238E27FC236}">
                <a16:creationId xmlns:a16="http://schemas.microsoft.com/office/drawing/2014/main" id="{F0D91A24-D116-4E88-BC93-50C0AF618F29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Objective">
            <a:extLst>
              <a:ext uri="{FF2B5EF4-FFF2-40B4-BE49-F238E27FC236}">
                <a16:creationId xmlns:a16="http://schemas.microsoft.com/office/drawing/2014/main" id="{48594869-DE9E-4578-8B61-8497E28377EF}"/>
              </a:ext>
            </a:extLst>
          </p:cNvPr>
          <p:cNvSpPr>
            <a:spLocks noGrp="1"/>
          </p:cNvSpPr>
          <p:nvPr/>
        </p:nvSpPr>
        <p:spPr>
          <a:xfrm>
            <a:off x="647700" y="1400175"/>
            <a:ext cx="10525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950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8" name="Explain and forecast the combined monthly fee revenue u">
            <a:extLst>
              <a:ext uri="{FF2B5EF4-FFF2-40B4-BE49-F238E27FC236}">
                <a16:creationId xmlns:a16="http://schemas.microsoft.com/office/drawing/2014/main" id="{D3F85233-266E-4A10-9A71-BE9AAC2DFF3F}"/>
              </a:ext>
            </a:extLst>
          </p:cNvPr>
          <p:cNvSpPr>
            <a:spLocks noGrp="1"/>
          </p:cNvSpPr>
          <p:nvPr/>
        </p:nvSpPr>
        <p:spPr>
          <a:xfrm>
            <a:off x="647700" y="1800225"/>
            <a:ext cx="10525125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Explain and forecast the combined monthly fee revenue using a long-run level relationship and a short-run year-over-year growth equation.</a:t>
            </a:r>
          </a:p>
        </p:txBody>
      </p:sp>
      <p:sp>
        <p:nvSpPr>
          <p:cNvPr id="9" name="Selected specification">
            <a:extLst>
              <a:ext uri="{FF2B5EF4-FFF2-40B4-BE49-F238E27FC236}">
                <a16:creationId xmlns:a16="http://schemas.microsoft.com/office/drawing/2014/main" id="{EC1F38BA-6D5B-40B9-89A6-37C71651139E}"/>
              </a:ext>
            </a:extLst>
          </p:cNvPr>
          <p:cNvSpPr>
            <a:spLocks noGrp="1"/>
          </p:cNvSpPr>
          <p:nvPr/>
        </p:nvSpPr>
        <p:spPr>
          <a:xfrm>
            <a:off x="647700" y="2762250"/>
            <a:ext cx="10525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950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Selected specification</a:t>
            </a:r>
          </a:p>
        </p:txBody>
      </p:sp>
      <p:sp>
        <p:nvSpPr>
          <p:cNvPr id="10" name="Long run: CPI + Small Business Optimism&#10;Short run: lagg">
            <a:extLst>
              <a:ext uri="{FF2B5EF4-FFF2-40B4-BE49-F238E27FC236}">
                <a16:creationId xmlns:a16="http://schemas.microsoft.com/office/drawing/2014/main" id="{CAB2012E-B94E-4DEB-A4BE-EAD53BA5F872}"/>
              </a:ext>
            </a:extLst>
          </p:cNvPr>
          <p:cNvSpPr>
            <a:spLocks noGrp="1"/>
          </p:cNvSpPr>
          <p:nvPr/>
        </p:nvSpPr>
        <p:spPr>
          <a:xfrm>
            <a:off x="647700" y="3162300"/>
            <a:ext cx="10525125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Long run: CPI + Small Business Optimism</a:t>
            </a:r>
          </a:p>
          <a:p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Short run: lagged EC + growth lags 1 and 6 + Corporate Profits growth lag 3</a:t>
            </a:r>
          </a:p>
        </p:txBody>
      </p:sp>
      <p:graphicFrame>
        <p:nvGraphicFramePr>
          <p:cNvPr id="22" name="表格 26"/>
          <p:cNvGraphicFramePr/>
          <p:nvPr/>
        </p:nvGraphicFramePr>
        <p:xfrm>
          <a:off x="609600" y="4295775"/>
          <a:ext cx="10972800" cy="93345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67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IS adjusted R²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Static OOT MAPE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Recursive OOT MAPE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71.3%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19.1%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25.6%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Slide title">
            <a:extLst>
              <a:ext uri="{FF2B5EF4-FFF2-40B4-BE49-F238E27FC236}">
                <a16:creationId xmlns:a16="http://schemas.microsoft.com/office/drawing/2014/main" id="{1020E64E-3CB5-43D2-BBEF-6780427C151F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110013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Executive Summary</a:t>
            </a:r>
          </a:p>
        </p:txBody>
      </p:sp>
    </p:spTree>
    <p:extLst>
      <p:ext uri="{BB962C8B-B14F-4D97-AF65-F5344CB8AC3E}">
        <p14:creationId xmlns:p14="http://schemas.microsoft.com/office/powerpoint/2010/main" val="737880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017–2019: uneven relationship">
            <a:extLst>
              <a:ext uri="{FF2B5EF4-FFF2-40B4-BE49-F238E27FC236}">
                <a16:creationId xmlns:a16="http://schemas.microsoft.com/office/drawing/2014/main" id="{65861FC9-D49E-45CD-95F7-3572AA768AC5}"/>
              </a:ext>
            </a:extLst>
          </p:cNvPr>
          <p:cNvSpPr>
            <a:spLocks noGrp="1"/>
          </p:cNvSpPr>
          <p:nvPr/>
        </p:nvSpPr>
        <p:spPr>
          <a:xfrm>
            <a:off x="609600" y="1476375"/>
            <a:ext cx="4000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1">
                <a:solidFill>
                  <a:srgbClr val="C779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77933"/>
                </a:solidFill>
                <a:latin typeface="Arial"/>
                <a:ea typeface="Arial"/>
                <a:cs typeface="Arial"/>
              </a:rPr>
              <a:t>2017–2019: uneven relationship</a:t>
            </a:r>
          </a:p>
        </p:txBody>
      </p:sp>
      <p:sp>
        <p:nvSpPr>
          <p:cNvPr id="3" name="Jan 2017 to Dec 2019:&#10;Fees +19.2%, CPI +6.2%, SBOp">
            <a:extLst>
              <a:ext uri="{FF2B5EF4-FFF2-40B4-BE49-F238E27FC236}">
                <a16:creationId xmlns:a16="http://schemas.microsoft.com/office/drawing/2014/main" id="{905BBBCC-223F-45DB-80E6-250CD1E5A1F9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3943350" cy="1666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Jan 2017 to Dec 2019:</a:t>
            </a:r>
          </a:p>
          <a:p>
            <a:pPr algn="l">
              <a:buNone/>
              <a:defRPr sz="172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Fees +19.2%, CPI +6.2%, SBOpt −3.0%.</a:t>
            </a:r>
          </a:p>
          <a:p>
            <a:pPr algn="l">
              <a:buNone/>
              <a:defRPr sz="172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The contrasting paths suggest an unstable fee / optimism relationship.</a:t>
            </a:r>
          </a:p>
        </p:txBody>
      </p:sp>
      <p:sp>
        <p:nvSpPr>
          <p:cNvPr id="4" name="2025: fee / CPI divergence">
            <a:extLst>
              <a:ext uri="{FF2B5EF4-FFF2-40B4-BE49-F238E27FC236}">
                <a16:creationId xmlns:a16="http://schemas.microsoft.com/office/drawing/2014/main" id="{78047636-AECA-44A8-9DE5-BA11DA81F31B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4000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1">
                <a:solidFill>
                  <a:srgbClr val="A5483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5483C"/>
                </a:solidFill>
                <a:latin typeface="Arial"/>
                <a:ea typeface="Arial"/>
                <a:cs typeface="Arial"/>
              </a:rPr>
              <a:t>2025: fee / CPI divergence</a:t>
            </a:r>
          </a:p>
        </p:txBody>
      </p:sp>
      <p:sp>
        <p:nvSpPr>
          <p:cNvPr id="5" name="Jan to Dec 2025:&#10;Fees −12.2% while CPI rises 2.2%.">
            <a:extLst>
              <a:ext uri="{FF2B5EF4-FFF2-40B4-BE49-F238E27FC236}">
                <a16:creationId xmlns:a16="http://schemas.microsoft.com/office/drawing/2014/main" id="{4673C4E3-1887-44CC-B070-3D360E77400B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3943350" cy="1314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Jan to Dec 2025:</a:t>
            </a:r>
          </a:p>
          <a:p>
            <a:pPr algn="l">
              <a:buNone/>
              <a:defRPr sz="172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Fees −12.2% while CPI rises 2.2%.</a:t>
            </a:r>
          </a:p>
          <a:p>
            <a:pPr algn="l">
              <a:buNone/>
              <a:defRPr sz="172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Recent negative rolling slopes reflect an earlier post-2023 shift.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="4762500" y="1571625"/>
          <a:ext cx="6819900" cy="409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Page number">
            <a:extLst>
              <a:ext uri="{FF2B5EF4-FFF2-40B4-BE49-F238E27FC236}">
                <a16:creationId xmlns:a16="http://schemas.microsoft.com/office/drawing/2014/main" id="{4272C99D-7E49-4196-89EE-59E3676E5C4B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" name="Slide title">
            <a:extLst>
              <a:ext uri="{FF2B5EF4-FFF2-40B4-BE49-F238E27FC236}">
                <a16:creationId xmlns:a16="http://schemas.microsoft.com/office/drawing/2014/main" id="{987B6BC3-47F6-4041-9752-A14D01CF4511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110013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Business Problem</a:t>
            </a:r>
          </a:p>
        </p:txBody>
      </p:sp>
    </p:spTree>
    <p:extLst>
      <p:ext uri="{BB962C8B-B14F-4D97-AF65-F5344CB8AC3E}">
        <p14:creationId xmlns:p14="http://schemas.microsoft.com/office/powerpoint/2010/main" val="248830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">
            <a:extLst>
              <a:ext uri="{FF2B5EF4-FFF2-40B4-BE49-F238E27FC236}">
                <a16:creationId xmlns:a16="http://schemas.microsoft.com/office/drawing/2014/main" id="{2CE2D929-FC26-4CFA-A6BB-A17F71A91A59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7" name="Fₜ = Commercial Cardₜ + Small Businessₜ">
            <a:extLst>
              <a:ext uri="{FF2B5EF4-FFF2-40B4-BE49-F238E27FC236}">
                <a16:creationId xmlns:a16="http://schemas.microsoft.com/office/drawing/2014/main" id="{87367FE4-A57F-48DC-B70F-F516375260C9}"/>
              </a:ext>
            </a:extLst>
          </p:cNvPr>
          <p:cNvSpPr>
            <a:spLocks noGrp="1"/>
          </p:cNvSpPr>
          <p:nvPr/>
        </p:nvSpPr>
        <p:spPr>
          <a:xfrm>
            <a:off x="619125" y="1438275"/>
            <a:ext cx="10668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47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Fₜ = Commercial Cardₜ + Small Businessₜ</a:t>
            </a:r>
          </a:p>
        </p:txBody>
      </p:sp>
      <p:sp>
        <p:nvSpPr>
          <p:cNvPr id="8" name="gₜ = 100 × (Fₜ / Fₜ₋₁₂ − 1)">
            <a:extLst>
              <a:ext uri="{FF2B5EF4-FFF2-40B4-BE49-F238E27FC236}">
                <a16:creationId xmlns:a16="http://schemas.microsoft.com/office/drawing/2014/main" id="{23477880-8249-4223-BF90-66F05C3D27A9}"/>
              </a:ext>
            </a:extLst>
          </p:cNvPr>
          <p:cNvSpPr>
            <a:spLocks noGrp="1"/>
          </p:cNvSpPr>
          <p:nvPr/>
        </p:nvSpPr>
        <p:spPr>
          <a:xfrm>
            <a:off x="619125" y="2057400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400" b="0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476B"/>
                </a:solidFill>
                <a:latin typeface="Arial"/>
                <a:ea typeface="Arial"/>
                <a:cs typeface="Arial"/>
              </a:rPr>
              <a:t>gₜ = 100 × (Fₜ / Fₜ₋₁₂ − 1)</a:t>
            </a:r>
          </a:p>
        </p:txBody>
      </p:sp>
      <p:graphicFrame>
        <p:nvGraphicFramePr>
          <p:cNvPr id="19" name="表格 23"/>
          <p:cNvGraphicFramePr/>
          <p:nvPr/>
        </p:nvGraphicFramePr>
        <p:xfrm>
          <a:off x="609600" y="2876550"/>
          <a:ext cx="10972800" cy="2324100"/>
        </p:xfrm>
        <a:graphic>
          <a:graphicData uri="http://schemas.openxmlformats.org/drawingml/2006/table">
            <a:tbl>
              <a:tblPr/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482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Period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Observations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Long-run estimation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Jan 2011 – Sep 2023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153 months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Short-run final estimation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Jul 2012 – Sep 2023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135 months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Historical OOT evaluation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Oct 2023 – Dec 2025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27 months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Complete fee history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Jan 2011 – Dec 2025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180 months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Slide title">
            <a:extLst>
              <a:ext uri="{FF2B5EF4-FFF2-40B4-BE49-F238E27FC236}">
                <a16:creationId xmlns:a16="http://schemas.microsoft.com/office/drawing/2014/main" id="{08DC91C7-814C-40F1-AAC4-8C018138E116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110013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Target Definition and Study Windows</a:t>
            </a:r>
          </a:p>
        </p:txBody>
      </p:sp>
    </p:spTree>
    <p:extLst>
      <p:ext uri="{BB962C8B-B14F-4D97-AF65-F5344CB8AC3E}">
        <p14:creationId xmlns:p14="http://schemas.microsoft.com/office/powerpoint/2010/main" val="1239750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5">
            <a:extLst>
              <a:ext uri="{FF2B5EF4-FFF2-40B4-BE49-F238E27FC236}">
                <a16:creationId xmlns:a16="http://schemas.microsoft.com/office/drawing/2014/main" id="{3E3D7F31-3CF7-41A2-BE6F-A01EAB7D4592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14" name="表格 18"/>
          <p:cNvGraphicFramePr/>
          <p:nvPr/>
        </p:nvGraphicFramePr>
        <p:xfrm>
          <a:off x="609600" y="1438275"/>
          <a:ext cx="10972800" cy="4048128"/>
        </p:xfrm>
        <a:graphic>
          <a:graphicData uri="http://schemas.openxmlformats.org/drawingml/2006/table">
            <a:tbl>
              <a:tblPr/>
              <a:tblGrid>
                <a:gridCol w="2152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979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Group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Variable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Economic measure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79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Core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Unrate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Unemployment rate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79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Core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CPI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Consumer price index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79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Core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DPI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Disposable personal income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79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Small Business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SBOpt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Small-business optimism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79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Small Business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GDP_Wholesale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Wholesale trade output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79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Commercial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IP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Industrial production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979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Commercial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CorpProfits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Corporate profits after tax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979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Commercial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DJ_TotalMkt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Dow Jones U.S. total market index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Eight macro families cover core conditions, small-busin">
            <a:extLst>
              <a:ext uri="{FF2B5EF4-FFF2-40B4-BE49-F238E27FC236}">
                <a16:creationId xmlns:a16="http://schemas.microsoft.com/office/drawing/2014/main" id="{7BA35B63-CF8D-40F9-B172-27F129443E2A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Eight macro families cover core conditions, small-business activity and commercial spending proxies.</a:t>
            </a:r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5205EAE2-F5CB-4B4F-AA57-BFDD9363986B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110013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Data Universe</a:t>
            </a:r>
          </a:p>
        </p:txBody>
      </p:sp>
    </p:spTree>
    <p:extLst>
      <p:ext uri="{BB962C8B-B14F-4D97-AF65-F5344CB8AC3E}">
        <p14:creationId xmlns:p14="http://schemas.microsoft.com/office/powerpoint/2010/main" val="1443906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6">
            <a:extLst>
              <a:ext uri="{FF2B5EF4-FFF2-40B4-BE49-F238E27FC236}">
                <a16:creationId xmlns:a16="http://schemas.microsoft.com/office/drawing/2014/main" id="{F8A26AF4-9209-48C1-A217-C41406238275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1   Long-run level relationship">
            <a:extLst>
              <a:ext uri="{FF2B5EF4-FFF2-40B4-BE49-F238E27FC236}">
                <a16:creationId xmlns:a16="http://schemas.microsoft.com/office/drawing/2014/main" id="{A3DD59D4-62B0-4540-8551-A5FB5FDC639D}"/>
              </a:ext>
            </a:extLst>
          </p:cNvPr>
          <p:cNvSpPr>
            <a:spLocks noGrp="1"/>
          </p:cNvSpPr>
          <p:nvPr/>
        </p:nvSpPr>
        <p:spPr>
          <a:xfrm>
            <a:off x="647700" y="1419225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950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Step 1   Long-run level relationship and residual test</a:t>
            </a:r>
          </a:p>
        </p:txBody>
      </p:sp>
      <p:sp>
        <p:nvSpPr>
          <p:cNvPr id="8" name="Estimate Fₜ from macro levels. Define the equilibrium g">
            <a:extLst>
              <a:ext uri="{FF2B5EF4-FFF2-40B4-BE49-F238E27FC236}">
                <a16:creationId xmlns:a16="http://schemas.microsoft.com/office/drawing/2014/main" id="{6C429247-0757-4C24-81AA-728CFB0BCB88}"/>
              </a:ext>
            </a:extLst>
          </p:cNvPr>
          <p:cNvSpPr>
            <a:spLocks noGrp="1"/>
          </p:cNvSpPr>
          <p:nvPr/>
        </p:nvSpPr>
        <p:spPr>
          <a:xfrm>
            <a:off x="647700" y="1819275"/>
            <a:ext cx="104775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Estimate Fₜ from macro levels. Test the fitted residual for cointegration and define ECₜ = actual Fₜ − fitted long-run Fₜ.</a:t>
            </a:r>
          </a:p>
        </p:txBody>
      </p:sp>
      <p:sp>
        <p:nvSpPr>
          <p:cNvPr id="9" name="2   Short-run annual growth">
            <a:extLst>
              <a:ext uri="{FF2B5EF4-FFF2-40B4-BE49-F238E27FC236}">
                <a16:creationId xmlns:a16="http://schemas.microsoft.com/office/drawing/2014/main" id="{7BF4DCAA-7A60-44A0-8D43-A157E650A08B}"/>
              </a:ext>
            </a:extLst>
          </p:cNvPr>
          <p:cNvSpPr>
            <a:spLocks noGrp="1"/>
          </p:cNvSpPr>
          <p:nvPr/>
        </p:nvSpPr>
        <p:spPr>
          <a:xfrm>
            <a:off x="647700" y="2943225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950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Step 2   Short-run annual growth</a:t>
            </a:r>
          </a:p>
        </p:txBody>
      </p:sp>
      <p:sp>
        <p:nvSpPr>
          <p:cNvPr id="10" name="Explain gₜ using ECₜ₋₁₂, lagged g, and annual macro cha">
            <a:extLst>
              <a:ext uri="{FF2B5EF4-FFF2-40B4-BE49-F238E27FC236}">
                <a16:creationId xmlns:a16="http://schemas.microsoft.com/office/drawing/2014/main" id="{9777B6D2-8D6B-4B65-BB94-E5D71155D00D}"/>
              </a:ext>
            </a:extLst>
          </p:cNvPr>
          <p:cNvSpPr>
            <a:spLocks noGrp="1"/>
          </p:cNvSpPr>
          <p:nvPr/>
        </p:nvSpPr>
        <p:spPr>
          <a:xfrm>
            <a:off x="647700" y="3343275"/>
            <a:ext cx="104775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Explain gₜ using ECₜ₋₁₂, lagged g, and annual macro changes. The EC term remains in original fee units.</a:t>
            </a:r>
          </a:p>
        </p:txBody>
      </p:sp>
      <p:sp>
        <p:nvSpPr>
          <p:cNvPr id="11" name="Forecast restoration">
            <a:extLst>
              <a:ext uri="{FF2B5EF4-FFF2-40B4-BE49-F238E27FC236}">
                <a16:creationId xmlns:a16="http://schemas.microsoft.com/office/drawing/2014/main" id="{A2CBB187-EA39-4234-A4E2-C133D4E8FF4C}"/>
              </a:ext>
            </a:extLst>
          </p:cNvPr>
          <p:cNvSpPr>
            <a:spLocks noGrp="1"/>
          </p:cNvSpPr>
          <p:nvPr/>
        </p:nvSpPr>
        <p:spPr>
          <a:xfrm>
            <a:off x="647700" y="4467225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950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Forecast restoration</a:t>
            </a:r>
          </a:p>
        </p:txBody>
      </p:sp>
      <p:sp>
        <p:nvSpPr>
          <p:cNvPr id="12" name="F̂ₜ = Fₜ₋₁₂ × (1 + ĝₜ / 100). Recursive forecasts repla">
            <a:extLst>
              <a:ext uri="{FF2B5EF4-FFF2-40B4-BE49-F238E27FC236}">
                <a16:creationId xmlns:a16="http://schemas.microsoft.com/office/drawing/2014/main" id="{34EDE2D3-FAC2-4614-8A56-B487318D8DF1}"/>
              </a:ext>
            </a:extLst>
          </p:cNvPr>
          <p:cNvSpPr>
            <a:spLocks noGrp="1"/>
          </p:cNvSpPr>
          <p:nvPr/>
        </p:nvSpPr>
        <p:spPr>
          <a:xfrm>
            <a:off x="647700" y="4867275"/>
            <a:ext cx="104775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F̂ₜ = Fₜ₋₁₂ × (1 + ĝₜ / 100). Recursive forecasts replace unavailable fee history with prior predictions.</a:t>
            </a:r>
          </a:p>
        </p:txBody>
      </p:sp>
      <p:sp>
        <p:nvSpPr>
          <p:cNvPr id="15" name="Slide title">
            <a:extLst>
              <a:ext uri="{FF2B5EF4-FFF2-40B4-BE49-F238E27FC236}">
                <a16:creationId xmlns:a16="http://schemas.microsoft.com/office/drawing/2014/main" id="{214FF613-7955-42AC-84D7-34D219924B99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110013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Engle–Granger Two-Step Framework</a:t>
            </a:r>
          </a:p>
        </p:txBody>
      </p:sp>
    </p:spTree>
    <p:extLst>
      <p:ext uri="{BB962C8B-B14F-4D97-AF65-F5344CB8AC3E}">
        <p14:creationId xmlns:p14="http://schemas.microsoft.com/office/powerpoint/2010/main" val="446966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7">
            <a:extLst>
              <a:ext uri="{FF2B5EF4-FFF2-40B4-BE49-F238E27FC236}">
                <a16:creationId xmlns:a16="http://schemas.microsoft.com/office/drawing/2014/main" id="{49FD2A59-1653-44BB-98CD-5AA95890A726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graphicFrame>
        <p:nvGraphicFramePr>
          <p:cNvPr id="15" name="表格 19"/>
          <p:cNvGraphicFramePr/>
          <p:nvPr/>
        </p:nvGraphicFramePr>
        <p:xfrm>
          <a:off x="609600" y="1533525"/>
          <a:ext cx="10972800" cy="3525520"/>
        </p:xfrm>
        <a:graphic>
          <a:graphicData uri="http://schemas.openxmlformats.org/drawingml/2006/table">
            <a:tbl>
              <a:tblPr/>
              <a:tblGrid>
                <a:gridCol w="300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43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Selection stage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Long-run model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Short-run model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Initial universe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8 macro levels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8 families × 13 lags = 104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Stationarity screen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6 level candidates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6 eligible families = 78 lags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Correlation screen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Residual ADF gate during selection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19 lags pass both-window screen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Family reduction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Forward selection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9 macro lags after family cap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Selected model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CPI + SBOpt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EC + 2 growth lags + 1 macro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Forward-selection gates: added-term p &lt; 0.05 and maximu">
            <a:extLst>
              <a:ext uri="{FF2B5EF4-FFF2-40B4-BE49-F238E27FC236}">
                <a16:creationId xmlns:a16="http://schemas.microsoft.com/office/drawing/2014/main" id="{56C5581E-DC74-4DFF-B63E-D6DD38C84E70}"/>
              </a:ext>
            </a:extLst>
          </p:cNvPr>
          <p:cNvSpPr>
            <a:spLocks noGrp="1"/>
          </p:cNvSpPr>
          <p:nvPr/>
        </p:nvSpPr>
        <p:spPr>
          <a:xfrm>
            <a:off x="619125" y="5219700"/>
            <a:ext cx="1083945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Forward-selection gates: added-term p &lt; 0.05 and maximum slope VIF &lt; 10. Rank eligible trials by adjusted R².</a:t>
            </a:r>
          </a:p>
        </p:txBody>
      </p:sp>
      <p:sp>
        <p:nvSpPr>
          <p:cNvPr id="12" name="Slide title">
            <a:extLst>
              <a:ext uri="{FF2B5EF4-FFF2-40B4-BE49-F238E27FC236}">
                <a16:creationId xmlns:a16="http://schemas.microsoft.com/office/drawing/2014/main" id="{578A4A92-46EC-47E7-81F0-EFCFE2AE8DDD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110013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Feature Reduction and Selection</a:t>
            </a:r>
          </a:p>
        </p:txBody>
      </p:sp>
    </p:spTree>
    <p:extLst>
      <p:ext uri="{BB962C8B-B14F-4D97-AF65-F5344CB8AC3E}">
        <p14:creationId xmlns:p14="http://schemas.microsoft.com/office/powerpoint/2010/main" val="1996438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8">
            <a:extLst>
              <a:ext uri="{FF2B5EF4-FFF2-40B4-BE49-F238E27FC236}">
                <a16:creationId xmlns:a16="http://schemas.microsoft.com/office/drawing/2014/main" id="{CBDAFAA8-658A-46A6-AC82-A6C99E79C06C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7" name="Level candidate rule: ADF p ≥ 0.05 and KPSS p &lt; 0.05, u">
            <a:extLst>
              <a:ext uri="{FF2B5EF4-FFF2-40B4-BE49-F238E27FC236}">
                <a16:creationId xmlns:a16="http://schemas.microsoft.com/office/drawing/2014/main" id="{536C60AF-6DD3-4DCC-AD70-60A3869752A4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06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Level candidate rule: ADF p ≥ 0.05 and KPSS p &lt; 0.05, using IS only.</a:t>
            </a:r>
          </a:p>
        </p:txBody>
      </p:sp>
      <p:graphicFrame>
        <p:nvGraphicFramePr>
          <p:cNvPr id="16" name="表格 20"/>
          <p:cNvGraphicFramePr/>
          <p:nvPr/>
        </p:nvGraphicFramePr>
        <p:xfrm>
          <a:off x="609600" y="1828800"/>
          <a:ext cx="10972800" cy="3848100"/>
        </p:xfrm>
        <a:graphic>
          <a:graphicData uri="http://schemas.openxmlformats.org/drawingml/2006/table">
            <a:tbl>
              <a:tblPr/>
              <a:tblGrid>
                <a:gridCol w="3857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4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623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Variable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ADF p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KPSS p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Level screen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2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Combined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0.932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≤0.010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Target series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2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Unrate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0.046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≤0.010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Exclude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2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CPI</a:t>
                      </a:r>
                    </a:p>
                  </a:txBody>
                  <a:tcPr marL="114300" marR="85725" marT="66675" marB="66675" anchor="ctr">
                    <a:solidFill>
                      <a:srgbClr val="DF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0.999</a:t>
                      </a:r>
                    </a:p>
                  </a:txBody>
                  <a:tcPr marL="114300" marR="85725" marT="66675" marB="66675" anchor="ctr">
                    <a:solidFill>
                      <a:srgbClr val="DF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≤0.010</a:t>
                      </a:r>
                    </a:p>
                  </a:txBody>
                  <a:tcPr marL="114300" marR="85725" marT="66675" marB="66675" anchor="ctr">
                    <a:solidFill>
                      <a:srgbClr val="DF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Candidate</a:t>
                      </a:r>
                    </a:p>
                  </a:txBody>
                  <a:tcPr marL="114300" marR="85725" marT="66675" marB="66675" anchor="ctr">
                    <a:solidFill>
                      <a:srgbClr val="DF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2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DPI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0.999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≤0.010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Candidate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2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SBOpt</a:t>
                      </a:r>
                    </a:p>
                  </a:txBody>
                  <a:tcPr marL="114300" marR="85725" marT="66675" marB="66675" anchor="ctr">
                    <a:solidFill>
                      <a:srgbClr val="DF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0.337</a:t>
                      </a:r>
                    </a:p>
                  </a:txBody>
                  <a:tcPr marL="114300" marR="85725" marT="66675" marB="66675" anchor="ctr">
                    <a:solidFill>
                      <a:srgbClr val="DF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0.043</a:t>
                      </a:r>
                    </a:p>
                  </a:txBody>
                  <a:tcPr marL="114300" marR="85725" marT="66675" marB="66675" anchor="ctr">
                    <a:solidFill>
                      <a:srgbClr val="DF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Candidate</a:t>
                      </a:r>
                    </a:p>
                  </a:txBody>
                  <a:tcPr marL="114300" marR="85725" marT="66675" marB="66675" anchor="ctr">
                    <a:solidFill>
                      <a:srgbClr val="DF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62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GDP_Wholesale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0.995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≤0.010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Candidate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62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IP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0.029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≥0.100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Exclude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62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CorpProfits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0.999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≤0.010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Candidate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62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DJ_TotalMkt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0.958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≤0.010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Candidate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2" name="Slide title">
            <a:extLst>
              <a:ext uri="{FF2B5EF4-FFF2-40B4-BE49-F238E27FC236}">
                <a16:creationId xmlns:a16="http://schemas.microsoft.com/office/drawing/2014/main" id="{13C5AE84-405A-40E2-890C-64742C296FA1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110013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Step 1: Long-Run Level Screening</a:t>
            </a:r>
          </a:p>
        </p:txBody>
      </p:sp>
    </p:spTree>
    <p:extLst>
      <p:ext uri="{BB962C8B-B14F-4D97-AF65-F5344CB8AC3E}">
        <p14:creationId xmlns:p14="http://schemas.microsoft.com/office/powerpoint/2010/main" val="1852534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11">
            <a:extLst>
              <a:ext uri="{FF2B5EF4-FFF2-40B4-BE49-F238E27FC236}">
                <a16:creationId xmlns:a16="http://schemas.microsoft.com/office/drawing/2014/main" id="{5BD6D01F-AFE8-4F33-A913-C03A3940090E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7" name="F̂ₜ = −3,766.52 + 19.4359 CPIₜ + 3.8722 SBOptₜ">
            <a:extLst>
              <a:ext uri="{FF2B5EF4-FFF2-40B4-BE49-F238E27FC236}">
                <a16:creationId xmlns:a16="http://schemas.microsoft.com/office/drawing/2014/main" id="{3BD702A4-C4DA-4D31-827A-3CDB227AC014}"/>
              </a:ext>
            </a:extLst>
          </p:cNvPr>
          <p:cNvSpPr>
            <a:spLocks noGrp="1"/>
          </p:cNvSpPr>
          <p:nvPr/>
        </p:nvSpPr>
        <p:spPr>
          <a:xfrm>
            <a:off x="619125" y="1476375"/>
            <a:ext cx="107632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F̂ₜ = −3,766.52 + 19.4359 CPIₜ + 3.8722 SBOptₜ</a:t>
            </a:r>
          </a:p>
        </p:txBody>
      </p:sp>
      <p:graphicFrame>
        <p:nvGraphicFramePr>
          <p:cNvPr id="19" name="表格 22"/>
          <p:cNvGraphicFramePr/>
          <p:nvPr/>
        </p:nvGraphicFramePr>
        <p:xfrm>
          <a:off x="609600" y="2143125"/>
          <a:ext cx="10972800" cy="1752600"/>
        </p:xfrm>
        <a:graphic>
          <a:graphicData uri="http://schemas.openxmlformats.org/drawingml/2006/table">
            <a:tbl>
              <a:tblPr/>
              <a:tblGrid>
                <a:gridCol w="371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5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Term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Estimate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t-stat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p-value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const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-3766.5151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-18.41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&lt;0.001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CPI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19.4359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44.43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&lt;0.001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SBOpt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3.8722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2.20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0.029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² 92.95%     Adjusted R² 92.85%     n = 153     Maximu">
            <a:extLst>
              <a:ext uri="{FF2B5EF4-FFF2-40B4-BE49-F238E27FC236}">
                <a16:creationId xmlns:a16="http://schemas.microsoft.com/office/drawing/2014/main" id="{38399AAB-CD07-492D-BD51-76603BDB1AC7}"/>
              </a:ext>
            </a:extLst>
          </p:cNvPr>
          <p:cNvSpPr>
            <a:spLocks noGrp="1"/>
          </p:cNvSpPr>
          <p:nvPr/>
        </p:nvSpPr>
        <p:spPr>
          <a:xfrm>
            <a:off x="619125" y="4076700"/>
            <a:ext cx="1076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R² 92.95%     Adjusted R² 92.85%     n = 153     Maximum VIF 1.0003</a:t>
            </a:r>
          </a:p>
        </p:txBody>
      </p:sp>
      <p:sp>
        <p:nvSpPr>
          <p:cNvPr id="14" name="Slide title">
            <a:extLst>
              <a:ext uri="{FF2B5EF4-FFF2-40B4-BE49-F238E27FC236}">
                <a16:creationId xmlns:a16="http://schemas.microsoft.com/office/drawing/2014/main" id="{2BFF7FA9-A337-45C3-B19E-926DF76EC396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110013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Long-Run Equilibrium Equation</a:t>
            </a:r>
          </a:p>
        </p:txBody>
      </p:sp>
      <p:graphicFrame>
        <p:nvGraphicFramePr>
          <p:cNvPr id="22" name="表格 22"/>
          <p:cNvGraphicFramePr/>
          <p:nvPr>
            <p:extLst>
              <p:ext uri="{D42A27DB-BD31-4B8C-83A1-F6EECF244321}">
                <p14:modId xmlns:p14="http://schemas.microsoft.com/office/powerpoint/2010/main" val="1552609021"/>
              </p:ext>
            </p:extLst>
          </p:nvPr>
        </p:nvGraphicFramePr>
        <p:xfrm>
          <a:off x="609600" y="4572000"/>
          <a:ext cx="10972800" cy="165735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Diagnostic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Interpretation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Ordinary long-run residual ADF p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0.008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Passes the implemented gate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endParaRPr sz="1800" b="0" dirty="0">
                        <a:solidFill>
                          <a:srgbClr val="252F38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 b="0">
                        <a:solidFill>
                          <a:srgbClr val="252F38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 b="0" dirty="0">
                        <a:solidFill>
                          <a:srgbClr val="252F38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639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17">
            <a:extLst>
              <a:ext uri="{FF2B5EF4-FFF2-40B4-BE49-F238E27FC236}">
                <a16:creationId xmlns:a16="http://schemas.microsoft.com/office/drawing/2014/main" id="{D0C6B3AC-E260-41D2-9C19-4F7FD50C638E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Frozen September 2023 long-run fit versus actual fee; O">
            <a:extLst>
              <a:ext uri="{FF2B5EF4-FFF2-40B4-BE49-F238E27FC236}">
                <a16:creationId xmlns:a16="http://schemas.microsoft.com/office/drawing/2014/main" id="{E138ADA1-8FE8-4CD1-81B4-71B0AB7122AA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06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Frozen September 2023 long-run fit versus actual fee; OOT begins October 2023.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="609600" y="1771650"/>
          <a:ext cx="10972800" cy="3781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he mean long-run gap falls from approximately zero in ">
            <a:extLst>
              <a:ext uri="{FF2B5EF4-FFF2-40B4-BE49-F238E27FC236}">
                <a16:creationId xmlns:a16="http://schemas.microsoft.com/office/drawing/2014/main" id="{4415AE64-502A-4449-AF11-84EC3CDCB825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mean long-run gap falls from approximately zero in IS to −510.05 source units in OOT.</a:t>
            </a:r>
          </a:p>
        </p:txBody>
      </p:sp>
      <p:sp>
        <p:nvSpPr>
          <p:cNvPr id="12" name="Slide title">
            <a:extLst>
              <a:ext uri="{FF2B5EF4-FFF2-40B4-BE49-F238E27FC236}">
                <a16:creationId xmlns:a16="http://schemas.microsoft.com/office/drawing/2014/main" id="{9F3D0811-BE00-4CC1-B7F8-2BD3DAE576C8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110013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Historical Relationship and OOT Drift</a:t>
            </a:r>
          </a:p>
        </p:txBody>
      </p:sp>
    </p:spTree>
    <p:extLst>
      <p:ext uri="{BB962C8B-B14F-4D97-AF65-F5344CB8AC3E}">
        <p14:creationId xmlns:p14="http://schemas.microsoft.com/office/powerpoint/2010/main" val="1951097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18">
            <a:extLst>
              <a:ext uri="{FF2B5EF4-FFF2-40B4-BE49-F238E27FC236}">
                <a16:creationId xmlns:a16="http://schemas.microsoft.com/office/drawing/2014/main" id="{D2D8FD21-C161-4F3A-ACF7-9D76FC1475AE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15" name="表格 19"/>
          <p:cNvGraphicFramePr/>
          <p:nvPr/>
        </p:nvGraphicFramePr>
        <p:xfrm>
          <a:off x="609600" y="1533525"/>
          <a:ext cx="10972800" cy="3695699"/>
        </p:xfrm>
        <a:graphic>
          <a:graphicData uri="http://schemas.openxmlformats.org/drawingml/2006/table">
            <a:tbl>
              <a:tblPr/>
              <a:tblGrid>
                <a:gridCol w="542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0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2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7957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 / period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Statistic or estimate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p-value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95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CUSUM: IS long-run residuals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0.951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0.327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95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CUSUM: full history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2.173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&lt;0.001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95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Chow break: October 2023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 = 85.391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&lt;0.001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795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Mean EC: October–December 2023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−101.88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795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Mean EC: 2024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−399.31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795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Mean EC: 2025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−722.83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CUSUM uses ddof = 3. Chow evaluates the fixed CPI + SBO">
            <a:extLst>
              <a:ext uri="{FF2B5EF4-FFF2-40B4-BE49-F238E27FC236}">
                <a16:creationId xmlns:a16="http://schemas.microsoft.com/office/drawing/2014/main" id="{546AD5F7-D706-4EFE-A596-0B5286B1B37F}"/>
              </a:ext>
            </a:extLst>
          </p:cNvPr>
          <p:cNvSpPr>
            <a:spLocks noGrp="1"/>
          </p:cNvSpPr>
          <p:nvPr/>
        </p:nvSpPr>
        <p:spPr>
          <a:xfrm>
            <a:off x="619125" y="5438775"/>
            <a:ext cx="10763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CUSUM uses ddof = 3. Chow evaluates the fixed CPI + SBOpt specification on both sides of the break.</a:t>
            </a:r>
          </a:p>
        </p:txBody>
      </p:sp>
      <p:sp>
        <p:nvSpPr>
          <p:cNvPr id="10" name="The later sample provides evidence of parameter instabi">
            <a:extLst>
              <a:ext uri="{FF2B5EF4-FFF2-40B4-BE49-F238E27FC236}">
                <a16:creationId xmlns:a16="http://schemas.microsoft.com/office/drawing/2014/main" id="{97FC4CDF-CFDA-4AE6-B025-9D5665D254BA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later sample provides evidence of parameter instability. The tests do not identify the business cause.</a:t>
            </a:r>
          </a:p>
        </p:txBody>
      </p:sp>
      <p:sp>
        <p:nvSpPr>
          <p:cNvPr id="12" name="Slide title">
            <a:extLst>
              <a:ext uri="{FF2B5EF4-FFF2-40B4-BE49-F238E27FC236}">
                <a16:creationId xmlns:a16="http://schemas.microsoft.com/office/drawing/2014/main" id="{9EF1BCCF-3C91-450A-B02E-EA83BD8A4734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110013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Structural Change Tests</a:t>
            </a:r>
          </a:p>
        </p:txBody>
      </p:sp>
    </p:spTree>
    <p:extLst>
      <p:ext uri="{BB962C8B-B14F-4D97-AF65-F5344CB8AC3E}">
        <p14:creationId xmlns:p14="http://schemas.microsoft.com/office/powerpoint/2010/main" val="2829121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19">
            <a:extLst>
              <a:ext uri="{FF2B5EF4-FFF2-40B4-BE49-F238E27FC236}">
                <a16:creationId xmlns:a16="http://schemas.microsoft.com/office/drawing/2014/main" id="{C3100EF5-2E7F-4F0B-BCB8-DBDBEFBFB659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30-month windows, June 2013 – December 2025. The predic">
            <a:extLst>
              <a:ext uri="{FF2B5EF4-FFF2-40B4-BE49-F238E27FC236}">
                <a16:creationId xmlns:a16="http://schemas.microsoft.com/office/drawing/2014/main" id="{115D133D-EE81-4BEE-A6BF-FA63F3F1C723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06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Each date ends a 30-month fit of fee level on CPI + SBOpt. Estimation dates: June 2013 to December 2025.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="533400" y="1914525"/>
          <a:ext cx="5448300" cy="3390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Chart"/>
          <p:cNvGraphicFramePr/>
          <p:nvPr/>
        </p:nvGraphicFramePr>
        <p:xfrm>
          <a:off x="6191250" y="1914525"/>
          <a:ext cx="5391150" cy="3390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Both coefficients change sign across windows. The lates">
            <a:extLst>
              <a:ext uri="{FF2B5EF4-FFF2-40B4-BE49-F238E27FC236}">
                <a16:creationId xmlns:a16="http://schemas.microsoft.com/office/drawing/2014/main" id="{B4FB4673-F9DB-4B89-B5DC-2953EC683892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Recent negative runs begin in August 2023 for SBOpt and June 2024 for CPI, continuing through December 2025.</a:t>
            </a:r>
          </a:p>
        </p:txBody>
      </p:sp>
      <p:sp>
        <p:nvSpPr>
          <p:cNvPr id="14" name="Slide title">
            <a:extLst>
              <a:ext uri="{FF2B5EF4-FFF2-40B4-BE49-F238E27FC236}">
                <a16:creationId xmlns:a16="http://schemas.microsoft.com/office/drawing/2014/main" id="{061F30F7-1B35-453B-A4FF-15B407D3931F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110013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Rolling Long-Run Coefficient Stability</a:t>
            </a:r>
          </a:p>
        </p:txBody>
      </p:sp>
    </p:spTree>
    <p:extLst>
      <p:ext uri="{BB962C8B-B14F-4D97-AF65-F5344CB8AC3E}">
        <p14:creationId xmlns:p14="http://schemas.microsoft.com/office/powerpoint/2010/main" val="924055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xed start: January 2011. Monthly endpoints: June">
            <a:extLst>
              <a:ext uri="{FF2B5EF4-FFF2-40B4-BE49-F238E27FC236}">
                <a16:creationId xmlns:a16="http://schemas.microsoft.com/office/drawing/2014/main" id="{E758DE04-43BD-4D9B-B121-9858BA8F20F1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Fixed start: January 2011. Monthly endpoints: June 2013 to December 2025. Sample size grows from 30 to 180.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="533400" y="1847850"/>
          <a:ext cx="5391150" cy="3114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="6191250" y="1847850"/>
          <a:ext cx="5391150" cy="3114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5" name="表格 11"/>
          <p:cNvGraphicFramePr/>
          <p:nvPr/>
        </p:nvGraphicFramePr>
        <p:xfrm>
          <a:off x="609600" y="5010150"/>
          <a:ext cx="10972800" cy="771525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Coefficient</a:t>
                      </a:r>
                    </a:p>
                  </a:txBody>
                  <a:tcPr marL="95250" marR="76200" marT="19050" marB="19050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Sign flips: rolling</a:t>
                      </a:r>
                    </a:p>
                  </a:txBody>
                  <a:tcPr marL="95250" marR="76200" marT="19050" marB="19050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Sign flips: expanding</a:t>
                      </a:r>
                    </a:p>
                  </a:txBody>
                  <a:tcPr marL="95250" marR="76200" marT="19050" marB="19050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 2025: rolling / expanding</a:t>
                      </a:r>
                    </a:p>
                  </a:txBody>
                  <a:tcPr marL="95250" marR="76200" marT="19050" marB="19050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CPI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−11.93 / +14.85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SBOpt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−11.35 / +0.36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Expanding stabilizes CPI. SBOpt stays negative in ">
            <a:extLst>
              <a:ext uri="{FF2B5EF4-FFF2-40B4-BE49-F238E27FC236}">
                <a16:creationId xmlns:a16="http://schemas.microsoft.com/office/drawing/2014/main" id="{2FA42A16-57E7-403F-BDC8-45C8A89DC761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Expanding stabilizes CPI. SBOpt stays negative in Feb 2017–Mar 2020 and approaches zero by Dec 2025. </a:t>
            </a:r>
          </a:p>
        </p:txBody>
      </p:sp>
      <p:sp>
        <p:nvSpPr>
          <p:cNvPr id="7" name="Slide title">
            <a:extLst>
              <a:ext uri="{FF2B5EF4-FFF2-40B4-BE49-F238E27FC236}">
                <a16:creationId xmlns:a16="http://schemas.microsoft.com/office/drawing/2014/main" id="{EC07DAE2-BE5C-4CC3-B7CF-B2A9F3998660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110013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Expanding Long-Run Coefficient Stability</a:t>
            </a:r>
          </a:p>
        </p:txBody>
      </p:sp>
      <p:sp>
        <p:nvSpPr>
          <p:cNvPr id="8" name="Page number">
            <a:extLst>
              <a:ext uri="{FF2B5EF4-FFF2-40B4-BE49-F238E27FC236}">
                <a16:creationId xmlns:a16="http://schemas.microsoft.com/office/drawing/2014/main" id="{3BFDF62F-9465-4E8D-8230-AC764E8B0595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72781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9">
            <a:extLst>
              <a:ext uri="{FF2B5EF4-FFF2-40B4-BE49-F238E27FC236}">
                <a16:creationId xmlns:a16="http://schemas.microsoft.com/office/drawing/2014/main" id="{D3720EAC-6718-4C60-82E6-2E4D09676111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7" name="Actual study rule: ADF p &lt; 0.05 OR KPSS p &gt; 0.05.">
            <a:extLst>
              <a:ext uri="{FF2B5EF4-FFF2-40B4-BE49-F238E27FC236}">
                <a16:creationId xmlns:a16="http://schemas.microsoft.com/office/drawing/2014/main" id="{D21686C2-A2A5-4575-AAB3-03200338D834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06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Actual study rule: ADF p &lt; 0.05 OR KPSS p &gt; 0.05.</a:t>
            </a:r>
          </a:p>
        </p:txBody>
      </p:sp>
      <p:graphicFrame>
        <p:nvGraphicFramePr>
          <p:cNvPr id="17" name="表格 21"/>
          <p:cNvGraphicFramePr/>
          <p:nvPr/>
        </p:nvGraphicFramePr>
        <p:xfrm>
          <a:off x="609600" y="1857375"/>
          <a:ext cx="10972800" cy="3514725"/>
        </p:xfrm>
        <a:graphic>
          <a:graphicData uri="http://schemas.openxmlformats.org/drawingml/2006/table">
            <a:tbl>
              <a:tblPr/>
              <a:tblGrid>
                <a:gridCol w="3857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4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Variable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ADF p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KPSS p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IS screen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Unrate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0.080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≥0.100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Retain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CPI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0.371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≤0.010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Exclude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DPI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0.007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0.042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Retain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SBOpt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0.281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0.042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Exclude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GDP_Wholesale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0.315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≥0.100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Retain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IP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0.038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≥0.100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Retain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CorpProfits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0.219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≥0.100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Retain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DJ_TotalMkt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0.006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≥0.100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Retain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Unrate: 12-month percentage-point difference. Other mac">
            <a:extLst>
              <a:ext uri="{FF2B5EF4-FFF2-40B4-BE49-F238E27FC236}">
                <a16:creationId xmlns:a16="http://schemas.microsoft.com/office/drawing/2014/main" id="{5C4BC61A-9457-413B-8589-0E63A8D5FEEB}"/>
              </a:ext>
            </a:extLst>
          </p:cNvPr>
          <p:cNvSpPr>
            <a:spLocks noGrp="1"/>
          </p:cNvSpPr>
          <p:nvPr/>
        </p:nvSpPr>
        <p:spPr>
          <a:xfrm>
            <a:off x="619125" y="5514975"/>
            <a:ext cx="10858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Unrate: 12-month percentage-point difference. Other macros: 100 × (level / 12-month lag − 1).</a:t>
            </a:r>
          </a:p>
        </p:txBody>
      </p:sp>
      <p:sp>
        <p:nvSpPr>
          <p:cNvPr id="11" name="Six families remain eligible. CPI and SBOpt annual chan">
            <a:extLst>
              <a:ext uri="{FF2B5EF4-FFF2-40B4-BE49-F238E27FC236}">
                <a16:creationId xmlns:a16="http://schemas.microsoft.com/office/drawing/2014/main" id="{6D1BF925-6571-4E0F-9E4D-3706C1062E17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00476B"/>
                </a:solidFill>
                <a:latin typeface="Arial"/>
                <a:ea typeface="Arial"/>
                <a:cs typeface="Arial"/>
              </a:rPr>
              <a:t>Six families remain eligible. CPI and </a:t>
            </a:r>
            <a:r>
              <a:rPr sz="1650" b="1" dirty="0" err="1">
                <a:solidFill>
                  <a:srgbClr val="00476B"/>
                </a:solidFill>
                <a:latin typeface="Arial"/>
                <a:ea typeface="Arial"/>
                <a:cs typeface="Arial"/>
              </a:rPr>
              <a:t>SBOpt</a:t>
            </a:r>
            <a:r>
              <a:rPr sz="1650" b="1" dirty="0">
                <a:solidFill>
                  <a:srgbClr val="00476B"/>
                </a:solidFill>
                <a:latin typeface="Arial"/>
                <a:ea typeface="Arial"/>
                <a:cs typeface="Arial"/>
              </a:rPr>
              <a:t> annual changes fail the IS screening rule.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073F1FA5-1002-47A9-929E-AE6958BB4855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110013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Step 2: Short-Run Feature Screening</a:t>
            </a:r>
          </a:p>
        </p:txBody>
      </p:sp>
    </p:spTree>
    <p:extLst>
      <p:ext uri="{BB962C8B-B14F-4D97-AF65-F5344CB8AC3E}">
        <p14:creationId xmlns:p14="http://schemas.microsoft.com/office/powerpoint/2010/main" val="983516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10">
            <a:extLst>
              <a:ext uri="{FF2B5EF4-FFF2-40B4-BE49-F238E27FC236}">
                <a16:creationId xmlns:a16="http://schemas.microsoft.com/office/drawing/2014/main" id="{A5B212A1-C77F-44D3-BFF6-A885385C791E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7" name="Correlations after removing ECₜ₋₁₂ from both growth and">
            <a:extLst>
              <a:ext uri="{FF2B5EF4-FFF2-40B4-BE49-F238E27FC236}">
                <a16:creationId xmlns:a16="http://schemas.microsoft.com/office/drawing/2014/main" id="{D3AD88E5-45C9-4637-B0F8-71DCEF2A19E9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06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Correlations after removing ECₜ₋₁₂ from both growth and each macro candidate.</a:t>
            </a:r>
          </a:p>
        </p:txBody>
      </p:sp>
      <p:graphicFrame>
        <p:nvGraphicFramePr>
          <p:cNvPr id="16" name="表格 20"/>
          <p:cNvGraphicFramePr/>
          <p:nvPr/>
        </p:nvGraphicFramePr>
        <p:xfrm>
          <a:off x="609600" y="1838325"/>
          <a:ext cx="10972800" cy="3733800"/>
        </p:xfrm>
        <a:graphic>
          <a:graphicData uri="http://schemas.openxmlformats.org/drawingml/2006/table">
            <a:tbl>
              <a:tblPr/>
              <a:tblGrid>
                <a:gridCol w="428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6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6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2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242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Macro candidate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IS correlation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OOT correlation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OOT p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4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Unrate_lag8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-0.323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-0.641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&lt;0.001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4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Unrate_lag10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-0.150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-0.551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0.003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4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DPI_lag10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0.123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0.439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0.022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4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GDP_Wholesale_lag11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0.124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0.437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0.023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4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CorpProfits_lag3</a:t>
                      </a:r>
                    </a:p>
                  </a:txBody>
                  <a:tcPr marL="114300" marR="85725" marT="66675" marB="66675" anchor="ctr">
                    <a:solidFill>
                      <a:srgbClr val="DF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0.473</a:t>
                      </a:r>
                    </a:p>
                  </a:txBody>
                  <a:tcPr marL="114300" marR="85725" marT="66675" marB="66675" anchor="ctr">
                    <a:solidFill>
                      <a:srgbClr val="DF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0.381</a:t>
                      </a:r>
                    </a:p>
                  </a:txBody>
                  <a:tcPr marL="114300" marR="85725" marT="66675" marB="66675" anchor="ctr">
                    <a:solidFill>
                      <a:srgbClr val="DF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0.050</a:t>
                      </a:r>
                    </a:p>
                  </a:txBody>
                  <a:tcPr marL="114300" marR="85725" marT="66675" marB="66675" anchor="ctr">
                    <a:solidFill>
                      <a:srgbClr val="DF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4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CorpProfits_lag10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0.401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0.377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0.052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24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GDP_Wholesale_lag10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0.210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0.348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0.075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24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IP_lag11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0.161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0.317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0.107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24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IP_lag3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0.412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0.263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0.184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" name="Retain same-sign candidates with p &lt; 0.20 in both windo">
            <a:extLst>
              <a:ext uri="{FF2B5EF4-FFF2-40B4-BE49-F238E27FC236}">
                <a16:creationId xmlns:a16="http://schemas.microsoft.com/office/drawing/2014/main" id="{15EAC33A-1E9B-4D19-B5D4-CF2799D7208C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1315178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Retain same-sign candidates with p &lt; 0.20 in both windows, then cap at two lags per family by |OOT correlation|.</a:t>
            </a:r>
          </a:p>
        </p:txBody>
      </p:sp>
      <p:sp>
        <p:nvSpPr>
          <p:cNvPr id="12" name="Slide title">
            <a:extLst>
              <a:ext uri="{FF2B5EF4-FFF2-40B4-BE49-F238E27FC236}">
                <a16:creationId xmlns:a16="http://schemas.microsoft.com/office/drawing/2014/main" id="{6444C223-28A1-4BE3-9FF6-1A39FE402724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110013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Partial-Correlation Screening</a:t>
            </a:r>
          </a:p>
        </p:txBody>
      </p:sp>
    </p:spTree>
    <p:extLst>
      <p:ext uri="{BB962C8B-B14F-4D97-AF65-F5344CB8AC3E}">
        <p14:creationId xmlns:p14="http://schemas.microsoft.com/office/powerpoint/2010/main" val="3789807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13">
            <a:extLst>
              <a:ext uri="{FF2B5EF4-FFF2-40B4-BE49-F238E27FC236}">
                <a16:creationId xmlns:a16="http://schemas.microsoft.com/office/drawing/2014/main" id="{C3315CA4-23AC-4745-BE84-A3F4E0F50DF0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7" name="Short-run forward selection begins with the lagged equi">
            <a:extLst>
              <a:ext uri="{FF2B5EF4-FFF2-40B4-BE49-F238E27FC236}">
                <a16:creationId xmlns:a16="http://schemas.microsoft.com/office/drawing/2014/main" id="{38C304DE-0391-4CA1-AFF9-698E49387FF2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06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Short-run forward selection begins with the lagged equilibrium gap.</a:t>
            </a:r>
          </a:p>
        </p:txBody>
      </p:sp>
      <p:graphicFrame>
        <p:nvGraphicFramePr>
          <p:cNvPr id="17" name="表格 21"/>
          <p:cNvGraphicFramePr/>
          <p:nvPr/>
        </p:nvGraphicFramePr>
        <p:xfrm>
          <a:off x="609600" y="1952625"/>
          <a:ext cx="10972800" cy="2686050"/>
        </p:xfrm>
        <a:graphic>
          <a:graphicData uri="http://schemas.openxmlformats.org/drawingml/2006/table">
            <a:tbl>
              <a:tblPr/>
              <a:tblGrid>
                <a:gridCol w="571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Specification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Adjusted R²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Added-term p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EC lag 12 only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41.65%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141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+ fee growth lag 1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66.50%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140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&lt;0.001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+ fee growth lag 6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70.38%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135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&lt;0.001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+ corporate profits growth lag 3</a:t>
                      </a:r>
                    </a:p>
                  </a:txBody>
                  <a:tcPr marL="114300" marR="85725" marT="66675" marB="66675" anchor="ctr">
                    <a:solidFill>
                      <a:srgbClr val="DF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71.31%</a:t>
                      </a:r>
                    </a:p>
                  </a:txBody>
                  <a:tcPr marL="114300" marR="85725" marT="66675" marB="66675" anchor="ctr">
                    <a:solidFill>
                      <a:srgbClr val="DF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135</a:t>
                      </a:r>
                    </a:p>
                  </a:txBody>
                  <a:tcPr marL="114300" marR="85725" marT="66675" marB="66675" anchor="ctr">
                    <a:solidFill>
                      <a:srgbClr val="DF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0.024</a:t>
                      </a:r>
                    </a:p>
                  </a:txBody>
                  <a:tcPr marL="114300" marR="85725" marT="66675" marB="66675" anchor="ctr">
                    <a:solidFill>
                      <a:srgbClr val="DF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Slide title">
            <a:extLst>
              <a:ext uri="{FF2B5EF4-FFF2-40B4-BE49-F238E27FC236}">
                <a16:creationId xmlns:a16="http://schemas.microsoft.com/office/drawing/2014/main" id="{F0742C79-3EA3-4F81-A6AB-2FEA0E47A55B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110013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Short-Run Model Development Journey</a:t>
            </a:r>
          </a:p>
        </p:txBody>
      </p:sp>
    </p:spTree>
    <p:extLst>
      <p:ext uri="{BB962C8B-B14F-4D97-AF65-F5344CB8AC3E}">
        <p14:creationId xmlns:p14="http://schemas.microsoft.com/office/powerpoint/2010/main" val="12344720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12">
            <a:extLst>
              <a:ext uri="{FF2B5EF4-FFF2-40B4-BE49-F238E27FC236}">
                <a16:creationId xmlns:a16="http://schemas.microsoft.com/office/drawing/2014/main" id="{5EFE8EE1-B894-4D20-B3F2-98D2CBE30513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7" name="ĝₜ = 2.5139 − 0.05461 ECₜ₋₁₂ + 0.36593 gₜ₋₁&#10;       + 0.">
            <a:extLst>
              <a:ext uri="{FF2B5EF4-FFF2-40B4-BE49-F238E27FC236}">
                <a16:creationId xmlns:a16="http://schemas.microsoft.com/office/drawing/2014/main" id="{CC425C28-D3B4-4B15-A2BD-2EC16CBD9124}"/>
              </a:ext>
            </a:extLst>
          </p:cNvPr>
          <p:cNvSpPr>
            <a:spLocks noGrp="1"/>
          </p:cNvSpPr>
          <p:nvPr/>
        </p:nvSpPr>
        <p:spPr>
          <a:xfrm>
            <a:off x="619125" y="1419225"/>
            <a:ext cx="1076325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32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ĝₜ = 2.5139 − 0.05461 ECₜ₋₁₂ + 0.36593 gₜ₋₁</a:t>
            </a:r>
          </a:p>
          <a:p>
            <a:pPr algn="l">
              <a:buNone/>
              <a:defRPr sz="232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       + 0.22025 gₜ₋₆ + 0.21348 CorpProfits_YoYₜ₋₃</a:t>
            </a:r>
          </a:p>
        </p:txBody>
      </p:sp>
      <p:graphicFrame>
        <p:nvGraphicFramePr>
          <p:cNvPr id="17" name="表格 21"/>
          <p:cNvGraphicFramePr/>
          <p:nvPr/>
        </p:nvGraphicFramePr>
        <p:xfrm>
          <a:off x="609600" y="2581275"/>
          <a:ext cx="10972800" cy="2600328"/>
        </p:xfrm>
        <a:graphic>
          <a:graphicData uri="http://schemas.openxmlformats.org/drawingml/2006/table">
            <a:tbl>
              <a:tblPr/>
              <a:tblGrid>
                <a:gridCol w="428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3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33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Term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Estimate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t-stat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p-value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3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Constant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2.51386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2.84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0.005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3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EC lag 12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-0.05461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-8.80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&lt;0.001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3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Fee growth lag 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0.36593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5.22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&lt;0.001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33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Fee growth lag 6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0.22025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4.27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&lt;0.001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33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Corp. profits growth lag 3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0.21348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2.29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0.024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Adjusted R² 71.31%     n = 135     Ordinary OLS coeffic">
            <a:extLst>
              <a:ext uri="{FF2B5EF4-FFF2-40B4-BE49-F238E27FC236}">
                <a16:creationId xmlns:a16="http://schemas.microsoft.com/office/drawing/2014/main" id="{F12DB2EB-B96A-48C6-AD76-B1AA129702E1}"/>
              </a:ext>
            </a:extLst>
          </p:cNvPr>
          <p:cNvSpPr>
            <a:spLocks noGrp="1"/>
          </p:cNvSpPr>
          <p:nvPr/>
        </p:nvSpPr>
        <p:spPr>
          <a:xfrm>
            <a:off x="619125" y="5410200"/>
            <a:ext cx="1076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Adjusted R² 71.31%     n = 135     Ordinary OLS coefficient inference</a:t>
            </a:r>
          </a:p>
        </p:txBody>
      </p:sp>
      <p:sp>
        <p:nvSpPr>
          <p:cNvPr id="11" name="The negative EC coefficient offsets prior deviations, c">
            <a:extLst>
              <a:ext uri="{FF2B5EF4-FFF2-40B4-BE49-F238E27FC236}">
                <a16:creationId xmlns:a16="http://schemas.microsoft.com/office/drawing/2014/main" id="{721150AE-2FCB-4CEB-A26C-E6A82B883554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negative EC coefficient offsets prior deviations, conditional on growth dynamics and corporate profits.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B887D39E-83A9-4D71-B6DE-052EAF63F999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110013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Short-Run Growth Equation</a:t>
            </a:r>
          </a:p>
        </p:txBody>
      </p:sp>
    </p:spTree>
    <p:extLst>
      <p:ext uri="{BB962C8B-B14F-4D97-AF65-F5344CB8AC3E}">
        <p14:creationId xmlns:p14="http://schemas.microsoft.com/office/powerpoint/2010/main" val="1899410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14">
            <a:extLst>
              <a:ext uri="{FF2B5EF4-FFF2-40B4-BE49-F238E27FC236}">
                <a16:creationId xmlns:a16="http://schemas.microsoft.com/office/drawing/2014/main" id="{8B86A4A4-50D0-4621-B9F9-3CF3052C8D0A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10" name="Residual diagnostics are favorable, while formal cointe">
            <a:extLst>
              <a:ext uri="{FF2B5EF4-FFF2-40B4-BE49-F238E27FC236}">
                <a16:creationId xmlns:a16="http://schemas.microsoft.com/office/drawing/2014/main" id="{8F1857F6-63BE-462B-99CA-A2F331657A32}"/>
              </a:ext>
            </a:extLst>
          </p:cNvPr>
          <p:cNvSpPr>
            <a:spLocks noGrp="1"/>
          </p:cNvSpPr>
          <p:nvPr/>
        </p:nvSpPr>
        <p:spPr>
          <a:xfrm>
            <a:off x="812800" y="5348287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00476B"/>
                </a:solidFill>
                <a:latin typeface="Arial"/>
                <a:ea typeface="Arial"/>
                <a:cs typeface="Arial"/>
              </a:rPr>
              <a:t>Short-run residual diagnostics are favorable within the selected specification.</a:t>
            </a:r>
          </a:p>
        </p:txBody>
      </p:sp>
      <p:graphicFrame>
        <p:nvGraphicFramePr>
          <p:cNvPr id="16" name="表格 22"/>
          <p:cNvGraphicFramePr/>
          <p:nvPr/>
        </p:nvGraphicFramePr>
        <p:xfrm>
          <a:off x="609600" y="1990725"/>
          <a:ext cx="10972800" cy="262890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72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Diagnostic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Interpretation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Short-run Durbin–Watson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2.075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Near 2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Short-run Jarque–Bera p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0.935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No normality rejection at 5%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Short-run maximum VIF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2.291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Below the study limit of 10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Slide title">
            <a:extLst>
              <a:ext uri="{FF2B5EF4-FFF2-40B4-BE49-F238E27FC236}">
                <a16:creationId xmlns:a16="http://schemas.microsoft.com/office/drawing/2014/main" id="{BE615CA5-36E3-4F09-B150-CA6AFFE5BC09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110013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Short-Run Diagnostics and Inference</a:t>
            </a:r>
          </a:p>
        </p:txBody>
      </p:sp>
    </p:spTree>
    <p:extLst>
      <p:ext uri="{BB962C8B-B14F-4D97-AF65-F5344CB8AC3E}">
        <p14:creationId xmlns:p14="http://schemas.microsoft.com/office/powerpoint/2010/main" val="19811700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15">
            <a:extLst>
              <a:ext uri="{FF2B5EF4-FFF2-40B4-BE49-F238E27FC236}">
                <a16:creationId xmlns:a16="http://schemas.microsoft.com/office/drawing/2014/main" id="{81A532AC-267C-43BA-806B-3824C676BAB4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7" name="Restored monthly fee levels, July 2012 – September 2023">
            <a:extLst>
              <a:ext uri="{FF2B5EF4-FFF2-40B4-BE49-F238E27FC236}">
                <a16:creationId xmlns:a16="http://schemas.microsoft.com/office/drawing/2014/main" id="{8B5AF632-68D9-4EE9-AA2A-D9E308A9D80F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06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Restored monthly fee levels, July 2012 – September 2023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="609600" y="1809750"/>
          <a:ext cx="10972800" cy="3790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IS RMSE 110.43 source units and MAPE 5.56%. Strong in-s">
            <a:extLst>
              <a:ext uri="{FF2B5EF4-FFF2-40B4-BE49-F238E27FC236}">
                <a16:creationId xmlns:a16="http://schemas.microsoft.com/office/drawing/2014/main" id="{ECAEB876-DEB9-4218-826B-380D3299A5E9}"/>
              </a:ext>
            </a:extLst>
          </p:cNvPr>
          <p:cNvSpPr>
            <a:spLocks noGrp="1"/>
          </p:cNvSpPr>
          <p:nvPr/>
        </p:nvSpPr>
        <p:spPr>
          <a:xfrm>
            <a:off x="3556000" y="5838825"/>
            <a:ext cx="80200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IS RMSE 110.43 source units and MAPE 5.56%. </a:t>
            </a:r>
          </a:p>
        </p:txBody>
      </p:sp>
      <p:sp>
        <p:nvSpPr>
          <p:cNvPr id="12" name="Slide title">
            <a:extLst>
              <a:ext uri="{FF2B5EF4-FFF2-40B4-BE49-F238E27FC236}">
                <a16:creationId xmlns:a16="http://schemas.microsoft.com/office/drawing/2014/main" id="{40A9851E-6FC4-442F-A209-7E4D7A43860F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110013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In-Sample Testing Result</a:t>
            </a:r>
          </a:p>
        </p:txBody>
      </p:sp>
    </p:spTree>
    <p:extLst>
      <p:ext uri="{BB962C8B-B14F-4D97-AF65-F5344CB8AC3E}">
        <p14:creationId xmlns:p14="http://schemas.microsoft.com/office/powerpoint/2010/main" val="15578119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16">
            <a:extLst>
              <a:ext uri="{FF2B5EF4-FFF2-40B4-BE49-F238E27FC236}">
                <a16:creationId xmlns:a16="http://schemas.microsoft.com/office/drawing/2014/main" id="{B18967CE-514E-4B63-BFA2-12BFFAA69BC4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7" name="27 months, October 2023 – December 2025. Both use froze">
            <a:extLst>
              <a:ext uri="{FF2B5EF4-FFF2-40B4-BE49-F238E27FC236}">
                <a16:creationId xmlns:a16="http://schemas.microsoft.com/office/drawing/2014/main" id="{5D519A26-3DDF-42C2-BDD4-2911214D0B7C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06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27 months, October 2023 – December 2025. Both use frozen IS coefficients.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="609600" y="1685925"/>
          <a:ext cx="10972800" cy="272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表格 23"/>
          <p:cNvGraphicFramePr/>
          <p:nvPr/>
        </p:nvGraphicFramePr>
        <p:xfrm>
          <a:off x="609600" y="4552950"/>
          <a:ext cx="10972800" cy="1143000"/>
        </p:xfrm>
        <a:graphic>
          <a:graphicData uri="http://schemas.openxmlformats.org/drawingml/2006/table">
            <a:tbl>
              <a:tblPr/>
              <a:tblGrid>
                <a:gridCol w="529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Forecast mode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RMSE (source units)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MAPE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Static, observed lag history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485.81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19.15%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Fully recursive fee / growth / EC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628.18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25.62%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Static forecasts use observed lagged fees. Recursive fo">
            <a:extLst>
              <a:ext uri="{FF2B5EF4-FFF2-40B4-BE49-F238E27FC236}">
                <a16:creationId xmlns:a16="http://schemas.microsoft.com/office/drawing/2014/main" id="{1F3E50BE-5273-4502-9962-C9084BE98510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Static forecasts use observed lagged fees. Recursive forecasts update the fee path without future actuals.</a:t>
            </a:r>
          </a:p>
        </p:txBody>
      </p:sp>
      <p:sp>
        <p:nvSpPr>
          <p:cNvPr id="14" name="Slide title">
            <a:extLst>
              <a:ext uri="{FF2B5EF4-FFF2-40B4-BE49-F238E27FC236}">
                <a16:creationId xmlns:a16="http://schemas.microsoft.com/office/drawing/2014/main" id="{6F23FE42-DB91-407B-BCD3-E62078792036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110013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OOT: Static and Recursive Forecasts</a:t>
            </a:r>
          </a:p>
        </p:txBody>
      </p:sp>
    </p:spTree>
    <p:extLst>
      <p:ext uri="{BB962C8B-B14F-4D97-AF65-F5344CB8AC3E}">
        <p14:creationId xmlns:p14="http://schemas.microsoft.com/office/powerpoint/2010/main" val="768487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C trend fitted on October 2023 to March 2025. The">
            <a:extLst>
              <a:ext uri="{FF2B5EF4-FFF2-40B4-BE49-F238E27FC236}">
                <a16:creationId xmlns:a16="http://schemas.microsoft.com/office/drawing/2014/main" id="{0B71E8B6-DEB1-46E1-A3D7-049284DF2B77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EC trend fitted on October 2023 to March 2025. The chart extends the same trend through December 2025.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="533400" y="1847850"/>
          <a:ext cx="672465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Level adjustment">
            <a:extLst>
              <a:ext uri="{FF2B5EF4-FFF2-40B4-BE49-F238E27FC236}">
                <a16:creationId xmlns:a16="http://schemas.microsoft.com/office/drawing/2014/main" id="{528B1D99-B708-45DD-92BE-09430386F12F}"/>
              </a:ext>
            </a:extLst>
          </p:cNvPr>
          <p:cNvSpPr>
            <a:spLocks noGrp="1"/>
          </p:cNvSpPr>
          <p:nvPr/>
        </p:nvSpPr>
        <p:spPr>
          <a:xfrm>
            <a:off x="7562850" y="1790700"/>
            <a:ext cx="39528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Level adjustment</a:t>
            </a:r>
          </a:p>
        </p:txBody>
      </p:sp>
      <p:sp>
        <p:nvSpPr>
          <p:cNvPr id="5" name="Lₜ = −3,766.515 + 19.435917 CPIₜ&#10;        + 3.87218">
            <a:extLst>
              <a:ext uri="{FF2B5EF4-FFF2-40B4-BE49-F238E27FC236}">
                <a16:creationId xmlns:a16="http://schemas.microsoft.com/office/drawing/2014/main" id="{E5BB98D6-1FFB-48C6-A731-AF52BB5D3838}"/>
              </a:ext>
            </a:extLst>
          </p:cNvPr>
          <p:cNvSpPr>
            <a:spLocks noGrp="1"/>
          </p:cNvSpPr>
          <p:nvPr/>
        </p:nvSpPr>
        <p:spPr>
          <a:xfrm>
            <a:off x="7562850" y="2238375"/>
            <a:ext cx="401955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Lₜ = −3,766.515 + 19.435917 CPIₜ</a:t>
            </a:r>
          </a:p>
          <a:p>
            <a:pPr algn="l">
              <a:buNone/>
              <a:defRPr sz="165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        + 3.872185 SBOptₜ</a:t>
            </a:r>
          </a:p>
        </p:txBody>
      </p:sp>
      <p:sp>
        <p:nvSpPr>
          <p:cNvPr id="6" name="EC trendₜ = −97.442 − 34.536 × t&#10;Adjusted levelₜ =">
            <a:extLst>
              <a:ext uri="{FF2B5EF4-FFF2-40B4-BE49-F238E27FC236}">
                <a16:creationId xmlns:a16="http://schemas.microsoft.com/office/drawing/2014/main" id="{9D2BC78F-741E-45C3-AB19-41FF36EC6306}"/>
              </a:ext>
            </a:extLst>
          </p:cNvPr>
          <p:cNvSpPr>
            <a:spLocks noGrp="1"/>
          </p:cNvSpPr>
          <p:nvPr/>
        </p:nvSpPr>
        <p:spPr>
          <a:xfrm>
            <a:off x="7562850" y="3057525"/>
            <a:ext cx="40195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237F8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37F83"/>
                </a:solidFill>
                <a:latin typeface="Arial"/>
                <a:ea typeface="Arial"/>
                <a:cs typeface="Arial"/>
              </a:rPr>
              <a:t>EC trendₜ = −97.442 − 34.536 × t</a:t>
            </a:r>
          </a:p>
          <a:p>
            <a:pPr algn="l">
              <a:buNone/>
              <a:defRPr sz="1650" b="1">
                <a:solidFill>
                  <a:srgbClr val="237F8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37F83"/>
                </a:solidFill>
                <a:latin typeface="Arial"/>
                <a:ea typeface="Arial"/>
                <a:cs typeface="Arial"/>
              </a:rPr>
              <a:t>Adjusted levelₜ = Lₜ + EC trendₜ</a:t>
            </a:r>
          </a:p>
        </p:txBody>
      </p:sp>
      <p:sp>
        <p:nvSpPr>
          <p:cNvPr id="7" name="t = 0 in Oct 2023, then +1 each month.&#10;The adjustm">
            <a:extLst>
              <a:ext uri="{FF2B5EF4-FFF2-40B4-BE49-F238E27FC236}">
                <a16:creationId xmlns:a16="http://schemas.microsoft.com/office/drawing/2014/main" id="{B6F1E4B4-488D-49EC-84EB-27950833D634}"/>
              </a:ext>
            </a:extLst>
          </p:cNvPr>
          <p:cNvSpPr>
            <a:spLocks noGrp="1"/>
          </p:cNvSpPr>
          <p:nvPr/>
        </p:nvSpPr>
        <p:spPr>
          <a:xfrm>
            <a:off x="7562850" y="3857625"/>
            <a:ext cx="401955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t = 0 in Oct 2023, then +1 each month.</a:t>
            </a:r>
          </a:p>
          <a:p>
            <a:pPr algn="l">
              <a:buNone/>
              <a:defRPr sz="15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The adjustment is in source fee units.</a:t>
            </a:r>
          </a:p>
        </p:txBody>
      </p:sp>
      <p:sp>
        <p:nvSpPr>
          <p:cNvPr id="8" name="Haircutₜ = 100 × (97.442 + 34.536t) / Lₜ&#10;Adjusted ">
            <a:extLst>
              <a:ext uri="{FF2B5EF4-FFF2-40B4-BE49-F238E27FC236}">
                <a16:creationId xmlns:a16="http://schemas.microsoft.com/office/drawing/2014/main" id="{C7222F01-EEAD-42F6-9B93-D82D0194EB61}"/>
              </a:ext>
            </a:extLst>
          </p:cNvPr>
          <p:cNvSpPr>
            <a:spLocks noGrp="1"/>
          </p:cNvSpPr>
          <p:nvPr/>
        </p:nvSpPr>
        <p:spPr>
          <a:xfrm>
            <a:off x="7562850" y="4619625"/>
            <a:ext cx="40195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Haircutₜ = 100 × (97.442 + 34.536t) / Lₜ</a:t>
            </a:r>
          </a:p>
          <a:p>
            <a:pPr algn="l">
              <a:buNone/>
              <a:defRPr sz="150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Adjusted levelₜ = Lₜ × (1 − Haircutₜ / 100)</a:t>
            </a:r>
          </a:p>
        </p:txBody>
      </p:sp>
      <p:graphicFrame>
        <p:nvGraphicFramePr>
          <p:cNvPr id="23" name="表格 20"/>
          <p:cNvGraphicFramePr/>
          <p:nvPr/>
        </p:nvGraphicFramePr>
        <p:xfrm>
          <a:off x="609600" y="5000625"/>
          <a:ext cx="6572250" cy="819150"/>
        </p:xfrm>
        <a:graphic>
          <a:graphicData uri="http://schemas.openxmlformats.org/drawingml/2006/table">
            <a:tbl>
              <a:tblPr/>
              <a:tblGrid>
                <a:gridCol w="3905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30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Trend estimation / evaluation</a:t>
                      </a:r>
                    </a:p>
                  </a:txBody>
                  <a:tcPr marL="95250" marR="76200" marT="19050" marB="19050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RMSE</a:t>
                      </a:r>
                    </a:p>
                  </a:txBody>
                  <a:tcPr marL="95250" marR="76200" marT="19050" marB="19050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MAPE</a:t>
                      </a:r>
                    </a:p>
                  </a:txBody>
                  <a:tcPr marL="95250" marR="76200" marT="19050" marB="19050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All 27 months: retrospective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122.49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4.60%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First 18 fit, last 9 evaluate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155.13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5.91%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Dec 2025: 2,955.4 − 995.4 = 1,960.0&#10;33.68% below t">
            <a:extLst>
              <a:ext uri="{FF2B5EF4-FFF2-40B4-BE49-F238E27FC236}">
                <a16:creationId xmlns:a16="http://schemas.microsoft.com/office/drawing/2014/main" id="{9FAB40CA-6272-4793-A662-83190522948F}"/>
              </a:ext>
            </a:extLst>
          </p:cNvPr>
          <p:cNvSpPr>
            <a:spLocks noGrp="1"/>
          </p:cNvSpPr>
          <p:nvPr/>
        </p:nvSpPr>
        <p:spPr>
          <a:xfrm>
            <a:off x="7562850" y="5343525"/>
            <a:ext cx="40195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Dec 2025: 2,955.4 − 995.4 = 1,960.0</a:t>
            </a:r>
          </a:p>
          <a:p>
            <a:pPr algn="l">
              <a:buNone/>
              <a:defRPr sz="150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33.68% below the long-run level</a:t>
            </a:r>
          </a:p>
        </p:txBody>
      </p:sp>
      <p:sp>
        <p:nvSpPr>
          <p:cNvPr id="11" name="This is a separate level overlay. The haircut vari">
            <a:extLst>
              <a:ext uri="{FF2B5EF4-FFF2-40B4-BE49-F238E27FC236}">
                <a16:creationId xmlns:a16="http://schemas.microsoft.com/office/drawing/2014/main" id="{66392B9C-BD58-4903-8288-0F756E4CC132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This is a separate level overlay. The haircut varies over time, and its evaluation remains exploratory.</a:t>
            </a:r>
          </a:p>
        </p:txBody>
      </p:sp>
      <p:sp>
        <p:nvSpPr>
          <p:cNvPr id="12" name="Page number">
            <a:extLst>
              <a:ext uri="{FF2B5EF4-FFF2-40B4-BE49-F238E27FC236}">
                <a16:creationId xmlns:a16="http://schemas.microsoft.com/office/drawing/2014/main" id="{D2839EFC-977F-4F7D-9E75-F414104F660A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32F1615-8871-44D0-BA82-77550943FFA4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110013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Exploratory Trend Overlay</a:t>
            </a:r>
          </a:p>
        </p:txBody>
      </p:sp>
    </p:spTree>
    <p:extLst>
      <p:ext uri="{BB962C8B-B14F-4D97-AF65-F5344CB8AC3E}">
        <p14:creationId xmlns:p14="http://schemas.microsoft.com/office/powerpoint/2010/main" val="2385631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1">
            <a:extLst>
              <a:ext uri="{FF2B5EF4-FFF2-40B4-BE49-F238E27FC236}">
                <a16:creationId xmlns:a16="http://schemas.microsoft.com/office/drawing/2014/main" id="{82F601E0-C27A-4DF0-A950-5CA565C9339A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7" name="Inputs required for a conditional forecast">
            <a:extLst>
              <a:ext uri="{FF2B5EF4-FFF2-40B4-BE49-F238E27FC236}">
                <a16:creationId xmlns:a16="http://schemas.microsoft.com/office/drawing/2014/main" id="{27FB8053-5F4B-4053-AD27-2F9C40580D60}"/>
              </a:ext>
            </a:extLst>
          </p:cNvPr>
          <p:cNvSpPr>
            <a:spLocks noGrp="1"/>
          </p:cNvSpPr>
          <p:nvPr/>
        </p:nvSpPr>
        <p:spPr>
          <a:xfrm>
            <a:off x="647700" y="1438275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950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Supplied macro path and forecast horizon</a:t>
            </a:r>
          </a:p>
        </p:txBody>
      </p:sp>
      <p:sp>
        <p:nvSpPr>
          <p:cNvPr id="8" name="Observed fee and growth history, CPI and SBOpt level pa">
            <a:extLst>
              <a:ext uri="{FF2B5EF4-FFF2-40B4-BE49-F238E27FC236}">
                <a16:creationId xmlns:a16="http://schemas.microsoft.com/office/drawing/2014/main" id="{4C451C36-6EC1-47D6-8A9F-6438279994D8}"/>
              </a:ext>
            </a:extLst>
          </p:cNvPr>
          <p:cNvSpPr>
            <a:spLocks noGrp="1"/>
          </p:cNvSpPr>
          <p:nvPr/>
        </p:nvSpPr>
        <p:spPr>
          <a:xfrm>
            <a:off x="647700" y="1838325"/>
            <a:ext cx="104775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CPI, Small Business Optimism and Corporate Profits cover January 2026 through March 2028, with 27 monthly forecasts.</a:t>
            </a:r>
          </a:p>
        </p:txBody>
      </p:sp>
      <p:sp>
        <p:nvSpPr>
          <p:cNvPr id="9" name="Recursive implementation">
            <a:extLst>
              <a:ext uri="{FF2B5EF4-FFF2-40B4-BE49-F238E27FC236}">
                <a16:creationId xmlns:a16="http://schemas.microsoft.com/office/drawing/2014/main" id="{E07C30E4-9CE0-4E68-92E6-9848D1F19371}"/>
              </a:ext>
            </a:extLst>
          </p:cNvPr>
          <p:cNvSpPr>
            <a:spLocks noGrp="1"/>
          </p:cNvSpPr>
          <p:nvPr/>
        </p:nvSpPr>
        <p:spPr>
          <a:xfrm>
            <a:off x="647700" y="2943225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950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Recursive implementation</a:t>
            </a:r>
          </a:p>
        </p:txBody>
      </p:sp>
      <p:sp>
        <p:nvSpPr>
          <p:cNvPr id="10" name="Freeze coefficients at the forecast origin. Update fee ">
            <a:extLst>
              <a:ext uri="{FF2B5EF4-FFF2-40B4-BE49-F238E27FC236}">
                <a16:creationId xmlns:a16="http://schemas.microsoft.com/office/drawing/2014/main" id="{41B666FB-9F0F-4171-986B-40AC6D9BF13C}"/>
              </a:ext>
            </a:extLst>
          </p:cNvPr>
          <p:cNvSpPr>
            <a:spLocks noGrp="1"/>
          </p:cNvSpPr>
          <p:nvPr/>
        </p:nvSpPr>
        <p:spPr>
          <a:xfrm>
            <a:off x="647700" y="3343275"/>
            <a:ext cx="104775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Retain the original September 2023 coefficients. Start from actual fees through December 2025, then update fee, growth and EC recursively.</a:t>
            </a:r>
          </a:p>
        </p:txBody>
      </p:sp>
      <p:sp>
        <p:nvSpPr>
          <p:cNvPr id="11" name="Decision before stress-testing use">
            <a:extLst>
              <a:ext uri="{FF2B5EF4-FFF2-40B4-BE49-F238E27FC236}">
                <a16:creationId xmlns:a16="http://schemas.microsoft.com/office/drawing/2014/main" id="{03F4A78B-870E-4EA6-87D5-4FC39EE9E3BB}"/>
              </a:ext>
            </a:extLst>
          </p:cNvPr>
          <p:cNvSpPr>
            <a:spLocks noGrp="1"/>
          </p:cNvSpPr>
          <p:nvPr/>
        </p:nvSpPr>
        <p:spPr>
          <a:xfrm>
            <a:off x="647700" y="445770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950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Relationship to the stability and overlay analyses</a:t>
            </a:r>
          </a:p>
        </p:txBody>
      </p:sp>
      <p:sp>
        <p:nvSpPr>
          <p:cNvPr id="12" name="Resolve the shifted fee baseline and specify any overla">
            <a:extLst>
              <a:ext uri="{FF2B5EF4-FFF2-40B4-BE49-F238E27FC236}">
                <a16:creationId xmlns:a16="http://schemas.microsoft.com/office/drawing/2014/main" id="{84CD8ED3-7D70-41EF-8AAD-F8C322DCC15E}"/>
              </a:ext>
            </a:extLst>
          </p:cNvPr>
          <p:cNvSpPr>
            <a:spLocks noGrp="1"/>
          </p:cNvSpPr>
          <p:nvPr/>
        </p:nvSpPr>
        <p:spPr>
          <a:xfrm>
            <a:off x="647700" y="4857750"/>
            <a:ext cx="104775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Expanding estimates are a stability diagnostic. The forecast retains the original model and applies no trend overlay or non-negative floor.</a:t>
            </a:r>
          </a:p>
        </p:txBody>
      </p:sp>
      <p:sp>
        <p:nvSpPr>
          <p:cNvPr id="14" name="Backtests use supplied macro paths with unverified rele">
            <a:extLst>
              <a:ext uri="{FF2B5EF4-FFF2-40B4-BE49-F238E27FC236}">
                <a16:creationId xmlns:a16="http://schemas.microsoft.com/office/drawing/2014/main" id="{CCFB4617-F194-4FF6-9E59-B27C9033881B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supplied macro path defines a conditional forecast. Scenario designation and release vintage remain unverified.</a:t>
            </a:r>
          </a:p>
        </p:txBody>
      </p:sp>
      <p:sp>
        <p:nvSpPr>
          <p:cNvPr id="15" name="Slide title">
            <a:extLst>
              <a:ext uri="{FF2B5EF4-FFF2-40B4-BE49-F238E27FC236}">
                <a16:creationId xmlns:a16="http://schemas.microsoft.com/office/drawing/2014/main" id="{9FC2CEF1-C192-4FF7-B6AF-2EBD22DA25E5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110013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Forecast Application and Scenario Inputs</a:t>
            </a:r>
          </a:p>
        </p:txBody>
      </p:sp>
    </p:spTree>
    <p:extLst>
      <p:ext uri="{BB962C8B-B14F-4D97-AF65-F5344CB8AC3E}">
        <p14:creationId xmlns:p14="http://schemas.microsoft.com/office/powerpoint/2010/main" val="6844836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anuary 2026 to March 2028. CPI rises 6.6%, while ">
            <a:extLst>
              <a:ext uri="{FF2B5EF4-FFF2-40B4-BE49-F238E27FC236}">
                <a16:creationId xmlns:a16="http://schemas.microsoft.com/office/drawing/2014/main" id="{1A460C77-27DD-47CD-89CB-63B00A3FF61F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January 2026 to March 2028. CPI rises 6.6%, while Small Business Optimism falls 1.3 index points.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="609600" y="1838325"/>
          <a:ext cx="6572250" cy="3476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"/>
          <p:cNvGraphicFramePr/>
          <p:nvPr/>
        </p:nvGraphicFramePr>
        <p:xfrm>
          <a:off x="7448550" y="1838325"/>
          <a:ext cx="4133850" cy="3476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CPI and profits through Dec 2026 use the earlier m">
            <a:extLst>
              <a:ext uri="{FF2B5EF4-FFF2-40B4-BE49-F238E27FC236}">
                <a16:creationId xmlns:a16="http://schemas.microsoft.com/office/drawing/2014/main" id="{EA716FD7-31E2-44AC-AAC1-67C20BE57596}"/>
              </a:ext>
            </a:extLst>
          </p:cNvPr>
          <p:cNvSpPr>
            <a:spLocks noGrp="1"/>
          </p:cNvSpPr>
          <p:nvPr/>
        </p:nvSpPr>
        <p:spPr>
          <a:xfrm>
            <a:off x="609600" y="542925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3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CPI and profits through Dec 2026 use the earlier macro workbook. Jan 2027–Mar 2028 use the supplied photo. SBOpt uses the updated macro workbook.</a:t>
            </a:r>
          </a:p>
        </p:txBody>
      </p:sp>
      <p:sp>
        <p:nvSpPr>
          <p:cNvPr id="6" name="Corporate Profits YoY enters the short-run equatio">
            <a:extLst>
              <a:ext uri="{FF2B5EF4-FFF2-40B4-BE49-F238E27FC236}">
                <a16:creationId xmlns:a16="http://schemas.microsoft.com/office/drawing/2014/main" id="{58D6E2BB-5083-4738-B5F4-C6C806DDD0F0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Corporate Profits YoY enters the short-run equation with a three-month lag. All 27 required monthly input rows are present.</a:t>
            </a:r>
          </a:p>
        </p:txBody>
      </p:sp>
      <p:sp>
        <p:nvSpPr>
          <p:cNvPr id="7" name="Slide title">
            <a:extLst>
              <a:ext uri="{FF2B5EF4-FFF2-40B4-BE49-F238E27FC236}">
                <a16:creationId xmlns:a16="http://schemas.microsoft.com/office/drawing/2014/main" id="{1118D631-1EBB-4898-851F-A771EFAAEF7F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110013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Macro Path for the 27-Month Forecast</a:t>
            </a:r>
          </a:p>
        </p:txBody>
      </p:sp>
      <p:sp>
        <p:nvSpPr>
          <p:cNvPr id="8" name="Page number">
            <a:extLst>
              <a:ext uri="{FF2B5EF4-FFF2-40B4-BE49-F238E27FC236}">
                <a16:creationId xmlns:a16="http://schemas.microsoft.com/office/drawing/2014/main" id="{33762007-271F-47BA-AE8F-3A75B574C555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548632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anuary 2026 to March 2028. Original coefficients,">
            <a:extLst>
              <a:ext uri="{FF2B5EF4-FFF2-40B4-BE49-F238E27FC236}">
                <a16:creationId xmlns:a16="http://schemas.microsoft.com/office/drawing/2014/main" id="{69851B8F-6F71-4FC0-B096-D6DDCDDA3CBB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January 2026 to March 2028. Original coefficients, actual history through December 2025 and full recursion.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="609600" y="1924050"/>
          <a:ext cx="7000875" cy="3543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表格 10"/>
          <p:cNvGraphicFramePr/>
          <p:nvPr/>
        </p:nvGraphicFramePr>
        <p:xfrm>
          <a:off x="7858125" y="1981200"/>
          <a:ext cx="3724275" cy="2667000"/>
        </p:xfrm>
        <a:graphic>
          <a:graphicData uri="http://schemas.openxmlformats.org/drawingml/2006/table">
            <a:tbl>
              <a:tblPr/>
              <a:tblGrid>
                <a:gridCol w="1352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Period</a:t>
                      </a:r>
                    </a:p>
                  </a:txBody>
                  <a:tcPr marL="95250" marR="76200" marT="19050" marB="19050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Mo.</a:t>
                      </a:r>
                    </a:p>
                  </a:txBody>
                  <a:tcPr marL="95250" marR="76200" marT="19050" marB="19050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Fee total</a:t>
                      </a:r>
                    </a:p>
                  </a:txBody>
                  <a:tcPr marL="95250" marR="76200" marT="19050" marB="19050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Change</a:t>
                      </a:r>
                    </a:p>
                  </a:txBody>
                  <a:tcPr marL="95250" marR="76200" marT="19050" marB="19050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2025 actual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25,882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2026 forecast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44,689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72.7%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2027 forecast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34,018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-23.9%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Q1 2028 forecast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A5483C"/>
                          </a:solidFill>
                          <a:latin typeface="Arial"/>
                          <a:ea typeface="Arial"/>
                          <a:cs typeface="Arial"/>
                        </a:rPr>
                        <a:t>(386)</a:t>
                      </a:r>
                    </a:p>
                  </a:txBody>
                  <a:tcPr marL="95250" marR="76200" marT="19050" marB="19050"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A5483C"/>
                          </a:solidFill>
                          <a:latin typeface="Arial"/>
                          <a:ea typeface="Arial"/>
                          <a:cs typeface="Arial"/>
                        </a:rPr>
                        <a:t>-103.0%</a:t>
                      </a:r>
                    </a:p>
                  </a:txBody>
                  <a:tcPr marL="95250" marR="76200" marT="19050" marB="19050" anchor="ctr">
                    <a:solidFill>
                      <a:srgbClr val="FCE8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Full-year changes use the prior year.&#10;Q1 2028 comp">
            <a:extLst>
              <a:ext uri="{FF2B5EF4-FFF2-40B4-BE49-F238E27FC236}">
                <a16:creationId xmlns:a16="http://schemas.microsoft.com/office/drawing/2014/main" id="{14529DC9-E41A-4C26-AD1C-164D0FA329C9}"/>
              </a:ext>
            </a:extLst>
          </p:cNvPr>
          <p:cNvSpPr>
            <a:spLocks noGrp="1"/>
          </p:cNvSpPr>
          <p:nvPr/>
        </p:nvSpPr>
        <p:spPr>
          <a:xfrm>
            <a:off x="7858125" y="4857750"/>
            <a:ext cx="3724275" cy="828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3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Full-year changes use the prior year.</a:t>
            </a:r>
          </a:p>
          <a:p>
            <a:pPr algn="l">
              <a:buNone/>
              <a:defRPr sz="13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Q1 2028 compares with Q1 2027.</a:t>
            </a:r>
          </a:p>
          <a:p>
            <a:pPr algn="l">
              <a:buNone/>
              <a:defRPr sz="13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No floor or overlay.</a:t>
            </a:r>
          </a:p>
        </p:txBody>
      </p:sp>
      <p:sp>
        <p:nvSpPr>
          <p:cNvPr id="6" name="The path falls sharply after mid-2027 and turns ne">
            <a:extLst>
              <a:ext uri="{FF2B5EF4-FFF2-40B4-BE49-F238E27FC236}">
                <a16:creationId xmlns:a16="http://schemas.microsoft.com/office/drawing/2014/main" id="{AB170CA8-F2DE-4034-AAD9-D673A4C8002E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A548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5483C"/>
                </a:solidFill>
                <a:latin typeface="Arial"/>
                <a:ea typeface="Arial"/>
                <a:cs typeface="Arial"/>
              </a:rPr>
              <a:t>The path falls sharply after mid-2027 and turns negative in Jan–Feb 2028. This raw model path is economically implausible.</a:t>
            </a:r>
          </a:p>
        </p:txBody>
      </p:sp>
      <p:sp>
        <p:nvSpPr>
          <p:cNvPr id="7" name="Slide title">
            <a:extLst>
              <a:ext uri="{FF2B5EF4-FFF2-40B4-BE49-F238E27FC236}">
                <a16:creationId xmlns:a16="http://schemas.microsoft.com/office/drawing/2014/main" id="{E7CF7143-29D5-40A1-9E8D-1A68E4FF5C82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110013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27-Month Conditional Forecast</a:t>
            </a:r>
          </a:p>
        </p:txBody>
      </p:sp>
      <p:sp>
        <p:nvSpPr>
          <p:cNvPr id="8" name="Page number">
            <a:extLst>
              <a:ext uri="{FF2B5EF4-FFF2-40B4-BE49-F238E27FC236}">
                <a16:creationId xmlns:a16="http://schemas.microsoft.com/office/drawing/2014/main" id="{0B071475-3B8F-46D9-BAC9-89372D8C09B6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628227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5"/>
          <p:cNvGraphicFramePr/>
          <p:nvPr/>
        </p:nvGraphicFramePr>
        <p:xfrm>
          <a:off x="609600" y="1295400"/>
          <a:ext cx="10972800" cy="4533900"/>
        </p:xfrm>
        <a:graphic>
          <a:graphicData uri="http://schemas.openxmlformats.org/drawingml/2006/table">
            <a:tbl>
              <a:tblPr/>
              <a:tblGrid>
                <a:gridCol w="71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23850">
                <a:tc grid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2026</a:t>
                      </a:r>
                    </a:p>
                  </a:txBody>
                  <a:tcPr marL="95250" marR="76200" marT="19050" marB="19050" anchor="ctr">
                    <a:solidFill>
                      <a:srgbClr val="006C9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5250" marR="76200" marT="19050" marB="19050" anchor="ctr">
                    <a:solidFill>
                      <a:srgbClr val="006C9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5250" marR="76200" marT="19050" marB="19050" anchor="ctr">
                    <a:solidFill>
                      <a:srgbClr val="006C98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2027</a:t>
                      </a:r>
                    </a:p>
                  </a:txBody>
                  <a:tcPr marL="95250" marR="76200" marT="19050" marB="19050" anchor="ctr">
                    <a:solidFill>
                      <a:srgbClr val="006C9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5250" marR="76200" marT="19050" marB="19050" anchor="ctr">
                    <a:solidFill>
                      <a:srgbClr val="006C9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5250" marR="76200" marT="19050" marB="19050" anchor="ctr">
                    <a:solidFill>
                      <a:srgbClr val="006C98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2028</a:t>
                      </a:r>
                    </a:p>
                  </a:txBody>
                  <a:tcPr marL="95250" marR="76200" marT="19050" marB="19050" anchor="ctr">
                    <a:solidFill>
                      <a:srgbClr val="006C9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5250" marR="76200" marT="19050" marB="19050" anchor="ctr">
                    <a:solidFill>
                      <a:srgbClr val="006C9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5250" marR="76200" marT="19050" marB="19050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Month</a:t>
                      </a:r>
                    </a:p>
                  </a:txBody>
                  <a:tcPr marL="95250" marR="76200" marT="19050" marB="19050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Fee</a:t>
                      </a:r>
                    </a:p>
                  </a:txBody>
                  <a:tcPr marL="95250" marR="76200" marT="19050" marB="19050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YoY</a:t>
                      </a:r>
                    </a:p>
                  </a:txBody>
                  <a:tcPr marL="95250" marR="76200" marT="19050" marB="19050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Month</a:t>
                      </a:r>
                    </a:p>
                  </a:txBody>
                  <a:tcPr marL="95250" marR="76200" marT="19050" marB="19050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Fee</a:t>
                      </a:r>
                    </a:p>
                  </a:txBody>
                  <a:tcPr marL="95250" marR="76200" marT="19050" marB="19050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YoY</a:t>
                      </a:r>
                    </a:p>
                  </a:txBody>
                  <a:tcPr marL="95250" marR="76200" marT="19050" marB="19050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Month</a:t>
                      </a:r>
                    </a:p>
                  </a:txBody>
                  <a:tcPr marL="95250" marR="76200" marT="19050" marB="19050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Fee</a:t>
                      </a:r>
                    </a:p>
                  </a:txBody>
                  <a:tcPr marL="95250" marR="76200" marT="19050" marB="19050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YoY</a:t>
                      </a:r>
                    </a:p>
                  </a:txBody>
                  <a:tcPr marL="95250" marR="76200" marT="19050" marB="19050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Jan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2,974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38.3%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Jan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4,850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63.1%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Jan</a:t>
                      </a:r>
                    </a:p>
                  </a:txBody>
                  <a:tcPr marL="95250" marR="76200" marT="19050" marB="19050"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A5483C"/>
                          </a:solidFill>
                          <a:latin typeface="Arial"/>
                          <a:ea typeface="Arial"/>
                          <a:cs typeface="Arial"/>
                        </a:rPr>
                        <a:t>(716)</a:t>
                      </a:r>
                    </a:p>
                  </a:txBody>
                  <a:tcPr marL="95250" marR="76200" marT="19050" marB="19050"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-114.8%</a:t>
                      </a:r>
                    </a:p>
                  </a:txBody>
                  <a:tcPr marL="95250" marR="76200" marT="19050" marB="19050" anchor="ctr">
                    <a:solidFill>
                      <a:srgbClr val="FCE8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Feb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3,318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59.0%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Feb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4,248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28.0%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Feb</a:t>
                      </a:r>
                    </a:p>
                  </a:txBody>
                  <a:tcPr marL="95250" marR="76200" marT="19050" marB="19050"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A5483C"/>
                          </a:solidFill>
                          <a:latin typeface="Arial"/>
                          <a:ea typeface="Arial"/>
                          <a:cs typeface="Arial"/>
                        </a:rPr>
                        <a:t>(283)</a:t>
                      </a:r>
                    </a:p>
                  </a:txBody>
                  <a:tcPr marL="95250" marR="76200" marT="19050" marB="19050"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-106.7%</a:t>
                      </a:r>
                    </a:p>
                  </a:txBody>
                  <a:tcPr marL="95250" marR="76200" marT="19050" marB="19050" anchor="ctr">
                    <a:solidFill>
                      <a:srgbClr val="FCE8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Mar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3,513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51.7%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Mar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3,875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10.3%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Mar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614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-84.2%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Apr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3,475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57.3%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Apr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3,697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6.4%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May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3,528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55.4%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May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3,705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5.0%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Jun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3,541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60.9%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Jun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3,758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6.1%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Jul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3,757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80.1%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Jul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3,203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-14.7%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Aug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4,154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83.8%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Aug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2,003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-51.8%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Sep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3,971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98.2%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Sep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1,638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-58.8%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Oct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4,335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88.8%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Oct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817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-81.2%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Nov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4,127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95.0%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Nov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935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-77.3%</a:t>
                      </a: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Dec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3,996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111.8%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Dec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1,288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-67.8%</a:t>
                      </a:r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76200" marT="19050" marB="19050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3" name="Fee values retain the original source units. Paren">
            <a:extLst>
              <a:ext uri="{FF2B5EF4-FFF2-40B4-BE49-F238E27FC236}">
                <a16:creationId xmlns:a16="http://schemas.microsoft.com/office/drawing/2014/main" id="{849DE369-C6E7-45EA-B72C-F5F4E5ECCA56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Fee values retain the original source units. Parentheses denote negative forecasts. YoY is annual percentage growth.</a:t>
            </a:r>
          </a:p>
        </p:txBody>
      </p:sp>
      <p:sp>
        <p:nvSpPr>
          <p:cNvPr id="4" name="Slide title">
            <a:extLst>
              <a:ext uri="{FF2B5EF4-FFF2-40B4-BE49-F238E27FC236}">
                <a16:creationId xmlns:a16="http://schemas.microsoft.com/office/drawing/2014/main" id="{ECF0F752-ECDB-4EF6-927D-3BF97CB0C8CA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110013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Monthly Conditional Forecast Detail</a:t>
            </a:r>
          </a:p>
        </p:txBody>
      </p:sp>
      <p:sp>
        <p:nvSpPr>
          <p:cNvPr id="5" name="Page number">
            <a:extLst>
              <a:ext uri="{FF2B5EF4-FFF2-40B4-BE49-F238E27FC236}">
                <a16:creationId xmlns:a16="http://schemas.microsoft.com/office/drawing/2014/main" id="{4CB253AB-A1E1-46EA-8ED5-1953311DEEE1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1462841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ort-run growth equation">
            <a:extLst>
              <a:ext uri="{FF2B5EF4-FFF2-40B4-BE49-F238E27FC236}">
                <a16:creationId xmlns:a16="http://schemas.microsoft.com/office/drawing/2014/main" id="{61AFCB2C-EEA4-42BA-8B75-FF62541B0CD6}"/>
              </a:ext>
            </a:extLst>
          </p:cNvPr>
          <p:cNvSpPr>
            <a:spLocks noGrp="1"/>
          </p:cNvSpPr>
          <p:nvPr/>
        </p:nvSpPr>
        <p:spPr>
          <a:xfrm>
            <a:off x="609600" y="1866900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Short-run growth equation</a:t>
            </a:r>
          </a:p>
        </p:txBody>
      </p:sp>
      <p:sp>
        <p:nvSpPr>
          <p:cNvPr id="4" name="gₜ = 2.514 − 0.054608 ECₜ₋₁₂ + 0.365935 gₜ₋₁ + 0.220251 gₜ₋₆">
            <a:extLst>
              <a:ext uri="{FF2B5EF4-FFF2-40B4-BE49-F238E27FC236}">
                <a16:creationId xmlns:a16="http://schemas.microsoft.com/office/drawing/2014/main" id="{DEC88328-D992-4E10-B803-9829DC9EA596}"/>
              </a:ext>
            </a:extLst>
          </p:cNvPr>
          <p:cNvSpPr>
            <a:spLocks noGrp="1"/>
          </p:cNvSpPr>
          <p:nvPr/>
        </p:nvSpPr>
        <p:spPr>
          <a:xfrm>
            <a:off x="609600" y="2286000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476B"/>
                </a:solidFill>
                <a:latin typeface="Arial"/>
                <a:ea typeface="Arial"/>
                <a:cs typeface="Arial"/>
              </a:rPr>
              <a:t>gₜ = 2.514 − 0.054608 ECₜ₋₁₂ + 0.365935 gₜ₋₁ + 0.220251 gₜ₋₆ + 0.213477 ProfitYoYₜ₋₃</a:t>
            </a:r>
          </a:p>
        </p:txBody>
      </p:sp>
      <p:sp>
        <p:nvSpPr>
          <p:cNvPr id="5" name="ECₜ = Feeₜ − Lₜ                 Feeₜ = Feeₜ₋₁₂ × (1 + gₜ / 1">
            <a:extLst>
              <a:ext uri="{FF2B5EF4-FFF2-40B4-BE49-F238E27FC236}">
                <a16:creationId xmlns:a16="http://schemas.microsoft.com/office/drawing/2014/main" id="{5D2418A3-8FFE-4C38-8332-0987C2C19755}"/>
              </a:ext>
            </a:extLst>
          </p:cNvPr>
          <p:cNvSpPr>
            <a:spLocks noGrp="1"/>
          </p:cNvSpPr>
          <p:nvPr/>
        </p:nvSpPr>
        <p:spPr>
          <a:xfrm>
            <a:off x="609600" y="280035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ECₜ = Feeₜ − Lₜ                 Feeₜ = Feeₜ₋₁₂ × (1 + gₜ / 100)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609600" y="3343275"/>
          <a:ext cx="10972800" cy="2390776"/>
        </p:xfrm>
        <a:graphic>
          <a:graphicData uri="http://schemas.openxmlformats.org/drawingml/2006/table">
            <a:tbl>
              <a:tblPr/>
              <a:tblGrid>
                <a:gridCol w="1857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7694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95250" marR="76200" marT="28575" marB="285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95250" marR="76200" marT="28575" marB="285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Effect on the next forecasts</a:t>
                      </a:r>
                    </a:p>
                  </a:txBody>
                  <a:tcPr marL="95250" marR="76200" marT="28575" marB="285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7694"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2026 rebound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Dec 2025 EC = 1,887 − 2,955.4 = −1,068.4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Adds 58.34 pp to Dec 2026 growth. Positive growth lags reinforce the rebound.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7694"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Mid-2027 reversal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Aug 2026 EC = 4,154.4 − 3,114.0 = +1,040.4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Subtracts 56.82 pp from Aug 2027 growth. Earlier growth support also fades.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7694"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Early-2028 overshoot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Jan 2027 EC = 4,849.5 − 3,189.2 = +1,660.3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Subtracts 90.67 pp from Jan 2028 growth. Negative growth lags deepen the fall.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2025 EC values are roughly −510 to −1,068, beyond the traini">
            <a:extLst>
              <a:ext uri="{FF2B5EF4-FFF2-40B4-BE49-F238E27FC236}">
                <a16:creationId xmlns:a16="http://schemas.microsoft.com/office/drawing/2014/main" id="{41AFAF80-CDE4-4351-BDAB-3B9AB3857164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2025 EC values are roughly −510 to −1,068, beyond the training range of −395 to +320. The forecast extrapolates this correction mechanism.</a:t>
            </a:r>
          </a:p>
        </p:txBody>
      </p:sp>
      <p:sp>
        <p:nvSpPr>
          <p:cNvPr id="8" name="Slide title">
            <a:extLst>
              <a:ext uri="{FF2B5EF4-FFF2-40B4-BE49-F238E27FC236}">
                <a16:creationId xmlns:a16="http://schemas.microsoft.com/office/drawing/2014/main" id="{F019CF9A-FDF0-43AA-B7EA-AAA153B421DB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110013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Why the Recursive Forecast Reverses</a:t>
            </a:r>
          </a:p>
        </p:txBody>
      </p:sp>
      <p:sp>
        <p:nvSpPr>
          <p:cNvPr id="9" name="Slide subtitle">
            <a:extLst>
              <a:ext uri="{FF2B5EF4-FFF2-40B4-BE49-F238E27FC236}">
                <a16:creationId xmlns:a16="http://schemas.microsoft.com/office/drawing/2014/main" id="{E328A7B2-C409-44BB-8F20-4AD975C0EF90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The 12-month EC lag transmits the initial rebound into a later downward correction.</a:t>
            </a:r>
          </a:p>
        </p:txBody>
      </p:sp>
      <p:sp>
        <p:nvSpPr>
          <p:cNvPr id="10" name="Page number">
            <a:extLst>
              <a:ext uri="{FF2B5EF4-FFF2-40B4-BE49-F238E27FC236}">
                <a16:creationId xmlns:a16="http://schemas.microsoft.com/office/drawing/2014/main" id="{1ECC3241-E33B-45E5-87F3-15AC19471EC4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1522180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表格 9"/>
          <p:cNvGraphicFramePr/>
          <p:nvPr/>
        </p:nvGraphicFramePr>
        <p:xfrm>
          <a:off x="609600" y="1905000"/>
          <a:ext cx="10972800" cy="2800350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Growth contribution</a:t>
                      </a:r>
                    </a:p>
                  </a:txBody>
                  <a:tcPr marL="95250" marR="76200" marT="28575" marB="285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Jun 2027</a:t>
                      </a:r>
                    </a:p>
                  </a:txBody>
                  <a:tcPr marL="95250" marR="76200" marT="28575" marB="285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Aug 2027</a:t>
                      </a:r>
                    </a:p>
                  </a:txBody>
                  <a:tcPr marL="95250" marR="76200" marT="28575" marB="285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Jan 2028</a:t>
                      </a:r>
                    </a:p>
                  </a:txBody>
                  <a:tcPr marL="95250" marR="76200" marT="28575" marB="285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Feb 2028</a:t>
                      </a:r>
                    </a:p>
                  </a:txBody>
                  <a:tcPr marL="95250" marR="76200" marT="28575" marB="285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EC, lag 12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−25.49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−56.82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−90.67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−57.05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Growth, lag 1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+1.84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−5.39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−24.80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−42.00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Growth, lag 6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+24.62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+6.17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−3.25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−11.41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Constant + profits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+5.16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+4.25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+3.94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+3.79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Predicted YoY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+6.13%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−51.78%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A5483C"/>
                          </a:solidFill>
                          <a:latin typeface="Arial"/>
                          <a:ea typeface="Arial"/>
                          <a:cs typeface="Arial"/>
                        </a:rPr>
                        <a:t>−114.77%</a:t>
                      </a:r>
                    </a:p>
                  </a:txBody>
                  <a:tcPr marL="95250" marR="76200" marT="28575" marB="28575"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A5483C"/>
                          </a:solidFill>
                          <a:latin typeface="Arial"/>
                          <a:ea typeface="Arial"/>
                          <a:cs typeface="Arial"/>
                        </a:rPr>
                        <a:t>−106.67%</a:t>
                      </a:r>
                    </a:p>
                  </a:txBody>
                  <a:tcPr marL="95250" marR="76200" marT="28575" marB="28575" anchor="ctr">
                    <a:solidFill>
                      <a:srgbClr val="FCE8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Predicted fee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3,758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2,003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A5483C"/>
                          </a:solidFill>
                          <a:latin typeface="Arial"/>
                          <a:ea typeface="Arial"/>
                          <a:cs typeface="Arial"/>
                        </a:rPr>
                        <a:t>(716)</a:t>
                      </a:r>
                    </a:p>
                  </a:txBody>
                  <a:tcPr marL="95250" marR="76200" marT="28575" marB="28575" anchor="ctr"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A5483C"/>
                          </a:solidFill>
                          <a:latin typeface="Arial"/>
                          <a:ea typeface="Arial"/>
                          <a:cs typeface="Arial"/>
                        </a:rPr>
                        <a:t>(283)</a:t>
                      </a:r>
                    </a:p>
                  </a:txBody>
                  <a:tcPr marL="95250" marR="76200" marT="28575" marB="28575" anchor="ctr">
                    <a:solidFill>
                      <a:srgbClr val="FCE8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Jan 2028: 4,849.5 × (1 − 114.772 / 100) ≈ −716.4">
            <a:extLst>
              <a:ext uri="{FF2B5EF4-FFF2-40B4-BE49-F238E27FC236}">
                <a16:creationId xmlns:a16="http://schemas.microsoft.com/office/drawing/2014/main" id="{A0B460B1-8635-4633-934C-DAF4C0867719}"/>
              </a:ext>
            </a:extLst>
          </p:cNvPr>
          <p:cNvSpPr>
            <a:spLocks noGrp="1"/>
          </p:cNvSpPr>
          <p:nvPr/>
        </p:nvSpPr>
        <p:spPr>
          <a:xfrm>
            <a:off x="609600" y="493395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A5483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5483C"/>
                </a:solidFill>
                <a:latin typeface="Arial"/>
                <a:ea typeface="Arial"/>
                <a:cs typeface="Arial"/>
              </a:rPr>
              <a:t>Jan 2028: 4,849.5 × (1 − 114.772 / 100) ≈ −716.4</a:t>
            </a:r>
          </a:p>
        </p:txBody>
      </p:sp>
      <p:sp>
        <p:nvSpPr>
          <p:cNvPr id="5" name="The linear growth equation allows gₜ below −100%. Long-run l">
            <a:extLst>
              <a:ext uri="{FF2B5EF4-FFF2-40B4-BE49-F238E27FC236}">
                <a16:creationId xmlns:a16="http://schemas.microsoft.com/office/drawing/2014/main" id="{CBDF2AAA-C3A6-4BDE-B158-A718E2F20B4D}"/>
              </a:ext>
            </a:extLst>
          </p:cNvPr>
          <p:cNvSpPr>
            <a:spLocks noGrp="1"/>
          </p:cNvSpPr>
          <p:nvPr/>
        </p:nvSpPr>
        <p:spPr>
          <a:xfrm>
            <a:off x="609600" y="539115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The linear growth equation allows gₜ below −100%. Long-run levels keep rising, and the profits contribution stays positive in the four months shown.</a:t>
            </a:r>
          </a:p>
        </p:txBody>
      </p:sp>
      <p:sp>
        <p:nvSpPr>
          <p:cNvPr id="6" name="The negative result reflects delayed feedback and unconstrai">
            <a:extLst>
              <a:ext uri="{FF2B5EF4-FFF2-40B4-BE49-F238E27FC236}">
                <a16:creationId xmlns:a16="http://schemas.microsoft.com/office/drawing/2014/main" id="{7AB4233A-D618-4EBC-AD0A-AD47A9E8B7EB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A5483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5483C"/>
                </a:solidFill>
                <a:latin typeface="Arial"/>
                <a:ea typeface="Arial"/>
                <a:cs typeface="Arial"/>
              </a:rPr>
              <a:t>The negative result reflects delayed feedback and unconstrained growth. A zero floor alone would leave the earlier overprediction unresolved.</a:t>
            </a:r>
          </a:p>
        </p:txBody>
      </p:sp>
      <p:sp>
        <p:nvSpPr>
          <p:cNvPr id="7" name="Slide title">
            <a:extLst>
              <a:ext uri="{FF2B5EF4-FFF2-40B4-BE49-F238E27FC236}">
                <a16:creationId xmlns:a16="http://schemas.microsoft.com/office/drawing/2014/main" id="{19A693F6-435A-4F88-8F23-49867042403B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110013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Growth Contributions and Negative Fee Values</a:t>
            </a:r>
          </a:p>
        </p:txBody>
      </p:sp>
      <p:sp>
        <p:nvSpPr>
          <p:cNvPr id="8" name="Slide subtitle">
            <a:extLst>
              <a:ext uri="{FF2B5EF4-FFF2-40B4-BE49-F238E27FC236}">
                <a16:creationId xmlns:a16="http://schemas.microsoft.com/office/drawing/2014/main" id="{1DACDD77-E34F-451D-A0A0-547AA330B5CA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Contributions are percentage points of year-over-year growth. Fee values retain the original source units.</a:t>
            </a:r>
          </a:p>
        </p:txBody>
      </p:sp>
      <p:sp>
        <p:nvSpPr>
          <p:cNvPr id="9" name="Page number">
            <a:extLst>
              <a:ext uri="{FF2B5EF4-FFF2-40B4-BE49-F238E27FC236}">
                <a16:creationId xmlns:a16="http://schemas.microsoft.com/office/drawing/2014/main" id="{30237845-C54D-498E-A5A8-BF5D7C65F16B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9667335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libration: October–December 2025">
            <a:extLst>
              <a:ext uri="{FF2B5EF4-FFF2-40B4-BE49-F238E27FC236}">
                <a16:creationId xmlns:a16="http://schemas.microsoft.com/office/drawing/2014/main" id="{8FB83424-2AA1-47B3-BC12-7ED160089F1A}"/>
              </a:ext>
            </a:extLst>
          </p:cNvPr>
          <p:cNvSpPr>
            <a:spLocks noGrp="1"/>
          </p:cNvSpPr>
          <p:nvPr/>
        </p:nvSpPr>
        <p:spPr>
          <a:xfrm>
            <a:off x="609600" y="1876425"/>
            <a:ext cx="6381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Calibration: October–December 2025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="609600" y="2314575"/>
          <a:ext cx="6305550" cy="2238375"/>
        </p:xfrm>
        <a:graphic>
          <a:graphicData uri="http://schemas.openxmlformats.org/drawingml/2006/table">
            <a:tbl>
              <a:tblPr/>
              <a:tblGrid>
                <a:gridCol w="423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Calibration item</a:t>
                      </a:r>
                    </a:p>
                  </a:txBody>
                  <a:tcPr marL="95250" marR="76200" marT="28575" marB="285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</a:p>
                  </a:txBody>
                  <a:tcPr marL="95250" marR="76200" marT="28575" marB="285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Average actual fee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2,099.7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Average long-run level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2,937.9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k = average fee / average L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0.714674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Fixed discount: 1 − k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28.53%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Lₜ = −3,766.515 + 19.435917 CPIₜ&#10;        + 3.872185 SBOptₜ">
            <a:extLst>
              <a:ext uri="{FF2B5EF4-FFF2-40B4-BE49-F238E27FC236}">
                <a16:creationId xmlns:a16="http://schemas.microsoft.com/office/drawing/2014/main" id="{1AA51C9E-3ACE-40D3-93F3-3CB23A7E09C0}"/>
              </a:ext>
            </a:extLst>
          </p:cNvPr>
          <p:cNvSpPr>
            <a:spLocks noGrp="1"/>
          </p:cNvSpPr>
          <p:nvPr/>
        </p:nvSpPr>
        <p:spPr>
          <a:xfrm>
            <a:off x="609600" y="4772025"/>
            <a:ext cx="63817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Lₜ = −3,766.515 + 19.435917 CPIₜ</a:t>
            </a:r>
          </a:p>
          <a:p>
            <a:pPr algn="l">
              <a:defRPr sz="180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        + 3.872185 SBOptₜ</a:t>
            </a:r>
          </a:p>
        </p:txBody>
      </p:sp>
      <p:sp>
        <p:nvSpPr>
          <p:cNvPr id="6" name="Forecast feeₜ = 0.714674 × Lₜ">
            <a:extLst>
              <a:ext uri="{FF2B5EF4-FFF2-40B4-BE49-F238E27FC236}">
                <a16:creationId xmlns:a16="http://schemas.microsoft.com/office/drawing/2014/main" id="{55689784-88D7-4494-BCB7-007315DA85FE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6381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237F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37F83"/>
                </a:solidFill>
                <a:latin typeface="Arial"/>
                <a:ea typeface="Arial"/>
                <a:cs typeface="Arial"/>
              </a:rPr>
              <a:t>Forecast feeₜ = 0.714674 × Lₜ</a:t>
            </a:r>
          </a:p>
        </p:txBody>
      </p:sp>
      <p:sp>
        <p:nvSpPr>
          <p:cNvPr id="7" name="Macro sensitivity retained">
            <a:extLst>
              <a:ext uri="{FF2B5EF4-FFF2-40B4-BE49-F238E27FC236}">
                <a16:creationId xmlns:a16="http://schemas.microsoft.com/office/drawing/2014/main" id="{63484536-E692-4C1C-955D-241683298EC3}"/>
              </a:ext>
            </a:extLst>
          </p:cNvPr>
          <p:cNvSpPr>
            <a:spLocks noGrp="1"/>
          </p:cNvSpPr>
          <p:nvPr/>
        </p:nvSpPr>
        <p:spPr>
          <a:xfrm>
            <a:off x="7467600" y="1876425"/>
            <a:ext cx="41148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Macro sensitivity retained</a:t>
            </a:r>
          </a:p>
        </p:txBody>
      </p:sp>
      <p:sp>
        <p:nvSpPr>
          <p:cNvPr id="8" name="CPI and SBOpt still drive the path through the original long">
            <a:extLst>
              <a:ext uri="{FF2B5EF4-FFF2-40B4-BE49-F238E27FC236}">
                <a16:creationId xmlns:a16="http://schemas.microsoft.com/office/drawing/2014/main" id="{51F9F570-143B-4A7C-8A2B-079AE1D3FD39}"/>
              </a:ext>
            </a:extLst>
          </p:cNvPr>
          <p:cNvSpPr>
            <a:spLocks noGrp="1"/>
          </p:cNvSpPr>
          <p:nvPr/>
        </p:nvSpPr>
        <p:spPr>
          <a:xfrm>
            <a:off x="7467600" y="2305050"/>
            <a:ext cx="41148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CPI and SBOpt still drive the path through the original long-run equation.</a:t>
            </a:r>
          </a:p>
        </p:txBody>
      </p:sp>
      <p:sp>
        <p:nvSpPr>
          <p:cNvPr id="9" name="Dynamic feedback removed">
            <a:extLst>
              <a:ext uri="{FF2B5EF4-FFF2-40B4-BE49-F238E27FC236}">
                <a16:creationId xmlns:a16="http://schemas.microsoft.com/office/drawing/2014/main" id="{260B747F-62B7-403A-8D31-435D3CBDB067}"/>
              </a:ext>
            </a:extLst>
          </p:cNvPr>
          <p:cNvSpPr>
            <a:spLocks noGrp="1"/>
          </p:cNvSpPr>
          <p:nvPr/>
        </p:nvSpPr>
        <p:spPr>
          <a:xfrm>
            <a:off x="7467600" y="3295650"/>
            <a:ext cx="41148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Dynamic feedback removed</a:t>
            </a:r>
          </a:p>
        </p:txBody>
      </p:sp>
      <p:sp>
        <p:nvSpPr>
          <p:cNvPr id="10" name="No lagged EC or growth recursion. The Corporate Profits shor">
            <a:extLst>
              <a:ext uri="{FF2B5EF4-FFF2-40B4-BE49-F238E27FC236}">
                <a16:creationId xmlns:a16="http://schemas.microsoft.com/office/drawing/2014/main" id="{F837EAA4-43A1-4CFF-A270-B5EEDABB4FE5}"/>
              </a:ext>
            </a:extLst>
          </p:cNvPr>
          <p:cNvSpPr>
            <a:spLocks noGrp="1"/>
          </p:cNvSpPr>
          <p:nvPr/>
        </p:nvSpPr>
        <p:spPr>
          <a:xfrm>
            <a:off x="7467600" y="3724275"/>
            <a:ext cx="41148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No lagged EC or growth recursion. The Corporate Profits short-run term does not enter this method.</a:t>
            </a:r>
          </a:p>
        </p:txBody>
      </p:sp>
      <p:sp>
        <p:nvSpPr>
          <p:cNvPr id="11" name="ECₜ = (k − 1) × Lₜ">
            <a:extLst>
              <a:ext uri="{FF2B5EF4-FFF2-40B4-BE49-F238E27FC236}">
                <a16:creationId xmlns:a16="http://schemas.microsoft.com/office/drawing/2014/main" id="{5EF37C96-4E22-4A34-99B6-29D7F4A95748}"/>
              </a:ext>
            </a:extLst>
          </p:cNvPr>
          <p:cNvSpPr>
            <a:spLocks noGrp="1"/>
          </p:cNvSpPr>
          <p:nvPr/>
        </p:nvSpPr>
        <p:spPr>
          <a:xfrm>
            <a:off x="7467600" y="4895850"/>
            <a:ext cx="4114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237F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7F83"/>
                </a:solidFill>
                <a:latin typeface="Arial"/>
                <a:ea typeface="Arial"/>
                <a:cs typeface="Arial"/>
              </a:rPr>
              <a:t>ECₜ = (k − 1) × Lₜ</a:t>
            </a:r>
          </a:p>
        </p:txBody>
      </p:sp>
      <p:sp>
        <p:nvSpPr>
          <p:cNvPr id="12" name="The gap persists at a fixed proportion.&#10;It does not feed bac">
            <a:extLst>
              <a:ext uri="{FF2B5EF4-FFF2-40B4-BE49-F238E27FC236}">
                <a16:creationId xmlns:a16="http://schemas.microsoft.com/office/drawing/2014/main" id="{4E9830C9-87C9-405F-9E4F-AFAF41A4E8EA}"/>
              </a:ext>
            </a:extLst>
          </p:cNvPr>
          <p:cNvSpPr>
            <a:spLocks noGrp="1"/>
          </p:cNvSpPr>
          <p:nvPr/>
        </p:nvSpPr>
        <p:spPr>
          <a:xfrm>
            <a:off x="7467600" y="5334000"/>
            <a:ext cx="4114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The gap persists at a fixed proportion.</a:t>
            </a:r>
          </a:p>
          <a:p>
            <a:pPr algn="l">
              <a:defRPr sz="165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It does not feed back into growth.</a:t>
            </a:r>
          </a:p>
        </p:txBody>
      </p:sp>
      <p:sp>
        <p:nvSpPr>
          <p:cNvPr id="13" name="Assumption: the Q4 2025 relative discount persists for 27 mo">
            <a:extLst>
              <a:ext uri="{FF2B5EF4-FFF2-40B4-BE49-F238E27FC236}">
                <a16:creationId xmlns:a16="http://schemas.microsoft.com/office/drawing/2014/main" id="{C8EEACC8-ED1A-438B-93E9-C27A693E836D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Assumption: the Q4 2025 relative discount persists for 27 months. This is an exploratory macro benchmark, not a re-estimated ECM.</a:t>
            </a:r>
          </a:p>
        </p:txBody>
      </p:sp>
      <p:sp>
        <p:nvSpPr>
          <p:cNvPr id="14" name="Slide title">
            <a:extLst>
              <a:ext uri="{FF2B5EF4-FFF2-40B4-BE49-F238E27FC236}">
                <a16:creationId xmlns:a16="http://schemas.microsoft.com/office/drawing/2014/main" id="{9546904A-4D31-4925-AF78-5971F47AD9D8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110013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Fixed-Ratio Macro Forecast Method</a:t>
            </a:r>
          </a:p>
        </p:txBody>
      </p:sp>
      <p:sp>
        <p:nvSpPr>
          <p:cNvPr id="15" name="Slide subtitle">
            <a:extLst>
              <a:ext uri="{FF2B5EF4-FFF2-40B4-BE49-F238E27FC236}">
                <a16:creationId xmlns:a16="http://schemas.microsoft.com/office/drawing/2014/main" id="{73DE9337-9698-4348-8A49-9D165310F70A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Calibrate the original long-run equation to Q4 2025 actual revenue. Hold that adjustment ratio fixed.</a:t>
            </a:r>
          </a:p>
        </p:txBody>
      </p:sp>
      <p:sp>
        <p:nvSpPr>
          <p:cNvPr id="16" name="Page number">
            <a:extLst>
              <a:ext uri="{FF2B5EF4-FFF2-40B4-BE49-F238E27FC236}">
                <a16:creationId xmlns:a16="http://schemas.microsoft.com/office/drawing/2014/main" id="{CAB7DBA9-5920-46D2-AD6D-ABD465C98F12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4416244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Chart"/>
          <p:cNvGraphicFramePr/>
          <p:nvPr/>
        </p:nvGraphicFramePr>
        <p:xfrm>
          <a:off x="609600" y="1876425"/>
          <a:ext cx="706755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表格 12"/>
          <p:cNvGraphicFramePr/>
          <p:nvPr/>
        </p:nvGraphicFramePr>
        <p:xfrm>
          <a:off x="7905750" y="2133600"/>
          <a:ext cx="3676650" cy="2409825"/>
        </p:xfrm>
        <a:graphic>
          <a:graphicData uri="http://schemas.openxmlformats.org/drawingml/2006/table">
            <a:tbl>
              <a:tblPr/>
              <a:tblGrid>
                <a:gridCol w="1552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1965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Period</a:t>
                      </a:r>
                    </a:p>
                  </a:txBody>
                  <a:tcPr marL="95250" marR="76200" marT="28575" marB="285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Fee total</a:t>
                      </a:r>
                    </a:p>
                  </a:txBody>
                  <a:tcPr marL="95250" marR="76200" marT="28575" marB="285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Change</a:t>
                      </a:r>
                    </a:p>
                  </a:txBody>
                  <a:tcPr marL="95250" marR="76200" marT="28575" marB="285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2025 actual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25,882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2026 forecast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26,458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+2.2%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2027 forecast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28,027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+5.9%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Q1 2028 forecast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7,216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+5.1%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Fixed-ratio forecast totals">
            <a:extLst>
              <a:ext uri="{FF2B5EF4-FFF2-40B4-BE49-F238E27FC236}">
                <a16:creationId xmlns:a16="http://schemas.microsoft.com/office/drawing/2014/main" id="{724C09AB-0533-41B6-8D0A-4EEB8BFD5752}"/>
              </a:ext>
            </a:extLst>
          </p:cNvPr>
          <p:cNvSpPr>
            <a:spLocks noGrp="1"/>
          </p:cNvSpPr>
          <p:nvPr/>
        </p:nvSpPr>
        <p:spPr>
          <a:xfrm>
            <a:off x="7905750" y="1781175"/>
            <a:ext cx="36766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237F8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7F83"/>
                </a:solidFill>
                <a:latin typeface="Arial"/>
                <a:ea typeface="Arial"/>
                <a:cs typeface="Arial"/>
              </a:rPr>
              <a:t>Fixed-ratio forecast totals</a:t>
            </a:r>
          </a:p>
        </p:txBody>
      </p:sp>
      <p:sp>
        <p:nvSpPr>
          <p:cNvPr id="6" name="Jan 2026: 2,119&#10;Mar 2028: 2,414">
            <a:extLst>
              <a:ext uri="{FF2B5EF4-FFF2-40B4-BE49-F238E27FC236}">
                <a16:creationId xmlns:a16="http://schemas.microsoft.com/office/drawing/2014/main" id="{7FCC713C-0944-4F7E-8E21-E516FB62B6D3}"/>
              </a:ext>
            </a:extLst>
          </p:cNvPr>
          <p:cNvSpPr>
            <a:spLocks noGrp="1"/>
          </p:cNvSpPr>
          <p:nvPr/>
        </p:nvSpPr>
        <p:spPr>
          <a:xfrm>
            <a:off x="7905750" y="4762500"/>
            <a:ext cx="36766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237F8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7F83"/>
                </a:solidFill>
                <a:latin typeface="Arial"/>
                <a:ea typeface="Arial"/>
                <a:cs typeface="Arial"/>
              </a:rPr>
              <a:t>Jan 2026: 2,119</a:t>
            </a:r>
          </a:p>
          <a:p>
            <a:pPr algn="l">
              <a:defRPr sz="1800" b="1">
                <a:solidFill>
                  <a:srgbClr val="237F8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7F83"/>
                </a:solidFill>
                <a:latin typeface="Arial"/>
                <a:ea typeface="Arial"/>
                <a:cs typeface="Arial"/>
              </a:rPr>
              <a:t>Mar 2028: 2,414</a:t>
            </a:r>
          </a:p>
        </p:txBody>
      </p:sp>
      <p:sp>
        <p:nvSpPr>
          <p:cNvPr id="7" name="Annual changes use the prior year.&#10;Q1 2028 compares with Q1 ">
            <a:extLst>
              <a:ext uri="{FF2B5EF4-FFF2-40B4-BE49-F238E27FC236}">
                <a16:creationId xmlns:a16="http://schemas.microsoft.com/office/drawing/2014/main" id="{4885E859-B0D7-455E-A401-F8B909FA4103}"/>
              </a:ext>
            </a:extLst>
          </p:cNvPr>
          <p:cNvSpPr>
            <a:spLocks noGrp="1"/>
          </p:cNvSpPr>
          <p:nvPr/>
        </p:nvSpPr>
        <p:spPr>
          <a:xfrm>
            <a:off x="7905750" y="5495925"/>
            <a:ext cx="36766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Annual changes use the prior year.</a:t>
            </a:r>
          </a:p>
          <a:p>
            <a:pPr algn="l">
              <a:defRPr sz="127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Q1 2028 compares with Q1 2027.</a:t>
            </a:r>
          </a:p>
        </p:txBody>
      </p:sp>
      <p:sp>
        <p:nvSpPr>
          <p:cNvPr id="8" name="The rising path follows the supplied macro inputs and a fixe">
            <a:extLst>
              <a:ext uri="{FF2B5EF4-FFF2-40B4-BE49-F238E27FC236}">
                <a16:creationId xmlns:a16="http://schemas.microsoft.com/office/drawing/2014/main" id="{961C666A-1C98-4D0E-AE35-C37423C7EAD7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rising path follows the supplied macro inputs and a fixed discount. Absence of negative values does not establish predictive validity.</a:t>
            </a:r>
          </a:p>
        </p:txBody>
      </p:sp>
      <p:sp>
        <p:nvSpPr>
          <p:cNvPr id="9" name="Slide title">
            <a:extLst>
              <a:ext uri="{FF2B5EF4-FFF2-40B4-BE49-F238E27FC236}">
                <a16:creationId xmlns:a16="http://schemas.microsoft.com/office/drawing/2014/main" id="{C72A2F78-6B41-4DF6-B498-8B21BAC91845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110013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Fixed-Ratio Forecast and Original ECM</a:t>
            </a:r>
          </a:p>
        </p:txBody>
      </p:sp>
      <p:sp>
        <p:nvSpPr>
          <p:cNvPr id="10" name="Slide subtitle">
            <a:extLst>
              <a:ext uri="{FF2B5EF4-FFF2-40B4-BE49-F238E27FC236}">
                <a16:creationId xmlns:a16="http://schemas.microsoft.com/office/drawing/2014/main" id="{DD12B76B-4687-4490-BF19-82B6457BCE5B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January 2026 to March 2028. Same supplied CPI and SBOpt paths, with a fixed 28.53% long-run discount.</a:t>
            </a:r>
          </a:p>
        </p:txBody>
      </p:sp>
      <p:sp>
        <p:nvSpPr>
          <p:cNvPr id="11" name="Page number">
            <a:extLst>
              <a:ext uri="{FF2B5EF4-FFF2-40B4-BE49-F238E27FC236}">
                <a16:creationId xmlns:a16="http://schemas.microsoft.com/office/drawing/2014/main" id="{19F6B04B-308B-4DE7-B570-DE250A8DBBBC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7933355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/>
          <p:nvPr/>
        </p:nvGraphicFramePr>
        <p:xfrm>
          <a:off x="609600" y="1295400"/>
          <a:ext cx="10972800" cy="4602480"/>
        </p:xfrm>
        <a:graphic>
          <a:graphicData uri="http://schemas.openxmlformats.org/drawingml/2006/table">
            <a:tbl>
              <a:tblPr/>
              <a:tblGrid>
                <a:gridCol w="71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23850">
                <a:tc gridSpan="3"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2026</a:t>
                      </a:r>
                    </a:p>
                  </a:txBody>
                  <a:tcPr marL="95250" marR="76200" marT="28575" marB="28575" anchor="ctr">
                    <a:solidFill>
                      <a:srgbClr val="006C9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5250" marR="76200" marT="28575" marB="28575" anchor="ctr">
                    <a:solidFill>
                      <a:srgbClr val="006C9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5250" marR="76200" marT="28575" marB="28575" anchor="ctr">
                    <a:solidFill>
                      <a:srgbClr val="006C98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2027</a:t>
                      </a:r>
                    </a:p>
                  </a:txBody>
                  <a:tcPr marL="95250" marR="76200" marT="28575" marB="28575" anchor="ctr">
                    <a:solidFill>
                      <a:srgbClr val="006C9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5250" marR="76200" marT="28575" marB="28575" anchor="ctr">
                    <a:solidFill>
                      <a:srgbClr val="006C9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5250" marR="76200" marT="28575" marB="28575" anchor="ctr">
                    <a:solidFill>
                      <a:srgbClr val="006C98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2028</a:t>
                      </a:r>
                    </a:p>
                  </a:txBody>
                  <a:tcPr marL="95250" marR="76200" marT="28575" marB="28575" anchor="ctr">
                    <a:solidFill>
                      <a:srgbClr val="006C9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5250" marR="76200" marT="28575" marB="28575" anchor="ctr">
                    <a:solidFill>
                      <a:srgbClr val="006C9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5250" marR="76200" marT="28575" marB="285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Month</a:t>
                      </a:r>
                    </a:p>
                  </a:txBody>
                  <a:tcPr marL="95250" marR="76200" marT="28575" marB="285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Fee</a:t>
                      </a:r>
                    </a:p>
                  </a:txBody>
                  <a:tcPr marL="95250" marR="76200" marT="28575" marB="285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YoY</a:t>
                      </a:r>
                    </a:p>
                  </a:txBody>
                  <a:tcPr marL="95250" marR="76200" marT="28575" marB="285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Month</a:t>
                      </a:r>
                    </a:p>
                  </a:txBody>
                  <a:tcPr marL="95250" marR="76200" marT="28575" marB="285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Fee</a:t>
                      </a:r>
                    </a:p>
                  </a:txBody>
                  <a:tcPr marL="95250" marR="76200" marT="28575" marB="285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YoY</a:t>
                      </a:r>
                    </a:p>
                  </a:txBody>
                  <a:tcPr marL="95250" marR="76200" marT="28575" marB="285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Month</a:t>
                      </a:r>
                    </a:p>
                  </a:txBody>
                  <a:tcPr marL="95250" marR="76200" marT="28575" marB="285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Fee</a:t>
                      </a:r>
                    </a:p>
                  </a:txBody>
                  <a:tcPr marL="95250" marR="76200" marT="28575" marB="285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YoY</a:t>
                      </a:r>
                    </a:p>
                  </a:txBody>
                  <a:tcPr marL="95250" marR="76200" marT="28575" marB="285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Jan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2,119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−1.4%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Jan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2,279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+7.5%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Jan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2,397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+5.2%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Feb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2,130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+2.1%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Feb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2,290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+7.5%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Feb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2,405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+5.1%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Mar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2,161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−6.7%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Mar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2,300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+6.4%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Mar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2,414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+4.9%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Apr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2,191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−0.8%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Apr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2,311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+5.5%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May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2,211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−2.6%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May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2,322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+5.0%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Jun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2,197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−0.2%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Jun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2,332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+6.1%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Jul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2,220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+6.4%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Jul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2,342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+5.5%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Aug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2,225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−1.5%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Aug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2,352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+5.7%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Sep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2,234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+11.5%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Sep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2,362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+5.7%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Oct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2,245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−2.2%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Oct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2,370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+5.6%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Nov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2,257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+6.6%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Nov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2,379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+5.4%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Dec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2,268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+20.2%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Dec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2,388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+5.3%</a:t>
                      </a:r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5250" marR="76200" marT="28575" marB="285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3" name="2026 YoY uses 2025 actual fees. Later YoY uses this method’s">
            <a:extLst>
              <a:ext uri="{FF2B5EF4-FFF2-40B4-BE49-F238E27FC236}">
                <a16:creationId xmlns:a16="http://schemas.microsoft.com/office/drawing/2014/main" id="{0411443E-FADF-416A-8B8C-9EC402776881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2026 YoY uses 2025 actual fees. Later YoY uses this method’s prior-year forecasts. All values use the unrounded fixed ratio.</a:t>
            </a:r>
          </a:p>
        </p:txBody>
      </p:sp>
      <p:sp>
        <p:nvSpPr>
          <p:cNvPr id="4" name="Slide title">
            <a:extLst>
              <a:ext uri="{FF2B5EF4-FFF2-40B4-BE49-F238E27FC236}">
                <a16:creationId xmlns:a16="http://schemas.microsoft.com/office/drawing/2014/main" id="{BEB5380E-E8BA-4C14-A161-9328DE49010F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110013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Fixed-Ratio Monthly Forecast Detail</a:t>
            </a:r>
          </a:p>
        </p:txBody>
      </p:sp>
      <p:sp>
        <p:nvSpPr>
          <p:cNvPr id="5" name="Page number">
            <a:extLst>
              <a:ext uri="{FF2B5EF4-FFF2-40B4-BE49-F238E27FC236}">
                <a16:creationId xmlns:a16="http://schemas.microsoft.com/office/drawing/2014/main" id="{D1F45008-29C5-4FF5-9D7F-D4F383A3D4AC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6815665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2">
            <a:extLst>
              <a:ext uri="{FF2B5EF4-FFF2-40B4-BE49-F238E27FC236}">
                <a16:creationId xmlns:a16="http://schemas.microsoft.com/office/drawing/2014/main" id="{6FF66CDA-9E47-489C-A61B-7E0BADDEC5FC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graphicFrame>
        <p:nvGraphicFramePr>
          <p:cNvPr id="14" name="表格 18"/>
          <p:cNvGraphicFramePr/>
          <p:nvPr/>
        </p:nvGraphicFramePr>
        <p:xfrm>
          <a:off x="609600" y="1495425"/>
          <a:ext cx="10972800" cy="4177665"/>
        </p:xfrm>
        <a:graphic>
          <a:graphicData uri="http://schemas.openxmlformats.org/drawingml/2006/table">
            <a:tbl>
              <a:tblPr/>
              <a:tblGrid>
                <a:gridCol w="509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7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10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 / limitation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Implication for model use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Transparent equations and low VIF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Interpretable specification with limited linear collinearity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Formal EG p = 0.087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Long-run equilibrium assumption needs further support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OOT informs screening and lag ranking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 new untouched validation window is needed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Large OOT errors and an unstable 27-month recursive forecast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Current coefficients need further work before multi-year operational use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Overlay fitted to observed post-cutoff gaps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Document cause, duration and prospective validation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Macro releases / vintages unverified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Historical forecasts remain conditional on supplied macro data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Current status: research candidate requiring redevelopm">
            <a:extLst>
              <a:ext uri="{FF2B5EF4-FFF2-40B4-BE49-F238E27FC236}">
                <a16:creationId xmlns:a16="http://schemas.microsoft.com/office/drawing/2014/main" id="{FC05EDF5-0398-4D4F-BB3E-E48F266DC290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Current status: research candidate requiring redevelopment and independent validation before operational use.</a:t>
            </a:r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0566476B-6E79-438C-B15F-DF7F0054A0E9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110013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Model Risk Assessment</a:t>
            </a:r>
          </a:p>
        </p:txBody>
      </p:sp>
    </p:spTree>
    <p:extLst>
      <p:ext uri="{BB962C8B-B14F-4D97-AF65-F5344CB8AC3E}">
        <p14:creationId xmlns:p14="http://schemas.microsoft.com/office/powerpoint/2010/main" val="3367490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3">
            <a:extLst>
              <a:ext uri="{FF2B5EF4-FFF2-40B4-BE49-F238E27FC236}">
                <a16:creationId xmlns:a16="http://schemas.microsoft.com/office/drawing/2014/main" id="{E3D218D6-BCF4-4689-BF54-126573DDD9D5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7" name="What the research establishes">
            <a:extLst>
              <a:ext uri="{FF2B5EF4-FFF2-40B4-BE49-F238E27FC236}">
                <a16:creationId xmlns:a16="http://schemas.microsoft.com/office/drawing/2014/main" id="{FF6BEC75-5EB9-460F-B701-04872E4034D7}"/>
              </a:ext>
            </a:extLst>
          </p:cNvPr>
          <p:cNvSpPr>
            <a:spLocks noGrp="1"/>
          </p:cNvSpPr>
          <p:nvPr/>
        </p:nvSpPr>
        <p:spPr>
          <a:xfrm>
            <a:off x="647700" y="142875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950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Coefficient stability</a:t>
            </a:r>
          </a:p>
        </p:txBody>
      </p:sp>
      <p:sp>
        <p:nvSpPr>
          <p:cNvPr id="8" name="The two-step model explains much of historical annual f">
            <a:extLst>
              <a:ext uri="{FF2B5EF4-FFF2-40B4-BE49-F238E27FC236}">
                <a16:creationId xmlns:a16="http://schemas.microsoft.com/office/drawing/2014/main" id="{344216F6-83BA-41E4-9229-7A2ED0B93FAE}"/>
              </a:ext>
            </a:extLst>
          </p:cNvPr>
          <p:cNvSpPr>
            <a:spLocks noGrp="1"/>
          </p:cNvSpPr>
          <p:nvPr/>
        </p:nvSpPr>
        <p:spPr>
          <a:xfrm>
            <a:off x="647700" y="1828800"/>
            <a:ext cx="104775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Expanding estimates keep CPI positive across all endpoints. SBOpt still turns negative during 2017–2020 and ends close to zero in December 2025.</a:t>
            </a:r>
          </a:p>
        </p:txBody>
      </p:sp>
      <p:sp>
        <p:nvSpPr>
          <p:cNvPr id="9" name="What prevents a stronger conclusion">
            <a:extLst>
              <a:ext uri="{FF2B5EF4-FFF2-40B4-BE49-F238E27FC236}">
                <a16:creationId xmlns:a16="http://schemas.microsoft.com/office/drawing/2014/main" id="{6C199771-E9B2-47D5-96CD-A9FFD807D35A}"/>
              </a:ext>
            </a:extLst>
          </p:cNvPr>
          <p:cNvSpPr>
            <a:spLocks noGrp="1"/>
          </p:cNvSpPr>
          <p:nvPr/>
        </p:nvSpPr>
        <p:spPr>
          <a:xfrm>
            <a:off x="647700" y="293370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950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Forecast and overlay evidence</a:t>
            </a:r>
          </a:p>
        </p:txBody>
      </p:sp>
      <p:sp>
        <p:nvSpPr>
          <p:cNvPr id="10" name="The later fee level separates from the CPI / optimism r">
            <a:extLst>
              <a:ext uri="{FF2B5EF4-FFF2-40B4-BE49-F238E27FC236}">
                <a16:creationId xmlns:a16="http://schemas.microsoft.com/office/drawing/2014/main" id="{F56B6846-78D8-4FD2-A3EB-A0674493CC11}"/>
              </a:ext>
            </a:extLst>
          </p:cNvPr>
          <p:cNvSpPr>
            <a:spLocks noGrp="1"/>
          </p:cNvSpPr>
          <p:nvPr/>
        </p:nvSpPr>
        <p:spPr>
          <a:xfrm>
            <a:off x="647700" y="3333750"/>
            <a:ext cx="104775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The original recursive forecast turns negative in early 2028. The separate EC trend overlay lowers the December 2025 long-run level by 33.68%.</a:t>
            </a:r>
          </a:p>
        </p:txBody>
      </p:sp>
      <p:sp>
        <p:nvSpPr>
          <p:cNvPr id="11" name="Next development cycle">
            <a:extLst>
              <a:ext uri="{FF2B5EF4-FFF2-40B4-BE49-F238E27FC236}">
                <a16:creationId xmlns:a16="http://schemas.microsoft.com/office/drawing/2014/main" id="{39C3DB68-4E35-4C30-9DBD-39C6239A337B}"/>
              </a:ext>
            </a:extLst>
          </p:cNvPr>
          <p:cNvSpPr>
            <a:spLocks noGrp="1"/>
          </p:cNvSpPr>
          <p:nvPr/>
        </p:nvSpPr>
        <p:spPr>
          <a:xfrm>
            <a:off x="647700" y="443865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950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Next development cycle</a:t>
            </a:r>
          </a:p>
        </p:txBody>
      </p:sp>
      <p:sp>
        <p:nvSpPr>
          <p:cNvPr id="12" name="Reconcile the post-2023 business change, refresh the lo">
            <a:extLst>
              <a:ext uri="{FF2B5EF4-FFF2-40B4-BE49-F238E27FC236}">
                <a16:creationId xmlns:a16="http://schemas.microsoft.com/office/drawing/2014/main" id="{9A87704A-A536-420F-BC7B-4F0F448CE7DF}"/>
              </a:ext>
            </a:extLst>
          </p:cNvPr>
          <p:cNvSpPr>
            <a:spLocks noGrp="1"/>
          </p:cNvSpPr>
          <p:nvPr/>
        </p:nvSpPr>
        <p:spPr>
          <a:xfrm>
            <a:off x="647700" y="4838700"/>
            <a:ext cx="104775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Investigate the post-2023 fee / macro divergence. Evaluate any specification change and overlay on new data before changing the forecasting model.</a:t>
            </a:r>
          </a:p>
        </p:txBody>
      </p:sp>
      <p:sp>
        <p:nvSpPr>
          <p:cNvPr id="14" name="Retain the documented model as a challenger and use the">
            <a:extLst>
              <a:ext uri="{FF2B5EF4-FFF2-40B4-BE49-F238E27FC236}">
                <a16:creationId xmlns:a16="http://schemas.microsoft.com/office/drawing/2014/main" id="{F68B0743-E1EA-4BAC-9D17-3D2AA10E0F26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Greater coefficient stability alone does not establish forecast validity. The expanding results remain a diagnostic comparison.</a:t>
            </a:r>
          </a:p>
        </p:txBody>
      </p:sp>
      <p:sp>
        <p:nvSpPr>
          <p:cNvPr id="15" name="Slide title">
            <a:extLst>
              <a:ext uri="{FF2B5EF4-FFF2-40B4-BE49-F238E27FC236}">
                <a16:creationId xmlns:a16="http://schemas.microsoft.com/office/drawing/2014/main" id="{37CBB285-F205-4EC0-9650-00E531D0F226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110013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6018934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4">
            <a:extLst>
              <a:ext uri="{FF2B5EF4-FFF2-40B4-BE49-F238E27FC236}">
                <a16:creationId xmlns:a16="http://schemas.microsoft.com/office/drawing/2014/main" id="{DB08544F-68B9-4F2C-A0C3-1A5E30F33CE6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0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graphicFrame>
        <p:nvGraphicFramePr>
          <p:cNvPr id="10" name="表格 20"/>
          <p:cNvGraphicFramePr/>
          <p:nvPr/>
        </p:nvGraphicFramePr>
        <p:xfrm>
          <a:off x="609600" y="1476375"/>
          <a:ext cx="10972800" cy="3190873"/>
        </p:xfrm>
        <a:graphic>
          <a:graphicData uri="http://schemas.openxmlformats.org/drawingml/2006/table">
            <a:tbl>
              <a:tblPr/>
              <a:tblGrid>
                <a:gridCol w="290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6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5839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Term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Definition</a:t>
                      </a:r>
                    </a:p>
                  </a:txBody>
                  <a:tcPr marL="114300" marR="85725" marT="66675" marB="666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83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Fₜ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Commercial Card fee + Small Business fee, original source units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83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gₜ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100 × (Fₜ / Fₜ₋₁₂ − 1), expressed as a percentage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83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ECₜ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Fₜ − (−3,766.5151 + 19.435917 CPIₜ + 3.872185 SBOptₜ)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83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CorpProfits_YoYₜ₋₃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100 × (CorpProfitsₜ₋₃ / CorpProfitsₜ₋₁₅ − 1)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583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Static / recursive OOT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Observed lagged fees / recursively generated post-cutoff fee history</a:t>
                      </a:r>
                    </a:p>
                  </a:txBody>
                  <a:tcPr marL="114300" marR="85725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583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Overlay evaluation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First 18 months: Oct 2023–Mar 2025. Last 9: Apr–Dec 2025.</a:t>
                      </a:r>
                    </a:p>
                  </a:txBody>
                  <a:tcPr marL="114300" marR="85725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lide title">
            <a:extLst>
              <a:ext uri="{FF2B5EF4-FFF2-40B4-BE49-F238E27FC236}">
                <a16:creationId xmlns:a16="http://schemas.microsoft.com/office/drawing/2014/main" id="{171662F5-0634-4812-A980-8950371D370C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110013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Appendix: Model Definitions</a:t>
            </a:r>
          </a:p>
        </p:txBody>
      </p:sp>
    </p:spTree>
    <p:extLst>
      <p:ext uri="{BB962C8B-B14F-4D97-AF65-F5344CB8AC3E}">
        <p14:creationId xmlns:p14="http://schemas.microsoft.com/office/powerpoint/2010/main" val="92024140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3138</Words>
  <Application>Microsoft Macintosh PowerPoint</Application>
  <DocSecurity>0</DocSecurity>
  <PresentationFormat>宽屏</PresentationFormat>
  <Paragraphs>821</Paragraphs>
  <Slides>33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36" baseType="lpstr"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宇轩 黄</cp:lastModifiedBy>
  <cp:revision>3</cp:revision>
  <dcterms:created xsi:type="dcterms:W3CDTF">2026-09-28T20:03:58Z</dcterms:created>
  <dcterms:modified xsi:type="dcterms:W3CDTF">2026-09-28T20:11:34Z</dcterms:modified>
</cp:coreProperties>
</file>