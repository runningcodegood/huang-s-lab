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02" d="100"/>
          <a:sy n="102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Actual fee revenue</c:v>
          </c:tx>
          <c:spPr>
            <a:ln w="22860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2011</c:v>
                </c:pt>
                <c:pt idx="1">
                  <c:v>2011.0833333329999</c:v>
                </c:pt>
                <c:pt idx="2">
                  <c:v>2011.1666666670001</c:v>
                </c:pt>
                <c:pt idx="3">
                  <c:v>2011.25</c:v>
                </c:pt>
                <c:pt idx="4">
                  <c:v>2011.3333333329999</c:v>
                </c:pt>
                <c:pt idx="5">
                  <c:v>2011.4166666670001</c:v>
                </c:pt>
                <c:pt idx="6">
                  <c:v>2011.5</c:v>
                </c:pt>
                <c:pt idx="7">
                  <c:v>2011.5833333329999</c:v>
                </c:pt>
                <c:pt idx="8">
                  <c:v>2011.6666666670001</c:v>
                </c:pt>
                <c:pt idx="9">
                  <c:v>2011.75</c:v>
                </c:pt>
                <c:pt idx="10">
                  <c:v>2011.8333333329999</c:v>
                </c:pt>
                <c:pt idx="11">
                  <c:v>2011.9166666670001</c:v>
                </c:pt>
                <c:pt idx="12">
                  <c:v>2012</c:v>
                </c:pt>
                <c:pt idx="13">
                  <c:v>2012.0833333329999</c:v>
                </c:pt>
                <c:pt idx="14">
                  <c:v>2012.1666666670001</c:v>
                </c:pt>
                <c:pt idx="15">
                  <c:v>2012.25</c:v>
                </c:pt>
                <c:pt idx="16">
                  <c:v>2012.3333333329999</c:v>
                </c:pt>
                <c:pt idx="17">
                  <c:v>2012.4166666670001</c:v>
                </c:pt>
                <c:pt idx="18">
                  <c:v>2012.5</c:v>
                </c:pt>
                <c:pt idx="19">
                  <c:v>2012.5833333329999</c:v>
                </c:pt>
                <c:pt idx="20">
                  <c:v>2012.6666666670001</c:v>
                </c:pt>
                <c:pt idx="21">
                  <c:v>2012.75</c:v>
                </c:pt>
                <c:pt idx="22">
                  <c:v>2012.8333333329999</c:v>
                </c:pt>
                <c:pt idx="23">
                  <c:v>2012.9166666670001</c:v>
                </c:pt>
                <c:pt idx="24">
                  <c:v>2013</c:v>
                </c:pt>
                <c:pt idx="25">
                  <c:v>2013.0833333329999</c:v>
                </c:pt>
                <c:pt idx="26">
                  <c:v>2013.1666666670001</c:v>
                </c:pt>
                <c:pt idx="27">
                  <c:v>2013.25</c:v>
                </c:pt>
                <c:pt idx="28">
                  <c:v>2013.3333333329999</c:v>
                </c:pt>
                <c:pt idx="29">
                  <c:v>2013.4166666670001</c:v>
                </c:pt>
                <c:pt idx="30">
                  <c:v>2013.5</c:v>
                </c:pt>
                <c:pt idx="31">
                  <c:v>2013.5833333329999</c:v>
                </c:pt>
                <c:pt idx="32">
                  <c:v>2013.6666666670001</c:v>
                </c:pt>
                <c:pt idx="33">
                  <c:v>2013.75</c:v>
                </c:pt>
                <c:pt idx="34">
                  <c:v>2013.8333333329999</c:v>
                </c:pt>
                <c:pt idx="35">
                  <c:v>2013.9166666670001</c:v>
                </c:pt>
                <c:pt idx="36">
                  <c:v>2014</c:v>
                </c:pt>
                <c:pt idx="37">
                  <c:v>2014.0833333329999</c:v>
                </c:pt>
                <c:pt idx="38">
                  <c:v>2014.1666666670001</c:v>
                </c:pt>
                <c:pt idx="39">
                  <c:v>2014.25</c:v>
                </c:pt>
                <c:pt idx="40">
                  <c:v>2014.3333333329999</c:v>
                </c:pt>
                <c:pt idx="41">
                  <c:v>2014.4166666670001</c:v>
                </c:pt>
                <c:pt idx="42">
                  <c:v>2014.5</c:v>
                </c:pt>
                <c:pt idx="43">
                  <c:v>2014.5833333329999</c:v>
                </c:pt>
                <c:pt idx="44">
                  <c:v>2014.6666666670001</c:v>
                </c:pt>
                <c:pt idx="45">
                  <c:v>2014.75</c:v>
                </c:pt>
                <c:pt idx="46">
                  <c:v>2014.8333333329999</c:v>
                </c:pt>
                <c:pt idx="47">
                  <c:v>2014.9166666670001</c:v>
                </c:pt>
                <c:pt idx="48">
                  <c:v>2015</c:v>
                </c:pt>
                <c:pt idx="49">
                  <c:v>2015.0833333329999</c:v>
                </c:pt>
                <c:pt idx="50">
                  <c:v>2015.1666666670001</c:v>
                </c:pt>
                <c:pt idx="51">
                  <c:v>2015.25</c:v>
                </c:pt>
                <c:pt idx="52">
                  <c:v>2015.3333333329999</c:v>
                </c:pt>
                <c:pt idx="53">
                  <c:v>2015.4166666670001</c:v>
                </c:pt>
                <c:pt idx="54">
                  <c:v>2015.5</c:v>
                </c:pt>
                <c:pt idx="55">
                  <c:v>2015.5833333329999</c:v>
                </c:pt>
                <c:pt idx="56">
                  <c:v>2015.6666666670001</c:v>
                </c:pt>
                <c:pt idx="57">
                  <c:v>2015.75</c:v>
                </c:pt>
                <c:pt idx="58">
                  <c:v>2015.8333333329999</c:v>
                </c:pt>
                <c:pt idx="59">
                  <c:v>2015.9166666670001</c:v>
                </c:pt>
                <c:pt idx="60">
                  <c:v>2016</c:v>
                </c:pt>
                <c:pt idx="61">
                  <c:v>2016.0833333329999</c:v>
                </c:pt>
                <c:pt idx="62">
                  <c:v>2016.1666666670001</c:v>
                </c:pt>
                <c:pt idx="63">
                  <c:v>2016.25</c:v>
                </c:pt>
                <c:pt idx="64">
                  <c:v>2016.3333333329999</c:v>
                </c:pt>
                <c:pt idx="65">
                  <c:v>2016.4166666670001</c:v>
                </c:pt>
                <c:pt idx="66">
                  <c:v>2016.5</c:v>
                </c:pt>
                <c:pt idx="67">
                  <c:v>2016.5833333329999</c:v>
                </c:pt>
                <c:pt idx="68">
                  <c:v>2016.6666666670001</c:v>
                </c:pt>
                <c:pt idx="69">
                  <c:v>2016.75</c:v>
                </c:pt>
                <c:pt idx="70">
                  <c:v>2016.8333333329999</c:v>
                </c:pt>
                <c:pt idx="71">
                  <c:v>2016.9166666670001</c:v>
                </c:pt>
                <c:pt idx="72">
                  <c:v>2017</c:v>
                </c:pt>
                <c:pt idx="73">
                  <c:v>2017.0833333329999</c:v>
                </c:pt>
                <c:pt idx="74">
                  <c:v>2017.1666666670001</c:v>
                </c:pt>
                <c:pt idx="75">
                  <c:v>2017.25</c:v>
                </c:pt>
                <c:pt idx="76">
                  <c:v>2017.3333333329999</c:v>
                </c:pt>
                <c:pt idx="77">
                  <c:v>2017.4166666670001</c:v>
                </c:pt>
                <c:pt idx="78">
                  <c:v>2017.5</c:v>
                </c:pt>
                <c:pt idx="79">
                  <c:v>2017.5833333329999</c:v>
                </c:pt>
                <c:pt idx="80">
                  <c:v>2017.6666666670001</c:v>
                </c:pt>
                <c:pt idx="81">
                  <c:v>2017.75</c:v>
                </c:pt>
                <c:pt idx="82">
                  <c:v>2017.8333333329999</c:v>
                </c:pt>
                <c:pt idx="83">
                  <c:v>2017.9166666670001</c:v>
                </c:pt>
                <c:pt idx="84">
                  <c:v>2018</c:v>
                </c:pt>
                <c:pt idx="85">
                  <c:v>2018.0833333329999</c:v>
                </c:pt>
                <c:pt idx="86">
                  <c:v>2018.1666666670001</c:v>
                </c:pt>
                <c:pt idx="87">
                  <c:v>2018.25</c:v>
                </c:pt>
                <c:pt idx="88">
                  <c:v>2018.3333333329999</c:v>
                </c:pt>
                <c:pt idx="89">
                  <c:v>2018.4166666670001</c:v>
                </c:pt>
                <c:pt idx="90">
                  <c:v>2018.5</c:v>
                </c:pt>
                <c:pt idx="91">
                  <c:v>2018.5833333329999</c:v>
                </c:pt>
                <c:pt idx="92">
                  <c:v>2018.6666666670001</c:v>
                </c:pt>
                <c:pt idx="93">
                  <c:v>2018.75</c:v>
                </c:pt>
                <c:pt idx="94">
                  <c:v>2018.8333333329999</c:v>
                </c:pt>
                <c:pt idx="95">
                  <c:v>2018.9166666670001</c:v>
                </c:pt>
                <c:pt idx="96">
                  <c:v>2019</c:v>
                </c:pt>
                <c:pt idx="97">
                  <c:v>2019.0833333329999</c:v>
                </c:pt>
                <c:pt idx="98">
                  <c:v>2019.1666666670001</c:v>
                </c:pt>
                <c:pt idx="99">
                  <c:v>2019.25</c:v>
                </c:pt>
                <c:pt idx="100">
                  <c:v>2019.3333333329999</c:v>
                </c:pt>
                <c:pt idx="101">
                  <c:v>2019.4166666670001</c:v>
                </c:pt>
                <c:pt idx="102">
                  <c:v>2019.5</c:v>
                </c:pt>
                <c:pt idx="103">
                  <c:v>2019.5833333329999</c:v>
                </c:pt>
                <c:pt idx="104">
                  <c:v>2019.6666666670001</c:v>
                </c:pt>
                <c:pt idx="105">
                  <c:v>2019.75</c:v>
                </c:pt>
                <c:pt idx="106">
                  <c:v>2019.8333333329999</c:v>
                </c:pt>
                <c:pt idx="107">
                  <c:v>2019.9166666670001</c:v>
                </c:pt>
                <c:pt idx="108">
                  <c:v>2020</c:v>
                </c:pt>
                <c:pt idx="109">
                  <c:v>2020.0833333329999</c:v>
                </c:pt>
                <c:pt idx="110">
                  <c:v>2020.1666666670001</c:v>
                </c:pt>
                <c:pt idx="111">
                  <c:v>2020.25</c:v>
                </c:pt>
                <c:pt idx="112">
                  <c:v>2020.3333333329999</c:v>
                </c:pt>
                <c:pt idx="113">
                  <c:v>2020.4166666670001</c:v>
                </c:pt>
                <c:pt idx="114">
                  <c:v>2020.5</c:v>
                </c:pt>
                <c:pt idx="115">
                  <c:v>2020.5833333329999</c:v>
                </c:pt>
                <c:pt idx="116">
                  <c:v>2020.6666666670001</c:v>
                </c:pt>
                <c:pt idx="117">
                  <c:v>2020.75</c:v>
                </c:pt>
                <c:pt idx="118">
                  <c:v>2020.8333333329999</c:v>
                </c:pt>
                <c:pt idx="119">
                  <c:v>2020.9166666670001</c:v>
                </c:pt>
                <c:pt idx="120">
                  <c:v>2021</c:v>
                </c:pt>
                <c:pt idx="121">
                  <c:v>2021.0833333329999</c:v>
                </c:pt>
                <c:pt idx="122">
                  <c:v>2021.1666666670001</c:v>
                </c:pt>
                <c:pt idx="123">
                  <c:v>2021.25</c:v>
                </c:pt>
                <c:pt idx="124">
                  <c:v>2021.3333333329999</c:v>
                </c:pt>
                <c:pt idx="125">
                  <c:v>2021.4166666670001</c:v>
                </c:pt>
                <c:pt idx="126">
                  <c:v>2021.5</c:v>
                </c:pt>
                <c:pt idx="127">
                  <c:v>2021.5833333329999</c:v>
                </c:pt>
                <c:pt idx="128">
                  <c:v>2021.6666666670001</c:v>
                </c:pt>
                <c:pt idx="129">
                  <c:v>2021.75</c:v>
                </c:pt>
                <c:pt idx="130">
                  <c:v>2021.8333333329999</c:v>
                </c:pt>
                <c:pt idx="131">
                  <c:v>2021.9166666670001</c:v>
                </c:pt>
                <c:pt idx="132">
                  <c:v>2022</c:v>
                </c:pt>
                <c:pt idx="133">
                  <c:v>2022.0833333329999</c:v>
                </c:pt>
                <c:pt idx="134">
                  <c:v>2022.1666666670001</c:v>
                </c:pt>
                <c:pt idx="135">
                  <c:v>2022.25</c:v>
                </c:pt>
                <c:pt idx="136">
                  <c:v>2022.3333333329999</c:v>
                </c:pt>
                <c:pt idx="137">
                  <c:v>2022.4166666670001</c:v>
                </c:pt>
                <c:pt idx="138">
                  <c:v>2022.5</c:v>
                </c:pt>
                <c:pt idx="139">
                  <c:v>2022.5833333329999</c:v>
                </c:pt>
                <c:pt idx="140">
                  <c:v>2022.6666666670001</c:v>
                </c:pt>
                <c:pt idx="141">
                  <c:v>2022.75</c:v>
                </c:pt>
                <c:pt idx="142">
                  <c:v>2022.8333333329999</c:v>
                </c:pt>
                <c:pt idx="143">
                  <c:v>2022.9166666670001</c:v>
                </c:pt>
                <c:pt idx="144">
                  <c:v>2023</c:v>
                </c:pt>
                <c:pt idx="145">
                  <c:v>2023.0833333329999</c:v>
                </c:pt>
                <c:pt idx="146">
                  <c:v>2023.1666666670001</c:v>
                </c:pt>
                <c:pt idx="147">
                  <c:v>2023.25</c:v>
                </c:pt>
                <c:pt idx="148">
                  <c:v>2023.3333333329999</c:v>
                </c:pt>
                <c:pt idx="149">
                  <c:v>2023.4166666670001</c:v>
                </c:pt>
                <c:pt idx="150">
                  <c:v>2023.5</c:v>
                </c:pt>
                <c:pt idx="151">
                  <c:v>2023.5833333329999</c:v>
                </c:pt>
                <c:pt idx="152">
                  <c:v>2023.6666666670001</c:v>
                </c:pt>
                <c:pt idx="153">
                  <c:v>2023.75</c:v>
                </c:pt>
                <c:pt idx="154">
                  <c:v>2023.8333333329999</c:v>
                </c:pt>
                <c:pt idx="155">
                  <c:v>2023.9166666670001</c:v>
                </c:pt>
                <c:pt idx="156">
                  <c:v>2024</c:v>
                </c:pt>
                <c:pt idx="157">
                  <c:v>2024.0833333329999</c:v>
                </c:pt>
                <c:pt idx="158">
                  <c:v>2024.1666666670001</c:v>
                </c:pt>
                <c:pt idx="159">
                  <c:v>2024.25</c:v>
                </c:pt>
                <c:pt idx="160">
                  <c:v>2024.3333333329999</c:v>
                </c:pt>
                <c:pt idx="161">
                  <c:v>2024.4166666670001</c:v>
                </c:pt>
                <c:pt idx="162">
                  <c:v>2024.5</c:v>
                </c:pt>
                <c:pt idx="163">
                  <c:v>2024.5833333329999</c:v>
                </c:pt>
                <c:pt idx="164">
                  <c:v>2024.6666666670001</c:v>
                </c:pt>
                <c:pt idx="165">
                  <c:v>2024.75</c:v>
                </c:pt>
                <c:pt idx="166">
                  <c:v>2024.8333333329999</c:v>
                </c:pt>
                <c:pt idx="167">
                  <c:v>2024.9166666670001</c:v>
                </c:pt>
                <c:pt idx="168">
                  <c:v>2025</c:v>
                </c:pt>
                <c:pt idx="169">
                  <c:v>2025.0833333329999</c:v>
                </c:pt>
                <c:pt idx="170">
                  <c:v>2025.1666666670001</c:v>
                </c:pt>
                <c:pt idx="171">
                  <c:v>2025.25</c:v>
                </c:pt>
                <c:pt idx="172">
                  <c:v>2025.3333333329999</c:v>
                </c:pt>
                <c:pt idx="173">
                  <c:v>2025.4166666670001</c:v>
                </c:pt>
                <c:pt idx="174">
                  <c:v>2025.5</c:v>
                </c:pt>
                <c:pt idx="175">
                  <c:v>2025.5833333329999</c:v>
                </c:pt>
                <c:pt idx="176">
                  <c:v>2025.6666666670001</c:v>
                </c:pt>
                <c:pt idx="177">
                  <c:v>2025.75</c:v>
                </c:pt>
                <c:pt idx="178">
                  <c:v>2025.8333333329999</c:v>
                </c:pt>
                <c:pt idx="179">
                  <c:v>2025.9166666670001</c:v>
                </c:pt>
              </c:numCache>
            </c:numRef>
          </c:xVal>
          <c:yVal>
            <c:numRef>
              <c:f>'Chart Data'!$B$2:$B$181</c:f>
              <c:numCache>
                <c:formatCode>#,##0</c:formatCode>
                <c:ptCount val="180"/>
                <c:pt idx="0">
                  <c:v>745</c:v>
                </c:pt>
                <c:pt idx="1">
                  <c:v>771</c:v>
                </c:pt>
                <c:pt idx="2">
                  <c:v>1023</c:v>
                </c:pt>
                <c:pt idx="3">
                  <c:v>983</c:v>
                </c:pt>
                <c:pt idx="4">
                  <c:v>742</c:v>
                </c:pt>
                <c:pt idx="5">
                  <c:v>933</c:v>
                </c:pt>
                <c:pt idx="6">
                  <c:v>884</c:v>
                </c:pt>
                <c:pt idx="7">
                  <c:v>917</c:v>
                </c:pt>
                <c:pt idx="8">
                  <c:v>841</c:v>
                </c:pt>
                <c:pt idx="9">
                  <c:v>817</c:v>
                </c:pt>
                <c:pt idx="10">
                  <c:v>837</c:v>
                </c:pt>
                <c:pt idx="11">
                  <c:v>994</c:v>
                </c:pt>
                <c:pt idx="12">
                  <c:v>770</c:v>
                </c:pt>
                <c:pt idx="13">
                  <c:v>769</c:v>
                </c:pt>
                <c:pt idx="14">
                  <c:v>841</c:v>
                </c:pt>
                <c:pt idx="15">
                  <c:v>846</c:v>
                </c:pt>
                <c:pt idx="16">
                  <c:v>889</c:v>
                </c:pt>
                <c:pt idx="17">
                  <c:v>820</c:v>
                </c:pt>
                <c:pt idx="18">
                  <c:v>769</c:v>
                </c:pt>
                <c:pt idx="19">
                  <c:v>830</c:v>
                </c:pt>
                <c:pt idx="20">
                  <c:v>726</c:v>
                </c:pt>
                <c:pt idx="21">
                  <c:v>824</c:v>
                </c:pt>
                <c:pt idx="22">
                  <c:v>892</c:v>
                </c:pt>
                <c:pt idx="23">
                  <c:v>878</c:v>
                </c:pt>
                <c:pt idx="24">
                  <c:v>729</c:v>
                </c:pt>
                <c:pt idx="25">
                  <c:v>754</c:v>
                </c:pt>
                <c:pt idx="26">
                  <c:v>735</c:v>
                </c:pt>
                <c:pt idx="27">
                  <c:v>831</c:v>
                </c:pt>
                <c:pt idx="28">
                  <c:v>835</c:v>
                </c:pt>
                <c:pt idx="29">
                  <c:v>770</c:v>
                </c:pt>
                <c:pt idx="30">
                  <c:v>754</c:v>
                </c:pt>
                <c:pt idx="31">
                  <c:v>781</c:v>
                </c:pt>
                <c:pt idx="32">
                  <c:v>639</c:v>
                </c:pt>
                <c:pt idx="33">
                  <c:v>626</c:v>
                </c:pt>
                <c:pt idx="34">
                  <c:v>543</c:v>
                </c:pt>
                <c:pt idx="35">
                  <c:v>756</c:v>
                </c:pt>
                <c:pt idx="36">
                  <c:v>545</c:v>
                </c:pt>
                <c:pt idx="37">
                  <c:v>543</c:v>
                </c:pt>
                <c:pt idx="38">
                  <c:v>511</c:v>
                </c:pt>
                <c:pt idx="39">
                  <c:v>676</c:v>
                </c:pt>
                <c:pt idx="40">
                  <c:v>639</c:v>
                </c:pt>
                <c:pt idx="41">
                  <c:v>610</c:v>
                </c:pt>
                <c:pt idx="42">
                  <c:v>651</c:v>
                </c:pt>
                <c:pt idx="43">
                  <c:v>584</c:v>
                </c:pt>
                <c:pt idx="44">
                  <c:v>638</c:v>
                </c:pt>
                <c:pt idx="45">
                  <c:v>606</c:v>
                </c:pt>
                <c:pt idx="46">
                  <c:v>535</c:v>
                </c:pt>
                <c:pt idx="47">
                  <c:v>872</c:v>
                </c:pt>
                <c:pt idx="48">
                  <c:v>550</c:v>
                </c:pt>
                <c:pt idx="49">
                  <c:v>555</c:v>
                </c:pt>
                <c:pt idx="50">
                  <c:v>558</c:v>
                </c:pt>
                <c:pt idx="51">
                  <c:v>541</c:v>
                </c:pt>
                <c:pt idx="52">
                  <c:v>524</c:v>
                </c:pt>
                <c:pt idx="53">
                  <c:v>575</c:v>
                </c:pt>
                <c:pt idx="54">
                  <c:v>546</c:v>
                </c:pt>
                <c:pt idx="55">
                  <c:v>512</c:v>
                </c:pt>
                <c:pt idx="56">
                  <c:v>529</c:v>
                </c:pt>
                <c:pt idx="57">
                  <c:v>482</c:v>
                </c:pt>
                <c:pt idx="58">
                  <c:v>486</c:v>
                </c:pt>
                <c:pt idx="59">
                  <c:v>665</c:v>
                </c:pt>
                <c:pt idx="60">
                  <c:v>438</c:v>
                </c:pt>
                <c:pt idx="61">
                  <c:v>479</c:v>
                </c:pt>
                <c:pt idx="62">
                  <c:v>641</c:v>
                </c:pt>
                <c:pt idx="63">
                  <c:v>514</c:v>
                </c:pt>
                <c:pt idx="64">
                  <c:v>558</c:v>
                </c:pt>
                <c:pt idx="65">
                  <c:v>542</c:v>
                </c:pt>
                <c:pt idx="66">
                  <c:v>493</c:v>
                </c:pt>
                <c:pt idx="67">
                  <c:v>557</c:v>
                </c:pt>
                <c:pt idx="68">
                  <c:v>499</c:v>
                </c:pt>
                <c:pt idx="69">
                  <c:v>458</c:v>
                </c:pt>
                <c:pt idx="70">
                  <c:v>538</c:v>
                </c:pt>
                <c:pt idx="71">
                  <c:v>598</c:v>
                </c:pt>
                <c:pt idx="72">
                  <c:v>501</c:v>
                </c:pt>
                <c:pt idx="73">
                  <c:v>469</c:v>
                </c:pt>
                <c:pt idx="74">
                  <c:v>531</c:v>
                </c:pt>
                <c:pt idx="75">
                  <c:v>487</c:v>
                </c:pt>
                <c:pt idx="76">
                  <c:v>571</c:v>
                </c:pt>
                <c:pt idx="77">
                  <c:v>535</c:v>
                </c:pt>
                <c:pt idx="78">
                  <c:v>495</c:v>
                </c:pt>
                <c:pt idx="79">
                  <c:v>552</c:v>
                </c:pt>
                <c:pt idx="80">
                  <c:v>476</c:v>
                </c:pt>
                <c:pt idx="81">
                  <c:v>526</c:v>
                </c:pt>
                <c:pt idx="82">
                  <c:v>520</c:v>
                </c:pt>
                <c:pt idx="83">
                  <c:v>565</c:v>
                </c:pt>
                <c:pt idx="84">
                  <c:v>519</c:v>
                </c:pt>
                <c:pt idx="85">
                  <c:v>478</c:v>
                </c:pt>
                <c:pt idx="86">
                  <c:v>560</c:v>
                </c:pt>
                <c:pt idx="87">
                  <c:v>527</c:v>
                </c:pt>
                <c:pt idx="88">
                  <c:v>585</c:v>
                </c:pt>
                <c:pt idx="89">
                  <c:v>571</c:v>
                </c:pt>
                <c:pt idx="90">
                  <c:v>572</c:v>
                </c:pt>
                <c:pt idx="91">
                  <c:v>528</c:v>
                </c:pt>
                <c:pt idx="92">
                  <c:v>561</c:v>
                </c:pt>
                <c:pt idx="93">
                  <c:v>551</c:v>
                </c:pt>
                <c:pt idx="94">
                  <c:v>591</c:v>
                </c:pt>
                <c:pt idx="95">
                  <c:v>654</c:v>
                </c:pt>
                <c:pt idx="96">
                  <c:v>550</c:v>
                </c:pt>
                <c:pt idx="97">
                  <c:v>491</c:v>
                </c:pt>
                <c:pt idx="98">
                  <c:v>584</c:v>
                </c:pt>
                <c:pt idx="99">
                  <c:v>562</c:v>
                </c:pt>
                <c:pt idx="100">
                  <c:v>605</c:v>
                </c:pt>
                <c:pt idx="101">
                  <c:v>607</c:v>
                </c:pt>
                <c:pt idx="102">
                  <c:v>585</c:v>
                </c:pt>
                <c:pt idx="103">
                  <c:v>709</c:v>
                </c:pt>
                <c:pt idx="104">
                  <c:v>541</c:v>
                </c:pt>
                <c:pt idx="105">
                  <c:v>715</c:v>
                </c:pt>
                <c:pt idx="106">
                  <c:v>593</c:v>
                </c:pt>
                <c:pt idx="107">
                  <c:v>728</c:v>
                </c:pt>
                <c:pt idx="108">
                  <c:v>527</c:v>
                </c:pt>
                <c:pt idx="109">
                  <c:v>678</c:v>
                </c:pt>
                <c:pt idx="110">
                  <c:v>590</c:v>
                </c:pt>
                <c:pt idx="111">
                  <c:v>467</c:v>
                </c:pt>
                <c:pt idx="112">
                  <c:v>582</c:v>
                </c:pt>
                <c:pt idx="113">
                  <c:v>553</c:v>
                </c:pt>
                <c:pt idx="114">
                  <c:v>602</c:v>
                </c:pt>
                <c:pt idx="115">
                  <c:v>588</c:v>
                </c:pt>
                <c:pt idx="116">
                  <c:v>589</c:v>
                </c:pt>
                <c:pt idx="117">
                  <c:v>616</c:v>
                </c:pt>
                <c:pt idx="118">
                  <c:v>607</c:v>
                </c:pt>
                <c:pt idx="119">
                  <c:v>706</c:v>
                </c:pt>
                <c:pt idx="120">
                  <c:v>642</c:v>
                </c:pt>
                <c:pt idx="121">
                  <c:v>600</c:v>
                </c:pt>
                <c:pt idx="122">
                  <c:v>718</c:v>
                </c:pt>
                <c:pt idx="123">
                  <c:v>747</c:v>
                </c:pt>
                <c:pt idx="124">
                  <c:v>766</c:v>
                </c:pt>
                <c:pt idx="125">
                  <c:v>767</c:v>
                </c:pt>
                <c:pt idx="126">
                  <c:v>747</c:v>
                </c:pt>
                <c:pt idx="127">
                  <c:v>747</c:v>
                </c:pt>
                <c:pt idx="128">
                  <c:v>724</c:v>
                </c:pt>
                <c:pt idx="129">
                  <c:v>727</c:v>
                </c:pt>
                <c:pt idx="130">
                  <c:v>768</c:v>
                </c:pt>
                <c:pt idx="131">
                  <c:v>842</c:v>
                </c:pt>
                <c:pt idx="132">
                  <c:v>724</c:v>
                </c:pt>
                <c:pt idx="133">
                  <c:v>715</c:v>
                </c:pt>
                <c:pt idx="134">
                  <c:v>786</c:v>
                </c:pt>
                <c:pt idx="135">
                  <c:v>812</c:v>
                </c:pt>
                <c:pt idx="136">
                  <c:v>845</c:v>
                </c:pt>
                <c:pt idx="137">
                  <c:v>835</c:v>
                </c:pt>
                <c:pt idx="138">
                  <c:v>778</c:v>
                </c:pt>
                <c:pt idx="139">
                  <c:v>776</c:v>
                </c:pt>
                <c:pt idx="140">
                  <c:v>748</c:v>
                </c:pt>
                <c:pt idx="141">
                  <c:v>776</c:v>
                </c:pt>
                <c:pt idx="142">
                  <c:v>782</c:v>
                </c:pt>
                <c:pt idx="143">
                  <c:v>869</c:v>
                </c:pt>
                <c:pt idx="144">
                  <c:v>772</c:v>
                </c:pt>
                <c:pt idx="145">
                  <c:v>701</c:v>
                </c:pt>
                <c:pt idx="146">
                  <c:v>793</c:v>
                </c:pt>
                <c:pt idx="147">
                  <c:v>790</c:v>
                </c:pt>
                <c:pt idx="148">
                  <c:v>802</c:v>
                </c:pt>
                <c:pt idx="149">
                  <c:v>783</c:v>
                </c:pt>
                <c:pt idx="150">
                  <c:v>781</c:v>
                </c:pt>
                <c:pt idx="151">
                  <c:v>765</c:v>
                </c:pt>
                <c:pt idx="152">
                  <c:v>730</c:v>
                </c:pt>
                <c:pt idx="153">
                  <c:v>769</c:v>
                </c:pt>
                <c:pt idx="154">
                  <c:v>773</c:v>
                </c:pt>
                <c:pt idx="155">
                  <c:v>851</c:v>
                </c:pt>
                <c:pt idx="156">
                  <c:v>694</c:v>
                </c:pt>
                <c:pt idx="157">
                  <c:v>721</c:v>
                </c:pt>
                <c:pt idx="158">
                  <c:v>797</c:v>
                </c:pt>
                <c:pt idx="159">
                  <c:v>765</c:v>
                </c:pt>
                <c:pt idx="160">
                  <c:v>804</c:v>
                </c:pt>
                <c:pt idx="161">
                  <c:v>779</c:v>
                </c:pt>
                <c:pt idx="162">
                  <c:v>822</c:v>
                </c:pt>
                <c:pt idx="163">
                  <c:v>776</c:v>
                </c:pt>
                <c:pt idx="164">
                  <c:v>701</c:v>
                </c:pt>
                <c:pt idx="165">
                  <c:v>781</c:v>
                </c:pt>
                <c:pt idx="166">
                  <c:v>777</c:v>
                </c:pt>
                <c:pt idx="167">
                  <c:v>819</c:v>
                </c:pt>
                <c:pt idx="168">
                  <c:v>685</c:v>
                </c:pt>
                <c:pt idx="169">
                  <c:v>657</c:v>
                </c:pt>
                <c:pt idx="170">
                  <c:v>730</c:v>
                </c:pt>
                <c:pt idx="171">
                  <c:v>755</c:v>
                </c:pt>
                <c:pt idx="172">
                  <c:v>780</c:v>
                </c:pt>
                <c:pt idx="173">
                  <c:v>722</c:v>
                </c:pt>
                <c:pt idx="174">
                  <c:v>751</c:v>
                </c:pt>
                <c:pt idx="175">
                  <c:v>727</c:v>
                </c:pt>
                <c:pt idx="176">
                  <c:v>680</c:v>
                </c:pt>
                <c:pt idx="177">
                  <c:v>747</c:v>
                </c:pt>
                <c:pt idx="178">
                  <c:v>729</c:v>
                </c:pt>
                <c:pt idx="179">
                  <c:v>909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7BE-C140-909C-F1FC9C01C084}"/>
            </c:ext>
          </c:extLst>
        </c:ser>
        <c:ser>
          <c:idx val="1"/>
          <c:order val="1"/>
          <c:tx>
            <c:v>OOT starts: Oct 2023</c:v>
          </c:tx>
          <c:spPr>
            <a:ln w="14288">
              <a:solidFill>
                <a:srgbClr val="5D6B75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2023.75</c:v>
                </c:pt>
                <c:pt idx="1">
                  <c:v>2023.75</c:v>
                </c:pt>
              </c:numCache>
            </c:numRef>
          </c:xVal>
          <c:yVal>
            <c:numRef>
              <c:f>'Chart Data'!$D$2:$D$3</c:f>
              <c:numCache>
                <c:formatCode>#,##0</c:formatCode>
                <c:ptCount val="2"/>
                <c:pt idx="0">
                  <c:v>0</c:v>
                </c:pt>
                <c:pt idx="1">
                  <c:v>1400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7BE-C140-909C-F1FC9C01C0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400"/>
          <c:min val="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revenue (source units)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200"/>
      </c:valAx>
      <c:valAx>
        <c:axId val="48650112"/>
        <c:scaling>
          <c:orientation val="minMax"/>
          <c:max val="2026"/>
          <c:min val="2011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3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Actual</c:v>
          </c:tx>
          <c:spPr>
            <a:ln w="22860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Data'!$A$2:$A$178</c:f>
              <c:numCache>
                <c:formatCode>General</c:formatCode>
                <c:ptCount val="177"/>
                <c:pt idx="0">
                  <c:v>2011.25</c:v>
                </c:pt>
                <c:pt idx="1">
                  <c:v>2011.3333333329999</c:v>
                </c:pt>
                <c:pt idx="2">
                  <c:v>2011.4166666670001</c:v>
                </c:pt>
                <c:pt idx="3">
                  <c:v>2011.5</c:v>
                </c:pt>
                <c:pt idx="4">
                  <c:v>2011.5833333329999</c:v>
                </c:pt>
                <c:pt idx="5">
                  <c:v>2011.6666666670001</c:v>
                </c:pt>
                <c:pt idx="6">
                  <c:v>2011.75</c:v>
                </c:pt>
                <c:pt idx="7">
                  <c:v>2011.8333333329999</c:v>
                </c:pt>
                <c:pt idx="8">
                  <c:v>2011.9166666670001</c:v>
                </c:pt>
                <c:pt idx="9">
                  <c:v>2012</c:v>
                </c:pt>
                <c:pt idx="10">
                  <c:v>2012.0833333329999</c:v>
                </c:pt>
                <c:pt idx="11">
                  <c:v>2012.1666666670001</c:v>
                </c:pt>
                <c:pt idx="12">
                  <c:v>2012.25</c:v>
                </c:pt>
                <c:pt idx="13">
                  <c:v>2012.3333333329999</c:v>
                </c:pt>
                <c:pt idx="14">
                  <c:v>2012.4166666670001</c:v>
                </c:pt>
                <c:pt idx="15">
                  <c:v>2012.5</c:v>
                </c:pt>
                <c:pt idx="16">
                  <c:v>2012.5833333329999</c:v>
                </c:pt>
                <c:pt idx="17">
                  <c:v>2012.6666666670001</c:v>
                </c:pt>
                <c:pt idx="18">
                  <c:v>2012.75</c:v>
                </c:pt>
                <c:pt idx="19">
                  <c:v>2012.8333333329999</c:v>
                </c:pt>
                <c:pt idx="20">
                  <c:v>2012.9166666670001</c:v>
                </c:pt>
                <c:pt idx="21">
                  <c:v>2013</c:v>
                </c:pt>
                <c:pt idx="22">
                  <c:v>2013.0833333329999</c:v>
                </c:pt>
                <c:pt idx="23">
                  <c:v>2013.1666666670001</c:v>
                </c:pt>
                <c:pt idx="24">
                  <c:v>2013.25</c:v>
                </c:pt>
                <c:pt idx="25">
                  <c:v>2013.3333333329999</c:v>
                </c:pt>
                <c:pt idx="26">
                  <c:v>2013.4166666670001</c:v>
                </c:pt>
                <c:pt idx="27">
                  <c:v>2013.5</c:v>
                </c:pt>
                <c:pt idx="28">
                  <c:v>2013.5833333329999</c:v>
                </c:pt>
                <c:pt idx="29">
                  <c:v>2013.6666666670001</c:v>
                </c:pt>
                <c:pt idx="30">
                  <c:v>2013.75</c:v>
                </c:pt>
                <c:pt idx="31">
                  <c:v>2013.8333333329999</c:v>
                </c:pt>
                <c:pt idx="32">
                  <c:v>2013.9166666670001</c:v>
                </c:pt>
                <c:pt idx="33">
                  <c:v>2014</c:v>
                </c:pt>
                <c:pt idx="34">
                  <c:v>2014.0833333329999</c:v>
                </c:pt>
                <c:pt idx="35">
                  <c:v>2014.1666666670001</c:v>
                </c:pt>
                <c:pt idx="36">
                  <c:v>2014.25</c:v>
                </c:pt>
                <c:pt idx="37">
                  <c:v>2014.3333333329999</c:v>
                </c:pt>
                <c:pt idx="38">
                  <c:v>2014.4166666670001</c:v>
                </c:pt>
                <c:pt idx="39">
                  <c:v>2014.5</c:v>
                </c:pt>
                <c:pt idx="40">
                  <c:v>2014.5833333329999</c:v>
                </c:pt>
                <c:pt idx="41">
                  <c:v>2014.6666666670001</c:v>
                </c:pt>
                <c:pt idx="42">
                  <c:v>2014.75</c:v>
                </c:pt>
                <c:pt idx="43">
                  <c:v>2014.8333333329999</c:v>
                </c:pt>
                <c:pt idx="44">
                  <c:v>2014.9166666670001</c:v>
                </c:pt>
                <c:pt idx="45">
                  <c:v>2015</c:v>
                </c:pt>
                <c:pt idx="46">
                  <c:v>2015.0833333329999</c:v>
                </c:pt>
                <c:pt idx="47">
                  <c:v>2015.1666666670001</c:v>
                </c:pt>
                <c:pt idx="48">
                  <c:v>2015.25</c:v>
                </c:pt>
                <c:pt idx="49">
                  <c:v>2015.3333333329999</c:v>
                </c:pt>
                <c:pt idx="50">
                  <c:v>2015.4166666670001</c:v>
                </c:pt>
                <c:pt idx="51">
                  <c:v>2015.5</c:v>
                </c:pt>
                <c:pt idx="52">
                  <c:v>2015.5833333329999</c:v>
                </c:pt>
                <c:pt idx="53">
                  <c:v>2015.6666666670001</c:v>
                </c:pt>
                <c:pt idx="54">
                  <c:v>2015.75</c:v>
                </c:pt>
                <c:pt idx="55">
                  <c:v>2015.8333333329999</c:v>
                </c:pt>
                <c:pt idx="56">
                  <c:v>2015.9166666670001</c:v>
                </c:pt>
                <c:pt idx="57">
                  <c:v>2016</c:v>
                </c:pt>
                <c:pt idx="58">
                  <c:v>2016.0833333329999</c:v>
                </c:pt>
                <c:pt idx="59">
                  <c:v>2016.1666666670001</c:v>
                </c:pt>
                <c:pt idx="60">
                  <c:v>2016.25</c:v>
                </c:pt>
                <c:pt idx="61">
                  <c:v>2016.3333333329999</c:v>
                </c:pt>
                <c:pt idx="62">
                  <c:v>2016.4166666670001</c:v>
                </c:pt>
                <c:pt idx="63">
                  <c:v>2016.5</c:v>
                </c:pt>
                <c:pt idx="64">
                  <c:v>2016.5833333329999</c:v>
                </c:pt>
                <c:pt idx="65">
                  <c:v>2016.6666666670001</c:v>
                </c:pt>
                <c:pt idx="66">
                  <c:v>2016.75</c:v>
                </c:pt>
                <c:pt idx="67">
                  <c:v>2016.8333333329999</c:v>
                </c:pt>
                <c:pt idx="68">
                  <c:v>2016.9166666670001</c:v>
                </c:pt>
                <c:pt idx="69">
                  <c:v>2017</c:v>
                </c:pt>
                <c:pt idx="70">
                  <c:v>2017.0833333329999</c:v>
                </c:pt>
                <c:pt idx="71">
                  <c:v>2017.1666666670001</c:v>
                </c:pt>
                <c:pt idx="72">
                  <c:v>2017.25</c:v>
                </c:pt>
                <c:pt idx="73">
                  <c:v>2017.3333333329999</c:v>
                </c:pt>
                <c:pt idx="74">
                  <c:v>2017.4166666670001</c:v>
                </c:pt>
                <c:pt idx="75">
                  <c:v>2017.5</c:v>
                </c:pt>
                <c:pt idx="76">
                  <c:v>2017.5833333329999</c:v>
                </c:pt>
                <c:pt idx="77">
                  <c:v>2017.6666666670001</c:v>
                </c:pt>
                <c:pt idx="78">
                  <c:v>2017.75</c:v>
                </c:pt>
                <c:pt idx="79">
                  <c:v>2017.8333333329999</c:v>
                </c:pt>
                <c:pt idx="80">
                  <c:v>2017.9166666670001</c:v>
                </c:pt>
                <c:pt idx="81">
                  <c:v>2018</c:v>
                </c:pt>
                <c:pt idx="82">
                  <c:v>2018.0833333329999</c:v>
                </c:pt>
                <c:pt idx="83">
                  <c:v>2018.1666666670001</c:v>
                </c:pt>
                <c:pt idx="84">
                  <c:v>2018.25</c:v>
                </c:pt>
                <c:pt idx="85">
                  <c:v>2018.3333333329999</c:v>
                </c:pt>
                <c:pt idx="86">
                  <c:v>2018.4166666670001</c:v>
                </c:pt>
                <c:pt idx="87">
                  <c:v>2018.5</c:v>
                </c:pt>
                <c:pt idx="88">
                  <c:v>2018.5833333329999</c:v>
                </c:pt>
                <c:pt idx="89">
                  <c:v>2018.6666666670001</c:v>
                </c:pt>
                <c:pt idx="90">
                  <c:v>2018.75</c:v>
                </c:pt>
                <c:pt idx="91">
                  <c:v>2018.8333333329999</c:v>
                </c:pt>
                <c:pt idx="92">
                  <c:v>2018.9166666670001</c:v>
                </c:pt>
                <c:pt idx="93">
                  <c:v>2019</c:v>
                </c:pt>
                <c:pt idx="94">
                  <c:v>2019.0833333329999</c:v>
                </c:pt>
                <c:pt idx="95">
                  <c:v>2019.1666666670001</c:v>
                </c:pt>
                <c:pt idx="96">
                  <c:v>2019.25</c:v>
                </c:pt>
                <c:pt idx="97">
                  <c:v>2019.3333333329999</c:v>
                </c:pt>
                <c:pt idx="98">
                  <c:v>2019.4166666670001</c:v>
                </c:pt>
                <c:pt idx="99">
                  <c:v>2019.5</c:v>
                </c:pt>
                <c:pt idx="100">
                  <c:v>2019.5833333329999</c:v>
                </c:pt>
                <c:pt idx="101">
                  <c:v>2019.6666666670001</c:v>
                </c:pt>
                <c:pt idx="102">
                  <c:v>2019.75</c:v>
                </c:pt>
                <c:pt idx="103">
                  <c:v>2019.8333333329999</c:v>
                </c:pt>
                <c:pt idx="104">
                  <c:v>2019.9166666670001</c:v>
                </c:pt>
                <c:pt idx="105">
                  <c:v>2020</c:v>
                </c:pt>
                <c:pt idx="106">
                  <c:v>2020.0833333329999</c:v>
                </c:pt>
                <c:pt idx="107">
                  <c:v>2020.1666666670001</c:v>
                </c:pt>
                <c:pt idx="108">
                  <c:v>2020.25</c:v>
                </c:pt>
                <c:pt idx="109">
                  <c:v>2020.3333333329999</c:v>
                </c:pt>
                <c:pt idx="110">
                  <c:v>2020.4166666670001</c:v>
                </c:pt>
                <c:pt idx="111">
                  <c:v>2020.5</c:v>
                </c:pt>
                <c:pt idx="112">
                  <c:v>2020.5833333329999</c:v>
                </c:pt>
                <c:pt idx="113">
                  <c:v>2020.6666666670001</c:v>
                </c:pt>
                <c:pt idx="114">
                  <c:v>2020.75</c:v>
                </c:pt>
                <c:pt idx="115">
                  <c:v>2020.8333333329999</c:v>
                </c:pt>
                <c:pt idx="116">
                  <c:v>2020.9166666670001</c:v>
                </c:pt>
                <c:pt idx="117">
                  <c:v>2021</c:v>
                </c:pt>
                <c:pt idx="118">
                  <c:v>2021.0833333329999</c:v>
                </c:pt>
                <c:pt idx="119">
                  <c:v>2021.1666666670001</c:v>
                </c:pt>
                <c:pt idx="120">
                  <c:v>2021.25</c:v>
                </c:pt>
                <c:pt idx="121">
                  <c:v>2021.3333333329999</c:v>
                </c:pt>
                <c:pt idx="122">
                  <c:v>2021.4166666670001</c:v>
                </c:pt>
                <c:pt idx="123">
                  <c:v>2021.5</c:v>
                </c:pt>
                <c:pt idx="124">
                  <c:v>2021.5833333329999</c:v>
                </c:pt>
                <c:pt idx="125">
                  <c:v>2021.6666666670001</c:v>
                </c:pt>
                <c:pt idx="126">
                  <c:v>2021.75</c:v>
                </c:pt>
                <c:pt idx="127">
                  <c:v>2021.8333333329999</c:v>
                </c:pt>
                <c:pt idx="128">
                  <c:v>2021.9166666670001</c:v>
                </c:pt>
                <c:pt idx="129">
                  <c:v>2022</c:v>
                </c:pt>
                <c:pt idx="130">
                  <c:v>2022.0833333329999</c:v>
                </c:pt>
                <c:pt idx="131">
                  <c:v>2022.1666666670001</c:v>
                </c:pt>
                <c:pt idx="132">
                  <c:v>2022.25</c:v>
                </c:pt>
                <c:pt idx="133">
                  <c:v>2022.3333333329999</c:v>
                </c:pt>
                <c:pt idx="134">
                  <c:v>2022.4166666670001</c:v>
                </c:pt>
                <c:pt idx="135">
                  <c:v>2022.5</c:v>
                </c:pt>
                <c:pt idx="136">
                  <c:v>2022.5833333329999</c:v>
                </c:pt>
                <c:pt idx="137">
                  <c:v>2022.6666666670001</c:v>
                </c:pt>
                <c:pt idx="138">
                  <c:v>2022.75</c:v>
                </c:pt>
                <c:pt idx="139">
                  <c:v>2022.8333333329999</c:v>
                </c:pt>
                <c:pt idx="140">
                  <c:v>2022.9166666670001</c:v>
                </c:pt>
                <c:pt idx="141">
                  <c:v>2023</c:v>
                </c:pt>
                <c:pt idx="142">
                  <c:v>2023.0833333329999</c:v>
                </c:pt>
                <c:pt idx="143">
                  <c:v>2023.1666666670001</c:v>
                </c:pt>
                <c:pt idx="144">
                  <c:v>2023.25</c:v>
                </c:pt>
                <c:pt idx="145">
                  <c:v>2023.3333333329999</c:v>
                </c:pt>
                <c:pt idx="146">
                  <c:v>2023.4166666670001</c:v>
                </c:pt>
                <c:pt idx="147">
                  <c:v>2023.5</c:v>
                </c:pt>
                <c:pt idx="148">
                  <c:v>2023.5833333329999</c:v>
                </c:pt>
                <c:pt idx="149">
                  <c:v>2023.6666666670001</c:v>
                </c:pt>
                <c:pt idx="150">
                  <c:v>2023.75</c:v>
                </c:pt>
                <c:pt idx="151">
                  <c:v>2023.8333333329999</c:v>
                </c:pt>
                <c:pt idx="152">
                  <c:v>2023.9166666670001</c:v>
                </c:pt>
                <c:pt idx="153">
                  <c:v>2024</c:v>
                </c:pt>
                <c:pt idx="154">
                  <c:v>2024.0833333329999</c:v>
                </c:pt>
                <c:pt idx="155">
                  <c:v>2024.1666666670001</c:v>
                </c:pt>
                <c:pt idx="156">
                  <c:v>2024.25</c:v>
                </c:pt>
                <c:pt idx="157">
                  <c:v>2024.3333333329999</c:v>
                </c:pt>
                <c:pt idx="158">
                  <c:v>2024.4166666670001</c:v>
                </c:pt>
                <c:pt idx="159">
                  <c:v>2024.5</c:v>
                </c:pt>
                <c:pt idx="160">
                  <c:v>2024.5833333329999</c:v>
                </c:pt>
                <c:pt idx="161">
                  <c:v>2024.6666666670001</c:v>
                </c:pt>
                <c:pt idx="162">
                  <c:v>2024.75</c:v>
                </c:pt>
                <c:pt idx="163">
                  <c:v>2024.8333333329999</c:v>
                </c:pt>
                <c:pt idx="164">
                  <c:v>2024.9166666670001</c:v>
                </c:pt>
                <c:pt idx="165">
                  <c:v>2025</c:v>
                </c:pt>
                <c:pt idx="166">
                  <c:v>2025.0833333329999</c:v>
                </c:pt>
                <c:pt idx="167">
                  <c:v>2025.1666666670001</c:v>
                </c:pt>
                <c:pt idx="168">
                  <c:v>2025.25</c:v>
                </c:pt>
                <c:pt idx="169">
                  <c:v>2025.3333333329999</c:v>
                </c:pt>
                <c:pt idx="170">
                  <c:v>2025.4166666670001</c:v>
                </c:pt>
                <c:pt idx="171">
                  <c:v>2025.5</c:v>
                </c:pt>
                <c:pt idx="172">
                  <c:v>2025.5833333329999</c:v>
                </c:pt>
                <c:pt idx="173">
                  <c:v>2025.6666666670001</c:v>
                </c:pt>
                <c:pt idx="174">
                  <c:v>2025.75</c:v>
                </c:pt>
                <c:pt idx="175">
                  <c:v>2025.8333333329999</c:v>
                </c:pt>
                <c:pt idx="176">
                  <c:v>2025.9166666670001</c:v>
                </c:pt>
              </c:numCache>
            </c:numRef>
          </c:xVal>
          <c:yVal>
            <c:numRef>
              <c:f>'Chart Data'!$B$2:$B$178</c:f>
              <c:numCache>
                <c:formatCode>#,##0</c:formatCode>
                <c:ptCount val="177"/>
                <c:pt idx="0">
                  <c:v>983</c:v>
                </c:pt>
                <c:pt idx="1">
                  <c:v>742</c:v>
                </c:pt>
                <c:pt idx="2">
                  <c:v>933</c:v>
                </c:pt>
                <c:pt idx="3">
                  <c:v>884</c:v>
                </c:pt>
                <c:pt idx="4">
                  <c:v>917</c:v>
                </c:pt>
                <c:pt idx="5">
                  <c:v>841</c:v>
                </c:pt>
                <c:pt idx="6">
                  <c:v>817</c:v>
                </c:pt>
                <c:pt idx="7">
                  <c:v>837</c:v>
                </c:pt>
                <c:pt idx="8">
                  <c:v>994</c:v>
                </c:pt>
                <c:pt idx="9">
                  <c:v>770</c:v>
                </c:pt>
                <c:pt idx="10">
                  <c:v>769</c:v>
                </c:pt>
                <c:pt idx="11">
                  <c:v>841</c:v>
                </c:pt>
                <c:pt idx="12">
                  <c:v>846</c:v>
                </c:pt>
                <c:pt idx="13">
                  <c:v>889</c:v>
                </c:pt>
                <c:pt idx="14">
                  <c:v>820</c:v>
                </c:pt>
                <c:pt idx="15">
                  <c:v>769</c:v>
                </c:pt>
                <c:pt idx="16">
                  <c:v>830</c:v>
                </c:pt>
                <c:pt idx="17">
                  <c:v>726</c:v>
                </c:pt>
                <c:pt idx="18">
                  <c:v>824</c:v>
                </c:pt>
                <c:pt idx="19">
                  <c:v>892</c:v>
                </c:pt>
                <c:pt idx="20">
                  <c:v>878</c:v>
                </c:pt>
                <c:pt idx="21">
                  <c:v>729</c:v>
                </c:pt>
                <c:pt idx="22">
                  <c:v>754</c:v>
                </c:pt>
                <c:pt idx="23">
                  <c:v>735</c:v>
                </c:pt>
                <c:pt idx="24">
                  <c:v>831</c:v>
                </c:pt>
                <c:pt idx="25">
                  <c:v>835</c:v>
                </c:pt>
                <c:pt idx="26">
                  <c:v>770</c:v>
                </c:pt>
                <c:pt idx="27">
                  <c:v>754</c:v>
                </c:pt>
                <c:pt idx="28">
                  <c:v>781</c:v>
                </c:pt>
                <c:pt idx="29">
                  <c:v>639</c:v>
                </c:pt>
                <c:pt idx="30">
                  <c:v>626</c:v>
                </c:pt>
                <c:pt idx="31">
                  <c:v>543</c:v>
                </c:pt>
                <c:pt idx="32">
                  <c:v>756</c:v>
                </c:pt>
                <c:pt idx="33">
                  <c:v>545</c:v>
                </c:pt>
                <c:pt idx="34">
                  <c:v>543</c:v>
                </c:pt>
                <c:pt idx="35">
                  <c:v>511</c:v>
                </c:pt>
                <c:pt idx="36">
                  <c:v>676</c:v>
                </c:pt>
                <c:pt idx="37">
                  <c:v>639</c:v>
                </c:pt>
                <c:pt idx="38">
                  <c:v>610</c:v>
                </c:pt>
                <c:pt idx="39">
                  <c:v>651</c:v>
                </c:pt>
                <c:pt idx="40">
                  <c:v>584</c:v>
                </c:pt>
                <c:pt idx="41">
                  <c:v>638</c:v>
                </c:pt>
                <c:pt idx="42">
                  <c:v>606</c:v>
                </c:pt>
                <c:pt idx="43">
                  <c:v>535</c:v>
                </c:pt>
                <c:pt idx="44">
                  <c:v>872</c:v>
                </c:pt>
                <c:pt idx="45">
                  <c:v>550</c:v>
                </c:pt>
                <c:pt idx="46">
                  <c:v>555</c:v>
                </c:pt>
                <c:pt idx="47">
                  <c:v>558</c:v>
                </c:pt>
                <c:pt idx="48">
                  <c:v>541</c:v>
                </c:pt>
                <c:pt idx="49">
                  <c:v>524</c:v>
                </c:pt>
                <c:pt idx="50">
                  <c:v>575</c:v>
                </c:pt>
                <c:pt idx="51">
                  <c:v>546</c:v>
                </c:pt>
                <c:pt idx="52">
                  <c:v>512</c:v>
                </c:pt>
                <c:pt idx="53">
                  <c:v>529</c:v>
                </c:pt>
                <c:pt idx="54">
                  <c:v>482</c:v>
                </c:pt>
                <c:pt idx="55">
                  <c:v>486</c:v>
                </c:pt>
                <c:pt idx="56">
                  <c:v>665</c:v>
                </c:pt>
                <c:pt idx="57">
                  <c:v>438</c:v>
                </c:pt>
                <c:pt idx="58">
                  <c:v>479</c:v>
                </c:pt>
                <c:pt idx="59">
                  <c:v>641</c:v>
                </c:pt>
                <c:pt idx="60">
                  <c:v>514</c:v>
                </c:pt>
                <c:pt idx="61">
                  <c:v>558</c:v>
                </c:pt>
                <c:pt idx="62">
                  <c:v>542</c:v>
                </c:pt>
                <c:pt idx="63">
                  <c:v>493</c:v>
                </c:pt>
                <c:pt idx="64">
                  <c:v>557</c:v>
                </c:pt>
                <c:pt idx="65">
                  <c:v>499</c:v>
                </c:pt>
                <c:pt idx="66">
                  <c:v>458</c:v>
                </c:pt>
                <c:pt idx="67">
                  <c:v>538</c:v>
                </c:pt>
                <c:pt idx="68">
                  <c:v>598</c:v>
                </c:pt>
                <c:pt idx="69">
                  <c:v>501</c:v>
                </c:pt>
                <c:pt idx="70">
                  <c:v>469</c:v>
                </c:pt>
                <c:pt idx="71">
                  <c:v>531</c:v>
                </c:pt>
                <c:pt idx="72">
                  <c:v>487</c:v>
                </c:pt>
                <c:pt idx="73">
                  <c:v>571</c:v>
                </c:pt>
                <c:pt idx="74">
                  <c:v>535</c:v>
                </c:pt>
                <c:pt idx="75">
                  <c:v>495</c:v>
                </c:pt>
                <c:pt idx="76">
                  <c:v>552</c:v>
                </c:pt>
                <c:pt idx="77">
                  <c:v>476</c:v>
                </c:pt>
                <c:pt idx="78">
                  <c:v>526</c:v>
                </c:pt>
                <c:pt idx="79">
                  <c:v>520</c:v>
                </c:pt>
                <c:pt idx="80">
                  <c:v>565</c:v>
                </c:pt>
                <c:pt idx="81">
                  <c:v>519</c:v>
                </c:pt>
                <c:pt idx="82">
                  <c:v>478</c:v>
                </c:pt>
                <c:pt idx="83">
                  <c:v>560</c:v>
                </c:pt>
                <c:pt idx="84">
                  <c:v>527</c:v>
                </c:pt>
                <c:pt idx="85">
                  <c:v>585</c:v>
                </c:pt>
                <c:pt idx="86">
                  <c:v>571</c:v>
                </c:pt>
                <c:pt idx="87">
                  <c:v>572</c:v>
                </c:pt>
                <c:pt idx="88">
                  <c:v>528</c:v>
                </c:pt>
                <c:pt idx="89">
                  <c:v>561</c:v>
                </c:pt>
                <c:pt idx="90">
                  <c:v>551</c:v>
                </c:pt>
                <c:pt idx="91">
                  <c:v>591</c:v>
                </c:pt>
                <c:pt idx="92">
                  <c:v>654</c:v>
                </c:pt>
                <c:pt idx="93">
                  <c:v>550</c:v>
                </c:pt>
                <c:pt idx="94">
                  <c:v>491</c:v>
                </c:pt>
                <c:pt idx="95">
                  <c:v>584</c:v>
                </c:pt>
                <c:pt idx="96">
                  <c:v>562</c:v>
                </c:pt>
                <c:pt idx="97">
                  <c:v>605</c:v>
                </c:pt>
                <c:pt idx="98">
                  <c:v>607</c:v>
                </c:pt>
                <c:pt idx="99">
                  <c:v>585</c:v>
                </c:pt>
                <c:pt idx="100">
                  <c:v>709</c:v>
                </c:pt>
                <c:pt idx="101">
                  <c:v>541</c:v>
                </c:pt>
                <c:pt idx="102">
                  <c:v>715</c:v>
                </c:pt>
                <c:pt idx="103">
                  <c:v>593</c:v>
                </c:pt>
                <c:pt idx="104">
                  <c:v>728</c:v>
                </c:pt>
                <c:pt idx="105">
                  <c:v>527</c:v>
                </c:pt>
                <c:pt idx="106">
                  <c:v>678</c:v>
                </c:pt>
                <c:pt idx="107">
                  <c:v>590</c:v>
                </c:pt>
                <c:pt idx="108">
                  <c:v>467</c:v>
                </c:pt>
                <c:pt idx="109">
                  <c:v>582</c:v>
                </c:pt>
                <c:pt idx="110">
                  <c:v>553</c:v>
                </c:pt>
                <c:pt idx="111">
                  <c:v>602</c:v>
                </c:pt>
                <c:pt idx="112">
                  <c:v>588</c:v>
                </c:pt>
                <c:pt idx="113">
                  <c:v>589</c:v>
                </c:pt>
                <c:pt idx="114">
                  <c:v>616</c:v>
                </c:pt>
                <c:pt idx="115">
                  <c:v>607</c:v>
                </c:pt>
                <c:pt idx="116">
                  <c:v>706</c:v>
                </c:pt>
                <c:pt idx="117">
                  <c:v>642</c:v>
                </c:pt>
                <c:pt idx="118">
                  <c:v>600</c:v>
                </c:pt>
                <c:pt idx="119">
                  <c:v>718</c:v>
                </c:pt>
                <c:pt idx="120">
                  <c:v>747</c:v>
                </c:pt>
                <c:pt idx="121">
                  <c:v>766</c:v>
                </c:pt>
                <c:pt idx="122">
                  <c:v>767</c:v>
                </c:pt>
                <c:pt idx="123">
                  <c:v>747</c:v>
                </c:pt>
                <c:pt idx="124">
                  <c:v>747</c:v>
                </c:pt>
                <c:pt idx="125">
                  <c:v>724</c:v>
                </c:pt>
                <c:pt idx="126">
                  <c:v>727</c:v>
                </c:pt>
                <c:pt idx="127">
                  <c:v>768</c:v>
                </c:pt>
                <c:pt idx="128">
                  <c:v>842</c:v>
                </c:pt>
                <c:pt idx="129">
                  <c:v>724</c:v>
                </c:pt>
                <c:pt idx="130">
                  <c:v>715</c:v>
                </c:pt>
                <c:pt idx="131">
                  <c:v>786</c:v>
                </c:pt>
                <c:pt idx="132">
                  <c:v>812</c:v>
                </c:pt>
                <c:pt idx="133">
                  <c:v>845</c:v>
                </c:pt>
                <c:pt idx="134">
                  <c:v>835</c:v>
                </c:pt>
                <c:pt idx="135">
                  <c:v>778</c:v>
                </c:pt>
                <c:pt idx="136">
                  <c:v>776</c:v>
                </c:pt>
                <c:pt idx="137">
                  <c:v>748</c:v>
                </c:pt>
                <c:pt idx="138">
                  <c:v>776</c:v>
                </c:pt>
                <c:pt idx="139">
                  <c:v>782</c:v>
                </c:pt>
                <c:pt idx="140">
                  <c:v>869</c:v>
                </c:pt>
                <c:pt idx="141">
                  <c:v>772</c:v>
                </c:pt>
                <c:pt idx="142">
                  <c:v>701</c:v>
                </c:pt>
                <c:pt idx="143">
                  <c:v>793</c:v>
                </c:pt>
                <c:pt idx="144">
                  <c:v>790</c:v>
                </c:pt>
                <c:pt idx="145">
                  <c:v>802</c:v>
                </c:pt>
                <c:pt idx="146">
                  <c:v>783</c:v>
                </c:pt>
                <c:pt idx="147">
                  <c:v>781</c:v>
                </c:pt>
                <c:pt idx="148">
                  <c:v>765</c:v>
                </c:pt>
                <c:pt idx="149">
                  <c:v>730</c:v>
                </c:pt>
                <c:pt idx="150">
                  <c:v>769</c:v>
                </c:pt>
                <c:pt idx="151">
                  <c:v>773</c:v>
                </c:pt>
                <c:pt idx="152">
                  <c:v>851</c:v>
                </c:pt>
                <c:pt idx="153">
                  <c:v>694</c:v>
                </c:pt>
                <c:pt idx="154">
                  <c:v>721</c:v>
                </c:pt>
                <c:pt idx="155">
                  <c:v>797</c:v>
                </c:pt>
                <c:pt idx="156">
                  <c:v>765</c:v>
                </c:pt>
                <c:pt idx="157">
                  <c:v>804</c:v>
                </c:pt>
                <c:pt idx="158">
                  <c:v>779</c:v>
                </c:pt>
                <c:pt idx="159">
                  <c:v>822</c:v>
                </c:pt>
                <c:pt idx="160">
                  <c:v>776</c:v>
                </c:pt>
                <c:pt idx="161">
                  <c:v>701</c:v>
                </c:pt>
                <c:pt idx="162">
                  <c:v>781</c:v>
                </c:pt>
                <c:pt idx="163">
                  <c:v>777</c:v>
                </c:pt>
                <c:pt idx="164">
                  <c:v>819</c:v>
                </c:pt>
                <c:pt idx="165">
                  <c:v>685</c:v>
                </c:pt>
                <c:pt idx="166">
                  <c:v>657</c:v>
                </c:pt>
                <c:pt idx="167">
                  <c:v>730</c:v>
                </c:pt>
                <c:pt idx="168">
                  <c:v>755</c:v>
                </c:pt>
                <c:pt idx="169">
                  <c:v>780</c:v>
                </c:pt>
                <c:pt idx="170">
                  <c:v>722</c:v>
                </c:pt>
                <c:pt idx="171">
                  <c:v>751</c:v>
                </c:pt>
                <c:pt idx="172">
                  <c:v>727</c:v>
                </c:pt>
                <c:pt idx="173">
                  <c:v>680</c:v>
                </c:pt>
                <c:pt idx="174">
                  <c:v>747</c:v>
                </c:pt>
                <c:pt idx="175">
                  <c:v>729</c:v>
                </c:pt>
                <c:pt idx="176">
                  <c:v>909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A3B-C34F-A146-A378F2FED3D7}"/>
            </c:ext>
          </c:extLst>
        </c:ser>
        <c:ser>
          <c:idx val="1"/>
          <c:order val="1"/>
          <c:tx>
            <c:v>Predicted</c:v>
          </c:tx>
          <c:spPr>
            <a:ln w="22860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Data'!$C$2:$C$178</c:f>
              <c:numCache>
                <c:formatCode>General</c:formatCode>
                <c:ptCount val="177"/>
                <c:pt idx="0">
                  <c:v>2011.25</c:v>
                </c:pt>
                <c:pt idx="1">
                  <c:v>2011.3333333329999</c:v>
                </c:pt>
                <c:pt idx="2">
                  <c:v>2011.4166666670001</c:v>
                </c:pt>
                <c:pt idx="3">
                  <c:v>2011.5</c:v>
                </c:pt>
                <c:pt idx="4">
                  <c:v>2011.5833333329999</c:v>
                </c:pt>
                <c:pt idx="5">
                  <c:v>2011.6666666670001</c:v>
                </c:pt>
                <c:pt idx="6">
                  <c:v>2011.75</c:v>
                </c:pt>
                <c:pt idx="7">
                  <c:v>2011.8333333329999</c:v>
                </c:pt>
                <c:pt idx="8">
                  <c:v>2011.9166666670001</c:v>
                </c:pt>
                <c:pt idx="9">
                  <c:v>2012</c:v>
                </c:pt>
                <c:pt idx="10">
                  <c:v>2012.0833333329999</c:v>
                </c:pt>
                <c:pt idx="11">
                  <c:v>2012.1666666670001</c:v>
                </c:pt>
                <c:pt idx="12">
                  <c:v>2012.25</c:v>
                </c:pt>
                <c:pt idx="13">
                  <c:v>2012.3333333329999</c:v>
                </c:pt>
                <c:pt idx="14">
                  <c:v>2012.4166666670001</c:v>
                </c:pt>
                <c:pt idx="15">
                  <c:v>2012.5</c:v>
                </c:pt>
                <c:pt idx="16">
                  <c:v>2012.5833333329999</c:v>
                </c:pt>
                <c:pt idx="17">
                  <c:v>2012.6666666670001</c:v>
                </c:pt>
                <c:pt idx="18">
                  <c:v>2012.75</c:v>
                </c:pt>
                <c:pt idx="19">
                  <c:v>2012.8333333329999</c:v>
                </c:pt>
                <c:pt idx="20">
                  <c:v>2012.9166666670001</c:v>
                </c:pt>
                <c:pt idx="21">
                  <c:v>2013</c:v>
                </c:pt>
                <c:pt idx="22">
                  <c:v>2013.0833333329999</c:v>
                </c:pt>
                <c:pt idx="23">
                  <c:v>2013.1666666670001</c:v>
                </c:pt>
                <c:pt idx="24">
                  <c:v>2013.25</c:v>
                </c:pt>
                <c:pt idx="25">
                  <c:v>2013.3333333329999</c:v>
                </c:pt>
                <c:pt idx="26">
                  <c:v>2013.4166666670001</c:v>
                </c:pt>
                <c:pt idx="27">
                  <c:v>2013.5</c:v>
                </c:pt>
                <c:pt idx="28">
                  <c:v>2013.5833333329999</c:v>
                </c:pt>
                <c:pt idx="29">
                  <c:v>2013.6666666670001</c:v>
                </c:pt>
                <c:pt idx="30">
                  <c:v>2013.75</c:v>
                </c:pt>
                <c:pt idx="31">
                  <c:v>2013.8333333329999</c:v>
                </c:pt>
                <c:pt idx="32">
                  <c:v>2013.9166666670001</c:v>
                </c:pt>
                <c:pt idx="33">
                  <c:v>2014</c:v>
                </c:pt>
                <c:pt idx="34">
                  <c:v>2014.0833333329999</c:v>
                </c:pt>
                <c:pt idx="35">
                  <c:v>2014.1666666670001</c:v>
                </c:pt>
                <c:pt idx="36">
                  <c:v>2014.25</c:v>
                </c:pt>
                <c:pt idx="37">
                  <c:v>2014.3333333329999</c:v>
                </c:pt>
                <c:pt idx="38">
                  <c:v>2014.4166666670001</c:v>
                </c:pt>
                <c:pt idx="39">
                  <c:v>2014.5</c:v>
                </c:pt>
                <c:pt idx="40">
                  <c:v>2014.5833333329999</c:v>
                </c:pt>
                <c:pt idx="41">
                  <c:v>2014.6666666670001</c:v>
                </c:pt>
                <c:pt idx="42">
                  <c:v>2014.75</c:v>
                </c:pt>
                <c:pt idx="43">
                  <c:v>2014.8333333329999</c:v>
                </c:pt>
                <c:pt idx="44">
                  <c:v>2014.9166666670001</c:v>
                </c:pt>
                <c:pt idx="45">
                  <c:v>2015</c:v>
                </c:pt>
                <c:pt idx="46">
                  <c:v>2015.0833333329999</c:v>
                </c:pt>
                <c:pt idx="47">
                  <c:v>2015.1666666670001</c:v>
                </c:pt>
                <c:pt idx="48">
                  <c:v>2015.25</c:v>
                </c:pt>
                <c:pt idx="49">
                  <c:v>2015.3333333329999</c:v>
                </c:pt>
                <c:pt idx="50">
                  <c:v>2015.4166666670001</c:v>
                </c:pt>
                <c:pt idx="51">
                  <c:v>2015.5</c:v>
                </c:pt>
                <c:pt idx="52">
                  <c:v>2015.5833333329999</c:v>
                </c:pt>
                <c:pt idx="53">
                  <c:v>2015.6666666670001</c:v>
                </c:pt>
                <c:pt idx="54">
                  <c:v>2015.75</c:v>
                </c:pt>
                <c:pt idx="55">
                  <c:v>2015.8333333329999</c:v>
                </c:pt>
                <c:pt idx="56">
                  <c:v>2015.9166666670001</c:v>
                </c:pt>
                <c:pt idx="57">
                  <c:v>2016</c:v>
                </c:pt>
                <c:pt idx="58">
                  <c:v>2016.0833333329999</c:v>
                </c:pt>
                <c:pt idx="59">
                  <c:v>2016.1666666670001</c:v>
                </c:pt>
                <c:pt idx="60">
                  <c:v>2016.25</c:v>
                </c:pt>
                <c:pt idx="61">
                  <c:v>2016.3333333329999</c:v>
                </c:pt>
                <c:pt idx="62">
                  <c:v>2016.4166666670001</c:v>
                </c:pt>
                <c:pt idx="63">
                  <c:v>2016.5</c:v>
                </c:pt>
                <c:pt idx="64">
                  <c:v>2016.5833333329999</c:v>
                </c:pt>
                <c:pt idx="65">
                  <c:v>2016.6666666670001</c:v>
                </c:pt>
                <c:pt idx="66">
                  <c:v>2016.75</c:v>
                </c:pt>
                <c:pt idx="67">
                  <c:v>2016.8333333329999</c:v>
                </c:pt>
                <c:pt idx="68">
                  <c:v>2016.9166666670001</c:v>
                </c:pt>
                <c:pt idx="69">
                  <c:v>2017</c:v>
                </c:pt>
                <c:pt idx="70">
                  <c:v>2017.0833333329999</c:v>
                </c:pt>
                <c:pt idx="71">
                  <c:v>2017.1666666670001</c:v>
                </c:pt>
                <c:pt idx="72">
                  <c:v>2017.25</c:v>
                </c:pt>
                <c:pt idx="73">
                  <c:v>2017.3333333329999</c:v>
                </c:pt>
                <c:pt idx="74">
                  <c:v>2017.4166666670001</c:v>
                </c:pt>
                <c:pt idx="75">
                  <c:v>2017.5</c:v>
                </c:pt>
                <c:pt idx="76">
                  <c:v>2017.5833333329999</c:v>
                </c:pt>
                <c:pt idx="77">
                  <c:v>2017.6666666670001</c:v>
                </c:pt>
                <c:pt idx="78">
                  <c:v>2017.75</c:v>
                </c:pt>
                <c:pt idx="79">
                  <c:v>2017.8333333329999</c:v>
                </c:pt>
                <c:pt idx="80">
                  <c:v>2017.9166666670001</c:v>
                </c:pt>
                <c:pt idx="81">
                  <c:v>2018</c:v>
                </c:pt>
                <c:pt idx="82">
                  <c:v>2018.0833333329999</c:v>
                </c:pt>
                <c:pt idx="83">
                  <c:v>2018.1666666670001</c:v>
                </c:pt>
                <c:pt idx="84">
                  <c:v>2018.25</c:v>
                </c:pt>
                <c:pt idx="85">
                  <c:v>2018.3333333329999</c:v>
                </c:pt>
                <c:pt idx="86">
                  <c:v>2018.4166666670001</c:v>
                </c:pt>
                <c:pt idx="87">
                  <c:v>2018.5</c:v>
                </c:pt>
                <c:pt idx="88">
                  <c:v>2018.5833333329999</c:v>
                </c:pt>
                <c:pt idx="89">
                  <c:v>2018.6666666670001</c:v>
                </c:pt>
                <c:pt idx="90">
                  <c:v>2018.75</c:v>
                </c:pt>
                <c:pt idx="91">
                  <c:v>2018.8333333329999</c:v>
                </c:pt>
                <c:pt idx="92">
                  <c:v>2018.9166666670001</c:v>
                </c:pt>
                <c:pt idx="93">
                  <c:v>2019</c:v>
                </c:pt>
                <c:pt idx="94">
                  <c:v>2019.0833333329999</c:v>
                </c:pt>
                <c:pt idx="95">
                  <c:v>2019.1666666670001</c:v>
                </c:pt>
                <c:pt idx="96">
                  <c:v>2019.25</c:v>
                </c:pt>
                <c:pt idx="97">
                  <c:v>2019.3333333329999</c:v>
                </c:pt>
                <c:pt idx="98">
                  <c:v>2019.4166666670001</c:v>
                </c:pt>
                <c:pt idx="99">
                  <c:v>2019.5</c:v>
                </c:pt>
                <c:pt idx="100">
                  <c:v>2019.5833333329999</c:v>
                </c:pt>
                <c:pt idx="101">
                  <c:v>2019.6666666670001</c:v>
                </c:pt>
                <c:pt idx="102">
                  <c:v>2019.75</c:v>
                </c:pt>
                <c:pt idx="103">
                  <c:v>2019.8333333329999</c:v>
                </c:pt>
                <c:pt idx="104">
                  <c:v>2019.9166666670001</c:v>
                </c:pt>
                <c:pt idx="105">
                  <c:v>2020</c:v>
                </c:pt>
                <c:pt idx="106">
                  <c:v>2020.0833333329999</c:v>
                </c:pt>
                <c:pt idx="107">
                  <c:v>2020.1666666670001</c:v>
                </c:pt>
                <c:pt idx="108">
                  <c:v>2020.25</c:v>
                </c:pt>
                <c:pt idx="109">
                  <c:v>2020.3333333329999</c:v>
                </c:pt>
                <c:pt idx="110">
                  <c:v>2020.4166666670001</c:v>
                </c:pt>
                <c:pt idx="111">
                  <c:v>2020.5</c:v>
                </c:pt>
                <c:pt idx="112">
                  <c:v>2020.5833333329999</c:v>
                </c:pt>
                <c:pt idx="113">
                  <c:v>2020.6666666670001</c:v>
                </c:pt>
                <c:pt idx="114">
                  <c:v>2020.75</c:v>
                </c:pt>
                <c:pt idx="115">
                  <c:v>2020.8333333329999</c:v>
                </c:pt>
                <c:pt idx="116">
                  <c:v>2020.9166666670001</c:v>
                </c:pt>
                <c:pt idx="117">
                  <c:v>2021</c:v>
                </c:pt>
                <c:pt idx="118">
                  <c:v>2021.0833333329999</c:v>
                </c:pt>
                <c:pt idx="119">
                  <c:v>2021.1666666670001</c:v>
                </c:pt>
                <c:pt idx="120">
                  <c:v>2021.25</c:v>
                </c:pt>
                <c:pt idx="121">
                  <c:v>2021.3333333329999</c:v>
                </c:pt>
                <c:pt idx="122">
                  <c:v>2021.4166666670001</c:v>
                </c:pt>
                <c:pt idx="123">
                  <c:v>2021.5</c:v>
                </c:pt>
                <c:pt idx="124">
                  <c:v>2021.5833333329999</c:v>
                </c:pt>
                <c:pt idx="125">
                  <c:v>2021.6666666670001</c:v>
                </c:pt>
                <c:pt idx="126">
                  <c:v>2021.75</c:v>
                </c:pt>
                <c:pt idx="127">
                  <c:v>2021.8333333329999</c:v>
                </c:pt>
                <c:pt idx="128">
                  <c:v>2021.9166666670001</c:v>
                </c:pt>
                <c:pt idx="129">
                  <c:v>2022</c:v>
                </c:pt>
                <c:pt idx="130">
                  <c:v>2022.0833333329999</c:v>
                </c:pt>
                <c:pt idx="131">
                  <c:v>2022.1666666670001</c:v>
                </c:pt>
                <c:pt idx="132">
                  <c:v>2022.25</c:v>
                </c:pt>
                <c:pt idx="133">
                  <c:v>2022.3333333329999</c:v>
                </c:pt>
                <c:pt idx="134">
                  <c:v>2022.4166666670001</c:v>
                </c:pt>
                <c:pt idx="135">
                  <c:v>2022.5</c:v>
                </c:pt>
                <c:pt idx="136">
                  <c:v>2022.5833333329999</c:v>
                </c:pt>
                <c:pt idx="137">
                  <c:v>2022.6666666670001</c:v>
                </c:pt>
                <c:pt idx="138">
                  <c:v>2022.75</c:v>
                </c:pt>
                <c:pt idx="139">
                  <c:v>2022.8333333329999</c:v>
                </c:pt>
                <c:pt idx="140">
                  <c:v>2022.9166666670001</c:v>
                </c:pt>
                <c:pt idx="141">
                  <c:v>2023</c:v>
                </c:pt>
                <c:pt idx="142">
                  <c:v>2023.0833333329999</c:v>
                </c:pt>
                <c:pt idx="143">
                  <c:v>2023.1666666670001</c:v>
                </c:pt>
                <c:pt idx="144">
                  <c:v>2023.25</c:v>
                </c:pt>
                <c:pt idx="145">
                  <c:v>2023.3333333329999</c:v>
                </c:pt>
                <c:pt idx="146">
                  <c:v>2023.4166666670001</c:v>
                </c:pt>
                <c:pt idx="147">
                  <c:v>2023.5</c:v>
                </c:pt>
                <c:pt idx="148">
                  <c:v>2023.5833333329999</c:v>
                </c:pt>
                <c:pt idx="149">
                  <c:v>2023.6666666670001</c:v>
                </c:pt>
                <c:pt idx="150">
                  <c:v>2023.75</c:v>
                </c:pt>
                <c:pt idx="151">
                  <c:v>2023.8333333329999</c:v>
                </c:pt>
                <c:pt idx="152">
                  <c:v>2023.9166666670001</c:v>
                </c:pt>
                <c:pt idx="153">
                  <c:v>2024</c:v>
                </c:pt>
                <c:pt idx="154">
                  <c:v>2024.0833333329999</c:v>
                </c:pt>
                <c:pt idx="155">
                  <c:v>2024.1666666670001</c:v>
                </c:pt>
                <c:pt idx="156">
                  <c:v>2024.25</c:v>
                </c:pt>
                <c:pt idx="157">
                  <c:v>2024.3333333329999</c:v>
                </c:pt>
                <c:pt idx="158">
                  <c:v>2024.4166666670001</c:v>
                </c:pt>
                <c:pt idx="159">
                  <c:v>2024.5</c:v>
                </c:pt>
                <c:pt idx="160">
                  <c:v>2024.5833333329999</c:v>
                </c:pt>
                <c:pt idx="161">
                  <c:v>2024.6666666670001</c:v>
                </c:pt>
                <c:pt idx="162">
                  <c:v>2024.75</c:v>
                </c:pt>
                <c:pt idx="163">
                  <c:v>2024.8333333329999</c:v>
                </c:pt>
                <c:pt idx="164">
                  <c:v>2024.9166666670001</c:v>
                </c:pt>
                <c:pt idx="165">
                  <c:v>2025</c:v>
                </c:pt>
                <c:pt idx="166">
                  <c:v>2025.0833333329999</c:v>
                </c:pt>
                <c:pt idx="167">
                  <c:v>2025.1666666670001</c:v>
                </c:pt>
                <c:pt idx="168">
                  <c:v>2025.25</c:v>
                </c:pt>
                <c:pt idx="169">
                  <c:v>2025.3333333329999</c:v>
                </c:pt>
                <c:pt idx="170">
                  <c:v>2025.4166666670001</c:v>
                </c:pt>
                <c:pt idx="171">
                  <c:v>2025.5</c:v>
                </c:pt>
                <c:pt idx="172">
                  <c:v>2025.5833333329999</c:v>
                </c:pt>
                <c:pt idx="173">
                  <c:v>2025.6666666670001</c:v>
                </c:pt>
                <c:pt idx="174">
                  <c:v>2025.75</c:v>
                </c:pt>
                <c:pt idx="175">
                  <c:v>2025.8333333329999</c:v>
                </c:pt>
                <c:pt idx="176">
                  <c:v>2025.9166666670001</c:v>
                </c:pt>
              </c:numCache>
            </c:numRef>
          </c:xVal>
          <c:yVal>
            <c:numRef>
              <c:f>'Chart Data'!$D$2:$D$178</c:f>
              <c:numCache>
                <c:formatCode>#,##0</c:formatCode>
                <c:ptCount val="177"/>
                <c:pt idx="0">
                  <c:v>848.00978416099997</c:v>
                </c:pt>
                <c:pt idx="1">
                  <c:v>907.904692608</c:v>
                </c:pt>
                <c:pt idx="2">
                  <c:v>887.22474062900005</c:v>
                </c:pt>
                <c:pt idx="3">
                  <c:v>876.52296032200002</c:v>
                </c:pt>
                <c:pt idx="4">
                  <c:v>835.19298346999994</c:v>
                </c:pt>
                <c:pt idx="5">
                  <c:v>903.94388584299998</c:v>
                </c:pt>
                <c:pt idx="6">
                  <c:v>872.86724075699999</c:v>
                </c:pt>
                <c:pt idx="7">
                  <c:v>854.97224069399999</c:v>
                </c:pt>
                <c:pt idx="8">
                  <c:v>1003.9022089600001</c:v>
                </c:pt>
                <c:pt idx="9">
                  <c:v>785.90439354800003</c:v>
                </c:pt>
                <c:pt idx="10">
                  <c:v>851.76398514699997</c:v>
                </c:pt>
                <c:pt idx="11">
                  <c:v>840.57242765900003</c:v>
                </c:pt>
                <c:pt idx="12">
                  <c:v>788.15913463899994</c:v>
                </c:pt>
                <c:pt idx="13">
                  <c:v>799.15574632300002</c:v>
                </c:pt>
                <c:pt idx="14">
                  <c:v>830.24142259600001</c:v>
                </c:pt>
                <c:pt idx="15">
                  <c:v>825.58667210199997</c:v>
                </c:pt>
                <c:pt idx="16">
                  <c:v>811.87970538299999</c:v>
                </c:pt>
                <c:pt idx="17">
                  <c:v>811.32896063700002</c:v>
                </c:pt>
                <c:pt idx="18">
                  <c:v>768.39260328600005</c:v>
                </c:pt>
                <c:pt idx="19">
                  <c:v>789.685244797</c:v>
                </c:pt>
                <c:pt idx="20">
                  <c:v>977.62980052</c:v>
                </c:pt>
                <c:pt idx="21">
                  <c:v>767.02494781899998</c:v>
                </c:pt>
                <c:pt idx="22">
                  <c:v>824.27933141599999</c:v>
                </c:pt>
                <c:pt idx="23">
                  <c:v>779.61007824199999</c:v>
                </c:pt>
                <c:pt idx="24">
                  <c:v>724.28014621499995</c:v>
                </c:pt>
                <c:pt idx="25">
                  <c:v>757.15323654700001</c:v>
                </c:pt>
                <c:pt idx="26">
                  <c:v>786.70824788100003</c:v>
                </c:pt>
                <c:pt idx="27">
                  <c:v>803.453998791</c:v>
                </c:pt>
                <c:pt idx="28">
                  <c:v>774.69039025699999</c:v>
                </c:pt>
                <c:pt idx="29">
                  <c:v>757.10477177799999</c:v>
                </c:pt>
                <c:pt idx="30">
                  <c:v>701.60775209999997</c:v>
                </c:pt>
                <c:pt idx="31">
                  <c:v>667.40646536700001</c:v>
                </c:pt>
                <c:pt idx="32">
                  <c:v>719.25859763300002</c:v>
                </c:pt>
                <c:pt idx="33">
                  <c:v>566.65949021300003</c:v>
                </c:pt>
                <c:pt idx="34">
                  <c:v>591.56287720199998</c:v>
                </c:pt>
                <c:pt idx="35">
                  <c:v>604.21387451299995</c:v>
                </c:pt>
                <c:pt idx="36">
                  <c:v>536.48987077799995</c:v>
                </c:pt>
                <c:pt idx="37">
                  <c:v>579.64049080699999</c:v>
                </c:pt>
                <c:pt idx="38">
                  <c:v>597.30018781199999</c:v>
                </c:pt>
                <c:pt idx="39">
                  <c:v>629.68431561800003</c:v>
                </c:pt>
                <c:pt idx="40">
                  <c:v>628.61141740799997</c:v>
                </c:pt>
                <c:pt idx="41">
                  <c:v>601.43171464800002</c:v>
                </c:pt>
                <c:pt idx="42">
                  <c:v>617.38026637999997</c:v>
                </c:pt>
                <c:pt idx="43">
                  <c:v>595.90245406999998</c:v>
                </c:pt>
                <c:pt idx="44">
                  <c:v>699.50995128600005</c:v>
                </c:pt>
                <c:pt idx="45">
                  <c:v>582.41761107900004</c:v>
                </c:pt>
                <c:pt idx="46">
                  <c:v>599.23503607099997</c:v>
                </c:pt>
                <c:pt idx="47">
                  <c:v>636.84934341600001</c:v>
                </c:pt>
                <c:pt idx="48">
                  <c:v>550.22493639200002</c:v>
                </c:pt>
                <c:pt idx="49">
                  <c:v>551.47788447999994</c:v>
                </c:pt>
                <c:pt idx="50">
                  <c:v>533.71323691299995</c:v>
                </c:pt>
                <c:pt idx="51">
                  <c:v>546.38998947599998</c:v>
                </c:pt>
                <c:pt idx="52">
                  <c:v>539.72950592400002</c:v>
                </c:pt>
                <c:pt idx="53">
                  <c:v>533.27693879000003</c:v>
                </c:pt>
                <c:pt idx="54">
                  <c:v>514.95329045799997</c:v>
                </c:pt>
                <c:pt idx="55">
                  <c:v>492.95374937499997</c:v>
                </c:pt>
                <c:pt idx="56">
                  <c:v>596.79321063600003</c:v>
                </c:pt>
                <c:pt idx="57">
                  <c:v>478.96756873700002</c:v>
                </c:pt>
                <c:pt idx="58">
                  <c:v>502.23096140400003</c:v>
                </c:pt>
                <c:pt idx="59">
                  <c:v>511.08908956699997</c:v>
                </c:pt>
                <c:pt idx="60">
                  <c:v>512.75963485099999</c:v>
                </c:pt>
                <c:pt idx="61">
                  <c:v>526.33967179399997</c:v>
                </c:pt>
                <c:pt idx="62">
                  <c:v>570.257798224</c:v>
                </c:pt>
                <c:pt idx="63">
                  <c:v>532.51040188699994</c:v>
                </c:pt>
                <c:pt idx="64">
                  <c:v>522.27947078399995</c:v>
                </c:pt>
                <c:pt idx="65">
                  <c:v>524.58795812899996</c:v>
                </c:pt>
                <c:pt idx="66">
                  <c:v>505.96164980399999</c:v>
                </c:pt>
                <c:pt idx="67">
                  <c:v>494.11610623399997</c:v>
                </c:pt>
                <c:pt idx="68">
                  <c:v>606.18636917699996</c:v>
                </c:pt>
                <c:pt idx="69">
                  <c:v>473.63402258000002</c:v>
                </c:pt>
                <c:pt idx="70">
                  <c:v>539.83964091300004</c:v>
                </c:pt>
                <c:pt idx="71">
                  <c:v>511.37976213799999</c:v>
                </c:pt>
                <c:pt idx="72">
                  <c:v>493.702913303</c:v>
                </c:pt>
                <c:pt idx="73">
                  <c:v>481.49752970100002</c:v>
                </c:pt>
                <c:pt idx="74">
                  <c:v>523.74413261500001</c:v>
                </c:pt>
                <c:pt idx="75">
                  <c:v>517.49024114999997</c:v>
                </c:pt>
                <c:pt idx="76">
                  <c:v>523.96248890200002</c:v>
                </c:pt>
                <c:pt idx="77">
                  <c:v>530.14762200099995</c:v>
                </c:pt>
                <c:pt idx="78">
                  <c:v>503.43951250999999</c:v>
                </c:pt>
                <c:pt idx="79">
                  <c:v>524.21999874100004</c:v>
                </c:pt>
                <c:pt idx="80">
                  <c:v>612.27845381500003</c:v>
                </c:pt>
                <c:pt idx="81">
                  <c:v>476.46356741</c:v>
                </c:pt>
                <c:pt idx="82">
                  <c:v>523.95116558100005</c:v>
                </c:pt>
                <c:pt idx="83">
                  <c:v>507.15316702699999</c:v>
                </c:pt>
                <c:pt idx="84">
                  <c:v>514.41678155499994</c:v>
                </c:pt>
                <c:pt idx="85">
                  <c:v>515.56097067300004</c:v>
                </c:pt>
                <c:pt idx="86">
                  <c:v>554.15545299500002</c:v>
                </c:pt>
                <c:pt idx="87">
                  <c:v>555.40973373300005</c:v>
                </c:pt>
                <c:pt idx="88">
                  <c:v>564.44092287800004</c:v>
                </c:pt>
                <c:pt idx="89">
                  <c:v>545.27587689999996</c:v>
                </c:pt>
                <c:pt idx="90">
                  <c:v>548.36098637099997</c:v>
                </c:pt>
                <c:pt idx="91">
                  <c:v>542.17197662900003</c:v>
                </c:pt>
                <c:pt idx="92">
                  <c:v>676.11787316799996</c:v>
                </c:pt>
                <c:pt idx="93">
                  <c:v>520.12395837999998</c:v>
                </c:pt>
                <c:pt idx="94">
                  <c:v>571.92460771200001</c:v>
                </c:pt>
                <c:pt idx="95">
                  <c:v>557.96620736299997</c:v>
                </c:pt>
                <c:pt idx="96">
                  <c:v>542.18997466999997</c:v>
                </c:pt>
                <c:pt idx="97">
                  <c:v>544.12401606599997</c:v>
                </c:pt>
                <c:pt idx="98">
                  <c:v>578.40383963399995</c:v>
                </c:pt>
                <c:pt idx="99">
                  <c:v>587.84009742399996</c:v>
                </c:pt>
                <c:pt idx="100">
                  <c:v>593.01965967199999</c:v>
                </c:pt>
                <c:pt idx="101">
                  <c:v>627.55081088700001</c:v>
                </c:pt>
                <c:pt idx="102">
                  <c:v>588.30632772499996</c:v>
                </c:pt>
                <c:pt idx="103">
                  <c:v>646.63670455399995</c:v>
                </c:pt>
                <c:pt idx="104">
                  <c:v>730.37637645699999</c:v>
                </c:pt>
                <c:pt idx="105">
                  <c:v>601.23428098399995</c:v>
                </c:pt>
                <c:pt idx="106">
                  <c:v>587.98020798699997</c:v>
                </c:pt>
                <c:pt idx="107">
                  <c:v>600.16626344700001</c:v>
                </c:pt>
                <c:pt idx="108">
                  <c:v>496.036779164</c:v>
                </c:pt>
                <c:pt idx="109">
                  <c:v>555.97269137599994</c:v>
                </c:pt>
                <c:pt idx="110">
                  <c:v>600.11871988400003</c:v>
                </c:pt>
                <c:pt idx="111">
                  <c:v>648.93385048899995</c:v>
                </c:pt>
                <c:pt idx="112">
                  <c:v>610.36052015400003</c:v>
                </c:pt>
                <c:pt idx="113">
                  <c:v>586.15557736799997</c:v>
                </c:pt>
                <c:pt idx="114">
                  <c:v>590.93158461600001</c:v>
                </c:pt>
                <c:pt idx="115">
                  <c:v>591.73407706600005</c:v>
                </c:pt>
                <c:pt idx="116">
                  <c:v>724.24834669100005</c:v>
                </c:pt>
                <c:pt idx="117">
                  <c:v>587.75430214400001</c:v>
                </c:pt>
                <c:pt idx="118">
                  <c:v>647.11218496499998</c:v>
                </c:pt>
                <c:pt idx="119">
                  <c:v>696.67886491700006</c:v>
                </c:pt>
                <c:pt idx="120">
                  <c:v>691.86321616600003</c:v>
                </c:pt>
                <c:pt idx="121">
                  <c:v>731.60742225900003</c:v>
                </c:pt>
                <c:pt idx="122">
                  <c:v>730.15877609899997</c:v>
                </c:pt>
                <c:pt idx="123">
                  <c:v>729.08694104200003</c:v>
                </c:pt>
                <c:pt idx="124">
                  <c:v>739.41072131600004</c:v>
                </c:pt>
                <c:pt idx="125">
                  <c:v>734.98719799399998</c:v>
                </c:pt>
                <c:pt idx="126">
                  <c:v>743.49290523900004</c:v>
                </c:pt>
                <c:pt idx="127">
                  <c:v>740.10207071000002</c:v>
                </c:pt>
                <c:pt idx="128">
                  <c:v>899.68457295099995</c:v>
                </c:pt>
                <c:pt idx="129">
                  <c:v>700.69959106800002</c:v>
                </c:pt>
                <c:pt idx="130">
                  <c:v>770.83920581200005</c:v>
                </c:pt>
                <c:pt idx="131">
                  <c:v>775.45166067800005</c:v>
                </c:pt>
                <c:pt idx="132">
                  <c:v>752.84387117799997</c:v>
                </c:pt>
                <c:pt idx="133">
                  <c:v>774.09186053400003</c:v>
                </c:pt>
                <c:pt idx="134">
                  <c:v>812.56517194399999</c:v>
                </c:pt>
                <c:pt idx="135">
                  <c:v>811.68719886899999</c:v>
                </c:pt>
                <c:pt idx="136">
                  <c:v>801.89538654299997</c:v>
                </c:pt>
                <c:pt idx="137">
                  <c:v>773.505587633</c:v>
                </c:pt>
                <c:pt idx="138">
                  <c:v>757.33111807099999</c:v>
                </c:pt>
                <c:pt idx="139">
                  <c:v>747.61413309199997</c:v>
                </c:pt>
                <c:pt idx="140">
                  <c:v>903.36948513799996</c:v>
                </c:pt>
                <c:pt idx="141">
                  <c:v>719.66104413000005</c:v>
                </c:pt>
                <c:pt idx="142">
                  <c:v>798.11995923799998</c:v>
                </c:pt>
                <c:pt idx="143">
                  <c:v>771.26780361900001</c:v>
                </c:pt>
                <c:pt idx="144">
                  <c:v>735.35359886000003</c:v>
                </c:pt>
                <c:pt idx="145">
                  <c:v>744.75816124699998</c:v>
                </c:pt>
                <c:pt idx="146">
                  <c:v>791.34534472999997</c:v>
                </c:pt>
                <c:pt idx="147">
                  <c:v>781.32419431300002</c:v>
                </c:pt>
                <c:pt idx="148">
                  <c:v>783.24766008100005</c:v>
                </c:pt>
                <c:pt idx="149">
                  <c:v>771.78778517900002</c:v>
                </c:pt>
                <c:pt idx="150">
                  <c:v>748.81048591399997</c:v>
                </c:pt>
                <c:pt idx="151">
                  <c:v>739.86147877600001</c:v>
                </c:pt>
                <c:pt idx="152">
                  <c:v>897.33280762100003</c:v>
                </c:pt>
                <c:pt idx="153">
                  <c:v>695.09107600899995</c:v>
                </c:pt>
                <c:pt idx="154">
                  <c:v>747.238004918</c:v>
                </c:pt>
                <c:pt idx="155">
                  <c:v>741.53357243300002</c:v>
                </c:pt>
                <c:pt idx="156">
                  <c:v>731.85285210300003</c:v>
                </c:pt>
                <c:pt idx="157">
                  <c:v>751.37617793799996</c:v>
                </c:pt>
                <c:pt idx="158">
                  <c:v>779.40094572600003</c:v>
                </c:pt>
                <c:pt idx="159">
                  <c:v>777.06448116900003</c:v>
                </c:pt>
                <c:pt idx="160">
                  <c:v>791.44640769</c:v>
                </c:pt>
                <c:pt idx="161">
                  <c:v>784.05997113199999</c:v>
                </c:pt>
                <c:pt idx="162">
                  <c:v>753.88167904399995</c:v>
                </c:pt>
                <c:pt idx="163">
                  <c:v>754.46041814800003</c:v>
                </c:pt>
                <c:pt idx="164">
                  <c:v>913.13754367000001</c:v>
                </c:pt>
                <c:pt idx="165">
                  <c:v>698.64916485200001</c:v>
                </c:pt>
                <c:pt idx="166">
                  <c:v>737.53077120600005</c:v>
                </c:pt>
                <c:pt idx="167">
                  <c:v>705.97170735199995</c:v>
                </c:pt>
                <c:pt idx="168">
                  <c:v>688.550934633</c:v>
                </c:pt>
                <c:pt idx="169">
                  <c:v>699.43601842600003</c:v>
                </c:pt>
                <c:pt idx="170">
                  <c:v>736.80608494499995</c:v>
                </c:pt>
                <c:pt idx="171">
                  <c:v>739.13072024799999</c:v>
                </c:pt>
                <c:pt idx="172">
                  <c:v>753.58052822800005</c:v>
                </c:pt>
                <c:pt idx="173">
                  <c:v>728.58702484499997</c:v>
                </c:pt>
                <c:pt idx="174">
                  <c:v>705.12091782699997</c:v>
                </c:pt>
                <c:pt idx="175">
                  <c:v>708.83836023799995</c:v>
                </c:pt>
                <c:pt idx="176">
                  <c:v>858.38950007999995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A3B-C34F-A146-A378F2FED3D7}"/>
            </c:ext>
          </c:extLst>
        </c:ser>
        <c:ser>
          <c:idx val="2"/>
          <c:order val="2"/>
          <c:tx>
            <c:v>OOT starts: Oct 2023</c:v>
          </c:tx>
          <c:spPr>
            <a:ln w="14288">
              <a:solidFill>
                <a:srgbClr val="5D6B75"/>
              </a:solidFill>
              <a:prstDash val="dash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2023.75</c:v>
                </c:pt>
                <c:pt idx="1">
                  <c:v>2023.75</c:v>
                </c:pt>
              </c:numCache>
            </c:numRef>
          </c:xVal>
          <c:yVal>
            <c:numRef>
              <c:f>'Chart Data'!$F$2:$F$3</c:f>
              <c:numCache>
                <c:formatCode>#,##0</c:formatCode>
                <c:ptCount val="2"/>
                <c:pt idx="0">
                  <c:v>0</c:v>
                </c:pt>
                <c:pt idx="1">
                  <c:v>1400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A3B-C34F-A146-A378F2FED3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400"/>
          <c:min val="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revenue (source units)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200"/>
      </c:valAx>
      <c:valAx>
        <c:axId val="48650112"/>
        <c:scaling>
          <c:orientation val="minMax"/>
          <c:max val="2026"/>
          <c:min val="2011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3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Actual</c:v>
          </c:tx>
          <c:spPr>
            <a:ln w="22860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Data'!$B$2:$B$28</c:f>
              <c:numCache>
                <c:formatCode>#,##0</c:formatCode>
                <c:ptCount val="27"/>
                <c:pt idx="0">
                  <c:v>769</c:v>
                </c:pt>
                <c:pt idx="1">
                  <c:v>773</c:v>
                </c:pt>
                <c:pt idx="2">
                  <c:v>851</c:v>
                </c:pt>
                <c:pt idx="3">
                  <c:v>694</c:v>
                </c:pt>
                <c:pt idx="4">
                  <c:v>721</c:v>
                </c:pt>
                <c:pt idx="5">
                  <c:v>797</c:v>
                </c:pt>
                <c:pt idx="6">
                  <c:v>765</c:v>
                </c:pt>
                <c:pt idx="7">
                  <c:v>804</c:v>
                </c:pt>
                <c:pt idx="8">
                  <c:v>779</c:v>
                </c:pt>
                <c:pt idx="9">
                  <c:v>822</c:v>
                </c:pt>
                <c:pt idx="10">
                  <c:v>776</c:v>
                </c:pt>
                <c:pt idx="11">
                  <c:v>701</c:v>
                </c:pt>
                <c:pt idx="12">
                  <c:v>781</c:v>
                </c:pt>
                <c:pt idx="13">
                  <c:v>777</c:v>
                </c:pt>
                <c:pt idx="14">
                  <c:v>819</c:v>
                </c:pt>
                <c:pt idx="15">
                  <c:v>685</c:v>
                </c:pt>
                <c:pt idx="16">
                  <c:v>657</c:v>
                </c:pt>
                <c:pt idx="17">
                  <c:v>730</c:v>
                </c:pt>
                <c:pt idx="18">
                  <c:v>755</c:v>
                </c:pt>
                <c:pt idx="19">
                  <c:v>780</c:v>
                </c:pt>
                <c:pt idx="20">
                  <c:v>722</c:v>
                </c:pt>
                <c:pt idx="21">
                  <c:v>751</c:v>
                </c:pt>
                <c:pt idx="22">
                  <c:v>727</c:v>
                </c:pt>
                <c:pt idx="23">
                  <c:v>680</c:v>
                </c:pt>
                <c:pt idx="24">
                  <c:v>747</c:v>
                </c:pt>
                <c:pt idx="25">
                  <c:v>729</c:v>
                </c:pt>
                <c:pt idx="26">
                  <c:v>909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445-3A4F-8F66-816E83E51E12}"/>
            </c:ext>
          </c:extLst>
        </c:ser>
        <c:ser>
          <c:idx val="1"/>
          <c:order val="1"/>
          <c:tx>
            <c:v>One-step prediction</c:v>
          </c:tx>
          <c:spPr>
            <a:ln w="22860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Data'!$D$2:$D$28</c:f>
              <c:numCache>
                <c:formatCode>#,##0</c:formatCode>
                <c:ptCount val="27"/>
                <c:pt idx="0">
                  <c:v>748.81048591399997</c:v>
                </c:pt>
                <c:pt idx="1">
                  <c:v>739.86147877600001</c:v>
                </c:pt>
                <c:pt idx="2">
                  <c:v>897.33280762100003</c:v>
                </c:pt>
                <c:pt idx="3">
                  <c:v>695.09107600899995</c:v>
                </c:pt>
                <c:pt idx="4">
                  <c:v>747.238004918</c:v>
                </c:pt>
                <c:pt idx="5">
                  <c:v>741.53357243300002</c:v>
                </c:pt>
                <c:pt idx="6">
                  <c:v>731.85285210300003</c:v>
                </c:pt>
                <c:pt idx="7">
                  <c:v>751.37617793799996</c:v>
                </c:pt>
                <c:pt idx="8">
                  <c:v>779.40094572600003</c:v>
                </c:pt>
                <c:pt idx="9">
                  <c:v>777.06448116900003</c:v>
                </c:pt>
                <c:pt idx="10">
                  <c:v>791.44640769</c:v>
                </c:pt>
                <c:pt idx="11">
                  <c:v>784.05997113199999</c:v>
                </c:pt>
                <c:pt idx="12">
                  <c:v>753.88167904399995</c:v>
                </c:pt>
                <c:pt idx="13">
                  <c:v>754.46041814800003</c:v>
                </c:pt>
                <c:pt idx="14">
                  <c:v>913.13754367000001</c:v>
                </c:pt>
                <c:pt idx="15">
                  <c:v>698.64916485200001</c:v>
                </c:pt>
                <c:pt idx="16">
                  <c:v>737.53077120600005</c:v>
                </c:pt>
                <c:pt idx="17">
                  <c:v>705.97170735199995</c:v>
                </c:pt>
                <c:pt idx="18">
                  <c:v>688.550934633</c:v>
                </c:pt>
                <c:pt idx="19">
                  <c:v>699.43601842600003</c:v>
                </c:pt>
                <c:pt idx="20">
                  <c:v>736.80608494499995</c:v>
                </c:pt>
                <c:pt idx="21">
                  <c:v>739.13072024799999</c:v>
                </c:pt>
                <c:pt idx="22">
                  <c:v>753.58052822800005</c:v>
                </c:pt>
                <c:pt idx="23">
                  <c:v>728.58702484499997</c:v>
                </c:pt>
                <c:pt idx="24">
                  <c:v>705.12091782699997</c:v>
                </c:pt>
                <c:pt idx="25">
                  <c:v>708.83836023799995</c:v>
                </c:pt>
                <c:pt idx="26">
                  <c:v>858.38950007999995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445-3A4F-8F66-816E83E51E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200"/>
          <c:min val="50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revenue (source units)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200"/>
      </c:valAx>
      <c:valAx>
        <c:axId val="48650112"/>
        <c:scaling>
          <c:orientation val="minMax"/>
          <c:max val="46023"/>
          <c:min val="45200"/>
        </c:scaling>
        <c:delete val="0"/>
        <c:axPos val="b"/>
        <c:numFmt formatCode="yyyy\-mm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183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1725">
                <a:solidFill>
                  <a:srgbClr val="252F38"/>
                </a:solidFill>
                <a:latin typeface="Arial"/>
                <a:ea typeface="Arial"/>
                <a:cs typeface="Arial"/>
              </a:rPr>
              <a:t>Autoregressive coefficients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y(t−1)</c:v>
          </c:tx>
          <c:spPr>
            <a:ln w="22860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Data'!$A$2:$A$119</c:f>
              <c:numCache>
                <c:formatCode>General</c:formatCode>
                <c:ptCount val="118"/>
                <c:pt idx="0">
                  <c:v>2016.1666666670001</c:v>
                </c:pt>
                <c:pt idx="1">
                  <c:v>2016.25</c:v>
                </c:pt>
                <c:pt idx="2">
                  <c:v>2016.3333333329999</c:v>
                </c:pt>
                <c:pt idx="3">
                  <c:v>2016.4166666670001</c:v>
                </c:pt>
                <c:pt idx="4">
                  <c:v>2016.5</c:v>
                </c:pt>
                <c:pt idx="5">
                  <c:v>2016.5833333329999</c:v>
                </c:pt>
                <c:pt idx="6">
                  <c:v>2016.6666666670001</c:v>
                </c:pt>
                <c:pt idx="7">
                  <c:v>2016.75</c:v>
                </c:pt>
                <c:pt idx="8">
                  <c:v>2016.8333333329999</c:v>
                </c:pt>
                <c:pt idx="9">
                  <c:v>2016.9166666670001</c:v>
                </c:pt>
                <c:pt idx="10">
                  <c:v>2017</c:v>
                </c:pt>
                <c:pt idx="11">
                  <c:v>2017.0833333329999</c:v>
                </c:pt>
                <c:pt idx="12">
                  <c:v>2017.1666666670001</c:v>
                </c:pt>
                <c:pt idx="13">
                  <c:v>2017.25</c:v>
                </c:pt>
                <c:pt idx="14">
                  <c:v>2017.3333333329999</c:v>
                </c:pt>
                <c:pt idx="15">
                  <c:v>2017.4166666670001</c:v>
                </c:pt>
                <c:pt idx="16">
                  <c:v>2017.5</c:v>
                </c:pt>
                <c:pt idx="17">
                  <c:v>2017.5833333329999</c:v>
                </c:pt>
                <c:pt idx="18">
                  <c:v>2017.6666666670001</c:v>
                </c:pt>
                <c:pt idx="19">
                  <c:v>2017.75</c:v>
                </c:pt>
                <c:pt idx="20">
                  <c:v>2017.8333333329999</c:v>
                </c:pt>
                <c:pt idx="21">
                  <c:v>2017.9166666670001</c:v>
                </c:pt>
                <c:pt idx="22">
                  <c:v>2018</c:v>
                </c:pt>
                <c:pt idx="23">
                  <c:v>2018.0833333329999</c:v>
                </c:pt>
                <c:pt idx="24">
                  <c:v>2018.1666666670001</c:v>
                </c:pt>
                <c:pt idx="25">
                  <c:v>2018.25</c:v>
                </c:pt>
                <c:pt idx="26">
                  <c:v>2018.3333333329999</c:v>
                </c:pt>
                <c:pt idx="27">
                  <c:v>2018.4166666670001</c:v>
                </c:pt>
                <c:pt idx="28">
                  <c:v>2018.5</c:v>
                </c:pt>
                <c:pt idx="29">
                  <c:v>2018.5833333329999</c:v>
                </c:pt>
                <c:pt idx="30">
                  <c:v>2018.6666666670001</c:v>
                </c:pt>
                <c:pt idx="31">
                  <c:v>2018.75</c:v>
                </c:pt>
                <c:pt idx="32">
                  <c:v>2018.8333333329999</c:v>
                </c:pt>
                <c:pt idx="33">
                  <c:v>2018.9166666670001</c:v>
                </c:pt>
                <c:pt idx="34">
                  <c:v>2019</c:v>
                </c:pt>
                <c:pt idx="35">
                  <c:v>2019.0833333329999</c:v>
                </c:pt>
                <c:pt idx="36">
                  <c:v>2019.1666666670001</c:v>
                </c:pt>
                <c:pt idx="37">
                  <c:v>2019.25</c:v>
                </c:pt>
                <c:pt idx="38">
                  <c:v>2019.3333333329999</c:v>
                </c:pt>
                <c:pt idx="39">
                  <c:v>2019.4166666670001</c:v>
                </c:pt>
                <c:pt idx="40">
                  <c:v>2019.5</c:v>
                </c:pt>
                <c:pt idx="41">
                  <c:v>2019.5833333329999</c:v>
                </c:pt>
                <c:pt idx="42">
                  <c:v>2019.6666666670001</c:v>
                </c:pt>
                <c:pt idx="43">
                  <c:v>2019.75</c:v>
                </c:pt>
                <c:pt idx="44">
                  <c:v>2019.8333333329999</c:v>
                </c:pt>
                <c:pt idx="45">
                  <c:v>2019.9166666670001</c:v>
                </c:pt>
                <c:pt idx="46">
                  <c:v>2020</c:v>
                </c:pt>
                <c:pt idx="47">
                  <c:v>2020.0833333329999</c:v>
                </c:pt>
                <c:pt idx="48">
                  <c:v>2020.1666666670001</c:v>
                </c:pt>
                <c:pt idx="49">
                  <c:v>2020.25</c:v>
                </c:pt>
                <c:pt idx="50">
                  <c:v>2020.3333333329999</c:v>
                </c:pt>
                <c:pt idx="51">
                  <c:v>2020.4166666670001</c:v>
                </c:pt>
                <c:pt idx="52">
                  <c:v>2020.5</c:v>
                </c:pt>
                <c:pt idx="53">
                  <c:v>2020.5833333329999</c:v>
                </c:pt>
                <c:pt idx="54">
                  <c:v>2020.6666666670001</c:v>
                </c:pt>
                <c:pt idx="55">
                  <c:v>2020.75</c:v>
                </c:pt>
                <c:pt idx="56">
                  <c:v>2020.8333333329999</c:v>
                </c:pt>
                <c:pt idx="57">
                  <c:v>2020.9166666670001</c:v>
                </c:pt>
                <c:pt idx="58">
                  <c:v>2021</c:v>
                </c:pt>
                <c:pt idx="59">
                  <c:v>2021.0833333329999</c:v>
                </c:pt>
                <c:pt idx="60">
                  <c:v>2021.1666666670001</c:v>
                </c:pt>
                <c:pt idx="61">
                  <c:v>2021.25</c:v>
                </c:pt>
                <c:pt idx="62">
                  <c:v>2021.3333333329999</c:v>
                </c:pt>
                <c:pt idx="63">
                  <c:v>2021.4166666670001</c:v>
                </c:pt>
                <c:pt idx="64">
                  <c:v>2021.5</c:v>
                </c:pt>
                <c:pt idx="65">
                  <c:v>2021.5833333329999</c:v>
                </c:pt>
                <c:pt idx="66">
                  <c:v>2021.6666666670001</c:v>
                </c:pt>
                <c:pt idx="67">
                  <c:v>2021.75</c:v>
                </c:pt>
                <c:pt idx="68">
                  <c:v>2021.8333333329999</c:v>
                </c:pt>
                <c:pt idx="69">
                  <c:v>2021.9166666670001</c:v>
                </c:pt>
                <c:pt idx="70">
                  <c:v>2022</c:v>
                </c:pt>
                <c:pt idx="71">
                  <c:v>2022.0833333329999</c:v>
                </c:pt>
                <c:pt idx="72">
                  <c:v>2022.1666666670001</c:v>
                </c:pt>
                <c:pt idx="73">
                  <c:v>2022.25</c:v>
                </c:pt>
                <c:pt idx="74">
                  <c:v>2022.3333333329999</c:v>
                </c:pt>
                <c:pt idx="75">
                  <c:v>2022.4166666670001</c:v>
                </c:pt>
                <c:pt idx="76">
                  <c:v>2022.5</c:v>
                </c:pt>
                <c:pt idx="77">
                  <c:v>2022.5833333329999</c:v>
                </c:pt>
                <c:pt idx="78">
                  <c:v>2022.6666666670001</c:v>
                </c:pt>
                <c:pt idx="79">
                  <c:v>2022.75</c:v>
                </c:pt>
                <c:pt idx="80">
                  <c:v>2022.8333333329999</c:v>
                </c:pt>
                <c:pt idx="81">
                  <c:v>2022.9166666670001</c:v>
                </c:pt>
                <c:pt idx="82">
                  <c:v>2023</c:v>
                </c:pt>
                <c:pt idx="83">
                  <c:v>2023.0833333329999</c:v>
                </c:pt>
                <c:pt idx="84">
                  <c:v>2023.1666666670001</c:v>
                </c:pt>
                <c:pt idx="85">
                  <c:v>2023.25</c:v>
                </c:pt>
                <c:pt idx="86">
                  <c:v>2023.3333333329999</c:v>
                </c:pt>
                <c:pt idx="87">
                  <c:v>2023.4166666670001</c:v>
                </c:pt>
                <c:pt idx="88">
                  <c:v>2023.5</c:v>
                </c:pt>
                <c:pt idx="89">
                  <c:v>2023.5833333329999</c:v>
                </c:pt>
                <c:pt idx="90">
                  <c:v>2023.6666666670001</c:v>
                </c:pt>
                <c:pt idx="91">
                  <c:v>2023.75</c:v>
                </c:pt>
                <c:pt idx="92">
                  <c:v>2023.8333333329999</c:v>
                </c:pt>
                <c:pt idx="93">
                  <c:v>2023.9166666670001</c:v>
                </c:pt>
                <c:pt idx="94">
                  <c:v>2024</c:v>
                </c:pt>
                <c:pt idx="95">
                  <c:v>2024.0833333329999</c:v>
                </c:pt>
                <c:pt idx="96">
                  <c:v>2024.1666666670001</c:v>
                </c:pt>
                <c:pt idx="97">
                  <c:v>2024.25</c:v>
                </c:pt>
                <c:pt idx="98">
                  <c:v>2024.3333333329999</c:v>
                </c:pt>
                <c:pt idx="99">
                  <c:v>2024.4166666670001</c:v>
                </c:pt>
                <c:pt idx="100">
                  <c:v>2024.5</c:v>
                </c:pt>
                <c:pt idx="101">
                  <c:v>2024.5833333329999</c:v>
                </c:pt>
                <c:pt idx="102">
                  <c:v>2024.6666666670001</c:v>
                </c:pt>
                <c:pt idx="103">
                  <c:v>2024.75</c:v>
                </c:pt>
                <c:pt idx="104">
                  <c:v>2024.8333333329999</c:v>
                </c:pt>
                <c:pt idx="105">
                  <c:v>2024.9166666670001</c:v>
                </c:pt>
                <c:pt idx="106">
                  <c:v>2025</c:v>
                </c:pt>
                <c:pt idx="107">
                  <c:v>2025.0833333329999</c:v>
                </c:pt>
                <c:pt idx="108">
                  <c:v>2025.1666666670001</c:v>
                </c:pt>
                <c:pt idx="109">
                  <c:v>2025.25</c:v>
                </c:pt>
                <c:pt idx="110">
                  <c:v>2025.3333333329999</c:v>
                </c:pt>
                <c:pt idx="111">
                  <c:v>2025.4166666670001</c:v>
                </c:pt>
                <c:pt idx="112">
                  <c:v>2025.5</c:v>
                </c:pt>
                <c:pt idx="113">
                  <c:v>2025.5833333329999</c:v>
                </c:pt>
                <c:pt idx="114">
                  <c:v>2025.6666666670001</c:v>
                </c:pt>
                <c:pt idx="115">
                  <c:v>2025.75</c:v>
                </c:pt>
                <c:pt idx="116">
                  <c:v>2025.8333333329999</c:v>
                </c:pt>
                <c:pt idx="117">
                  <c:v>2025.9166666670001</c:v>
                </c:pt>
              </c:numCache>
            </c:numRef>
          </c:xVal>
          <c:yVal>
            <c:numRef>
              <c:f>'Chart Data'!$B$2:$B$119</c:f>
              <c:numCache>
                <c:formatCode>0.0</c:formatCode>
                <c:ptCount val="118"/>
                <c:pt idx="0">
                  <c:v>-0.48129966200000002</c:v>
                </c:pt>
                <c:pt idx="1">
                  <c:v>-0.53924811699999997</c:v>
                </c:pt>
                <c:pt idx="2">
                  <c:v>-0.51311385600000003</c:v>
                </c:pt>
                <c:pt idx="3">
                  <c:v>-0.48348570899999999</c:v>
                </c:pt>
                <c:pt idx="4">
                  <c:v>-0.487970707</c:v>
                </c:pt>
                <c:pt idx="5">
                  <c:v>-0.50873527900000004</c:v>
                </c:pt>
                <c:pt idx="6">
                  <c:v>-0.51194462799999996</c:v>
                </c:pt>
                <c:pt idx="7">
                  <c:v>-0.51225806299999999</c:v>
                </c:pt>
                <c:pt idx="8">
                  <c:v>-0.52685267700000005</c:v>
                </c:pt>
                <c:pt idx="9">
                  <c:v>-0.53865147400000002</c:v>
                </c:pt>
                <c:pt idx="10">
                  <c:v>-0.54331016899999995</c:v>
                </c:pt>
                <c:pt idx="11">
                  <c:v>-0.54307952599999998</c:v>
                </c:pt>
                <c:pt idx="12">
                  <c:v>-0.549747761</c:v>
                </c:pt>
                <c:pt idx="13">
                  <c:v>-0.56336298799999995</c:v>
                </c:pt>
                <c:pt idx="14">
                  <c:v>-0.57315697799999998</c:v>
                </c:pt>
                <c:pt idx="15">
                  <c:v>-0.56773113399999997</c:v>
                </c:pt>
                <c:pt idx="16">
                  <c:v>-0.57116804499999996</c:v>
                </c:pt>
                <c:pt idx="17">
                  <c:v>-0.57422811399999996</c:v>
                </c:pt>
                <c:pt idx="18">
                  <c:v>-0.577256463</c:v>
                </c:pt>
                <c:pt idx="19">
                  <c:v>-0.57521883900000004</c:v>
                </c:pt>
                <c:pt idx="20">
                  <c:v>-0.58937970299999998</c:v>
                </c:pt>
                <c:pt idx="21">
                  <c:v>-0.56428726500000004</c:v>
                </c:pt>
                <c:pt idx="22">
                  <c:v>-0.59440905099999997</c:v>
                </c:pt>
                <c:pt idx="23">
                  <c:v>-0.60949644800000002</c:v>
                </c:pt>
                <c:pt idx="24">
                  <c:v>-0.62360884999999999</c:v>
                </c:pt>
                <c:pt idx="25">
                  <c:v>-0.62347125199999998</c:v>
                </c:pt>
                <c:pt idx="26">
                  <c:v>-0.64036367999999999</c:v>
                </c:pt>
                <c:pt idx="27">
                  <c:v>-0.63387412399999998</c:v>
                </c:pt>
                <c:pt idx="28">
                  <c:v>-0.63554707399999999</c:v>
                </c:pt>
                <c:pt idx="29">
                  <c:v>-0.63739496500000004</c:v>
                </c:pt>
                <c:pt idx="30">
                  <c:v>-0.62569747099999995</c:v>
                </c:pt>
                <c:pt idx="31">
                  <c:v>-0.64505476699999997</c:v>
                </c:pt>
                <c:pt idx="32">
                  <c:v>-0.66756720300000005</c:v>
                </c:pt>
                <c:pt idx="33">
                  <c:v>-0.67899689900000004</c:v>
                </c:pt>
                <c:pt idx="34">
                  <c:v>-0.68406451400000001</c:v>
                </c:pt>
                <c:pt idx="35">
                  <c:v>-0.69172519899999996</c:v>
                </c:pt>
                <c:pt idx="36">
                  <c:v>-0.73996884900000004</c:v>
                </c:pt>
                <c:pt idx="37">
                  <c:v>-0.70719613800000003</c:v>
                </c:pt>
                <c:pt idx="38">
                  <c:v>-0.74222725899999997</c:v>
                </c:pt>
                <c:pt idx="39">
                  <c:v>-0.74349731600000002</c:v>
                </c:pt>
                <c:pt idx="40">
                  <c:v>-0.74144509599999997</c:v>
                </c:pt>
                <c:pt idx="41">
                  <c:v>-0.73973004499999995</c:v>
                </c:pt>
                <c:pt idx="42">
                  <c:v>-0.77392253700000002</c:v>
                </c:pt>
                <c:pt idx="43">
                  <c:v>-0.80724775299999996</c:v>
                </c:pt>
                <c:pt idx="44">
                  <c:v>-0.81744197100000004</c:v>
                </c:pt>
                <c:pt idx="45">
                  <c:v>-0.77632953800000004</c:v>
                </c:pt>
                <c:pt idx="46">
                  <c:v>-0.74691470599999998</c:v>
                </c:pt>
                <c:pt idx="47">
                  <c:v>-0.79474415099999995</c:v>
                </c:pt>
                <c:pt idx="48">
                  <c:v>-0.86019120900000001</c:v>
                </c:pt>
                <c:pt idx="49">
                  <c:v>-0.86048059099999996</c:v>
                </c:pt>
                <c:pt idx="50">
                  <c:v>-0.845646008</c:v>
                </c:pt>
                <c:pt idx="51">
                  <c:v>-0.85492639699999995</c:v>
                </c:pt>
                <c:pt idx="52">
                  <c:v>-0.85994663299999996</c:v>
                </c:pt>
                <c:pt idx="53">
                  <c:v>-0.85974194599999998</c:v>
                </c:pt>
                <c:pt idx="54">
                  <c:v>-0.86314436900000002</c:v>
                </c:pt>
                <c:pt idx="55">
                  <c:v>-0.86132770400000003</c:v>
                </c:pt>
                <c:pt idx="56">
                  <c:v>-0.86195928099999997</c:v>
                </c:pt>
                <c:pt idx="57">
                  <c:v>-0.849121036</c:v>
                </c:pt>
                <c:pt idx="58">
                  <c:v>-0.83485459699999998</c:v>
                </c:pt>
                <c:pt idx="59">
                  <c:v>-0.87368596899999995</c:v>
                </c:pt>
                <c:pt idx="60">
                  <c:v>-0.82970779299999997</c:v>
                </c:pt>
                <c:pt idx="61">
                  <c:v>-0.84290651500000002</c:v>
                </c:pt>
                <c:pt idx="62">
                  <c:v>-0.82816925299999999</c:v>
                </c:pt>
                <c:pt idx="63">
                  <c:v>-0.82687118699999995</c:v>
                </c:pt>
                <c:pt idx="64">
                  <c:v>-0.82092284100000001</c:v>
                </c:pt>
                <c:pt idx="65">
                  <c:v>-0.81420577800000005</c:v>
                </c:pt>
                <c:pt idx="66">
                  <c:v>-0.80852431199999997</c:v>
                </c:pt>
                <c:pt idx="67">
                  <c:v>-0.81268600400000002</c:v>
                </c:pt>
                <c:pt idx="68">
                  <c:v>-0.79766126299999995</c:v>
                </c:pt>
                <c:pt idx="69">
                  <c:v>-0.80553486699999999</c:v>
                </c:pt>
                <c:pt idx="70">
                  <c:v>-0.80909783400000002</c:v>
                </c:pt>
                <c:pt idx="71">
                  <c:v>-0.82880904700000002</c:v>
                </c:pt>
                <c:pt idx="72">
                  <c:v>-0.82433403900000002</c:v>
                </c:pt>
                <c:pt idx="73">
                  <c:v>-0.80971599999999999</c:v>
                </c:pt>
                <c:pt idx="74">
                  <c:v>-0.79489443400000004</c:v>
                </c:pt>
                <c:pt idx="75">
                  <c:v>-0.80099068299999998</c:v>
                </c:pt>
                <c:pt idx="76">
                  <c:v>-0.79745224999999997</c:v>
                </c:pt>
                <c:pt idx="77">
                  <c:v>-0.78188669</c:v>
                </c:pt>
                <c:pt idx="78">
                  <c:v>-0.76549167900000004</c:v>
                </c:pt>
                <c:pt idx="79">
                  <c:v>-0.76517733099999996</c:v>
                </c:pt>
                <c:pt idx="80">
                  <c:v>-0.76304871600000002</c:v>
                </c:pt>
                <c:pt idx="81">
                  <c:v>-0.76144717100000003</c:v>
                </c:pt>
                <c:pt idx="82">
                  <c:v>-0.75724330100000004</c:v>
                </c:pt>
                <c:pt idx="83">
                  <c:v>-0.74613479199999999</c:v>
                </c:pt>
                <c:pt idx="84">
                  <c:v>-0.72781801000000002</c:v>
                </c:pt>
                <c:pt idx="85">
                  <c:v>-0.72301933299999999</c:v>
                </c:pt>
                <c:pt idx="86">
                  <c:v>-0.72186173600000003</c:v>
                </c:pt>
                <c:pt idx="87">
                  <c:v>-0.72776385700000001</c:v>
                </c:pt>
                <c:pt idx="88">
                  <c:v>-0.72856350700000005</c:v>
                </c:pt>
                <c:pt idx="89">
                  <c:v>-0.72813949200000005</c:v>
                </c:pt>
                <c:pt idx="90">
                  <c:v>-0.72411407100000003</c:v>
                </c:pt>
                <c:pt idx="91">
                  <c:v>-0.72586653800000001</c:v>
                </c:pt>
                <c:pt idx="92">
                  <c:v>-0.72641695799999995</c:v>
                </c:pt>
                <c:pt idx="93">
                  <c:v>-0.72810204700000003</c:v>
                </c:pt>
                <c:pt idx="94">
                  <c:v>-0.72971354499999996</c:v>
                </c:pt>
                <c:pt idx="95">
                  <c:v>-0.74747733400000005</c:v>
                </c:pt>
                <c:pt idx="96">
                  <c:v>-0.74744624199999998</c:v>
                </c:pt>
                <c:pt idx="97">
                  <c:v>-0.74683737400000005</c:v>
                </c:pt>
                <c:pt idx="98">
                  <c:v>-0.75749515000000001</c:v>
                </c:pt>
                <c:pt idx="99">
                  <c:v>-0.76422657100000002</c:v>
                </c:pt>
                <c:pt idx="100">
                  <c:v>-0.76168355099999996</c:v>
                </c:pt>
                <c:pt idx="101">
                  <c:v>-0.752660475</c:v>
                </c:pt>
                <c:pt idx="102">
                  <c:v>-0.68729359899999998</c:v>
                </c:pt>
                <c:pt idx="103">
                  <c:v>-0.634032233</c:v>
                </c:pt>
                <c:pt idx="104">
                  <c:v>-0.59675414999999998</c:v>
                </c:pt>
                <c:pt idx="105">
                  <c:v>-0.59085047700000004</c:v>
                </c:pt>
                <c:pt idx="106">
                  <c:v>-0.58223582200000001</c:v>
                </c:pt>
                <c:pt idx="107">
                  <c:v>-0.435533907</c:v>
                </c:pt>
                <c:pt idx="108">
                  <c:v>-0.38919626099999999</c:v>
                </c:pt>
                <c:pt idx="109">
                  <c:v>-0.36535021600000001</c:v>
                </c:pt>
                <c:pt idx="110">
                  <c:v>-0.249214665</c:v>
                </c:pt>
                <c:pt idx="111">
                  <c:v>-0.195165699</c:v>
                </c:pt>
                <c:pt idx="112">
                  <c:v>-0.211181495</c:v>
                </c:pt>
                <c:pt idx="113">
                  <c:v>-0.19857149700000001</c:v>
                </c:pt>
                <c:pt idx="114">
                  <c:v>-0.19453469600000001</c:v>
                </c:pt>
                <c:pt idx="115">
                  <c:v>-0.21259075299999999</c:v>
                </c:pt>
                <c:pt idx="116">
                  <c:v>-0.219948324</c:v>
                </c:pt>
                <c:pt idx="117">
                  <c:v>-0.22635981499999999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63E-9844-8FAB-50441468D5D5}"/>
            </c:ext>
          </c:extLst>
        </c:ser>
        <c:ser>
          <c:idx val="1"/>
          <c:order val="1"/>
          <c:tx>
            <c:v>y(t−2)</c:v>
          </c:tx>
          <c:spPr>
            <a:ln w="22860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Data'!$C$2:$C$119</c:f>
              <c:numCache>
                <c:formatCode>General</c:formatCode>
                <c:ptCount val="118"/>
                <c:pt idx="0">
                  <c:v>2016.1666666670001</c:v>
                </c:pt>
                <c:pt idx="1">
                  <c:v>2016.25</c:v>
                </c:pt>
                <c:pt idx="2">
                  <c:v>2016.3333333329999</c:v>
                </c:pt>
                <c:pt idx="3">
                  <c:v>2016.4166666670001</c:v>
                </c:pt>
                <c:pt idx="4">
                  <c:v>2016.5</c:v>
                </c:pt>
                <c:pt idx="5">
                  <c:v>2016.5833333329999</c:v>
                </c:pt>
                <c:pt idx="6">
                  <c:v>2016.6666666670001</c:v>
                </c:pt>
                <c:pt idx="7">
                  <c:v>2016.75</c:v>
                </c:pt>
                <c:pt idx="8">
                  <c:v>2016.8333333329999</c:v>
                </c:pt>
                <c:pt idx="9">
                  <c:v>2016.9166666670001</c:v>
                </c:pt>
                <c:pt idx="10">
                  <c:v>2017</c:v>
                </c:pt>
                <c:pt idx="11">
                  <c:v>2017.0833333329999</c:v>
                </c:pt>
                <c:pt idx="12">
                  <c:v>2017.1666666670001</c:v>
                </c:pt>
                <c:pt idx="13">
                  <c:v>2017.25</c:v>
                </c:pt>
                <c:pt idx="14">
                  <c:v>2017.3333333329999</c:v>
                </c:pt>
                <c:pt idx="15">
                  <c:v>2017.4166666670001</c:v>
                </c:pt>
                <c:pt idx="16">
                  <c:v>2017.5</c:v>
                </c:pt>
                <c:pt idx="17">
                  <c:v>2017.5833333329999</c:v>
                </c:pt>
                <c:pt idx="18">
                  <c:v>2017.6666666670001</c:v>
                </c:pt>
                <c:pt idx="19">
                  <c:v>2017.75</c:v>
                </c:pt>
                <c:pt idx="20">
                  <c:v>2017.8333333329999</c:v>
                </c:pt>
                <c:pt idx="21">
                  <c:v>2017.9166666670001</c:v>
                </c:pt>
                <c:pt idx="22">
                  <c:v>2018</c:v>
                </c:pt>
                <c:pt idx="23">
                  <c:v>2018.0833333329999</c:v>
                </c:pt>
                <c:pt idx="24">
                  <c:v>2018.1666666670001</c:v>
                </c:pt>
                <c:pt idx="25">
                  <c:v>2018.25</c:v>
                </c:pt>
                <c:pt idx="26">
                  <c:v>2018.3333333329999</c:v>
                </c:pt>
                <c:pt idx="27">
                  <c:v>2018.4166666670001</c:v>
                </c:pt>
                <c:pt idx="28">
                  <c:v>2018.5</c:v>
                </c:pt>
                <c:pt idx="29">
                  <c:v>2018.5833333329999</c:v>
                </c:pt>
                <c:pt idx="30">
                  <c:v>2018.6666666670001</c:v>
                </c:pt>
                <c:pt idx="31">
                  <c:v>2018.75</c:v>
                </c:pt>
                <c:pt idx="32">
                  <c:v>2018.8333333329999</c:v>
                </c:pt>
                <c:pt idx="33">
                  <c:v>2018.9166666670001</c:v>
                </c:pt>
                <c:pt idx="34">
                  <c:v>2019</c:v>
                </c:pt>
                <c:pt idx="35">
                  <c:v>2019.0833333329999</c:v>
                </c:pt>
                <c:pt idx="36">
                  <c:v>2019.1666666670001</c:v>
                </c:pt>
                <c:pt idx="37">
                  <c:v>2019.25</c:v>
                </c:pt>
                <c:pt idx="38">
                  <c:v>2019.3333333329999</c:v>
                </c:pt>
                <c:pt idx="39">
                  <c:v>2019.4166666670001</c:v>
                </c:pt>
                <c:pt idx="40">
                  <c:v>2019.5</c:v>
                </c:pt>
                <c:pt idx="41">
                  <c:v>2019.5833333329999</c:v>
                </c:pt>
                <c:pt idx="42">
                  <c:v>2019.6666666670001</c:v>
                </c:pt>
                <c:pt idx="43">
                  <c:v>2019.75</c:v>
                </c:pt>
                <c:pt idx="44">
                  <c:v>2019.8333333329999</c:v>
                </c:pt>
                <c:pt idx="45">
                  <c:v>2019.9166666670001</c:v>
                </c:pt>
                <c:pt idx="46">
                  <c:v>2020</c:v>
                </c:pt>
                <c:pt idx="47">
                  <c:v>2020.0833333329999</c:v>
                </c:pt>
                <c:pt idx="48">
                  <c:v>2020.1666666670001</c:v>
                </c:pt>
                <c:pt idx="49">
                  <c:v>2020.25</c:v>
                </c:pt>
                <c:pt idx="50">
                  <c:v>2020.3333333329999</c:v>
                </c:pt>
                <c:pt idx="51">
                  <c:v>2020.4166666670001</c:v>
                </c:pt>
                <c:pt idx="52">
                  <c:v>2020.5</c:v>
                </c:pt>
                <c:pt idx="53">
                  <c:v>2020.5833333329999</c:v>
                </c:pt>
                <c:pt idx="54">
                  <c:v>2020.6666666670001</c:v>
                </c:pt>
                <c:pt idx="55">
                  <c:v>2020.75</c:v>
                </c:pt>
                <c:pt idx="56">
                  <c:v>2020.8333333329999</c:v>
                </c:pt>
                <c:pt idx="57">
                  <c:v>2020.9166666670001</c:v>
                </c:pt>
                <c:pt idx="58">
                  <c:v>2021</c:v>
                </c:pt>
                <c:pt idx="59">
                  <c:v>2021.0833333329999</c:v>
                </c:pt>
                <c:pt idx="60">
                  <c:v>2021.1666666670001</c:v>
                </c:pt>
                <c:pt idx="61">
                  <c:v>2021.25</c:v>
                </c:pt>
                <c:pt idx="62">
                  <c:v>2021.3333333329999</c:v>
                </c:pt>
                <c:pt idx="63">
                  <c:v>2021.4166666670001</c:v>
                </c:pt>
                <c:pt idx="64">
                  <c:v>2021.5</c:v>
                </c:pt>
                <c:pt idx="65">
                  <c:v>2021.5833333329999</c:v>
                </c:pt>
                <c:pt idx="66">
                  <c:v>2021.6666666670001</c:v>
                </c:pt>
                <c:pt idx="67">
                  <c:v>2021.75</c:v>
                </c:pt>
                <c:pt idx="68">
                  <c:v>2021.8333333329999</c:v>
                </c:pt>
                <c:pt idx="69">
                  <c:v>2021.9166666670001</c:v>
                </c:pt>
                <c:pt idx="70">
                  <c:v>2022</c:v>
                </c:pt>
                <c:pt idx="71">
                  <c:v>2022.0833333329999</c:v>
                </c:pt>
                <c:pt idx="72">
                  <c:v>2022.1666666670001</c:v>
                </c:pt>
                <c:pt idx="73">
                  <c:v>2022.25</c:v>
                </c:pt>
                <c:pt idx="74">
                  <c:v>2022.3333333329999</c:v>
                </c:pt>
                <c:pt idx="75">
                  <c:v>2022.4166666670001</c:v>
                </c:pt>
                <c:pt idx="76">
                  <c:v>2022.5</c:v>
                </c:pt>
                <c:pt idx="77">
                  <c:v>2022.5833333329999</c:v>
                </c:pt>
                <c:pt idx="78">
                  <c:v>2022.6666666670001</c:v>
                </c:pt>
                <c:pt idx="79">
                  <c:v>2022.75</c:v>
                </c:pt>
                <c:pt idx="80">
                  <c:v>2022.8333333329999</c:v>
                </c:pt>
                <c:pt idx="81">
                  <c:v>2022.9166666670001</c:v>
                </c:pt>
                <c:pt idx="82">
                  <c:v>2023</c:v>
                </c:pt>
                <c:pt idx="83">
                  <c:v>2023.0833333329999</c:v>
                </c:pt>
                <c:pt idx="84">
                  <c:v>2023.1666666670001</c:v>
                </c:pt>
                <c:pt idx="85">
                  <c:v>2023.25</c:v>
                </c:pt>
                <c:pt idx="86">
                  <c:v>2023.3333333329999</c:v>
                </c:pt>
                <c:pt idx="87">
                  <c:v>2023.4166666670001</c:v>
                </c:pt>
                <c:pt idx="88">
                  <c:v>2023.5</c:v>
                </c:pt>
                <c:pt idx="89">
                  <c:v>2023.5833333329999</c:v>
                </c:pt>
                <c:pt idx="90">
                  <c:v>2023.6666666670001</c:v>
                </c:pt>
                <c:pt idx="91">
                  <c:v>2023.75</c:v>
                </c:pt>
                <c:pt idx="92">
                  <c:v>2023.8333333329999</c:v>
                </c:pt>
                <c:pt idx="93">
                  <c:v>2023.9166666670001</c:v>
                </c:pt>
                <c:pt idx="94">
                  <c:v>2024</c:v>
                </c:pt>
                <c:pt idx="95">
                  <c:v>2024.0833333329999</c:v>
                </c:pt>
                <c:pt idx="96">
                  <c:v>2024.1666666670001</c:v>
                </c:pt>
                <c:pt idx="97">
                  <c:v>2024.25</c:v>
                </c:pt>
                <c:pt idx="98">
                  <c:v>2024.3333333329999</c:v>
                </c:pt>
                <c:pt idx="99">
                  <c:v>2024.4166666670001</c:v>
                </c:pt>
                <c:pt idx="100">
                  <c:v>2024.5</c:v>
                </c:pt>
                <c:pt idx="101">
                  <c:v>2024.5833333329999</c:v>
                </c:pt>
                <c:pt idx="102">
                  <c:v>2024.6666666670001</c:v>
                </c:pt>
                <c:pt idx="103">
                  <c:v>2024.75</c:v>
                </c:pt>
                <c:pt idx="104">
                  <c:v>2024.8333333329999</c:v>
                </c:pt>
                <c:pt idx="105">
                  <c:v>2024.9166666670001</c:v>
                </c:pt>
                <c:pt idx="106">
                  <c:v>2025</c:v>
                </c:pt>
                <c:pt idx="107">
                  <c:v>2025.0833333329999</c:v>
                </c:pt>
                <c:pt idx="108">
                  <c:v>2025.1666666670001</c:v>
                </c:pt>
                <c:pt idx="109">
                  <c:v>2025.25</c:v>
                </c:pt>
                <c:pt idx="110">
                  <c:v>2025.3333333329999</c:v>
                </c:pt>
                <c:pt idx="111">
                  <c:v>2025.4166666670001</c:v>
                </c:pt>
                <c:pt idx="112">
                  <c:v>2025.5</c:v>
                </c:pt>
                <c:pt idx="113">
                  <c:v>2025.5833333329999</c:v>
                </c:pt>
                <c:pt idx="114">
                  <c:v>2025.6666666670001</c:v>
                </c:pt>
                <c:pt idx="115">
                  <c:v>2025.75</c:v>
                </c:pt>
                <c:pt idx="116">
                  <c:v>2025.8333333329999</c:v>
                </c:pt>
                <c:pt idx="117">
                  <c:v>2025.9166666670001</c:v>
                </c:pt>
              </c:numCache>
            </c:numRef>
          </c:xVal>
          <c:yVal>
            <c:numRef>
              <c:f>'Chart Data'!$D$2:$D$119</c:f>
              <c:numCache>
                <c:formatCode>0.0</c:formatCode>
                <c:ptCount val="118"/>
                <c:pt idx="0">
                  <c:v>-0.33229770199999997</c:v>
                </c:pt>
                <c:pt idx="1">
                  <c:v>-0.36583896500000002</c:v>
                </c:pt>
                <c:pt idx="2">
                  <c:v>-0.30197747699999999</c:v>
                </c:pt>
                <c:pt idx="3">
                  <c:v>-0.27997749599999999</c:v>
                </c:pt>
                <c:pt idx="4">
                  <c:v>-0.28617092399999999</c:v>
                </c:pt>
                <c:pt idx="5">
                  <c:v>-0.31302632499999999</c:v>
                </c:pt>
                <c:pt idx="6">
                  <c:v>-0.31313397599999998</c:v>
                </c:pt>
                <c:pt idx="7">
                  <c:v>-0.31801446900000002</c:v>
                </c:pt>
                <c:pt idx="8">
                  <c:v>-0.33321564199999998</c:v>
                </c:pt>
                <c:pt idx="9">
                  <c:v>-0.33661954599999999</c:v>
                </c:pt>
                <c:pt idx="10">
                  <c:v>-0.32538552999999998</c:v>
                </c:pt>
                <c:pt idx="11">
                  <c:v>-0.32587926499999997</c:v>
                </c:pt>
                <c:pt idx="12">
                  <c:v>-0.33352513099999997</c:v>
                </c:pt>
                <c:pt idx="13">
                  <c:v>-0.34041811</c:v>
                </c:pt>
                <c:pt idx="14">
                  <c:v>-0.33751424899999999</c:v>
                </c:pt>
                <c:pt idx="15">
                  <c:v>-0.33607052799999998</c:v>
                </c:pt>
                <c:pt idx="16">
                  <c:v>-0.33968882900000003</c:v>
                </c:pt>
                <c:pt idx="17">
                  <c:v>-0.34211510000000001</c:v>
                </c:pt>
                <c:pt idx="18">
                  <c:v>-0.34268903699999997</c:v>
                </c:pt>
                <c:pt idx="19">
                  <c:v>-0.34173187100000002</c:v>
                </c:pt>
                <c:pt idx="20">
                  <c:v>-0.33944128000000001</c:v>
                </c:pt>
                <c:pt idx="21">
                  <c:v>-0.32159740999999997</c:v>
                </c:pt>
                <c:pt idx="22">
                  <c:v>-0.335648799</c:v>
                </c:pt>
                <c:pt idx="23">
                  <c:v>-0.34679574099999999</c:v>
                </c:pt>
                <c:pt idx="24">
                  <c:v>-0.36622993300000001</c:v>
                </c:pt>
                <c:pt idx="25">
                  <c:v>-0.37054747799999999</c:v>
                </c:pt>
                <c:pt idx="26">
                  <c:v>-0.360807135</c:v>
                </c:pt>
                <c:pt idx="27">
                  <c:v>-0.35860276400000002</c:v>
                </c:pt>
                <c:pt idx="28">
                  <c:v>-0.356074944</c:v>
                </c:pt>
                <c:pt idx="29">
                  <c:v>-0.355044054</c:v>
                </c:pt>
                <c:pt idx="30">
                  <c:v>-0.35157745499999998</c:v>
                </c:pt>
                <c:pt idx="31">
                  <c:v>-0.36021317200000003</c:v>
                </c:pt>
                <c:pt idx="32">
                  <c:v>-0.395913823</c:v>
                </c:pt>
                <c:pt idx="33">
                  <c:v>-0.40182943599999998</c:v>
                </c:pt>
                <c:pt idx="34">
                  <c:v>-0.40660781099999999</c:v>
                </c:pt>
                <c:pt idx="35">
                  <c:v>-0.39679555700000002</c:v>
                </c:pt>
                <c:pt idx="36">
                  <c:v>-0.46872530099999998</c:v>
                </c:pt>
                <c:pt idx="37">
                  <c:v>-0.460831671</c:v>
                </c:pt>
                <c:pt idx="38">
                  <c:v>-0.45793182500000001</c:v>
                </c:pt>
                <c:pt idx="39">
                  <c:v>-0.47080195000000002</c:v>
                </c:pt>
                <c:pt idx="40">
                  <c:v>-0.46822125399999998</c:v>
                </c:pt>
                <c:pt idx="41">
                  <c:v>-0.46836802999999999</c:v>
                </c:pt>
                <c:pt idx="42">
                  <c:v>-0.48505610500000002</c:v>
                </c:pt>
                <c:pt idx="43">
                  <c:v>-0.47952929999999999</c:v>
                </c:pt>
                <c:pt idx="44">
                  <c:v>-0.465850865</c:v>
                </c:pt>
                <c:pt idx="45">
                  <c:v>-0.43888883899999998</c:v>
                </c:pt>
                <c:pt idx="46">
                  <c:v>-0.40366000299999999</c:v>
                </c:pt>
                <c:pt idx="47">
                  <c:v>-0.37628710300000001</c:v>
                </c:pt>
                <c:pt idx="48">
                  <c:v>-0.48321710600000001</c:v>
                </c:pt>
                <c:pt idx="49">
                  <c:v>-0.48661406899999998</c:v>
                </c:pt>
                <c:pt idx="50">
                  <c:v>-0.47244279</c:v>
                </c:pt>
                <c:pt idx="51">
                  <c:v>-0.466363056</c:v>
                </c:pt>
                <c:pt idx="52">
                  <c:v>-0.48414889</c:v>
                </c:pt>
                <c:pt idx="53">
                  <c:v>-0.479243639</c:v>
                </c:pt>
                <c:pt idx="54">
                  <c:v>-0.482040723</c:v>
                </c:pt>
                <c:pt idx="55">
                  <c:v>-0.48483911299999999</c:v>
                </c:pt>
                <c:pt idx="56">
                  <c:v>-0.48408731700000002</c:v>
                </c:pt>
                <c:pt idx="57">
                  <c:v>-0.46501384200000001</c:v>
                </c:pt>
                <c:pt idx="58">
                  <c:v>-0.45730612500000001</c:v>
                </c:pt>
                <c:pt idx="59">
                  <c:v>-0.46239883300000001</c:v>
                </c:pt>
                <c:pt idx="60">
                  <c:v>-0.365669044</c:v>
                </c:pt>
                <c:pt idx="61">
                  <c:v>-0.384871505</c:v>
                </c:pt>
                <c:pt idx="62">
                  <c:v>-0.37066539900000001</c:v>
                </c:pt>
                <c:pt idx="63">
                  <c:v>-0.37855217099999999</c:v>
                </c:pt>
                <c:pt idx="64">
                  <c:v>-0.367127327</c:v>
                </c:pt>
                <c:pt idx="65">
                  <c:v>-0.362022077</c:v>
                </c:pt>
                <c:pt idx="66">
                  <c:v>-0.36161876100000001</c:v>
                </c:pt>
                <c:pt idx="67">
                  <c:v>-0.34805277000000001</c:v>
                </c:pt>
                <c:pt idx="68">
                  <c:v>-0.333268646</c:v>
                </c:pt>
                <c:pt idx="69">
                  <c:v>-0.327837296</c:v>
                </c:pt>
                <c:pt idx="70">
                  <c:v>-0.33423697800000002</c:v>
                </c:pt>
                <c:pt idx="71">
                  <c:v>-0.33679746100000002</c:v>
                </c:pt>
                <c:pt idx="72">
                  <c:v>-0.33145924700000001</c:v>
                </c:pt>
                <c:pt idx="73">
                  <c:v>-0.32353560599999998</c:v>
                </c:pt>
                <c:pt idx="74">
                  <c:v>-0.32489389899999999</c:v>
                </c:pt>
                <c:pt idx="75">
                  <c:v>-0.32426790300000002</c:v>
                </c:pt>
                <c:pt idx="76">
                  <c:v>-0.31176694100000002</c:v>
                </c:pt>
                <c:pt idx="77">
                  <c:v>-0.29895235199999998</c:v>
                </c:pt>
                <c:pt idx="78">
                  <c:v>-0.29447769400000001</c:v>
                </c:pt>
                <c:pt idx="79">
                  <c:v>-0.29486850100000001</c:v>
                </c:pt>
                <c:pt idx="80">
                  <c:v>-0.29558899</c:v>
                </c:pt>
                <c:pt idx="81">
                  <c:v>-0.29357334699999998</c:v>
                </c:pt>
                <c:pt idx="82">
                  <c:v>-0.29014562100000002</c:v>
                </c:pt>
                <c:pt idx="83">
                  <c:v>-0.29190117799999998</c:v>
                </c:pt>
                <c:pt idx="84">
                  <c:v>-0.27387306</c:v>
                </c:pt>
                <c:pt idx="85">
                  <c:v>-0.27674314100000003</c:v>
                </c:pt>
                <c:pt idx="86">
                  <c:v>-0.28651836899999999</c:v>
                </c:pt>
                <c:pt idx="87">
                  <c:v>-0.28743006599999998</c:v>
                </c:pt>
                <c:pt idx="88">
                  <c:v>-0.28951495599999999</c:v>
                </c:pt>
                <c:pt idx="89">
                  <c:v>-0.29052915400000001</c:v>
                </c:pt>
                <c:pt idx="90">
                  <c:v>-0.28789162099999999</c:v>
                </c:pt>
                <c:pt idx="91">
                  <c:v>-0.28873339799999997</c:v>
                </c:pt>
                <c:pt idx="92">
                  <c:v>-0.29675430000000003</c:v>
                </c:pt>
                <c:pt idx="93">
                  <c:v>-0.29552730700000002</c:v>
                </c:pt>
                <c:pt idx="94">
                  <c:v>-0.30083945699999998</c:v>
                </c:pt>
                <c:pt idx="95">
                  <c:v>-0.29632229700000001</c:v>
                </c:pt>
                <c:pt idx="96">
                  <c:v>-0.30885419800000002</c:v>
                </c:pt>
                <c:pt idx="97">
                  <c:v>-0.29946540599999999</c:v>
                </c:pt>
                <c:pt idx="98">
                  <c:v>-0.31830243899999999</c:v>
                </c:pt>
                <c:pt idx="99">
                  <c:v>-0.319860125</c:v>
                </c:pt>
                <c:pt idx="100">
                  <c:v>-0.31418427799999998</c:v>
                </c:pt>
                <c:pt idx="101">
                  <c:v>-0.30857774300000002</c:v>
                </c:pt>
                <c:pt idx="102">
                  <c:v>-0.28348004999999998</c:v>
                </c:pt>
                <c:pt idx="103">
                  <c:v>-0.29660746500000001</c:v>
                </c:pt>
                <c:pt idx="104">
                  <c:v>-0.31226860200000001</c:v>
                </c:pt>
                <c:pt idx="105">
                  <c:v>-0.32778210899999999</c:v>
                </c:pt>
                <c:pt idx="106">
                  <c:v>-0.36935506000000001</c:v>
                </c:pt>
                <c:pt idx="107">
                  <c:v>-0.37315536799999999</c:v>
                </c:pt>
                <c:pt idx="108">
                  <c:v>-0.42774537200000001</c:v>
                </c:pt>
                <c:pt idx="109">
                  <c:v>-0.38955135800000001</c:v>
                </c:pt>
                <c:pt idx="110">
                  <c:v>-0.29411261799999999</c:v>
                </c:pt>
                <c:pt idx="111">
                  <c:v>-0.39357676200000002</c:v>
                </c:pt>
                <c:pt idx="112">
                  <c:v>-0.37998873</c:v>
                </c:pt>
                <c:pt idx="113">
                  <c:v>-0.37490892599999998</c:v>
                </c:pt>
                <c:pt idx="114">
                  <c:v>-0.382603468</c:v>
                </c:pt>
                <c:pt idx="115">
                  <c:v>-0.39264389</c:v>
                </c:pt>
                <c:pt idx="116">
                  <c:v>-0.38972865699999998</c:v>
                </c:pt>
                <c:pt idx="117">
                  <c:v>-0.37588891400000002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63E-9844-8FAB-50441468D5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Coefficient</a:t>
                </a:r>
              </a:p>
            </c:rich>
          </c:tx>
          <c:overlay val="0"/>
        </c:title>
        <c:numFmt formatCode="0.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0.2"/>
      </c:valAx>
      <c:valAx>
        <c:axId val="48650112"/>
        <c:scaling>
          <c:orientation val="minMax"/>
          <c:max val="2026"/>
          <c:min val="2016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2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1725">
                <a:solidFill>
                  <a:srgbClr val="252F38"/>
                </a:solidFill>
                <a:latin typeface="Arial"/>
                <a:ea typeface="Arial"/>
                <a:cs typeface="Arial"/>
              </a:rPr>
              <a:t>Retail sales coefficient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Retail sales MA3</c:v>
          </c:tx>
          <c:spPr>
            <a:ln w="22860">
              <a:solidFill>
                <a:srgbClr val="237F83"/>
              </a:solidFill>
              <a:prstDash val="solid"/>
            </a:ln>
          </c:spPr>
          <c:marker>
            <c:symbol val="none"/>
          </c:marker>
          <c:xVal>
            <c:numRef>
              <c:f>'Chart Data'!$A$2:$A$119</c:f>
              <c:numCache>
                <c:formatCode>General</c:formatCode>
                <c:ptCount val="118"/>
                <c:pt idx="0">
                  <c:v>2016.1666666670001</c:v>
                </c:pt>
                <c:pt idx="1">
                  <c:v>2016.25</c:v>
                </c:pt>
                <c:pt idx="2">
                  <c:v>2016.3333333329999</c:v>
                </c:pt>
                <c:pt idx="3">
                  <c:v>2016.4166666670001</c:v>
                </c:pt>
                <c:pt idx="4">
                  <c:v>2016.5</c:v>
                </c:pt>
                <c:pt idx="5">
                  <c:v>2016.5833333329999</c:v>
                </c:pt>
                <c:pt idx="6">
                  <c:v>2016.6666666670001</c:v>
                </c:pt>
                <c:pt idx="7">
                  <c:v>2016.75</c:v>
                </c:pt>
                <c:pt idx="8">
                  <c:v>2016.8333333329999</c:v>
                </c:pt>
                <c:pt idx="9">
                  <c:v>2016.9166666670001</c:v>
                </c:pt>
                <c:pt idx="10">
                  <c:v>2017</c:v>
                </c:pt>
                <c:pt idx="11">
                  <c:v>2017.0833333329999</c:v>
                </c:pt>
                <c:pt idx="12">
                  <c:v>2017.1666666670001</c:v>
                </c:pt>
                <c:pt idx="13">
                  <c:v>2017.25</c:v>
                </c:pt>
                <c:pt idx="14">
                  <c:v>2017.3333333329999</c:v>
                </c:pt>
                <c:pt idx="15">
                  <c:v>2017.4166666670001</c:v>
                </c:pt>
                <c:pt idx="16">
                  <c:v>2017.5</c:v>
                </c:pt>
                <c:pt idx="17">
                  <c:v>2017.5833333329999</c:v>
                </c:pt>
                <c:pt idx="18">
                  <c:v>2017.6666666670001</c:v>
                </c:pt>
                <c:pt idx="19">
                  <c:v>2017.75</c:v>
                </c:pt>
                <c:pt idx="20">
                  <c:v>2017.8333333329999</c:v>
                </c:pt>
                <c:pt idx="21">
                  <c:v>2017.9166666670001</c:v>
                </c:pt>
                <c:pt idx="22">
                  <c:v>2018</c:v>
                </c:pt>
                <c:pt idx="23">
                  <c:v>2018.0833333329999</c:v>
                </c:pt>
                <c:pt idx="24">
                  <c:v>2018.1666666670001</c:v>
                </c:pt>
                <c:pt idx="25">
                  <c:v>2018.25</c:v>
                </c:pt>
                <c:pt idx="26">
                  <c:v>2018.3333333329999</c:v>
                </c:pt>
                <c:pt idx="27">
                  <c:v>2018.4166666670001</c:v>
                </c:pt>
                <c:pt idx="28">
                  <c:v>2018.5</c:v>
                </c:pt>
                <c:pt idx="29">
                  <c:v>2018.5833333329999</c:v>
                </c:pt>
                <c:pt idx="30">
                  <c:v>2018.6666666670001</c:v>
                </c:pt>
                <c:pt idx="31">
                  <c:v>2018.75</c:v>
                </c:pt>
                <c:pt idx="32">
                  <c:v>2018.8333333329999</c:v>
                </c:pt>
                <c:pt idx="33">
                  <c:v>2018.9166666670001</c:v>
                </c:pt>
                <c:pt idx="34">
                  <c:v>2019</c:v>
                </c:pt>
                <c:pt idx="35">
                  <c:v>2019.0833333329999</c:v>
                </c:pt>
                <c:pt idx="36">
                  <c:v>2019.1666666670001</c:v>
                </c:pt>
                <c:pt idx="37">
                  <c:v>2019.25</c:v>
                </c:pt>
                <c:pt idx="38">
                  <c:v>2019.3333333329999</c:v>
                </c:pt>
                <c:pt idx="39">
                  <c:v>2019.4166666670001</c:v>
                </c:pt>
                <c:pt idx="40">
                  <c:v>2019.5</c:v>
                </c:pt>
                <c:pt idx="41">
                  <c:v>2019.5833333329999</c:v>
                </c:pt>
                <c:pt idx="42">
                  <c:v>2019.6666666670001</c:v>
                </c:pt>
                <c:pt idx="43">
                  <c:v>2019.75</c:v>
                </c:pt>
                <c:pt idx="44">
                  <c:v>2019.8333333329999</c:v>
                </c:pt>
                <c:pt idx="45">
                  <c:v>2019.9166666670001</c:v>
                </c:pt>
                <c:pt idx="46">
                  <c:v>2020</c:v>
                </c:pt>
                <c:pt idx="47">
                  <c:v>2020.0833333329999</c:v>
                </c:pt>
                <c:pt idx="48">
                  <c:v>2020.1666666670001</c:v>
                </c:pt>
                <c:pt idx="49">
                  <c:v>2020.25</c:v>
                </c:pt>
                <c:pt idx="50">
                  <c:v>2020.3333333329999</c:v>
                </c:pt>
                <c:pt idx="51">
                  <c:v>2020.4166666670001</c:v>
                </c:pt>
                <c:pt idx="52">
                  <c:v>2020.5</c:v>
                </c:pt>
                <c:pt idx="53">
                  <c:v>2020.5833333329999</c:v>
                </c:pt>
                <c:pt idx="54">
                  <c:v>2020.6666666670001</c:v>
                </c:pt>
                <c:pt idx="55">
                  <c:v>2020.75</c:v>
                </c:pt>
                <c:pt idx="56">
                  <c:v>2020.8333333329999</c:v>
                </c:pt>
                <c:pt idx="57">
                  <c:v>2020.9166666670001</c:v>
                </c:pt>
                <c:pt idx="58">
                  <c:v>2021</c:v>
                </c:pt>
                <c:pt idx="59">
                  <c:v>2021.0833333329999</c:v>
                </c:pt>
                <c:pt idx="60">
                  <c:v>2021.1666666670001</c:v>
                </c:pt>
                <c:pt idx="61">
                  <c:v>2021.25</c:v>
                </c:pt>
                <c:pt idx="62">
                  <c:v>2021.3333333329999</c:v>
                </c:pt>
                <c:pt idx="63">
                  <c:v>2021.4166666670001</c:v>
                </c:pt>
                <c:pt idx="64">
                  <c:v>2021.5</c:v>
                </c:pt>
                <c:pt idx="65">
                  <c:v>2021.5833333329999</c:v>
                </c:pt>
                <c:pt idx="66">
                  <c:v>2021.6666666670001</c:v>
                </c:pt>
                <c:pt idx="67">
                  <c:v>2021.75</c:v>
                </c:pt>
                <c:pt idx="68">
                  <c:v>2021.8333333329999</c:v>
                </c:pt>
                <c:pt idx="69">
                  <c:v>2021.9166666670001</c:v>
                </c:pt>
                <c:pt idx="70">
                  <c:v>2022</c:v>
                </c:pt>
                <c:pt idx="71">
                  <c:v>2022.0833333329999</c:v>
                </c:pt>
                <c:pt idx="72">
                  <c:v>2022.1666666670001</c:v>
                </c:pt>
                <c:pt idx="73">
                  <c:v>2022.25</c:v>
                </c:pt>
                <c:pt idx="74">
                  <c:v>2022.3333333329999</c:v>
                </c:pt>
                <c:pt idx="75">
                  <c:v>2022.4166666670001</c:v>
                </c:pt>
                <c:pt idx="76">
                  <c:v>2022.5</c:v>
                </c:pt>
                <c:pt idx="77">
                  <c:v>2022.5833333329999</c:v>
                </c:pt>
                <c:pt idx="78">
                  <c:v>2022.6666666670001</c:v>
                </c:pt>
                <c:pt idx="79">
                  <c:v>2022.75</c:v>
                </c:pt>
                <c:pt idx="80">
                  <c:v>2022.8333333329999</c:v>
                </c:pt>
                <c:pt idx="81">
                  <c:v>2022.9166666670001</c:v>
                </c:pt>
                <c:pt idx="82">
                  <c:v>2023</c:v>
                </c:pt>
                <c:pt idx="83">
                  <c:v>2023.0833333329999</c:v>
                </c:pt>
                <c:pt idx="84">
                  <c:v>2023.1666666670001</c:v>
                </c:pt>
                <c:pt idx="85">
                  <c:v>2023.25</c:v>
                </c:pt>
                <c:pt idx="86">
                  <c:v>2023.3333333329999</c:v>
                </c:pt>
                <c:pt idx="87">
                  <c:v>2023.4166666670001</c:v>
                </c:pt>
                <c:pt idx="88">
                  <c:v>2023.5</c:v>
                </c:pt>
                <c:pt idx="89">
                  <c:v>2023.5833333329999</c:v>
                </c:pt>
                <c:pt idx="90">
                  <c:v>2023.6666666670001</c:v>
                </c:pt>
                <c:pt idx="91">
                  <c:v>2023.75</c:v>
                </c:pt>
                <c:pt idx="92">
                  <c:v>2023.8333333329999</c:v>
                </c:pt>
                <c:pt idx="93">
                  <c:v>2023.9166666670001</c:v>
                </c:pt>
                <c:pt idx="94">
                  <c:v>2024</c:v>
                </c:pt>
                <c:pt idx="95">
                  <c:v>2024.0833333329999</c:v>
                </c:pt>
                <c:pt idx="96">
                  <c:v>2024.1666666670001</c:v>
                </c:pt>
                <c:pt idx="97">
                  <c:v>2024.25</c:v>
                </c:pt>
                <c:pt idx="98">
                  <c:v>2024.3333333329999</c:v>
                </c:pt>
                <c:pt idx="99">
                  <c:v>2024.4166666670001</c:v>
                </c:pt>
                <c:pt idx="100">
                  <c:v>2024.5</c:v>
                </c:pt>
                <c:pt idx="101">
                  <c:v>2024.5833333329999</c:v>
                </c:pt>
                <c:pt idx="102">
                  <c:v>2024.6666666670001</c:v>
                </c:pt>
                <c:pt idx="103">
                  <c:v>2024.75</c:v>
                </c:pt>
                <c:pt idx="104">
                  <c:v>2024.8333333329999</c:v>
                </c:pt>
                <c:pt idx="105">
                  <c:v>2024.9166666670001</c:v>
                </c:pt>
                <c:pt idx="106">
                  <c:v>2025</c:v>
                </c:pt>
                <c:pt idx="107">
                  <c:v>2025.0833333329999</c:v>
                </c:pt>
                <c:pt idx="108">
                  <c:v>2025.1666666670001</c:v>
                </c:pt>
                <c:pt idx="109">
                  <c:v>2025.25</c:v>
                </c:pt>
                <c:pt idx="110">
                  <c:v>2025.3333333329999</c:v>
                </c:pt>
                <c:pt idx="111">
                  <c:v>2025.4166666670001</c:v>
                </c:pt>
                <c:pt idx="112">
                  <c:v>2025.5</c:v>
                </c:pt>
                <c:pt idx="113">
                  <c:v>2025.5833333329999</c:v>
                </c:pt>
                <c:pt idx="114">
                  <c:v>2025.6666666670001</c:v>
                </c:pt>
                <c:pt idx="115">
                  <c:v>2025.75</c:v>
                </c:pt>
                <c:pt idx="116">
                  <c:v>2025.8333333329999</c:v>
                </c:pt>
                <c:pt idx="117">
                  <c:v>2025.9166666670001</c:v>
                </c:pt>
              </c:numCache>
            </c:numRef>
          </c:xVal>
          <c:yVal>
            <c:numRef>
              <c:f>'Chart Data'!$B$2:$B$119</c:f>
              <c:numCache>
                <c:formatCode>0.0</c:formatCode>
                <c:ptCount val="118"/>
                <c:pt idx="0">
                  <c:v>3.0260334019999999</c:v>
                </c:pt>
                <c:pt idx="1">
                  <c:v>2.1868368490000001</c:v>
                </c:pt>
                <c:pt idx="2">
                  <c:v>2.7128177729999998</c:v>
                </c:pt>
                <c:pt idx="3">
                  <c:v>2.4647582479999999</c:v>
                </c:pt>
                <c:pt idx="4">
                  <c:v>2.2934622550000001</c:v>
                </c:pt>
                <c:pt idx="5">
                  <c:v>2.2391621750000001</c:v>
                </c:pt>
                <c:pt idx="6">
                  <c:v>2.4214781040000002</c:v>
                </c:pt>
                <c:pt idx="7">
                  <c:v>2.623464287</c:v>
                </c:pt>
                <c:pt idx="8">
                  <c:v>2.463678609</c:v>
                </c:pt>
                <c:pt idx="9">
                  <c:v>2.287250164</c:v>
                </c:pt>
                <c:pt idx="10">
                  <c:v>3.0610597859999999</c:v>
                </c:pt>
                <c:pt idx="11">
                  <c:v>2.7733575949999998</c:v>
                </c:pt>
                <c:pt idx="12">
                  <c:v>2.6075720059999998</c:v>
                </c:pt>
                <c:pt idx="13">
                  <c:v>2.5070424280000001</c:v>
                </c:pt>
                <c:pt idx="14">
                  <c:v>2.1586168200000002</c:v>
                </c:pt>
                <c:pt idx="15">
                  <c:v>1.9951673969999999</c:v>
                </c:pt>
                <c:pt idx="16">
                  <c:v>1.6276766789999999</c:v>
                </c:pt>
                <c:pt idx="17">
                  <c:v>1.595732935</c:v>
                </c:pt>
                <c:pt idx="18">
                  <c:v>1.724966665</c:v>
                </c:pt>
                <c:pt idx="19">
                  <c:v>1.605999774</c:v>
                </c:pt>
                <c:pt idx="20">
                  <c:v>1.5147270580000001</c:v>
                </c:pt>
                <c:pt idx="21">
                  <c:v>1.079155203</c:v>
                </c:pt>
                <c:pt idx="22">
                  <c:v>1.4894785189999999</c:v>
                </c:pt>
                <c:pt idx="23">
                  <c:v>2.1737827269999999</c:v>
                </c:pt>
                <c:pt idx="24">
                  <c:v>1.770719726</c:v>
                </c:pt>
                <c:pt idx="25">
                  <c:v>2.273074598</c:v>
                </c:pt>
                <c:pt idx="26">
                  <c:v>3.7950055919999999</c:v>
                </c:pt>
                <c:pt idx="27">
                  <c:v>3.8068650609999999</c:v>
                </c:pt>
                <c:pt idx="28">
                  <c:v>4.1326818889999997</c:v>
                </c:pt>
                <c:pt idx="29">
                  <c:v>4.4065891840000004</c:v>
                </c:pt>
                <c:pt idx="30">
                  <c:v>3.8518963789999998</c:v>
                </c:pt>
                <c:pt idx="31">
                  <c:v>3.5151295220000001</c:v>
                </c:pt>
                <c:pt idx="32">
                  <c:v>3.2488022430000001</c:v>
                </c:pt>
                <c:pt idx="33">
                  <c:v>3.757293835</c:v>
                </c:pt>
                <c:pt idx="34">
                  <c:v>3.3060627810000001</c:v>
                </c:pt>
                <c:pt idx="35">
                  <c:v>5.1859317369999998</c:v>
                </c:pt>
                <c:pt idx="36">
                  <c:v>5.8778160740000001</c:v>
                </c:pt>
                <c:pt idx="37">
                  <c:v>3.3989782079999999</c:v>
                </c:pt>
                <c:pt idx="38">
                  <c:v>3.9283339920000002</c:v>
                </c:pt>
                <c:pt idx="39">
                  <c:v>3.7663049590000002</c:v>
                </c:pt>
                <c:pt idx="40">
                  <c:v>3.8291796429999998</c:v>
                </c:pt>
                <c:pt idx="41">
                  <c:v>4.275014498</c:v>
                </c:pt>
                <c:pt idx="42">
                  <c:v>4.7436025730000004</c:v>
                </c:pt>
                <c:pt idx="43">
                  <c:v>4.35794295</c:v>
                </c:pt>
                <c:pt idx="44">
                  <c:v>4.3730873849999998</c:v>
                </c:pt>
                <c:pt idx="45">
                  <c:v>4.9879831320000001</c:v>
                </c:pt>
                <c:pt idx="46">
                  <c:v>4.6762686609999999</c:v>
                </c:pt>
                <c:pt idx="47">
                  <c:v>2.9900828330000002</c:v>
                </c:pt>
                <c:pt idx="48">
                  <c:v>3.1684961509999998</c:v>
                </c:pt>
                <c:pt idx="49">
                  <c:v>3.5214730699999999</c:v>
                </c:pt>
                <c:pt idx="50">
                  <c:v>3.6386284149999999</c:v>
                </c:pt>
                <c:pt idx="51">
                  <c:v>2.9662088440000001</c:v>
                </c:pt>
                <c:pt idx="52">
                  <c:v>2.3775111280000001</c:v>
                </c:pt>
                <c:pt idx="53">
                  <c:v>2.3348992769999999</c:v>
                </c:pt>
                <c:pt idx="54">
                  <c:v>2.3356749689999998</c:v>
                </c:pt>
                <c:pt idx="55">
                  <c:v>2.2987247480000002</c:v>
                </c:pt>
                <c:pt idx="56">
                  <c:v>2.2789436799999998</c:v>
                </c:pt>
                <c:pt idx="57">
                  <c:v>2.281140363</c:v>
                </c:pt>
                <c:pt idx="58">
                  <c:v>2.316501878</c:v>
                </c:pt>
                <c:pt idx="59">
                  <c:v>2.3055092840000002</c:v>
                </c:pt>
                <c:pt idx="60">
                  <c:v>2.3675635110000002</c:v>
                </c:pt>
                <c:pt idx="61">
                  <c:v>2.5400898559999998</c:v>
                </c:pt>
                <c:pt idx="62">
                  <c:v>2.6212558979999998</c:v>
                </c:pt>
                <c:pt idx="63">
                  <c:v>2.605265647</c:v>
                </c:pt>
                <c:pt idx="64">
                  <c:v>2.577180544</c:v>
                </c:pt>
                <c:pt idx="65">
                  <c:v>2.5788097639999998</c:v>
                </c:pt>
                <c:pt idx="66">
                  <c:v>2.5754696940000001</c:v>
                </c:pt>
                <c:pt idx="67">
                  <c:v>2.5418549590000001</c:v>
                </c:pt>
                <c:pt idx="68">
                  <c:v>2.5491157919999998</c:v>
                </c:pt>
                <c:pt idx="69">
                  <c:v>2.5449709789999999</c:v>
                </c:pt>
                <c:pt idx="70">
                  <c:v>2.5443428219999999</c:v>
                </c:pt>
                <c:pt idx="71">
                  <c:v>2.5704131010000002</c:v>
                </c:pt>
                <c:pt idx="72">
                  <c:v>2.568537831</c:v>
                </c:pt>
                <c:pt idx="73">
                  <c:v>2.5818486190000001</c:v>
                </c:pt>
                <c:pt idx="74">
                  <c:v>2.646461902</c:v>
                </c:pt>
                <c:pt idx="75">
                  <c:v>2.6643346409999999</c:v>
                </c:pt>
                <c:pt idx="76">
                  <c:v>2.6590260159999999</c:v>
                </c:pt>
                <c:pt idx="77">
                  <c:v>2.6732062640000001</c:v>
                </c:pt>
                <c:pt idx="78">
                  <c:v>2.6913151979999999</c:v>
                </c:pt>
                <c:pt idx="79">
                  <c:v>2.689388069</c:v>
                </c:pt>
                <c:pt idx="80">
                  <c:v>2.6665887060000002</c:v>
                </c:pt>
                <c:pt idx="81">
                  <c:v>2.6707406859999998</c:v>
                </c:pt>
                <c:pt idx="82">
                  <c:v>2.6702239739999998</c:v>
                </c:pt>
                <c:pt idx="83">
                  <c:v>2.6329221309999999</c:v>
                </c:pt>
                <c:pt idx="84">
                  <c:v>2.6487599300000002</c:v>
                </c:pt>
                <c:pt idx="85">
                  <c:v>2.6027978510000001</c:v>
                </c:pt>
                <c:pt idx="86">
                  <c:v>2.5886775630000001</c:v>
                </c:pt>
                <c:pt idx="87">
                  <c:v>2.598861769</c:v>
                </c:pt>
                <c:pt idx="88">
                  <c:v>2.6032777130000002</c:v>
                </c:pt>
                <c:pt idx="89">
                  <c:v>2.5763671119999998</c:v>
                </c:pt>
                <c:pt idx="90">
                  <c:v>2.5787154769999998</c:v>
                </c:pt>
                <c:pt idx="91">
                  <c:v>2.5790033270000001</c:v>
                </c:pt>
                <c:pt idx="92">
                  <c:v>2.5677178000000001</c:v>
                </c:pt>
                <c:pt idx="93">
                  <c:v>2.5743307249999998</c:v>
                </c:pt>
                <c:pt idx="94">
                  <c:v>2.6053375160000001</c:v>
                </c:pt>
                <c:pt idx="95">
                  <c:v>2.5150110470000002</c:v>
                </c:pt>
                <c:pt idx="96">
                  <c:v>2.4928070440000001</c:v>
                </c:pt>
                <c:pt idx="97">
                  <c:v>2.4856724699999999</c:v>
                </c:pt>
                <c:pt idx="98">
                  <c:v>2.478540696</c:v>
                </c:pt>
                <c:pt idx="99">
                  <c:v>2.493885744</c:v>
                </c:pt>
                <c:pt idx="100">
                  <c:v>2.4892488429999999</c:v>
                </c:pt>
                <c:pt idx="101">
                  <c:v>2.5035801690000001</c:v>
                </c:pt>
                <c:pt idx="102">
                  <c:v>2.4257936349999998</c:v>
                </c:pt>
                <c:pt idx="103">
                  <c:v>2.443978896</c:v>
                </c:pt>
                <c:pt idx="104">
                  <c:v>2.3891167449999999</c:v>
                </c:pt>
                <c:pt idx="105">
                  <c:v>2.358056409</c:v>
                </c:pt>
                <c:pt idx="106">
                  <c:v>2.3309326229999998</c:v>
                </c:pt>
                <c:pt idx="107">
                  <c:v>2.3223009339999998</c:v>
                </c:pt>
                <c:pt idx="108">
                  <c:v>2.0847801179999998</c:v>
                </c:pt>
                <c:pt idx="109">
                  <c:v>1.7441529120000001</c:v>
                </c:pt>
                <c:pt idx="110">
                  <c:v>1.55737853</c:v>
                </c:pt>
                <c:pt idx="111">
                  <c:v>2.1739868910000002</c:v>
                </c:pt>
                <c:pt idx="112">
                  <c:v>2.5707803829999998</c:v>
                </c:pt>
                <c:pt idx="113">
                  <c:v>2.996071546</c:v>
                </c:pt>
                <c:pt idx="114">
                  <c:v>2.9770234000000002</c:v>
                </c:pt>
                <c:pt idx="115">
                  <c:v>2.91790752</c:v>
                </c:pt>
                <c:pt idx="116">
                  <c:v>2.948677961</c:v>
                </c:pt>
                <c:pt idx="117">
                  <c:v>2.942510671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7AE-0242-93A6-41DFB2F81C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Coefficient</a:t>
                </a:r>
              </a:p>
            </c:rich>
          </c:tx>
          <c:overlay val="0"/>
        </c:title>
        <c:numFmt formatCode="0.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2026"/>
          <c:min val="2016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2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n-Interest Income">
            <a:extLst>
              <a:ext uri="{FF2B5EF4-FFF2-40B4-BE49-F238E27FC236}">
                <a16:creationId xmlns:a16="http://schemas.microsoft.com/office/drawing/2014/main" id="{EB96CD7F-DDE9-4EE8-AB10-F92DC897A09E}"/>
              </a:ext>
            </a:extLst>
          </p:cNvPr>
          <p:cNvSpPr>
            <a:spLocks noGrp="1"/>
          </p:cNvSpPr>
          <p:nvPr/>
        </p:nvSpPr>
        <p:spPr>
          <a:xfrm>
            <a:off x="742950" y="214312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Non-Interest Income</a:t>
            </a:r>
          </a:p>
        </p:txBody>
      </p:sp>
      <p:sp>
        <p:nvSpPr>
          <p:cNvPr id="4" name="Commercial Card&#10;Fee Revenue Modeling">
            <a:extLst>
              <a:ext uri="{FF2B5EF4-FFF2-40B4-BE49-F238E27FC236}">
                <a16:creationId xmlns:a16="http://schemas.microsoft.com/office/drawing/2014/main" id="{2B2941FA-FEA4-4756-8BE5-AEB8DE759756}"/>
              </a:ext>
            </a:extLst>
          </p:cNvPr>
          <p:cNvSpPr>
            <a:spLocks noGrp="1"/>
          </p:cNvSpPr>
          <p:nvPr/>
        </p:nvSpPr>
        <p:spPr>
          <a:xfrm>
            <a:off x="742950" y="2914650"/>
            <a:ext cx="10668000" cy="1409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9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Consumer Card</a:t>
            </a:r>
          </a:p>
          <a:p>
            <a:pPr algn="l">
              <a:buNone/>
              <a:defRPr sz="39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Fee Revenue Modeling</a:t>
            </a:r>
          </a:p>
        </p:txBody>
      </p:sp>
      <p:sp>
        <p:nvSpPr>
          <p:cNvPr id="5" name="Small Business + Commercial Card">
            <a:extLst>
              <a:ext uri="{FF2B5EF4-FFF2-40B4-BE49-F238E27FC236}">
                <a16:creationId xmlns:a16="http://schemas.microsoft.com/office/drawing/2014/main" id="{D07C77B4-83A1-471B-B1E5-C9B0BCD47105}"/>
              </a:ext>
            </a:extLst>
          </p:cNvPr>
          <p:cNvSpPr>
            <a:spLocks noGrp="1"/>
          </p:cNvSpPr>
          <p:nvPr/>
        </p:nvSpPr>
        <p:spPr>
          <a:xfrm>
            <a:off x="762000" y="4638675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Independent Model Reproduction</a:t>
            </a:r>
          </a:p>
        </p:txBody>
      </p:sp>
      <p:sp>
        <p:nvSpPr>
          <p:cNvPr id="6" name="PPNR / CCAR Model Development Review&#10;September 24, 2026">
            <a:extLst>
              <a:ext uri="{FF2B5EF4-FFF2-40B4-BE49-F238E27FC236}">
                <a16:creationId xmlns:a16="http://schemas.microsoft.com/office/drawing/2014/main" id="{015241B9-DB50-4CF5-9750-4C00960542B9}"/>
              </a:ext>
            </a:extLst>
          </p:cNvPr>
          <p:cNvSpPr>
            <a:spLocks noGrp="1"/>
          </p:cNvSpPr>
          <p:nvPr/>
        </p:nvSpPr>
        <p:spPr>
          <a:xfrm>
            <a:off x="762000" y="5562600"/>
            <a:ext cx="101917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In sample: Jan 2011 – Sep 2023</a:t>
            </a:r>
          </a:p>
          <a:p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Out of time: Oct 2023 – Dec 2025</a:t>
            </a:r>
          </a:p>
        </p:txBody>
      </p:sp>
    </p:spTree>
    <p:extLst>
      <p:ext uri="{BB962C8B-B14F-4D97-AF65-F5344CB8AC3E}">
        <p14:creationId xmlns:p14="http://schemas.microsoft.com/office/powerpoint/2010/main" val="1609394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5" name="2">
            <a:extLst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ive">
            <a:extLst>
              <a:ext uri="{FF2B5EF4-FFF2-40B4-BE49-F238E27FC236}">
                <a16:creationId xmlns:a16="http://schemas.microsoft.com/office/drawing/2014/main" id="{783EFFDF-99AD-4CD8-ADDC-742E70A107C3}"/>
              </a:ext>
            </a:extLst>
          </p:cNvPr>
          <p:cNvSpPr>
            <a:spLocks noGrp="1"/>
          </p:cNvSpPr>
          <p:nvPr/>
        </p:nvSpPr>
        <p:spPr>
          <a:xfrm>
            <a:off x="647700" y="141922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7" name="Reproduce the Consumer Card fee model and evaluate its repor">
            <a:extLst>
              <a:ext uri="{FF2B5EF4-FFF2-40B4-BE49-F238E27FC236}">
                <a16:creationId xmlns:a16="http://schemas.microsoft.com/office/drawing/2014/main" id="{8B5B3C1E-DA36-4704-9C01-D01900838504}"/>
              </a:ext>
            </a:extLst>
          </p:cNvPr>
          <p:cNvSpPr>
            <a:spLocks noGrp="1"/>
          </p:cNvSpPr>
          <p:nvPr/>
        </p:nvSpPr>
        <p:spPr>
          <a:xfrm>
            <a:off x="647700" y="1838325"/>
            <a:ext cx="10477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Reproduce the Consumer Card fee model and evaluate its reported results using the available source workbooks.</a:t>
            </a:r>
          </a:p>
        </p:txBody>
      </p:sp>
      <p:sp>
        <p:nvSpPr>
          <p:cNvPr id="8" name="Selected specification">
            <a:extLst>
              <a:ext uri="{FF2B5EF4-FFF2-40B4-BE49-F238E27FC236}">
                <a16:creationId xmlns:a16="http://schemas.microsoft.com/office/drawing/2014/main" id="{F4E7FCFD-BDCF-4EDB-AF0E-381F1282C0C3}"/>
              </a:ext>
            </a:extLst>
          </p:cNvPr>
          <p:cNvSpPr>
            <a:spLocks noGrp="1"/>
          </p:cNvSpPr>
          <p:nvPr/>
        </p:nvSpPr>
        <p:spPr>
          <a:xfrm>
            <a:off x="647700" y="278130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Selected specification</a:t>
            </a:r>
          </a:p>
        </p:txBody>
      </p:sp>
      <p:sp>
        <p:nvSpPr>
          <p:cNvPr id="9" name="Monthly log changes with two autoregressive terms, January a">
            <a:extLst>
              <a:ext uri="{FF2B5EF4-FFF2-40B4-BE49-F238E27FC236}">
                <a16:creationId xmlns:a16="http://schemas.microsoft.com/office/drawing/2014/main" id="{CE50D734-D441-4349-B378-B8D7178563DC}"/>
              </a:ext>
            </a:extLst>
          </p:cNvPr>
          <p:cNvSpPr>
            <a:spLocks noGrp="1"/>
          </p:cNvSpPr>
          <p:nvPr/>
        </p:nvSpPr>
        <p:spPr>
          <a:xfrm>
            <a:off x="647700" y="3200400"/>
            <a:ext cx="10477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Monthly log changes with two autoregressive terms, January and December indicators, and a three-month average of retail sales growth.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609600" y="4410075"/>
          <a:ext cx="10972800" cy="962025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01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IS adjusted R²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OOT MAPE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OOT RMSE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61.1%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5.05%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45.89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he central model result reproduces. Some prior-report figur">
            <a:extLst>
              <a:ext uri="{FF2B5EF4-FFF2-40B4-BE49-F238E27FC236}">
                <a16:creationId xmlns:a16="http://schemas.microsoft.com/office/drawing/2014/main" id="{DA8D094E-945E-43AE-86C7-9A2FBF37E8D6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central model result reproduces. Some prior-report figures still require source or method clarification.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836B9294-8BBE-4B0D-B520-648277F9B2E8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Data Scope and Study Windows</a:t>
            </a:r>
          </a:p>
        </p:txBody>
      </p:sp>
      <p:sp>
        <p:nvSpPr>
          <p:cNvPr id="5" name="3">
            <a:extLst>
              <a:ext uri="{FF2B5EF4-FFF2-40B4-BE49-F238E27FC236}">
                <a16:creationId xmlns:a16="http://schemas.microsoft.com/office/drawing/2014/main" id="{B72CF65C-219A-492B-884C-18DFC28245C4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Target: Consumer Card fee revenue from the fee workbook, exc">
            <a:extLst>
              <a:ext uri="{FF2B5EF4-FFF2-40B4-BE49-F238E27FC236}">
                <a16:creationId xmlns:a16="http://schemas.microsoft.com/office/drawing/2014/main" id="{8F1B5516-18FE-42C2-AA75-FD900BC91A83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Target: Consumer Card fee revenue from the fee workbook, excluding the similarly named loan field.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609600" y="2076450"/>
          <a:ext cx="10972800" cy="3133725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2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Months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Complete target history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 2011 – Dec 2025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180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IS selection and estimation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 2011 – Sep 2023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153 calendar months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Usable IS regression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Apr 2011 – Sep 2023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OOT backtest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Oct 2023 – Dec 2025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Macro history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 2010 – Dec 2026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ne monthly log change and two target lags reduce the usable">
            <a:extLst>
              <a:ext uri="{FF2B5EF4-FFF2-40B4-BE49-F238E27FC236}">
                <a16:creationId xmlns:a16="http://schemas.microsoft.com/office/drawing/2014/main" id="{7BCBEAA7-3FDA-455D-A51F-39E0260B093B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One monthly log change and two target lags reduce the usable IS sample from 153 to 150 months.</a:t>
            </a:r>
          </a:p>
        </p:txBody>
      </p:sp>
    </p:spTree>
    <p:extLst>
      <p:ext uri="{BB962C8B-B14F-4D97-AF65-F5344CB8AC3E}">
        <p14:creationId xmlns:p14="http://schemas.microsoft.com/office/powerpoint/2010/main" val="822054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BDF0BA8-81E5-414F-963F-5D4A5004DD93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Macro Candidate Universe</a:t>
            </a:r>
          </a:p>
        </p:txBody>
      </p:sp>
      <p:sp>
        <p:nvSpPr>
          <p:cNvPr id="5" name="4">
            <a:extLst>
              <a:ext uri="{FF2B5EF4-FFF2-40B4-BE49-F238E27FC236}">
                <a16:creationId xmlns:a16="http://schemas.microsoft.com/office/drawing/2014/main" id="{2CE2D929-FC26-4CFA-A6BB-A17F71A91A59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1638300"/>
          <a:ext cx="10972800" cy="360045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code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Monthly transform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Unemployment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M_FLBR_B.IUSA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First difference (pp)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CPI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M_FCPIU_B.IUSA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Percentage change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Disposable income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M_FYPDPIQ_B.IUSA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Percentage change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Consumer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Retail sales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M_FRT_B.IUSA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Percentage change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Consumer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Consumer confidence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M_FCBC_B.IUSA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Percentage change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Each macro contributes its current change and a trailing thr">
            <a:extLst>
              <a:ext uri="{FF2B5EF4-FFF2-40B4-BE49-F238E27FC236}">
                <a16:creationId xmlns:a16="http://schemas.microsoft.com/office/drawing/2014/main" id="{907AC5FA-6A5C-453C-8529-E7A90DFF733A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Each macro contributes its current change and a trailing three-month average, for 10 candidates.</a:t>
            </a:r>
          </a:p>
        </p:txBody>
      </p:sp>
    </p:spTree>
    <p:extLst>
      <p:ext uri="{BB962C8B-B14F-4D97-AF65-F5344CB8AC3E}">
        <p14:creationId xmlns:p14="http://schemas.microsoft.com/office/powerpoint/2010/main" val="1239750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6D996EEB-E170-415E-B005-9742539AAD6F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 Card Fee History</a:t>
            </a:r>
          </a:p>
        </p:txBody>
      </p:sp>
      <p:sp>
        <p:nvSpPr>
          <p:cNvPr id="5" name="5">
            <a:extLst>
              <a:ext uri="{FF2B5EF4-FFF2-40B4-BE49-F238E27FC236}">
                <a16:creationId xmlns:a16="http://schemas.microsoft.com/office/drawing/2014/main" id="{3E3D7F31-3CF7-41A2-BE6F-A01EAB7D4592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Monthly fee revenue, January 2011 to December 2025">
            <a:extLst>
              <a:ext uri="{FF2B5EF4-FFF2-40B4-BE49-F238E27FC236}">
                <a16:creationId xmlns:a16="http://schemas.microsoft.com/office/drawing/2014/main" id="{CDE56E9F-56DF-4B34-9706-E75AC299C390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Monthly fee revenue, January 2011 to December 2025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609600" y="1781175"/>
          <a:ext cx="10972800" cy="3990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he study uses 180 complete target months. The OOT evaluatio">
            <a:extLst>
              <a:ext uri="{FF2B5EF4-FFF2-40B4-BE49-F238E27FC236}">
                <a16:creationId xmlns:a16="http://schemas.microsoft.com/office/drawing/2014/main" id="{546DF4EC-4D3C-430C-8BF4-E3EEB53EA624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study uses 180 complete target months. The OOT evaluation starts in October 2023.</a:t>
            </a:r>
          </a:p>
        </p:txBody>
      </p:sp>
    </p:spTree>
    <p:extLst>
      <p:ext uri="{BB962C8B-B14F-4D97-AF65-F5344CB8AC3E}">
        <p14:creationId xmlns:p14="http://schemas.microsoft.com/office/powerpoint/2010/main" val="1443906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004EBA2-3C31-4628-94F8-87AF53726848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Target and Candidate Construction</a:t>
            </a:r>
          </a:p>
        </p:txBody>
      </p:sp>
      <p:sp>
        <p:nvSpPr>
          <p:cNvPr id="5" name="6">
            <a:extLst>
              <a:ext uri="{FF2B5EF4-FFF2-40B4-BE49-F238E27FC236}">
                <a16:creationId xmlns:a16="http://schemas.microsoft.com/office/drawing/2014/main" id="{F8A26AF4-9209-48C1-A217-C41406238275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yₜ = 100 × [ln(Fₜ) − ln(Fₜ₋₁)]">
            <a:extLst>
              <a:ext uri="{FF2B5EF4-FFF2-40B4-BE49-F238E27FC236}">
                <a16:creationId xmlns:a16="http://schemas.microsoft.com/office/drawing/2014/main" id="{8B3B2CD3-9906-42E9-8A21-5B101D22DD4E}"/>
              </a:ext>
            </a:extLst>
          </p:cNvPr>
          <p:cNvSpPr>
            <a:spLocks noGrp="1"/>
          </p:cNvSpPr>
          <p:nvPr/>
        </p:nvSpPr>
        <p:spPr>
          <a:xfrm>
            <a:off x="647700" y="1504950"/>
            <a:ext cx="10477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6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yₜ = 100 × [ln(Fₜ) − ln(Fₜ₋₁)]</a:t>
            </a:r>
          </a:p>
        </p:txBody>
      </p:sp>
      <p:sp>
        <p:nvSpPr>
          <p:cNvPr id="7" name="Fₜ is monthly Consumer Card fee revenue. The target measures">
            <a:extLst>
              <a:ext uri="{FF2B5EF4-FFF2-40B4-BE49-F238E27FC236}">
                <a16:creationId xmlns:a16="http://schemas.microsoft.com/office/drawing/2014/main" id="{C8401970-8B75-4DAC-8BB5-F1A9EFFF1A98}"/>
              </a:ext>
            </a:extLst>
          </p:cNvPr>
          <p:cNvSpPr>
            <a:spLocks noGrp="1"/>
          </p:cNvSpPr>
          <p:nvPr/>
        </p:nvSpPr>
        <p:spPr>
          <a:xfrm>
            <a:off x="647700" y="2181225"/>
            <a:ext cx="1047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Fₜ is monthly Consumer Card fee revenue. The target measures monthly log change in percentage points.</a:t>
            </a:r>
          </a:p>
        </p:txBody>
      </p:sp>
      <p:sp>
        <p:nvSpPr>
          <p:cNvPr id="8" name="Macro transformations">
            <a:extLst>
              <a:ext uri="{FF2B5EF4-FFF2-40B4-BE49-F238E27FC236}">
                <a16:creationId xmlns:a16="http://schemas.microsoft.com/office/drawing/2014/main" id="{B5BC888D-6E0B-4208-8764-2F462BDA38D2}"/>
              </a:ext>
            </a:extLst>
          </p:cNvPr>
          <p:cNvSpPr>
            <a:spLocks noGrp="1"/>
          </p:cNvSpPr>
          <p:nvPr/>
        </p:nvSpPr>
        <p:spPr>
          <a:xfrm>
            <a:off x="647700" y="310515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Macro transformations</a:t>
            </a:r>
          </a:p>
        </p:txBody>
      </p:sp>
      <p:sp>
        <p:nvSpPr>
          <p:cNvPr id="9" name="Unemployment: monthly percentage-point difference&#10;Other macr">
            <a:extLst>
              <a:ext uri="{FF2B5EF4-FFF2-40B4-BE49-F238E27FC236}">
                <a16:creationId xmlns:a16="http://schemas.microsoft.com/office/drawing/2014/main" id="{885ABF9E-3832-4F74-A354-1189294A8983}"/>
              </a:ext>
            </a:extLst>
          </p:cNvPr>
          <p:cNvSpPr>
            <a:spLocks noGrp="1"/>
          </p:cNvSpPr>
          <p:nvPr/>
        </p:nvSpPr>
        <p:spPr>
          <a:xfrm>
            <a:off x="647700" y="3524250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Unemployment: monthly percentage-point difference</a:t>
            </a:r>
          </a:p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Other macros: 100 × (Xₜ / Xₜ₋₁ − 1)</a:t>
            </a:r>
          </a:p>
        </p:txBody>
      </p:sp>
      <p:sp>
        <p:nvSpPr>
          <p:cNvPr id="10" name="MA3ₜ = (changeₜ + changeₜ₋₁ + changeₜ₋₂) / 3">
            <a:extLst>
              <a:ext uri="{FF2B5EF4-FFF2-40B4-BE49-F238E27FC236}">
                <a16:creationId xmlns:a16="http://schemas.microsoft.com/office/drawing/2014/main" id="{8175D2FA-A702-48B0-A8E9-5ED0350BA678}"/>
              </a:ext>
            </a:extLst>
          </p:cNvPr>
          <p:cNvSpPr>
            <a:spLocks noGrp="1"/>
          </p:cNvSpPr>
          <p:nvPr/>
        </p:nvSpPr>
        <p:spPr>
          <a:xfrm>
            <a:off x="647700" y="464820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0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476B"/>
                </a:solidFill>
                <a:latin typeface="Arial"/>
                <a:ea typeface="Arial"/>
                <a:cs typeface="Arial"/>
              </a:rPr>
              <a:t>MA3ₜ = (changeₜ + changeₜ₋₁ + changeₜ₋₂) / 3</a:t>
            </a:r>
          </a:p>
        </p:txBody>
      </p:sp>
      <p:sp>
        <p:nvSpPr>
          <p:cNvPr id="11" name="All three-month averages include the current month and the t">
            <a:extLst>
              <a:ext uri="{FF2B5EF4-FFF2-40B4-BE49-F238E27FC236}">
                <a16:creationId xmlns:a16="http://schemas.microsoft.com/office/drawing/2014/main" id="{93B91B9D-207D-4B08-9AD3-B26C1D0EE0C6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All three-month averages include the current month and the two preceding months.</a:t>
            </a:r>
          </a:p>
        </p:txBody>
      </p:sp>
    </p:spTree>
    <p:extLst>
      <p:ext uri="{BB962C8B-B14F-4D97-AF65-F5344CB8AC3E}">
        <p14:creationId xmlns:p14="http://schemas.microsoft.com/office/powerpoint/2010/main" val="446966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CE11BCAC-5587-4C0E-A24E-AAFC1ABD9916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Forward Selection and Diagnostic Gates</a:t>
            </a:r>
          </a:p>
        </p:txBody>
      </p:sp>
      <p:sp>
        <p:nvSpPr>
          <p:cNvPr id="5" name="7">
            <a:extLst>
              <a:ext uri="{FF2B5EF4-FFF2-40B4-BE49-F238E27FC236}">
                <a16:creationId xmlns:a16="http://schemas.microsoft.com/office/drawing/2014/main" id="{49FD2A59-1653-44BB-98CD-5AA95890A726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Base equation: y(t−1), y(t−2), January and December">
            <a:extLst>
              <a:ext uri="{FF2B5EF4-FFF2-40B4-BE49-F238E27FC236}">
                <a16:creationId xmlns:a16="http://schemas.microsoft.com/office/drawing/2014/main" id="{21731B2D-85A8-4DA0-8242-845ED8CED500}"/>
              </a:ext>
            </a:extLst>
          </p:cNvPr>
          <p:cNvSpPr>
            <a:spLocks noGrp="1"/>
          </p:cNvSpPr>
          <p:nvPr/>
        </p:nvSpPr>
        <p:spPr>
          <a:xfrm>
            <a:off x="647700" y="1447800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Base equation: y(t−1), y(t−2), January and December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609600" y="2076450"/>
          <a:ext cx="10972800" cy="2371725"/>
        </p:xfrm>
        <a:graphic>
          <a:graphicData uri="http://schemas.openxmlformats.org/drawingml/2006/table">
            <a:tbl>
              <a:tblPr/>
              <a:tblGrid>
                <a:gridCol w="657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434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Gate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Added candidate significance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 &lt; 0.05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Maximum VIF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 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Durbin–Watson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1.5 to 2.5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Jarque–Bera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 &gt; 0.05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At each round, choose the smallest candidate p-value among e">
            <a:extLst>
              <a:ext uri="{FF2B5EF4-FFF2-40B4-BE49-F238E27FC236}">
                <a16:creationId xmlns:a16="http://schemas.microsoft.com/office/drawing/2014/main" id="{2792D147-9E3E-4205-A987-32385988F4CA}"/>
              </a:ext>
            </a:extLst>
          </p:cNvPr>
          <p:cNvSpPr>
            <a:spLocks noGrp="1"/>
          </p:cNvSpPr>
          <p:nvPr/>
        </p:nvSpPr>
        <p:spPr>
          <a:xfrm>
            <a:off x="647700" y="4752975"/>
            <a:ext cx="1066800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At each round, choose the smallest candidate p-value among equations passing all gates. Retail sales MA3 enters first. No additional macro passes significance in round two.</a:t>
            </a:r>
          </a:p>
        </p:txBody>
      </p:sp>
      <p:sp>
        <p:nvSpPr>
          <p:cNvPr id="9" name="DW serves as a descriptive diagnostic and selection heuristi">
            <a:extLst>
              <a:ext uri="{FF2B5EF4-FFF2-40B4-BE49-F238E27FC236}">
                <a16:creationId xmlns:a16="http://schemas.microsoft.com/office/drawing/2014/main" id="{0B948422-BF83-437B-B302-E52BD97E99F5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DW serves as a descriptive diagnostic and selection heuristic for this autoregressive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1996438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BD9C853C-A826-48E5-B13B-7302381FCF3F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First-Round Macro Screening</a:t>
            </a:r>
          </a:p>
        </p:txBody>
      </p:sp>
      <p:sp>
        <p:nvSpPr>
          <p:cNvPr id="5" name="8">
            <a:extLst>
              <a:ext uri="{FF2B5EF4-FFF2-40B4-BE49-F238E27FC236}">
                <a16:creationId xmlns:a16="http://schemas.microsoft.com/office/drawing/2014/main" id="{CBDAFAA8-658A-46A6-AC82-A6C99E79C06C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1381125"/>
          <a:ext cx="10972800" cy="4191000"/>
        </p:xfrm>
        <a:graphic>
          <a:graphicData uri="http://schemas.openxmlformats.org/drawingml/2006/table">
            <a:tbl>
              <a:tblPr/>
              <a:tblGrid>
                <a:gridCol w="436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114300" marR="85725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Coefficient</a:t>
                      </a:r>
                    </a:p>
                  </a:txBody>
                  <a:tcPr marL="114300" marR="85725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p-value</a:t>
                      </a:r>
                    </a:p>
                  </a:txBody>
                  <a:tcPr marL="114300" marR="85725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Adj. R²</a:t>
                      </a:r>
                    </a:p>
                  </a:txBody>
                  <a:tcPr marL="114300" marR="85725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All gates</a:t>
                      </a:r>
                    </a:p>
                  </a:txBody>
                  <a:tcPr marL="114300" marR="85725" marT="38100" marB="38100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Retail sales MA3</a:t>
                      </a:r>
                    </a:p>
                  </a:txBody>
                  <a:tcPr marL="114300" marR="85725" marT="38100" marB="38100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2.575</a:t>
                      </a:r>
                    </a:p>
                  </a:txBody>
                  <a:tcPr marL="114300" marR="85725" marT="38100" marB="38100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38100" marB="38100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0.611</a:t>
                      </a:r>
                    </a:p>
                  </a:txBody>
                  <a:tcPr marL="114300" marR="85725" marT="38100" marB="38100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114300" marR="85725" marT="38100" marB="38100" anchor="ctr">
                    <a:solidFill>
                      <a:srgbClr val="DF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Unemployment change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-2.316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0.004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0.590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Retail sales change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0.886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0.008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0.587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Unemployment MA3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-2.977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0.042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0.579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CPI MA3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6.181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0.064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0.577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Consumer confidence MA3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0.327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0.080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0.576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CPI change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4.417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0.092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0.575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Consumer confidence change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0.094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0.361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0.569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Disposable income MA3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0.299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0.658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0.567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Disposable income change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-0.059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0.816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0.567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Retail sales MA3 has the smallest eligible p-value and remai">
            <a:extLst>
              <a:ext uri="{FF2B5EF4-FFF2-40B4-BE49-F238E27FC236}">
                <a16:creationId xmlns:a16="http://schemas.microsoft.com/office/drawing/2014/main" id="{1E046FE2-80AB-4771-A660-04B531BE432D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Retail sales MA3 has the smallest eligible p-value and remains the only selected macro term.</a:t>
            </a:r>
          </a:p>
        </p:txBody>
      </p:sp>
    </p:spTree>
    <p:extLst>
      <p:ext uri="{BB962C8B-B14F-4D97-AF65-F5344CB8AC3E}">
        <p14:creationId xmlns:p14="http://schemas.microsoft.com/office/powerpoint/2010/main" val="1852534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CA6C28DE-6F6A-489B-BE84-B5010111143D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Stationarity Tests</a:t>
            </a:r>
          </a:p>
        </p:txBody>
      </p:sp>
      <p:sp>
        <p:nvSpPr>
          <p:cNvPr id="5" name="11">
            <a:extLst>
              <a:ext uri="{FF2B5EF4-FFF2-40B4-BE49-F238E27FC236}">
                <a16:creationId xmlns:a16="http://schemas.microsoft.com/office/drawing/2014/main" id="{5BD6D01F-AFE8-4F33-A913-C03A3940090E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609600" y="1857375"/>
          <a:ext cx="10972800" cy="1962150"/>
        </p:xfrm>
        <a:graphic>
          <a:graphicData uri="http://schemas.openxmlformats.org/drawingml/2006/table">
            <a:tbl>
              <a:tblPr/>
              <a:tblGrid>
                <a:gridCol w="26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0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40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 series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ADF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KPSS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Assessment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Fee level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0.465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0.057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Ambiguous level result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First difference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152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0.100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Both tests support stationarity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cope of the reported tests">
            <a:extLst>
              <a:ext uri="{FF2B5EF4-FFF2-40B4-BE49-F238E27FC236}">
                <a16:creationId xmlns:a16="http://schemas.microsoft.com/office/drawing/2014/main" id="{66B38CF2-1139-4C0E-B6E0-258EC15CA947}"/>
              </a:ext>
            </a:extLst>
          </p:cNvPr>
          <p:cNvSpPr>
            <a:spLocks noGrp="1"/>
          </p:cNvSpPr>
          <p:nvPr/>
        </p:nvSpPr>
        <p:spPr>
          <a:xfrm>
            <a:off x="647700" y="426720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Scope of the reported tests</a:t>
            </a:r>
          </a:p>
        </p:txBody>
      </p:sp>
      <p:sp>
        <p:nvSpPr>
          <p:cNvPr id="8" name="The report tests the raw fee level and its first difference.">
            <a:extLst>
              <a:ext uri="{FF2B5EF4-FFF2-40B4-BE49-F238E27FC236}">
                <a16:creationId xmlns:a16="http://schemas.microsoft.com/office/drawing/2014/main" id="{942EE9EB-9E33-4D75-971B-2FDE918C1B00}"/>
              </a:ext>
            </a:extLst>
          </p:cNvPr>
          <p:cNvSpPr>
            <a:spLocks noGrp="1"/>
          </p:cNvSpPr>
          <p:nvPr/>
        </p:nvSpPr>
        <p:spPr>
          <a:xfrm>
            <a:off x="647700" y="4686300"/>
            <a:ext cx="104775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report tests the raw fee level and its first difference. The final regression uses monthly log changes.</a:t>
            </a:r>
          </a:p>
        </p:txBody>
      </p:sp>
      <p:sp>
        <p:nvSpPr>
          <p:cNvPr id="9" name="These results support differencing the target, without estab">
            <a:extLst>
              <a:ext uri="{FF2B5EF4-FFF2-40B4-BE49-F238E27FC236}">
                <a16:creationId xmlns:a16="http://schemas.microsoft.com/office/drawing/2014/main" id="{8B47757F-AD9E-40A9-8F9E-67458E347A95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These results support differencing the target, without establishing a long-run equilibrium model.</a:t>
            </a:r>
          </a:p>
        </p:txBody>
      </p:sp>
    </p:spTree>
    <p:extLst>
      <p:ext uri="{BB962C8B-B14F-4D97-AF65-F5344CB8AC3E}">
        <p14:creationId xmlns:p14="http://schemas.microsoft.com/office/powerpoint/2010/main" val="156639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402936A-A84C-49AE-8D37-A80F78D90143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Final Consumer Card Model</a:t>
            </a:r>
          </a:p>
        </p:txBody>
      </p:sp>
      <p:sp>
        <p:nvSpPr>
          <p:cNvPr id="5" name="14">
            <a:extLst>
              <a:ext uri="{FF2B5EF4-FFF2-40B4-BE49-F238E27FC236}">
                <a16:creationId xmlns:a16="http://schemas.microsoft.com/office/drawing/2014/main" id="{8B86A4A4-50D0-4621-B9F9-3CF3052C8D0A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ŷₜ = −1.9831 − 0.6217 yₜ₋₁ − 0.3388 yₜ₋₂&#10;       − 11.1531 Ja">
            <a:extLst>
              <a:ext uri="{FF2B5EF4-FFF2-40B4-BE49-F238E27FC236}">
                <a16:creationId xmlns:a16="http://schemas.microsoft.com/office/drawing/2014/main" id="{A0763C91-558B-464B-8FC1-24229F3D8380}"/>
              </a:ext>
            </a:extLst>
          </p:cNvPr>
          <p:cNvSpPr>
            <a:spLocks noGrp="1"/>
          </p:cNvSpPr>
          <p:nvPr/>
        </p:nvSpPr>
        <p:spPr>
          <a:xfrm>
            <a:off x="647700" y="1619250"/>
            <a:ext cx="10572750" cy="167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ŷₜ = −1.9831 − 0.6217 yₜ₋₁ − 0.3388 yₜ₋₂</a:t>
            </a:r>
          </a:p>
          <a:p>
            <a:pPr algn="l">
              <a:defRPr sz="24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       − 11.1531 Janₜ + 19.6583 Decₜ</a:t>
            </a:r>
          </a:p>
          <a:p>
            <a:pPr algn="l">
              <a:defRPr sz="24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       + 2.5753 RetailMA3ₜ</a:t>
            </a:r>
          </a:p>
        </p:txBody>
      </p:sp>
      <p:sp>
        <p:nvSpPr>
          <p:cNvPr id="7" name="Estimation">
            <a:extLst>
              <a:ext uri="{FF2B5EF4-FFF2-40B4-BE49-F238E27FC236}">
                <a16:creationId xmlns:a16="http://schemas.microsoft.com/office/drawing/2014/main" id="{30D13B16-3658-48C0-B61D-0CEF4383AA02}"/>
              </a:ext>
            </a:extLst>
          </p:cNvPr>
          <p:cNvSpPr>
            <a:spLocks noGrp="1"/>
          </p:cNvSpPr>
          <p:nvPr/>
        </p:nvSpPr>
        <p:spPr>
          <a:xfrm>
            <a:off x="647700" y="377190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Estimation</a:t>
            </a:r>
          </a:p>
        </p:txBody>
      </p:sp>
      <p:sp>
        <p:nvSpPr>
          <p:cNvPr id="8" name="Ordinary least squares on 150 months from April 2011 to Sept">
            <a:extLst>
              <a:ext uri="{FF2B5EF4-FFF2-40B4-BE49-F238E27FC236}">
                <a16:creationId xmlns:a16="http://schemas.microsoft.com/office/drawing/2014/main" id="{ACFFD54F-8931-4FDD-ADCC-349F60DB1C2C}"/>
              </a:ext>
            </a:extLst>
          </p:cNvPr>
          <p:cNvSpPr>
            <a:spLocks noGrp="1"/>
          </p:cNvSpPr>
          <p:nvPr/>
        </p:nvSpPr>
        <p:spPr>
          <a:xfrm>
            <a:off x="647700" y="419100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Ordinary least squares on 150 months from April 2011 to September 2023.</a:t>
            </a:r>
          </a:p>
        </p:txBody>
      </p:sp>
      <p:sp>
        <p:nvSpPr>
          <p:cNvPr id="9" name="Jan and Dec are month indicators. RetailMA3 is the trailing ">
            <a:extLst>
              <a:ext uri="{FF2B5EF4-FFF2-40B4-BE49-F238E27FC236}">
                <a16:creationId xmlns:a16="http://schemas.microsoft.com/office/drawing/2014/main" id="{DBA09082-90CA-43F3-8B0F-396F66D89D24}"/>
              </a:ext>
            </a:extLst>
          </p:cNvPr>
          <p:cNvSpPr>
            <a:spLocks noGrp="1"/>
          </p:cNvSpPr>
          <p:nvPr/>
        </p:nvSpPr>
        <p:spPr>
          <a:xfrm>
            <a:off x="647700" y="4848225"/>
            <a:ext cx="104775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Jan and Dec are month indicators. RetailMA3 is the trailing three-month arithmetic average of retail sales percentage growth.</a:t>
            </a:r>
          </a:p>
        </p:txBody>
      </p:sp>
      <p:sp>
        <p:nvSpPr>
          <p:cNvPr id="10" name="The reproduced equation uses the same terms as the prior rep">
            <a:extLst>
              <a:ext uri="{FF2B5EF4-FFF2-40B4-BE49-F238E27FC236}">
                <a16:creationId xmlns:a16="http://schemas.microsoft.com/office/drawing/2014/main" id="{D72D1982-27A1-4319-ACAB-390AE336C5D2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reproduced equation uses the same terms as the prior report. All IS coefficients have p &lt; 0.05.</a:t>
            </a:r>
          </a:p>
        </p:txBody>
      </p:sp>
    </p:spTree>
    <p:extLst>
      <p:ext uri="{BB962C8B-B14F-4D97-AF65-F5344CB8AC3E}">
        <p14:creationId xmlns:p14="http://schemas.microsoft.com/office/powerpoint/2010/main" val="1981170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ABE5A248-4371-435F-9075-1F7A68954ABA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Reported and Reproduced Coefficients</a:t>
            </a:r>
          </a:p>
        </p:txBody>
      </p:sp>
      <p:sp>
        <p:nvSpPr>
          <p:cNvPr id="5" name="17">
            <a:extLst>
              <a:ext uri="{FF2B5EF4-FFF2-40B4-BE49-F238E27FC236}">
                <a16:creationId xmlns:a16="http://schemas.microsoft.com/office/drawing/2014/main" id="{D0C6B3AC-E260-41D2-9C19-4F7FD50C638E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1676400"/>
          <a:ext cx="10972800" cy="3533775"/>
        </p:xfrm>
        <a:graphic>
          <a:graphicData uri="http://schemas.openxmlformats.org/drawingml/2006/table">
            <a:tbl>
              <a:tblPr/>
              <a:tblGrid>
                <a:gridCol w="280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Reproduced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Difference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VIF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Constant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-2.00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-1.9831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+0.0169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0.017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y(t−1)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-0.627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-0.6217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+0.0053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1.70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y(t−2)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-0.340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-0.3388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+0.0012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1.45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January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-10.650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-11.1531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-0.5031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1.25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December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19.610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19.6583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+0.0483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1.02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Retail sales MA3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2.550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2.5753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+0.0253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1.01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Coefficient directions and IS significance agree with the pr">
            <a:extLst>
              <a:ext uri="{FF2B5EF4-FFF2-40B4-BE49-F238E27FC236}">
                <a16:creationId xmlns:a16="http://schemas.microsoft.com/office/drawing/2014/main" id="{9A7E8D13-6ECB-40DF-B804-F9F62CC2C063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Coefficient directions and IS significance agree with the prior report. Printed estimates differ slightly.</a:t>
            </a:r>
          </a:p>
        </p:txBody>
      </p:sp>
    </p:spTree>
    <p:extLst>
      <p:ext uri="{BB962C8B-B14F-4D97-AF65-F5344CB8AC3E}">
        <p14:creationId xmlns:p14="http://schemas.microsoft.com/office/powerpoint/2010/main" val="1951097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7A91DD84-C589-4064-AD62-D95E741C4FF7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Fit and Residual Diagnostics</a:t>
            </a:r>
          </a:p>
        </p:txBody>
      </p:sp>
      <p:sp>
        <p:nvSpPr>
          <p:cNvPr id="5" name="18">
            <a:extLst>
              <a:ext uri="{FF2B5EF4-FFF2-40B4-BE49-F238E27FC236}">
                <a16:creationId xmlns:a16="http://schemas.microsoft.com/office/drawing/2014/main" id="{D2D8FD21-C161-4F3A-ACF7-9D76FC1475AE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695450"/>
          <a:ext cx="10972800" cy="3248025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3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1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Reproduced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Assessment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R²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0.624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Close, not exact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Adjusted R²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0.611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Close, not exact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Durbin–Watson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2.356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2.356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Matches reported precision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Jarque–Bera p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0.547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0.532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Close, not exact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Maximum VIF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Below 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1.70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Within reported threshold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Jarque–Bera does not reject residual normality at 5%. Maximu">
            <a:extLst>
              <a:ext uri="{FF2B5EF4-FFF2-40B4-BE49-F238E27FC236}">
                <a16:creationId xmlns:a16="http://schemas.microsoft.com/office/drawing/2014/main" id="{8A31708D-304F-4092-A3D6-A72CD2AF2752}"/>
              </a:ext>
            </a:extLst>
          </p:cNvPr>
          <p:cNvSpPr>
            <a:spLocks noGrp="1"/>
          </p:cNvSpPr>
          <p:nvPr/>
        </p:nvSpPr>
        <p:spPr>
          <a:xfrm>
            <a:off x="647700" y="521970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Jarque–Bera does not reject residual normality at 5%. Maximum VIF indicates limited collinearity in the selected equation.</a:t>
            </a:r>
          </a:p>
        </p:txBody>
      </p:sp>
      <p:sp>
        <p:nvSpPr>
          <p:cNvPr id="8" name="The diagnostics support the report’s main assessment, but th">
            <a:extLst>
              <a:ext uri="{FF2B5EF4-FFF2-40B4-BE49-F238E27FC236}">
                <a16:creationId xmlns:a16="http://schemas.microsoft.com/office/drawing/2014/main" id="{E7496D35-D8AE-41A5-B928-AB671AB33C81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diagnostics support the report’s main assessment, but they do not establish overall model validity.</a:t>
            </a:r>
          </a:p>
        </p:txBody>
      </p:sp>
    </p:spTree>
    <p:extLst>
      <p:ext uri="{BB962C8B-B14F-4D97-AF65-F5344CB8AC3E}">
        <p14:creationId xmlns:p14="http://schemas.microsoft.com/office/powerpoint/2010/main" val="282912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F1586FFC-EF50-4235-89A5-9C6028902D1E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Economic Interpretation</a:t>
            </a:r>
          </a:p>
        </p:txBody>
      </p:sp>
      <p:sp>
        <p:nvSpPr>
          <p:cNvPr id="5" name="19">
            <a:extLst>
              <a:ext uri="{FF2B5EF4-FFF2-40B4-BE49-F238E27FC236}">
                <a16:creationId xmlns:a16="http://schemas.microsoft.com/office/drawing/2014/main" id="{C3100EF5-2E7F-4F0B-BCB8-DBDBEFBFB659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Autoregressive terms: −0.6217 and −0.3388">
            <a:extLst>
              <a:ext uri="{FF2B5EF4-FFF2-40B4-BE49-F238E27FC236}">
                <a16:creationId xmlns:a16="http://schemas.microsoft.com/office/drawing/2014/main" id="{B76FFE1D-49CC-4447-8DD4-4854DEF87C5A}"/>
              </a:ext>
            </a:extLst>
          </p:cNvPr>
          <p:cNvSpPr>
            <a:spLocks noGrp="1"/>
          </p:cNvSpPr>
          <p:nvPr/>
        </p:nvSpPr>
        <p:spPr>
          <a:xfrm>
            <a:off x="647700" y="149542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Autoregressive terms: −0.6217 and −0.3388</a:t>
            </a:r>
          </a:p>
        </p:txBody>
      </p:sp>
      <p:sp>
        <p:nvSpPr>
          <p:cNvPr id="7" name="Negative lag coefficients indicate short-term reversal after">
            <a:extLst>
              <a:ext uri="{FF2B5EF4-FFF2-40B4-BE49-F238E27FC236}">
                <a16:creationId xmlns:a16="http://schemas.microsoft.com/office/drawing/2014/main" id="{8D3ACBDC-1454-4E48-9AD9-CFE40BD23A85}"/>
              </a:ext>
            </a:extLst>
          </p:cNvPr>
          <p:cNvSpPr>
            <a:spLocks noGrp="1"/>
          </p:cNvSpPr>
          <p:nvPr/>
        </p:nvSpPr>
        <p:spPr>
          <a:xfrm>
            <a:off x="647700" y="1914525"/>
            <a:ext cx="10477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Negative lag coefficients indicate short-term reversal after unusually large monthly fee changes.</a:t>
            </a:r>
          </a:p>
        </p:txBody>
      </p:sp>
      <p:sp>
        <p:nvSpPr>
          <p:cNvPr id="8" name="Seasonal terms: January −11.1531, December +19.6583">
            <a:extLst>
              <a:ext uri="{FF2B5EF4-FFF2-40B4-BE49-F238E27FC236}">
                <a16:creationId xmlns:a16="http://schemas.microsoft.com/office/drawing/2014/main" id="{48D6DBD5-5918-4685-AB45-3BE164E31AED}"/>
              </a:ext>
            </a:extLst>
          </p:cNvPr>
          <p:cNvSpPr>
            <a:spLocks noGrp="1"/>
          </p:cNvSpPr>
          <p:nvPr/>
        </p:nvSpPr>
        <p:spPr>
          <a:xfrm>
            <a:off x="647700" y="299085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Seasonal terms: January −11.1531, December +19.6583</a:t>
            </a:r>
          </a:p>
        </p:txBody>
      </p:sp>
      <p:sp>
        <p:nvSpPr>
          <p:cNvPr id="9" name="The signs align with the seasonal pattern in fee growth.">
            <a:extLst>
              <a:ext uri="{FF2B5EF4-FFF2-40B4-BE49-F238E27FC236}">
                <a16:creationId xmlns:a16="http://schemas.microsoft.com/office/drawing/2014/main" id="{439B12FE-6AE0-4D04-B6F8-87BFDF9E97B0}"/>
              </a:ext>
            </a:extLst>
          </p:cNvPr>
          <p:cNvSpPr>
            <a:spLocks noGrp="1"/>
          </p:cNvSpPr>
          <p:nvPr/>
        </p:nvSpPr>
        <p:spPr>
          <a:xfrm>
            <a:off x="647700" y="34099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signs align with the seasonal pattern in fee growth.</a:t>
            </a:r>
          </a:p>
        </p:txBody>
      </p:sp>
      <p:sp>
        <p:nvSpPr>
          <p:cNvPr id="10" name="Retail sales MA3: +2.5753">
            <a:extLst>
              <a:ext uri="{FF2B5EF4-FFF2-40B4-BE49-F238E27FC236}">
                <a16:creationId xmlns:a16="http://schemas.microsoft.com/office/drawing/2014/main" id="{34D2169F-6041-47E7-B669-2105CCDB7211}"/>
              </a:ext>
            </a:extLst>
          </p:cNvPr>
          <p:cNvSpPr>
            <a:spLocks noGrp="1"/>
          </p:cNvSpPr>
          <p:nvPr/>
        </p:nvSpPr>
        <p:spPr>
          <a:xfrm>
            <a:off x="647700" y="440055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Retail sales MA3: +2.5753</a:t>
            </a:r>
          </a:p>
        </p:txBody>
      </p:sp>
      <p:sp>
        <p:nvSpPr>
          <p:cNvPr id="11" name="Stronger recent retail growth is associated with higher fee ">
            <a:extLst>
              <a:ext uri="{FF2B5EF4-FFF2-40B4-BE49-F238E27FC236}">
                <a16:creationId xmlns:a16="http://schemas.microsoft.com/office/drawing/2014/main" id="{AD1674FF-0F8D-4B3C-B427-700FA5DEE7B5}"/>
              </a:ext>
            </a:extLst>
          </p:cNvPr>
          <p:cNvSpPr>
            <a:spLocks noGrp="1"/>
          </p:cNvSpPr>
          <p:nvPr/>
        </p:nvSpPr>
        <p:spPr>
          <a:xfrm>
            <a:off x="647700" y="4819650"/>
            <a:ext cx="10477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Stronger recent retail growth is associated with higher fee growth, conditional on the lag and seasonal terms.</a:t>
            </a:r>
          </a:p>
        </p:txBody>
      </p:sp>
      <p:sp>
        <p:nvSpPr>
          <p:cNvPr id="12" name="The retail coefficient describes a conditional association. ">
            <a:extLst>
              <a:ext uri="{FF2B5EF4-FFF2-40B4-BE49-F238E27FC236}">
                <a16:creationId xmlns:a16="http://schemas.microsoft.com/office/drawing/2014/main" id="{DF003C82-6820-4124-B814-B9D04519498A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retail coefficient describes a conditional association. The regression does not establish causality.</a:t>
            </a:r>
          </a:p>
        </p:txBody>
      </p:sp>
    </p:spTree>
    <p:extLst>
      <p:ext uri="{BB962C8B-B14F-4D97-AF65-F5344CB8AC3E}">
        <p14:creationId xmlns:p14="http://schemas.microsoft.com/office/powerpoint/2010/main" val="924055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A61F9A7A-634F-46EC-8F7E-85A47A5B5BC1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One-Step Conditional Backtest</a:t>
            </a:r>
          </a:p>
        </p:txBody>
      </p:sp>
      <p:sp>
        <p:nvSpPr>
          <p:cNvPr id="5" name="9">
            <a:extLst>
              <a:ext uri="{FF2B5EF4-FFF2-40B4-BE49-F238E27FC236}">
                <a16:creationId xmlns:a16="http://schemas.microsoft.com/office/drawing/2014/main" id="{D3720EAC-6718-4C60-82E6-2E4D09676111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F̂ₜ = observed Fₜ₋₁ × exp(ŷₜ / 100)">
            <a:extLst>
              <a:ext uri="{FF2B5EF4-FFF2-40B4-BE49-F238E27FC236}">
                <a16:creationId xmlns:a16="http://schemas.microsoft.com/office/drawing/2014/main" id="{C2BAE125-A5B3-401C-BD75-8771867E1C03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F̂ₜ = observed Fₜ₋₁ × exp(ŷₜ / 100)</a:t>
            </a:r>
          </a:p>
        </p:txBody>
      </p:sp>
      <p:sp>
        <p:nvSpPr>
          <p:cNvPr id="7" name="Fixed IS coefficients apply throughout OOT. Each month uses ">
            <a:extLst>
              <a:ext uri="{FF2B5EF4-FFF2-40B4-BE49-F238E27FC236}">
                <a16:creationId xmlns:a16="http://schemas.microsoft.com/office/drawing/2014/main" id="{BCB54A36-93B7-4CFE-9A1A-F63D5304140C}"/>
              </a:ext>
            </a:extLst>
          </p:cNvPr>
          <p:cNvSpPr>
            <a:spLocks noGrp="1"/>
          </p:cNvSpPr>
          <p:nvPr/>
        </p:nvSpPr>
        <p:spPr>
          <a:xfrm>
            <a:off x="647700" y="2209800"/>
            <a:ext cx="10572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Fixed IS coefficients apply throughout OOT. Each month uses observed target lags, the observed prior fee level and the supplied macro path.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3390900"/>
          <a:ext cx="10972800" cy="1771650"/>
        </p:xfrm>
        <a:graphic>
          <a:graphicData uri="http://schemas.openxmlformats.org/drawingml/2006/table">
            <a:tbl>
              <a:tblPr/>
              <a:tblGrid>
                <a:gridCol w="227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Window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</a:t>
                      </a:r>
                    </a:p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MAPE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Reproduced</a:t>
                      </a:r>
                    </a:p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MAPE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</a:t>
                      </a:r>
                    </a:p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Reproduced</a:t>
                      </a:r>
                    </a:p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In sample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6.69%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6.66%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55.9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55.77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Out of time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5.21%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5.05%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46.8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45.89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his evaluation comprises 27 monthly one-step predictions. I">
            <a:extLst>
              <a:ext uri="{FF2B5EF4-FFF2-40B4-BE49-F238E27FC236}">
                <a16:creationId xmlns:a16="http://schemas.microsoft.com/office/drawing/2014/main" id="{2F347EAC-4E1F-4C76-A253-BAC40B70F639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This evaluation comprises 27 monthly one-step predictions. It does not test a recursive 27-month forecast.</a:t>
            </a:r>
          </a:p>
        </p:txBody>
      </p:sp>
    </p:spTree>
    <p:extLst>
      <p:ext uri="{BB962C8B-B14F-4D97-AF65-F5344CB8AC3E}">
        <p14:creationId xmlns:p14="http://schemas.microsoft.com/office/powerpoint/2010/main" val="983516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8D5A779-8687-4DFC-8C29-FE37619E94C7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Actual and Predicted Fee Revenue</a:t>
            </a:r>
          </a:p>
        </p:txBody>
      </p:sp>
      <p:sp>
        <p:nvSpPr>
          <p:cNvPr id="5" name="10">
            <a:extLst>
              <a:ext uri="{FF2B5EF4-FFF2-40B4-BE49-F238E27FC236}">
                <a16:creationId xmlns:a16="http://schemas.microsoft.com/office/drawing/2014/main" id="{A5B212A1-C77F-44D3-BFF6-A885385C791E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Fixed IS model with observed target lags, April 2011 to Dece">
            <a:extLst>
              <a:ext uri="{FF2B5EF4-FFF2-40B4-BE49-F238E27FC236}">
                <a16:creationId xmlns:a16="http://schemas.microsoft.com/office/drawing/2014/main" id="{F7CFC689-A24E-4E20-88EB-F136412B1C28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Fixed IS model with observed target lags, April 2011 to December 2025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609600" y="1781175"/>
          <a:ext cx="10972800" cy="4019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Level accuracy: IS MAPE 6.66% and RMSE 55.77. OOT MAPE 5.05%">
            <a:extLst>
              <a:ext uri="{FF2B5EF4-FFF2-40B4-BE49-F238E27FC236}">
                <a16:creationId xmlns:a16="http://schemas.microsoft.com/office/drawing/2014/main" id="{B336B2AB-973E-41D7-AAF2-322A044BD358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Level accuracy: IS MAPE 6.66% and RMSE 55.77. OOT MAPE 5.05% and RMSE 45.89.</a:t>
            </a:r>
          </a:p>
        </p:txBody>
      </p:sp>
    </p:spTree>
    <p:extLst>
      <p:ext uri="{BB962C8B-B14F-4D97-AF65-F5344CB8AC3E}">
        <p14:creationId xmlns:p14="http://schemas.microsoft.com/office/powerpoint/2010/main" val="378980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39B26093-50CE-4B85-945C-5FB5D23385B0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OOT Forecast and Residual Diagnostics</a:t>
            </a:r>
          </a:p>
        </p:txBody>
      </p:sp>
      <p:sp>
        <p:nvSpPr>
          <p:cNvPr id="5" name="13">
            <a:extLst>
              <a:ext uri="{FF2B5EF4-FFF2-40B4-BE49-F238E27FC236}">
                <a16:creationId xmlns:a16="http://schemas.microsoft.com/office/drawing/2014/main" id="{C3315CA4-23AC-4745-BE84-A3F4E0F50DF0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="590550" y="1438275"/>
          <a:ext cx="10982325" cy="2809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609600" y="4381500"/>
          <a:ext cx="10972800" cy="1304925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9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Log-change residuals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Std. dev.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DW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JB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In sample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8.414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2.356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0.532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Out of time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0.656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6.099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1.759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0.460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OT residual dispersion is lower. The reproduced OOT DW is 1">
            <a:extLst>
              <a:ext uri="{FF2B5EF4-FFF2-40B4-BE49-F238E27FC236}">
                <a16:creationId xmlns:a16="http://schemas.microsoft.com/office/drawing/2014/main" id="{0A2A2EA7-8571-43C0-8352-AD9CCE7478DD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OOT residual dispersion is lower. The reproduced OOT DW is 1.759, versus 1.619 in the prior report.</a:t>
            </a:r>
          </a:p>
        </p:txBody>
      </p:sp>
    </p:spTree>
    <p:extLst>
      <p:ext uri="{BB962C8B-B14F-4D97-AF65-F5344CB8AC3E}">
        <p14:creationId xmlns:p14="http://schemas.microsoft.com/office/powerpoint/2010/main" val="1234472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9FDBBD05-8780-480E-A9D7-3E199E22D762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CUSUM Stability Tests</a:t>
            </a:r>
          </a:p>
        </p:txBody>
      </p:sp>
      <p:sp>
        <p:nvSpPr>
          <p:cNvPr id="5" name="12">
            <a:extLst>
              <a:ext uri="{FF2B5EF4-FFF2-40B4-BE49-F238E27FC236}">
                <a16:creationId xmlns:a16="http://schemas.microsoft.com/office/drawing/2014/main" id="{5EFE8EE1-B894-4D20-B3F2-98D2CBE30513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609600" y="1990725"/>
          <a:ext cx="10972800" cy="1933575"/>
        </p:xfrm>
        <a:graphic>
          <a:graphicData uri="http://schemas.openxmlformats.org/drawingml/2006/table">
            <a:tbl>
              <a:tblPr/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4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Sample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Reproduced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Conclusion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In sample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0.477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0.486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 rejection at 5%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Full sample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177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0.494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0.493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 rejection at 5%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Assessment">
            <a:extLst>
              <a:ext uri="{FF2B5EF4-FFF2-40B4-BE49-F238E27FC236}">
                <a16:creationId xmlns:a16="http://schemas.microsoft.com/office/drawing/2014/main" id="{CE563382-84D0-43E2-871F-707E80EED99B}"/>
              </a:ext>
            </a:extLst>
          </p:cNvPr>
          <p:cNvSpPr>
            <a:spLocks noGrp="1"/>
          </p:cNvSpPr>
          <p:nvPr/>
        </p:nvSpPr>
        <p:spPr>
          <a:xfrm>
            <a:off x="647700" y="441007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8" name="Both samples retain the prior report’s no-rejection conclusi">
            <a:extLst>
              <a:ext uri="{FF2B5EF4-FFF2-40B4-BE49-F238E27FC236}">
                <a16:creationId xmlns:a16="http://schemas.microsoft.com/office/drawing/2014/main" id="{E04CAEC4-52BB-4192-97F9-8C40599AA9CD}"/>
              </a:ext>
            </a:extLst>
          </p:cNvPr>
          <p:cNvSpPr>
            <a:spLocks noGrp="1"/>
          </p:cNvSpPr>
          <p:nvPr/>
        </p:nvSpPr>
        <p:spPr>
          <a:xfrm>
            <a:off x="647700" y="4829175"/>
            <a:ext cx="10477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Both samples retain the prior report’s no-rejection conclusion. The p-values are close but do not match exactly.</a:t>
            </a:r>
          </a:p>
        </p:txBody>
      </p:sp>
      <p:sp>
        <p:nvSpPr>
          <p:cNvPr id="9" name="CUSUM provides no statistically significant evidence against">
            <a:extLst>
              <a:ext uri="{FF2B5EF4-FFF2-40B4-BE49-F238E27FC236}">
                <a16:creationId xmlns:a16="http://schemas.microsoft.com/office/drawing/2014/main" id="{4ADB98CA-15A6-477C-B5EE-FA5DEC908F1A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CUSUM provides no statistically significant evidence against coefficient stability at the 5% level.</a:t>
            </a:r>
          </a:p>
        </p:txBody>
      </p:sp>
    </p:spTree>
    <p:extLst>
      <p:ext uri="{BB962C8B-B14F-4D97-AF65-F5344CB8AC3E}">
        <p14:creationId xmlns:p14="http://schemas.microsoft.com/office/powerpoint/2010/main" val="189941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402936A-A84C-49AE-8D37-A80F78D90143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Chow Structural Break Tests</a:t>
            </a:r>
          </a:p>
        </p:txBody>
      </p:sp>
      <p:sp>
        <p:nvSpPr>
          <p:cNvPr id="5" name="14">
            <a:extLst>
              <a:ext uri="{FF2B5EF4-FFF2-40B4-BE49-F238E27FC236}">
                <a16:creationId xmlns:a16="http://schemas.microsoft.com/office/drawing/2014/main" id="{8B86A4A4-50D0-4621-B9F9-3CF3052C8D0A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819275"/>
          <a:ext cx="10972800" cy="2581276"/>
        </p:xfrm>
        <a:graphic>
          <a:graphicData uri="http://schemas.openxmlformats.org/drawingml/2006/table">
            <a:tbl>
              <a:tblPr/>
              <a:tblGrid>
                <a:gridCol w="206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531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Break date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 / post 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 F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Reprod. F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Reprod.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3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Oct 2023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150 / 27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0.70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0.568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0.648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0.755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3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 2024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153 / 24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0.73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0.546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0.629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0.773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3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Jul 2024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159 / 18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0.75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0.484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0.613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0.820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he reproduction uses the standard pooled-versus-split resid">
            <a:extLst>
              <a:ext uri="{FF2B5EF4-FFF2-40B4-BE49-F238E27FC236}">
                <a16:creationId xmlns:a16="http://schemas.microsoft.com/office/drawing/2014/main" id="{191561FB-83F2-439F-8C2E-E8DDA110DD42}"/>
              </a:ext>
            </a:extLst>
          </p:cNvPr>
          <p:cNvSpPr>
            <a:spLocks noGrp="1"/>
          </p:cNvSpPr>
          <p:nvPr/>
        </p:nvSpPr>
        <p:spPr>
          <a:xfrm>
            <a:off x="647700" y="4791075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reproduction uses the standard pooled-versus-split residual sum-of-squares formula with six parameters.</a:t>
            </a:r>
          </a:p>
        </p:txBody>
      </p:sp>
      <p:sp>
        <p:nvSpPr>
          <p:cNvPr id="8" name="All reproduced p-values exceed 0.05. The no-break conclusion">
            <a:extLst>
              <a:ext uri="{FF2B5EF4-FFF2-40B4-BE49-F238E27FC236}">
                <a16:creationId xmlns:a16="http://schemas.microsoft.com/office/drawing/2014/main" id="{8F504986-43F2-4EEA-90E8-97C619CC404C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All reproduced p-values exceed 0.05. The no-break conclusion agrees, although exact statistics differ.</a:t>
            </a:r>
          </a:p>
        </p:txBody>
      </p:sp>
    </p:spTree>
    <p:extLst>
      <p:ext uri="{BB962C8B-B14F-4D97-AF65-F5344CB8AC3E}">
        <p14:creationId xmlns:p14="http://schemas.microsoft.com/office/powerpoint/2010/main" val="1981170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AE4FD2C8-4507-4351-9B83-8EE151730206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 dirty="0">
                <a:solidFill>
                  <a:srgbClr val="006C98"/>
                </a:solidFill>
                <a:latin typeface="Arial"/>
                <a:ea typeface="Arial"/>
                <a:cs typeface="Arial"/>
              </a:rPr>
              <a:t>Rolling 60-Month Coefficients</a:t>
            </a:r>
          </a:p>
        </p:txBody>
      </p:sp>
      <p:sp>
        <p:nvSpPr>
          <p:cNvPr id="5" name="15">
            <a:extLst>
              <a:ext uri="{FF2B5EF4-FFF2-40B4-BE49-F238E27FC236}">
                <a16:creationId xmlns:a16="http://schemas.microsoft.com/office/drawing/2014/main" id="{81A532AC-267C-43BA-806B-3824C676BAB4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118 windows ending March 2016 to December 2025">
            <a:extLst>
              <a:ext uri="{FF2B5EF4-FFF2-40B4-BE49-F238E27FC236}">
                <a16:creationId xmlns:a16="http://schemas.microsoft.com/office/drawing/2014/main" id="{C43703F8-A756-4D7B-B72F-597EB097B666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118 windows ending March 2016 to December 2025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590550" y="1885950"/>
          <a:ext cx="5305425" cy="3514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219825" y="1885950"/>
          <a:ext cx="5324475" cy="3514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Both lag coefficients remain negative. Retail sales stays po">
            <a:extLst>
              <a:ext uri="{FF2B5EF4-FFF2-40B4-BE49-F238E27FC236}">
                <a16:creationId xmlns:a16="http://schemas.microsoft.com/office/drawing/2014/main" id="{8FC20E43-0CA4-4C99-B52D-D340EF129A3C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Both lag coefficients remain negative. Retail sales stays positive, ranging from 1.08 to 5.88.</a:t>
            </a:r>
          </a:p>
        </p:txBody>
      </p:sp>
    </p:spTree>
    <p:extLst>
      <p:ext uri="{BB962C8B-B14F-4D97-AF65-F5344CB8AC3E}">
        <p14:creationId xmlns:p14="http://schemas.microsoft.com/office/powerpoint/2010/main" val="1557811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4B2D256-661A-413A-B067-26C62FBCB76C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OOT-Only Reestimation</a:t>
            </a:r>
          </a:p>
        </p:txBody>
      </p:sp>
      <p:sp>
        <p:nvSpPr>
          <p:cNvPr id="5" name="16">
            <a:extLst>
              <a:ext uri="{FF2B5EF4-FFF2-40B4-BE49-F238E27FC236}">
                <a16:creationId xmlns:a16="http://schemas.microsoft.com/office/drawing/2014/main" id="{B18967CE-514E-4B63-BFA2-12BFFAA69BC4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27 observations and six parameters. This diagnostic does not">
            <a:extLst>
              <a:ext uri="{FF2B5EF4-FFF2-40B4-BE49-F238E27FC236}">
                <a16:creationId xmlns:a16="http://schemas.microsoft.com/office/drawing/2014/main" id="{9DA2ED84-B9E3-4A96-AD7E-243F8F7399B7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27 observations and six parameters. This diagnostic does not replace the fixed IS backtest model.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609600" y="2085975"/>
          <a:ext cx="10972800" cy="3000375"/>
        </p:xfrm>
        <a:graphic>
          <a:graphicData uri="http://schemas.openxmlformats.org/drawingml/2006/table">
            <a:tbl>
              <a:tblPr/>
              <a:tblGrid>
                <a:gridCol w="308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1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</a:t>
                      </a:r>
                    </a:p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coefficient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Reproduced</a:t>
                      </a:r>
                    </a:p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coefficient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Reprod.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y(t−1)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-0.335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0.044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-0.327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0.053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y(t−2)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-0.426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0.019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-0.395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0.026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January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-16.990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-17.566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December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15.370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14.997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Retail sales MA3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-3.170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0.414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-1.524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0.713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tail sales remains negative and insignificant. The first t">
            <a:extLst>
              <a:ext uri="{FF2B5EF4-FFF2-40B4-BE49-F238E27FC236}">
                <a16:creationId xmlns:a16="http://schemas.microsoft.com/office/drawing/2014/main" id="{62C0CA06-5448-4721-BB70-D8222826B074}"/>
              </a:ext>
            </a:extLst>
          </p:cNvPr>
          <p:cNvSpPr>
            <a:spLocks noGrp="1"/>
          </p:cNvSpPr>
          <p:nvPr/>
        </p:nvSpPr>
        <p:spPr>
          <a:xfrm>
            <a:off x="647700" y="5391150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Retail sales remains negative and insignificant. The first target lag has p = 0.053 in the reproduction.</a:t>
            </a:r>
          </a:p>
        </p:txBody>
      </p:sp>
      <p:sp>
        <p:nvSpPr>
          <p:cNvPr id="9" name="A short sample spanning roughly two holiday cycles limits in">
            <a:extLst>
              <a:ext uri="{FF2B5EF4-FFF2-40B4-BE49-F238E27FC236}">
                <a16:creationId xmlns:a16="http://schemas.microsoft.com/office/drawing/2014/main" id="{54D26082-A4B9-4327-9307-92B75CF96C61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A short sample spanning roughly two holiday cycles limits interpretation of individual OOT slopes.</a:t>
            </a:r>
          </a:p>
        </p:txBody>
      </p:sp>
    </p:spTree>
    <p:extLst>
      <p:ext uri="{BB962C8B-B14F-4D97-AF65-F5344CB8AC3E}">
        <p14:creationId xmlns:p14="http://schemas.microsoft.com/office/powerpoint/2010/main" val="76848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B00BF503-DD45-429F-98D1-CD1B1037E99D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Headline Reconciliation: Fit and Accuracy</a:t>
            </a:r>
          </a:p>
        </p:txBody>
      </p:sp>
      <p:sp>
        <p:nvSpPr>
          <p:cNvPr id="5" name="20">
            <a:extLst>
              <a:ext uri="{FF2B5EF4-FFF2-40B4-BE49-F238E27FC236}">
                <a16:creationId xmlns:a16="http://schemas.microsoft.com/office/drawing/2014/main" id="{EF000836-7285-489F-BA0F-68DD57D09473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1400175"/>
          <a:ext cx="10972800" cy="42672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Reproduced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Difference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 status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IS observations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Matches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R²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0.623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0.6244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+0.001426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Close, not exact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Adjusted R²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0.610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0.6114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+0.001386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Close, not exact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Durbin–Watson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2.356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2.356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−0.000482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Matches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Jarque–Bera p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0.547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0.532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−0.014971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Close, not exact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IS MAPE (%)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6.69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6.664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−0.025772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Close, not exact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IS RMSE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55.9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55.77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−0.132361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Close, not exact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OOT MAPE (%)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5.21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5.047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−0.163365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Does not match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OOT RMSE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46.8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45.89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−0.912508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Close, not exact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tatus labels follow the reproduction report. “Matches” mean">
            <a:extLst>
              <a:ext uri="{FF2B5EF4-FFF2-40B4-BE49-F238E27FC236}">
                <a16:creationId xmlns:a16="http://schemas.microsoft.com/office/drawing/2014/main" id="{775736F5-B4DC-4A89-AFF6-87966C7C2DFA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Status labels follow the reproduction report. “Matches” means agreement at the original reported precision.</a:t>
            </a:r>
          </a:p>
        </p:txBody>
      </p:sp>
    </p:spTree>
    <p:extLst>
      <p:ext uri="{BB962C8B-B14F-4D97-AF65-F5344CB8AC3E}">
        <p14:creationId xmlns:p14="http://schemas.microsoft.com/office/powerpoint/2010/main" val="846446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90CB9C0D-F2F5-4EC0-BE7F-297E51DCE134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Headline Reconciliation: Stability</a:t>
            </a:r>
          </a:p>
        </p:txBody>
      </p:sp>
      <p:sp>
        <p:nvSpPr>
          <p:cNvPr id="5" name="21">
            <a:extLst>
              <a:ext uri="{FF2B5EF4-FFF2-40B4-BE49-F238E27FC236}">
                <a16:creationId xmlns:a16="http://schemas.microsoft.com/office/drawing/2014/main" id="{82F601E0-C27A-4DF0-A950-5CA565C9339A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743075"/>
          <a:ext cx="10972800" cy="3190875"/>
        </p:xfrm>
        <a:graphic>
          <a:graphicData uri="http://schemas.openxmlformats.org/drawingml/2006/table">
            <a:tbl>
              <a:tblPr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1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Reproduced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Difference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 status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IS CUSUM p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0.477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0.4857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+0.008709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Close, not exact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Full-sample CUSUM p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0.494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0.4935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−0.000513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Close, not exact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Rolling windows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118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118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Matches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Retail coefficient min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1.08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1.079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−0.000845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Matches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Retail coefficient max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5.88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5.878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−0.002184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Matches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Across 14 headline checks: 5 match reported precision, 8 are">
            <a:extLst>
              <a:ext uri="{FF2B5EF4-FFF2-40B4-BE49-F238E27FC236}">
                <a16:creationId xmlns:a16="http://schemas.microsoft.com/office/drawing/2014/main" id="{97122C5D-CC8C-45B4-9612-B61F7AAAB69D}"/>
              </a:ext>
            </a:extLst>
          </p:cNvPr>
          <p:cNvSpPr>
            <a:spLocks noGrp="1"/>
          </p:cNvSpPr>
          <p:nvPr/>
        </p:nvSpPr>
        <p:spPr>
          <a:xfrm>
            <a:off x="647700" y="5229225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Across 14 headline checks: 5 match reported precision, 8 are close but not exact, and 1 does not match.</a:t>
            </a:r>
          </a:p>
        </p:txBody>
      </p:sp>
      <p:sp>
        <p:nvSpPr>
          <p:cNvPr id="8" name="The model structure and main conclusions reproduce more clos">
            <a:extLst>
              <a:ext uri="{FF2B5EF4-FFF2-40B4-BE49-F238E27FC236}">
                <a16:creationId xmlns:a16="http://schemas.microsoft.com/office/drawing/2014/main" id="{9DAA8789-F2A2-49A9-B261-DA9CCAF7E8F1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model structure and main conclusions reproduce more closely than every printed statistic.</a:t>
            </a:r>
          </a:p>
        </p:txBody>
      </p:sp>
    </p:spTree>
    <p:extLst>
      <p:ext uri="{BB962C8B-B14F-4D97-AF65-F5344CB8AC3E}">
        <p14:creationId xmlns:p14="http://schemas.microsoft.com/office/powerpoint/2010/main" val="684483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389CE828-964B-4DA0-A92D-BED26B394595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5" name="22">
            <a:extLst>
              <a:ext uri="{FF2B5EF4-FFF2-40B4-BE49-F238E27FC236}">
                <a16:creationId xmlns:a16="http://schemas.microsoft.com/office/drawing/2014/main" id="{6FF66CDA-9E47-489C-A61B-7E0BADDEC5FC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Central result">
            <a:extLst>
              <a:ext uri="{FF2B5EF4-FFF2-40B4-BE49-F238E27FC236}">
                <a16:creationId xmlns:a16="http://schemas.microsoft.com/office/drawing/2014/main" id="{E8D198B9-3BF7-4647-95FC-4AA555EF5FE6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Central result</a:t>
            </a:r>
          </a:p>
        </p:txBody>
      </p:sp>
      <p:sp>
        <p:nvSpPr>
          <p:cNvPr id="7" name="The same dynamic monthly log-change specification emerges, w">
            <a:extLst>
              <a:ext uri="{FF2B5EF4-FFF2-40B4-BE49-F238E27FC236}">
                <a16:creationId xmlns:a16="http://schemas.microsoft.com/office/drawing/2014/main" id="{589CF661-C648-4A36-B530-8F6B573922BE}"/>
              </a:ext>
            </a:extLst>
          </p:cNvPr>
          <p:cNvSpPr>
            <a:spLocks noGrp="1"/>
          </p:cNvSpPr>
          <p:nvPr/>
        </p:nvSpPr>
        <p:spPr>
          <a:xfrm>
            <a:off x="647700" y="1895475"/>
            <a:ext cx="10477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same dynamic monthly log-change specification emerges, with the reported IS signs and significant terms.</a:t>
            </a:r>
          </a:p>
        </p:txBody>
      </p:sp>
      <p:sp>
        <p:nvSpPr>
          <p:cNvPr id="8" name="Predictive evidence">
            <a:extLst>
              <a:ext uri="{FF2B5EF4-FFF2-40B4-BE49-F238E27FC236}">
                <a16:creationId xmlns:a16="http://schemas.microsoft.com/office/drawing/2014/main" id="{57F2148C-E4CE-4B36-B364-2DEFEFC8F8AF}"/>
              </a:ext>
            </a:extLst>
          </p:cNvPr>
          <p:cNvSpPr>
            <a:spLocks noGrp="1"/>
          </p:cNvSpPr>
          <p:nvPr/>
        </p:nvSpPr>
        <p:spPr>
          <a:xfrm>
            <a:off x="647700" y="297180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Predictive evidence</a:t>
            </a:r>
          </a:p>
        </p:txBody>
      </p:sp>
      <p:sp>
        <p:nvSpPr>
          <p:cNvPr id="9" name="OOT one-step errors are lower than IS errors. CUSUM and the ">
            <a:extLst>
              <a:ext uri="{FF2B5EF4-FFF2-40B4-BE49-F238E27FC236}">
                <a16:creationId xmlns:a16="http://schemas.microsoft.com/office/drawing/2014/main" id="{688CFD76-DC7C-4193-930F-3127E3DADF9B}"/>
              </a:ext>
            </a:extLst>
          </p:cNvPr>
          <p:cNvSpPr>
            <a:spLocks noGrp="1"/>
          </p:cNvSpPr>
          <p:nvPr/>
        </p:nvSpPr>
        <p:spPr>
          <a:xfrm>
            <a:off x="647700" y="3390900"/>
            <a:ext cx="10477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OOT one-step errors are lower than IS errors. CUSUM and the specified Chow tests do not reject stability at 5%.</a:t>
            </a:r>
          </a:p>
        </p:txBody>
      </p:sp>
      <p:sp>
        <p:nvSpPr>
          <p:cNvPr id="10" name="Unresolved differences">
            <a:extLst>
              <a:ext uri="{FF2B5EF4-FFF2-40B4-BE49-F238E27FC236}">
                <a16:creationId xmlns:a16="http://schemas.microsoft.com/office/drawing/2014/main" id="{63E24AC5-CAAD-4CBA-BC8C-8AB2189A5C18}"/>
              </a:ext>
            </a:extLst>
          </p:cNvPr>
          <p:cNvSpPr>
            <a:spLocks noGrp="1"/>
          </p:cNvSpPr>
          <p:nvPr/>
        </p:nvSpPr>
        <p:spPr>
          <a:xfrm>
            <a:off x="647700" y="446722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Unresolved differences</a:t>
            </a:r>
          </a:p>
        </p:txBody>
      </p:sp>
      <p:sp>
        <p:nvSpPr>
          <p:cNvPr id="11" name="Exact printed values require the original calculation files ">
            <a:extLst>
              <a:ext uri="{FF2B5EF4-FFF2-40B4-BE49-F238E27FC236}">
                <a16:creationId xmlns:a16="http://schemas.microsoft.com/office/drawing/2014/main" id="{418D56B5-502E-4B82-AAAF-3B8DB38661ED}"/>
              </a:ext>
            </a:extLst>
          </p:cNvPr>
          <p:cNvSpPr>
            <a:spLocks noGrp="1"/>
          </p:cNvSpPr>
          <p:nvPr/>
        </p:nvSpPr>
        <p:spPr>
          <a:xfrm>
            <a:off x="647700" y="4886325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Exact printed values require the original calculation files or model code to distinguish data vintages, implementation choices and transcription.</a:t>
            </a:r>
          </a:p>
        </p:txBody>
      </p:sp>
      <p:sp>
        <p:nvSpPr>
          <p:cNvPr id="12" name="The available workbooks support the core result, while exact">
            <a:extLst>
              <a:ext uri="{FF2B5EF4-FFF2-40B4-BE49-F238E27FC236}">
                <a16:creationId xmlns:a16="http://schemas.microsoft.com/office/drawing/2014/main" id="{9D122E3D-48D3-43EB-A6F0-6913E33FA84F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available workbooks support the core result, while exact numerical reconciliation remains incomplete.</a:t>
            </a:r>
          </a:p>
        </p:txBody>
      </p:sp>
    </p:spTree>
    <p:extLst>
      <p:ext uri="{BB962C8B-B14F-4D97-AF65-F5344CB8AC3E}">
        <p14:creationId xmlns:p14="http://schemas.microsoft.com/office/powerpoint/2010/main" val="336749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57E5BFB8-8F06-4673-A236-59C792FFCC95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5" name="23">
            <a:extLst>
              <a:ext uri="{FF2B5EF4-FFF2-40B4-BE49-F238E27FC236}">
                <a16:creationId xmlns:a16="http://schemas.microsoft.com/office/drawing/2014/main" id="{E3D218D6-BCF4-4689-BF54-126573DDD9D5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Fee units">
            <a:extLst>
              <a:ext uri="{FF2B5EF4-FFF2-40B4-BE49-F238E27FC236}">
                <a16:creationId xmlns:a16="http://schemas.microsoft.com/office/drawing/2014/main" id="{FFC5F30D-E929-4C26-B78A-B32F25191B07}"/>
              </a:ext>
            </a:extLst>
          </p:cNvPr>
          <p:cNvSpPr>
            <a:spLocks noGrp="1"/>
          </p:cNvSpPr>
          <p:nvPr/>
        </p:nvSpPr>
        <p:spPr>
          <a:xfrm>
            <a:off x="647700" y="143827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Fee units</a:t>
            </a:r>
          </a:p>
        </p:txBody>
      </p:sp>
      <p:sp>
        <p:nvSpPr>
          <p:cNvPr id="7" name="The workbook does not identify currency or scale. Level erro">
            <a:extLst>
              <a:ext uri="{FF2B5EF4-FFF2-40B4-BE49-F238E27FC236}">
                <a16:creationId xmlns:a16="http://schemas.microsoft.com/office/drawing/2014/main" id="{54384906-33C1-449C-9D21-0F69ABAC811F}"/>
              </a:ext>
            </a:extLst>
          </p:cNvPr>
          <p:cNvSpPr>
            <a:spLocks noGrp="1"/>
          </p:cNvSpPr>
          <p:nvPr/>
        </p:nvSpPr>
        <p:spPr>
          <a:xfrm>
            <a:off x="647700" y="185737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workbook does not identify currency or scale. Level errors therefore remain in source units.</a:t>
            </a:r>
          </a:p>
        </p:txBody>
      </p:sp>
      <p:sp>
        <p:nvSpPr>
          <p:cNvPr id="8" name="Information availability">
            <a:extLst>
              <a:ext uri="{FF2B5EF4-FFF2-40B4-BE49-F238E27FC236}">
                <a16:creationId xmlns:a16="http://schemas.microsoft.com/office/drawing/2014/main" id="{CD0298AA-93DB-4FC9-B8C3-D9362E52F02E}"/>
              </a:ext>
            </a:extLst>
          </p:cNvPr>
          <p:cNvSpPr>
            <a:spLocks noGrp="1"/>
          </p:cNvSpPr>
          <p:nvPr/>
        </p:nvSpPr>
        <p:spPr>
          <a:xfrm>
            <a:off x="647700" y="250507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Information availability</a:t>
            </a:r>
          </a:p>
        </p:txBody>
      </p:sp>
      <p:sp>
        <p:nvSpPr>
          <p:cNvPr id="9" name="Macro release dates and real-time vintages are unavailable. ">
            <a:extLst>
              <a:ext uri="{FF2B5EF4-FFF2-40B4-BE49-F238E27FC236}">
                <a16:creationId xmlns:a16="http://schemas.microsoft.com/office/drawing/2014/main" id="{84AD47D7-EC78-4C0E-8231-A06E45BE6E3F}"/>
              </a:ext>
            </a:extLst>
          </p:cNvPr>
          <p:cNvSpPr>
            <a:spLocks noGrp="1"/>
          </p:cNvSpPr>
          <p:nvPr/>
        </p:nvSpPr>
        <p:spPr>
          <a:xfrm>
            <a:off x="647700" y="2924175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Macro release dates and real-time vintages are unavailable. Calendar coverage alone does not establish forecast-origin availability.</a:t>
            </a:r>
          </a:p>
        </p:txBody>
      </p:sp>
      <p:sp>
        <p:nvSpPr>
          <p:cNvPr id="10" name="Forecast horizon">
            <a:extLst>
              <a:ext uri="{FF2B5EF4-FFF2-40B4-BE49-F238E27FC236}">
                <a16:creationId xmlns:a16="http://schemas.microsoft.com/office/drawing/2014/main" id="{85C37D56-16F8-497D-936A-F57272B3FDD8}"/>
              </a:ext>
            </a:extLst>
          </p:cNvPr>
          <p:cNvSpPr>
            <a:spLocks noGrp="1"/>
          </p:cNvSpPr>
          <p:nvPr/>
        </p:nvSpPr>
        <p:spPr>
          <a:xfrm>
            <a:off x="647700" y="372427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Forecast horizon</a:t>
            </a:r>
          </a:p>
        </p:txBody>
      </p:sp>
      <p:sp>
        <p:nvSpPr>
          <p:cNvPr id="11" name="Observed target lags support a one-step conditional evaluati">
            <a:extLst>
              <a:ext uri="{FF2B5EF4-FFF2-40B4-BE49-F238E27FC236}">
                <a16:creationId xmlns:a16="http://schemas.microsoft.com/office/drawing/2014/main" id="{2A8D4CC4-877F-43A4-9662-7B7E7B820DF4}"/>
              </a:ext>
            </a:extLst>
          </p:cNvPr>
          <p:cNvSpPr>
            <a:spLocks noGrp="1"/>
          </p:cNvSpPr>
          <p:nvPr/>
        </p:nvSpPr>
        <p:spPr>
          <a:xfrm>
            <a:off x="647700" y="4143375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Observed target lags support a one-step conditional evaluation. The report does not test recursive 27-month forecasting.</a:t>
            </a:r>
          </a:p>
        </p:txBody>
      </p:sp>
      <p:sp>
        <p:nvSpPr>
          <p:cNvPr id="12" name="Variable selection">
            <a:extLst>
              <a:ext uri="{FF2B5EF4-FFF2-40B4-BE49-F238E27FC236}">
                <a16:creationId xmlns:a16="http://schemas.microsoft.com/office/drawing/2014/main" id="{06B2FB2C-6AF0-4D25-B441-6369D10CABDE}"/>
              </a:ext>
            </a:extLst>
          </p:cNvPr>
          <p:cNvSpPr>
            <a:spLocks noGrp="1"/>
          </p:cNvSpPr>
          <p:nvPr/>
        </p:nvSpPr>
        <p:spPr>
          <a:xfrm>
            <a:off x="647700" y="494347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Variable selection</a:t>
            </a:r>
          </a:p>
        </p:txBody>
      </p:sp>
      <p:sp>
        <p:nvSpPr>
          <p:cNvPr id="13" name="The workflow tests related macro transformations without a m">
            <a:extLst>
              <a:ext uri="{FF2B5EF4-FFF2-40B4-BE49-F238E27FC236}">
                <a16:creationId xmlns:a16="http://schemas.microsoft.com/office/drawing/2014/main" id="{B8663C6B-665E-49F3-90BC-F293AF5575E2}"/>
              </a:ext>
            </a:extLst>
          </p:cNvPr>
          <p:cNvSpPr>
            <a:spLocks noGrp="1"/>
          </p:cNvSpPr>
          <p:nvPr/>
        </p:nvSpPr>
        <p:spPr>
          <a:xfrm>
            <a:off x="647700" y="536257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workflow tests related macro transformations without a multiplicity adjustment.</a:t>
            </a:r>
          </a:p>
        </p:txBody>
      </p:sp>
    </p:spTree>
    <p:extLst>
      <p:ext uri="{BB962C8B-B14F-4D97-AF65-F5344CB8AC3E}">
        <p14:creationId xmlns:p14="http://schemas.microsoft.com/office/powerpoint/2010/main" val="601893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3D03390E-5011-47D3-A74E-DDFF0AFB88FA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Appendix: Model Definitions</a:t>
            </a:r>
          </a:p>
        </p:txBody>
      </p:sp>
      <p:sp>
        <p:nvSpPr>
          <p:cNvPr id="5" name="24">
            <a:extLst>
              <a:ext uri="{FF2B5EF4-FFF2-40B4-BE49-F238E27FC236}">
                <a16:creationId xmlns:a16="http://schemas.microsoft.com/office/drawing/2014/main" id="{DB08544F-68B9-4F2C-A0C3-1A5E30F33CE6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1552575"/>
          <a:ext cx="10972800" cy="3314700"/>
        </p:xfrm>
        <a:graphic>
          <a:graphicData uri="http://schemas.openxmlformats.org/drawingml/2006/table">
            <a:tbl>
              <a:tblPr/>
              <a:tblGrid>
                <a:gridCol w="246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Notation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Definition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Fₜ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Consumer Card fee revenue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yₜ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100 × [ln(Fₜ) − ln(Fₜ₋₁)]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RetailMA3ₜ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Average retail sales MoM percentage growth over t, t−1 and t−2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Janₜ / Decₜ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January / December month indicators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F̂ₜ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Observed Fₜ₋₁ × exp(ŷₜ / 100)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production records include source-file hashes, software ve">
            <a:extLst>
              <a:ext uri="{FF2B5EF4-FFF2-40B4-BE49-F238E27FC236}">
                <a16:creationId xmlns:a16="http://schemas.microsoft.com/office/drawing/2014/main" id="{542E8ED4-CB59-48CA-9237-DEA073C0675B}"/>
              </a:ext>
            </a:extLst>
          </p:cNvPr>
          <p:cNvSpPr>
            <a:spLocks noGrp="1"/>
          </p:cNvSpPr>
          <p:nvPr/>
        </p:nvSpPr>
        <p:spPr>
          <a:xfrm>
            <a:off x="647700" y="5229225"/>
            <a:ext cx="105727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Reproduction records include source-file hashes, software versions and full-precision numerical tables. Fee and macro coverage comprise 180 and 204 monthly observations.</a:t>
            </a:r>
          </a:p>
        </p:txBody>
      </p:sp>
    </p:spTree>
    <p:extLst>
      <p:ext uri="{BB962C8B-B14F-4D97-AF65-F5344CB8AC3E}">
        <p14:creationId xmlns:p14="http://schemas.microsoft.com/office/powerpoint/2010/main" val="9202414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1940</Words>
  <Application>Microsoft Macintosh PowerPoint</Application>
  <DocSecurity>0</DocSecurity>
  <PresentationFormat>宽屏</PresentationFormat>
  <Paragraphs>534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8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宇轩 黄</cp:lastModifiedBy>
  <cp:revision>1</cp:revision>
  <dcterms:created xsi:type="dcterms:W3CDTF">2026-09-25T21:55:00Z</dcterms:created>
  <dcterms:modified xsi:type="dcterms:W3CDTF">2026-09-25T22:34:07Z</dcterms:modified>
</cp:coreProperties>
</file>