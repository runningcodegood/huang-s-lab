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7.xml" ContentType="application/vnd.openxmlformats-officedocument.drawingml.chart+xml"/>
  <Override PartName="/ppt/notesSlides/notesSlide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55638a55f54dbc" /><Relationship Type="http://schemas.openxmlformats.org/officeDocument/2006/relationships/extended-properties" Target="/docProps/app.xml" Id="Rf5343e7696554332" /><Relationship Type="http://schemas.openxmlformats.org/officeDocument/2006/relationships/officeDocument" Target="/ppt/presentation.xml" Id="Rab36241968c741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75fb6d37fc44b4"/>
  </p:sldMasterIdLst>
  <p:notesMasterIdLst>
    <p:notesMasterId xmlns:r="http://schemas.openxmlformats.org/officeDocument/2006/relationships" r:id="R7adc2977aeed4fb9"/>
  </p:notesMasterIdLst>
  <p:sldIdLst>
    <p:sldId xmlns:r="http://schemas.openxmlformats.org/officeDocument/2006/relationships" id="256" r:id="R0e7eaa022d624227"/>
    <p:sldId xmlns:r="http://schemas.openxmlformats.org/officeDocument/2006/relationships" id="257" r:id="R53e48f541d764d0e"/>
    <p:sldId xmlns:r="http://schemas.openxmlformats.org/officeDocument/2006/relationships" id="258" r:id="R41195fcf12354696"/>
    <p:sldId xmlns:r="http://schemas.openxmlformats.org/officeDocument/2006/relationships" id="259" r:id="R842e0fa2508c4ab8"/>
    <p:sldId xmlns:r="http://schemas.openxmlformats.org/officeDocument/2006/relationships" id="260" r:id="Raf1ac00601d64be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2490026cec4ff1" /><Relationship Type="http://schemas.openxmlformats.org/officeDocument/2006/relationships/slideMaster" Target="/ppt/slideMasters/slideMaster1.xml" Id="Rfc75fb6d37fc44b4" /><Relationship Type="http://schemas.openxmlformats.org/officeDocument/2006/relationships/notesMaster" Target="/ppt/notesMasters/notesMaster1.xml" Id="R7adc2977aeed4fb9" /><Relationship Type="http://schemas.openxmlformats.org/officeDocument/2006/relationships/presProps" Target="/ppt/presProps.xml" Id="R897771cd9a304959" /><Relationship Type="http://schemas.openxmlformats.org/officeDocument/2006/relationships/tableStyles" Target="/ppt/tableStyles.xml" Id="R57265e972d944f73" /><Relationship Type="http://schemas.openxmlformats.org/officeDocument/2006/relationships/slide" Target="/ppt/slides/slide1.xml" Id="R0e7eaa022d624227" /><Relationship Type="http://schemas.openxmlformats.org/officeDocument/2006/relationships/slide" Target="/ppt/slides/slide2.xml" Id="R53e48f541d764d0e" /><Relationship Type="http://schemas.openxmlformats.org/officeDocument/2006/relationships/slide" Target="/ppt/slides/slide3.xml" Id="R41195fcf12354696" /><Relationship Type="http://schemas.openxmlformats.org/officeDocument/2006/relationships/slide" Target="/ppt/slides/slide4.xml" Id="R842e0fa2508c4ab8" /><Relationship Type="http://schemas.openxmlformats.org/officeDocument/2006/relationships/slide" Target="/ppt/slides/slide5.xml" Id="Raf1ac00601d64b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8c9366a10a46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93269e5490437a" /><Relationship Type="http://schemas.openxmlformats.org/officeDocument/2006/relationships/notesMaster" Target="/ppt/notesMasters/notesMaster1.xml" Id="R4e149bcf0aeb4d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e155d416564013" /><Relationship Type="http://schemas.openxmlformats.org/officeDocument/2006/relationships/notesMaster" Target="/ppt/notesMasters/notesMaster1.xml" Id="R44728b007c134f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de0a2be27d44b9" /><Relationship Type="http://schemas.openxmlformats.org/officeDocument/2006/relationships/notesMaster" Target="/ppt/notesMasters/notesMaster1.xml" Id="Rda0a67d10a444f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3e6b457c514276" /><Relationship Type="http://schemas.openxmlformats.org/officeDocument/2006/relationships/notesMaster" Target="/ppt/notesMasters/notesMaster1.xml" Id="R4e103d906f344e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93b0d9e0df45b9" /><Relationship Type="http://schemas.openxmlformats.org/officeDocument/2006/relationships/notesMaster" Target="/ppt/notesMasters/notesMaster1.xml" Id="Re8f0dda51e524a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Noncomp EF model development materials dated October 19, 2026.</a:t>
            </a:r>
          </a:p>
          <a:p xmlns:a="http://schemas.openxmlformats.org/drawingml/2006/main">
            <a:r>
              <a:t>Purpose: Working group summary of development, validation, scenario forecasts, and champion model specification.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Noncomp_EF_Model_Development_Documentation_EN_20261019_v2.docx, Sections 1, 4, 5, 7, and 9.</a:t>
            </a:r>
          </a:p>
          <a:p xmlns:a="http://schemas.openxmlformats.org/drawingml/2006/main">
            <a:r>
              <a:t>Noncomp_EF_Code_and_Data_20261019.zip, README.md and reference_outputs/run_summary.csv.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reference_outputs/coefficients_final_development.csv</a:t>
            </a:r>
          </a:p>
          <a:p xmlns:a="http://schemas.openxmlformats.org/drawingml/2006/main">
            <a:r>
              <a:t>reference_outputs/fit_statistics.csv</a:t>
            </a:r>
          </a:p>
          <a:p xmlns:a="http://schemas.openxmlformats.org/drawingml/2006/main">
            <a:r>
              <a:t>reference_outputs/diagnostics_development.csv</a:t>
            </a:r>
          </a:p>
          <a:p xmlns:a="http://schemas.openxmlformats.org/drawingml/2006/main">
            <a:r>
              <a:t>reference_outputs/fitted_values_development.csv</a:t>
            </a:r>
          </a:p>
          <a:p xmlns:a="http://schemas.openxmlformats.org/drawingml/2006/main">
            <a:r>
              <a:t>reference_outputs/oot_forecasts.csv and oot_metrics.csv</a:t>
            </a:r>
          </a:p>
          <a:p xmlns:a="http://schemas.openxmlformats.org/drawingml/2006/main">
            <a:r>
              <a:t>Chart values convert EF ratios to percentage points for display.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reference_outputs/leave_one_out.csv</a:t>
            </a:r>
          </a:p>
          <a:p xmlns:a="http://schemas.openxmlformats.org/drawingml/2006/main">
            <a:r>
              <a:t>reference_outputs/oot_forecasts.csv and oot_metrics.csv</a:t>
            </a:r>
          </a:p>
          <a:p xmlns:a="http://schemas.openxmlformats.org/drawingml/2006/main">
            <a:r>
              <a:t>reference_outputs/scenario_macro_paths.csv</a:t>
            </a:r>
          </a:p>
          <a:p xmlns:a="http://schemas.openxmlformats.org/drawingml/2006/main">
            <a:r>
              <a:t>reference_outputs/scenario_ef_forecasts.csv</a:t>
            </a:r>
          </a:p>
          <a:p xmlns:a="http://schemas.openxmlformats.org/drawingml/2006/main">
            <a:r>
              <a:t>Leave-one-out charts normalize each coefficient to the development-model estimate.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reference_outputs/historical_data_and_features.csv</a:t>
            </a:r>
          </a:p>
          <a:p xmlns:a="http://schemas.openxmlformats.org/drawingml/2006/main">
            <a:r>
              <a:t>reference_outputs/coefficients_final_development.csv</a:t>
            </a:r>
          </a:p>
          <a:p xmlns:a="http://schemas.openxmlformats.org/drawingml/2006/main">
            <a:r>
              <a:t>reference_outputs/fit_statistics.csv</a:t>
            </a:r>
          </a:p>
          <a:p xmlns:a="http://schemas.openxmlformats.org/drawingml/2006/main">
            <a:r>
              <a:t>reference_outputs/diagnostics_development.csv</a:t>
            </a:r>
          </a:p>
          <a:p xmlns:a="http://schemas.openxmlformats.org/drawingml/2006/main">
            <a:r>
              <a:t>reference_outputs/oot_metrics.csv</a:t>
            </a:r>
          </a:p>
          <a:p xmlns:a="http://schemas.openxmlformats.org/drawingml/2006/main">
            <a:r>
              <a:t>Noncomp Efficiency Ratio Model Development Document, sections 4 through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604d492b23474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13d77abc2c4f0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b8d63807f648b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43459ef9a1483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e089dd867c446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e3a84969884d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73C83FC-BAD1-4930-8547-ADE9AB5FAB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8AD2E6B-6F82-4C5E-A32D-5447941B674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D79070A-8D61-4CCD-AAC9-814B2AE18E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34CB57D-6BA4-4AE2-86A5-DEA2944471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97397B7-FF66-40F2-B3D7-87EEBF0766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F84E451-A86B-440A-AAD3-6BFB85EEA9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E732EE0-5C64-4DCD-882A-42FD1C5B63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4E36D5D-3F37-4AE9-931C-2FA6F52E148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D439D71-8AC0-481D-82E5-9A22E852DE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4693DF3-E0CF-4961-90C8-C4C97AFC1AC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7761850c4c472d" /><Relationship Type="http://schemas.openxmlformats.org/officeDocument/2006/relationships/slideLayout" Target="/ppt/slideLayouts/slideLayout1.xml" Id="R94b6997e6da640e5" /><Relationship Type="http://schemas.openxmlformats.org/officeDocument/2006/relationships/slideLayout" Target="/ppt/slideLayouts/slideLayout2.xml" Id="R152a84c16aa542d8" /><Relationship Type="http://schemas.openxmlformats.org/officeDocument/2006/relationships/slideLayout" Target="/ppt/slideLayouts/slideLayout3.xml" Id="R2a05fc539989472e" /><Relationship Type="http://schemas.openxmlformats.org/officeDocument/2006/relationships/slideLayout" Target="/ppt/slideLayouts/slideLayout4.xml" Id="R4339a134f6d84cac" /><Relationship Type="http://schemas.openxmlformats.org/officeDocument/2006/relationships/slideLayout" Target="/ppt/slideLayouts/slideLayout5.xml" Id="R43c31accbe6c4b59" /><Relationship Type="http://schemas.openxmlformats.org/officeDocument/2006/relationships/slideLayout" Target="/ppt/slideLayouts/slideLayout6.xml" Id="R8a3ddbab11fe4d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b6997e6da640e5"/>
    <p:sldLayoutId xmlns:r="http://schemas.openxmlformats.org/officeDocument/2006/relationships" id="2147483650" r:id="R152a84c16aa542d8"/>
    <p:sldLayoutId xmlns:r="http://schemas.openxmlformats.org/officeDocument/2006/relationships" id="2147483651" r:id="R2a05fc539989472e"/>
    <p:sldLayoutId xmlns:r="http://schemas.openxmlformats.org/officeDocument/2006/relationships" id="2147483652" r:id="R4339a134f6d84cac"/>
    <p:sldLayoutId xmlns:r="http://schemas.openxmlformats.org/officeDocument/2006/relationships" id="2147483653" r:id="R43c31accbe6c4b59"/>
    <p:sldLayoutId xmlns:r="http://schemas.openxmlformats.org/officeDocument/2006/relationships" id="2147483654" r:id="R8a3ddbab11fe4d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8e9d8362054cc8" /><Relationship Type="http://schemas.openxmlformats.org/officeDocument/2006/relationships/notesSlide" Target="/ppt/notesSlides/notesSlide1.xml" Id="Re4a1f1c21a1440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d4f700ee1e484e" /><Relationship Type="http://schemas.openxmlformats.org/officeDocument/2006/relationships/notesSlide" Target="/ppt/notesSlides/notesSlide2.xml" Id="Rdd8484fa8eaf45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073912f5ed4475" /><Relationship Type="http://schemas.openxmlformats.org/officeDocument/2006/relationships/chart" Target="/ppt/slides/charts/chart1.xml" Id="R4d5c07ae736648eb" /><Relationship Type="http://schemas.openxmlformats.org/officeDocument/2006/relationships/chart" Target="/ppt/slides/charts/chart2.xml" Id="R9f09cfc92eed42dd" /><Relationship Type="http://schemas.openxmlformats.org/officeDocument/2006/relationships/notesSlide" Target="/ppt/notesSlides/notesSlide3.xml" Id="R7cebb24b75484a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e4475b11c64c2e" /><Relationship Type="http://schemas.openxmlformats.org/officeDocument/2006/relationships/chart" Target="/ppt/slides/charts/chart3.xml" Id="Rc00d570cde9f4860" /><Relationship Type="http://schemas.openxmlformats.org/officeDocument/2006/relationships/chart" Target="/ppt/slides/charts/chart4.xml" Id="R6c18d0e3f5314282" /><Relationship Type="http://schemas.openxmlformats.org/officeDocument/2006/relationships/chart" Target="/ppt/slides/charts/chart5.xml" Id="R3d3116d3ea0248d5" /><Relationship Type="http://schemas.openxmlformats.org/officeDocument/2006/relationships/chart" Target="/ppt/slides/charts/chart6.xml" Id="R5c5f0ff6139749d4" /><Relationship Type="http://schemas.openxmlformats.org/officeDocument/2006/relationships/notesSlide" Target="/ppt/notesSlides/notesSlide4.xml" Id="R08361aa46f9049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6c00b533734267" /><Relationship Type="http://schemas.openxmlformats.org/officeDocument/2006/relationships/chart" Target="/ppt/slides/charts/chart7.xml" Id="Raec5dc785daf41ce" /><Relationship Type="http://schemas.openxmlformats.org/officeDocument/2006/relationships/notesSlide" Target="/ppt/notesSlides/notesSlide5.xml" Id="R5f6866c6da05482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Development Sample: Actual vs Fitted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 b="1">
              <a:solidFill>
                <a:srgbClr val="252525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Actual EF</c:v>
          </c:tx>
          <c:spPr>
            <a:ln xmlns:a="http://schemas.openxmlformats.org/drawingml/2006/main" w="20955">
              <a:solidFill>
                <a:srgbClr val="1F4E79"/>
              </a:solidFill>
              <a:prstDash val="solid"/>
            </a:ln>
          </c:spPr>
          <c:marker>
            <c:symbol val="none"/>
          </c:marker>
          <c:cat>
            <c:strRef>
              <c:f>'Chart Data'!$A$2:$A$50</c:f>
              <c:strCache>
                <c:ptCount val="49"/>
                <c:pt idx="0">
                  <c:v>​</c:v>
                </c:pt>
                <c:pt idx="1">
                  <c:v>​​</c:v>
                </c:pt>
                <c:pt idx="2">
                  <c:v>2012</c:v>
                </c:pt>
                <c:pt idx="3">
                  <c:v>​​​​</c:v>
                </c:pt>
                <c:pt idx="4">
                  <c:v>​​​​​</c:v>
                </c:pt>
                <c:pt idx="5">
                  <c:v>​​​​​​</c:v>
                </c:pt>
                <c:pt idx="6">
                  <c:v>2013</c:v>
                </c:pt>
                <c:pt idx="7">
                  <c:v>​​​​​​​​</c:v>
                </c:pt>
                <c:pt idx="8">
                  <c:v>​​​​​​​​​</c:v>
                </c:pt>
                <c:pt idx="9">
                  <c:v>​​​​​​​​​​</c:v>
                </c:pt>
                <c:pt idx="10">
                  <c:v>2014</c:v>
                </c:pt>
                <c:pt idx="11">
                  <c:v>​​​​​​​​​​​​</c:v>
                </c:pt>
                <c:pt idx="12">
                  <c:v>​​​​​​​​​​​​​</c:v>
                </c:pt>
                <c:pt idx="13">
                  <c:v>​​​​​​​​​​​​​​</c:v>
                </c:pt>
                <c:pt idx="14">
                  <c:v>2015</c:v>
                </c:pt>
                <c:pt idx="15">
                  <c:v>​​​​​​​​​​​​​​​​</c:v>
                </c:pt>
                <c:pt idx="16">
                  <c:v>​​​​​​​​​​​​​​​​​</c:v>
                </c:pt>
                <c:pt idx="17">
                  <c:v>​​​​​​​​​​​​​​​​​​</c:v>
                </c:pt>
                <c:pt idx="18">
                  <c:v>2016</c:v>
                </c:pt>
                <c:pt idx="19">
                  <c:v>​​​​​​​​​​​​​​​​​​​​</c:v>
                </c:pt>
                <c:pt idx="20">
                  <c:v>​​​​​​​​​​​​​​​​​​​​​</c:v>
                </c:pt>
                <c:pt idx="21">
                  <c:v>​​​​​​​​​​​​​​​​​​​​​​</c:v>
                </c:pt>
                <c:pt idx="22">
                  <c:v>2017</c:v>
                </c:pt>
                <c:pt idx="23">
                  <c:v>​​​​​​​​​​​​​​​​​​​​​​​​</c:v>
                </c:pt>
                <c:pt idx="24">
                  <c:v>​​​​​​​​​​​​​​​​​​​​​​​​​</c:v>
                </c:pt>
                <c:pt idx="25">
                  <c:v>​​​​​​​​​​​​​​​​​​​​​​​​​​</c:v>
                </c:pt>
                <c:pt idx="26">
                  <c:v>2018</c:v>
                </c:pt>
                <c:pt idx="27">
                  <c:v>​​​​​​​​​​​​​​​​​​​​​​​​​​​​</c:v>
                </c:pt>
                <c:pt idx="28">
                  <c:v>​​​​​​​​​​​​​​​​​​​​​​​​​​​​​</c:v>
                </c:pt>
                <c:pt idx="29">
                  <c:v>​​​​​​​​​​​​​​​​​​​​​​​​​​​​​​</c:v>
                </c:pt>
                <c:pt idx="30">
                  <c:v>2019</c:v>
                </c:pt>
                <c:pt idx="31">
                  <c:v>​​​​​​​​​​​​​​​​​​​​​​​​​​​​​​​​</c:v>
                </c:pt>
                <c:pt idx="32">
                  <c:v>​​​​​​​​​​​​​​​​​​​​​​​​​​​​​​​​​</c:v>
                </c:pt>
                <c:pt idx="33">
                  <c:v>​​​​​​​​​​​​​​​​​​​​​​​​​​​​​​​​​​</c:v>
                </c:pt>
                <c:pt idx="34">
                  <c:v>2020</c:v>
                </c:pt>
                <c:pt idx="35">
                  <c:v>​​​​​​​​​​​​​​​​​​​​​​​​​​​​​​​​​​​​</c:v>
                </c:pt>
                <c:pt idx="36">
                  <c:v>​​​​​​​​​​​​​​​​​​​​​​​​​​​​​​​​​​​​​</c:v>
                </c:pt>
                <c:pt idx="37">
                  <c:v>​​​​​​​​​​​​​​​​​​​​​​​​​​​​​​​​​​​​​​</c:v>
                </c:pt>
                <c:pt idx="38">
                  <c:v>2021</c:v>
                </c:pt>
                <c:pt idx="39">
                  <c:v>​​​​​​​​​​​​​​​​​​​​​​​​​​​​​​​​​​​​​​​​</c:v>
                </c:pt>
                <c:pt idx="40">
                  <c:v>​​​​​​​​​​​​​​​​​​​​​​​​​​​​​​​​​​​​​​​​​</c:v>
                </c:pt>
                <c:pt idx="41">
                  <c:v>​​​​​​​​​​​​​​​​​​​​​​​​​​​​​​​​​​​​​​​​​​</c:v>
                </c:pt>
                <c:pt idx="42">
                  <c:v>2022</c:v>
                </c:pt>
                <c:pt idx="43">
                  <c:v>​​​​​​​​​​​​​​​​​​​​​​​​​​​​​​​​​​​​​​​​​​​​</c:v>
                </c:pt>
                <c:pt idx="44">
                  <c:v>​​​​​​​​​​​​​​​​​​​​​​​​​​​​​​​​​​​​​​​​​​​​​</c:v>
                </c:pt>
                <c:pt idx="45">
                  <c:v>​​​​​​​​​​​​​​​​​​​​​​​​​​​​​​​​​​​​​​​​​​​​​​</c:v>
                </c:pt>
                <c:pt idx="46">
                  <c:v>2023</c:v>
                </c:pt>
                <c:pt idx="47">
                  <c:v>​​​​​​​​​​​​​​​​​​​​​​​​​​​​​​​​​​​​​​​​​​​​​​​​</c:v>
                </c:pt>
                <c:pt idx="48">
                  <c:v>2023Q3</c:v>
                </c:pt>
              </c:strCache>
            </c:strRef>
          </c:cat>
          <c:val>
            <c:numRef>
              <c:f>'Chart Data'!$B$2:$B$50</c:f>
              <c:numCache>
                <c:formatCode>0.0</c:formatCode>
                <c:ptCount val="49"/>
                <c:pt idx="0">
                  <c:v>63.1</c:v>
                </c:pt>
                <c:pt idx="1">
                  <c:v>66.8</c:v>
                </c:pt>
                <c:pt idx="2">
                  <c:v>66.5</c:v>
                </c:pt>
                <c:pt idx="3">
                  <c:v>67.9</c:v>
                </c:pt>
                <c:pt idx="4">
                  <c:v>65.2</c:v>
                </c:pt>
                <c:pt idx="5">
                  <c:v>67.6</c:v>
                </c:pt>
                <c:pt idx="6">
                  <c:v>78.2</c:v>
                </c:pt>
                <c:pt idx="7">
                  <c:v>77.8</c:v>
                </c:pt>
                <c:pt idx="8">
                  <c:v>77.6</c:v>
                </c:pt>
                <c:pt idx="9">
                  <c:v>75.2</c:v>
                </c:pt>
                <c:pt idx="10">
                  <c:v>67.6</c:v>
                </c:pt>
                <c:pt idx="11">
                  <c:v>65.9</c:v>
                </c:pt>
                <c:pt idx="12">
                  <c:v>66.7</c:v>
                </c:pt>
                <c:pt idx="13">
                  <c:v>64.6</c:v>
                </c:pt>
                <c:pt idx="14">
                  <c:v>62.1</c:v>
                </c:pt>
                <c:pt idx="15">
                  <c:v>62.1</c:v>
                </c:pt>
                <c:pt idx="16">
                  <c:v>60.7</c:v>
                </c:pt>
                <c:pt idx="17">
                  <c:v>62.1</c:v>
                </c:pt>
                <c:pt idx="18">
                  <c:v>65.1</c:v>
                </c:pt>
                <c:pt idx="19">
                  <c:v>63.6</c:v>
                </c:pt>
                <c:pt idx="20">
                  <c:v>61.2</c:v>
                </c:pt>
                <c:pt idx="21">
                  <c:v>62.4</c:v>
                </c:pt>
                <c:pt idx="22">
                  <c:v>63.5</c:v>
                </c:pt>
                <c:pt idx="23">
                  <c:v>58.8</c:v>
                </c:pt>
                <c:pt idx="24">
                  <c:v>58.6</c:v>
                </c:pt>
                <c:pt idx="25">
                  <c:v>57.966667</c:v>
                </c:pt>
                <c:pt idx="26">
                  <c:v>56.9</c:v>
                </c:pt>
                <c:pt idx="27">
                  <c:v>56.2</c:v>
                </c:pt>
                <c:pt idx="28">
                  <c:v>59.7</c:v>
                </c:pt>
                <c:pt idx="29">
                  <c:v>56.5</c:v>
                </c:pt>
                <c:pt idx="30">
                  <c:v>60.7</c:v>
                </c:pt>
                <c:pt idx="31">
                  <c:v>53</c:v>
                </c:pt>
                <c:pt idx="32">
                  <c:v>54.8</c:v>
                </c:pt>
                <c:pt idx="33">
                  <c:v>52.3</c:v>
                </c:pt>
                <c:pt idx="34">
                  <c:v>57.7</c:v>
                </c:pt>
                <c:pt idx="35">
                  <c:v>58</c:v>
                </c:pt>
                <c:pt idx="36">
                  <c:v>63.4</c:v>
                </c:pt>
                <c:pt idx="37">
                  <c:v>60</c:v>
                </c:pt>
                <c:pt idx="38">
                  <c:v>54.1</c:v>
                </c:pt>
                <c:pt idx="39">
                  <c:v>54.6</c:v>
                </c:pt>
                <c:pt idx="40">
                  <c:v>52.6</c:v>
                </c:pt>
                <c:pt idx="41">
                  <c:v>57</c:v>
                </c:pt>
                <c:pt idx="42">
                  <c:v>53.6</c:v>
                </c:pt>
                <c:pt idx="43">
                  <c:v>52.8</c:v>
                </c:pt>
                <c:pt idx="44">
                  <c:v>49.5</c:v>
                </c:pt>
                <c:pt idx="45">
                  <c:v>50.5</c:v>
                </c:pt>
                <c:pt idx="46">
                  <c:v>49.2</c:v>
                </c:pt>
                <c:pt idx="47">
                  <c:v>53.1</c:v>
                </c:pt>
                <c:pt idx="48">
                  <c:v>58</c:v>
                </c:pt>
              </c:numCache>
            </c:numRef>
          </c:val>
          <c:smooth val="0"/>
        </c:ser>
        <c:ser>
          <c:idx val="1"/>
          <c:order val="1"/>
          <c:tx>
            <c:v>Fitted EF</c:v>
          </c:tx>
          <c:spPr>
            <a:ln xmlns:a="http://schemas.openxmlformats.org/drawingml/2006/main" w="20955">
              <a:solidFill>
                <a:srgbClr val="C55A11"/>
              </a:solidFill>
              <a:prstDash val="solid"/>
            </a:ln>
          </c:spPr>
          <c:marker>
            <c:symbol val="none"/>
          </c:marker>
          <c:cat>
            <c:strRef>
              <c:f>'Chart Data'!$C$2:$C$50</c:f>
              <c:strCache>
                <c:ptCount val="49"/>
                <c:pt idx="0">
                  <c:v>​</c:v>
                </c:pt>
                <c:pt idx="1">
                  <c:v>​​</c:v>
                </c:pt>
                <c:pt idx="2">
                  <c:v>2012</c:v>
                </c:pt>
                <c:pt idx="3">
                  <c:v>​​​​</c:v>
                </c:pt>
                <c:pt idx="4">
                  <c:v>​​​​​</c:v>
                </c:pt>
                <c:pt idx="5">
                  <c:v>​​​​​​</c:v>
                </c:pt>
                <c:pt idx="6">
                  <c:v>2013</c:v>
                </c:pt>
                <c:pt idx="7">
                  <c:v>​​​​​​​​</c:v>
                </c:pt>
                <c:pt idx="8">
                  <c:v>​​​​​​​​​</c:v>
                </c:pt>
                <c:pt idx="9">
                  <c:v>​​​​​​​​​​</c:v>
                </c:pt>
                <c:pt idx="10">
                  <c:v>2014</c:v>
                </c:pt>
                <c:pt idx="11">
                  <c:v>​​​​​​​​​​​​</c:v>
                </c:pt>
                <c:pt idx="12">
                  <c:v>​​​​​​​​​​​​​</c:v>
                </c:pt>
                <c:pt idx="13">
                  <c:v>​​​​​​​​​​​​​​</c:v>
                </c:pt>
                <c:pt idx="14">
                  <c:v>2015</c:v>
                </c:pt>
                <c:pt idx="15">
                  <c:v>​​​​​​​​​​​​​​​​</c:v>
                </c:pt>
                <c:pt idx="16">
                  <c:v>​​​​​​​​​​​​​​​​​</c:v>
                </c:pt>
                <c:pt idx="17">
                  <c:v>​​​​​​​​​​​​​​​​​​</c:v>
                </c:pt>
                <c:pt idx="18">
                  <c:v>2016</c:v>
                </c:pt>
                <c:pt idx="19">
                  <c:v>​​​​​​​​​​​​​​​​​​​​</c:v>
                </c:pt>
                <c:pt idx="20">
                  <c:v>​​​​​​​​​​​​​​​​​​​​​</c:v>
                </c:pt>
                <c:pt idx="21">
                  <c:v>​​​​​​​​​​​​​​​​​​​​​​</c:v>
                </c:pt>
                <c:pt idx="22">
                  <c:v>2017</c:v>
                </c:pt>
                <c:pt idx="23">
                  <c:v>​​​​​​​​​​​​​​​​​​​​​​​​</c:v>
                </c:pt>
                <c:pt idx="24">
                  <c:v>​​​​​​​​​​​​​​​​​​​​​​​​​</c:v>
                </c:pt>
                <c:pt idx="25">
                  <c:v>​​​​​​​​​​​​​​​​​​​​​​​​​​</c:v>
                </c:pt>
                <c:pt idx="26">
                  <c:v>2018</c:v>
                </c:pt>
                <c:pt idx="27">
                  <c:v>​​​​​​​​​​​​​​​​​​​​​​​​​​​​</c:v>
                </c:pt>
                <c:pt idx="28">
                  <c:v>​​​​​​​​​​​​​​​​​​​​​​​​​​​​​</c:v>
                </c:pt>
                <c:pt idx="29">
                  <c:v>​​​​​​​​​​​​​​​​​​​​​​​​​​​​​​</c:v>
                </c:pt>
                <c:pt idx="30">
                  <c:v>2019</c:v>
                </c:pt>
                <c:pt idx="31">
                  <c:v>​​​​​​​​​​​​​​​​​​​​​​​​​​​​​​​​</c:v>
                </c:pt>
                <c:pt idx="32">
                  <c:v>​​​​​​​​​​​​​​​​​​​​​​​​​​​​​​​​​</c:v>
                </c:pt>
                <c:pt idx="33">
                  <c:v>​​​​​​​​​​​​​​​​​​​​​​​​​​​​​​​​​​</c:v>
                </c:pt>
                <c:pt idx="34">
                  <c:v>2020</c:v>
                </c:pt>
                <c:pt idx="35">
                  <c:v>​​​​​​​​​​​​​​​​​​​​​​​​​​​​​​​​​​​​</c:v>
                </c:pt>
                <c:pt idx="36">
                  <c:v>​​​​​​​​​​​​​​​​​​​​​​​​​​​​​​​​​​​​​</c:v>
                </c:pt>
                <c:pt idx="37">
                  <c:v>​​​​​​​​​​​​​​​​​​​​​​​​​​​​​​​​​​​​​​</c:v>
                </c:pt>
                <c:pt idx="38">
                  <c:v>2021</c:v>
                </c:pt>
                <c:pt idx="39">
                  <c:v>​​​​​​​​​​​​​​​​​​​​​​​​​​​​​​​​​​​​​​​​</c:v>
                </c:pt>
                <c:pt idx="40">
                  <c:v>​​​​​​​​​​​​​​​​​​​​​​​​​​​​​​​​​​​​​​​​​</c:v>
                </c:pt>
                <c:pt idx="41">
                  <c:v>​​​​​​​​​​​​​​​​​​​​​​​​​​​​​​​​​​​​​​​​​​</c:v>
                </c:pt>
                <c:pt idx="42">
                  <c:v>2022</c:v>
                </c:pt>
                <c:pt idx="43">
                  <c:v>​​​​​​​​​​​​​​​​​​​​​​​​​​​​​​​​​​​​​​​​​​​​</c:v>
                </c:pt>
                <c:pt idx="44">
                  <c:v>​​​​​​​​​​​​​​​​​​​​​​​​​​​​​​​​​​​​​​​​​​​​​</c:v>
                </c:pt>
                <c:pt idx="45">
                  <c:v>​​​​​​​​​​​​​​​​​​​​​​​​​​​​​​​​​​​​​​​​​​​​​​</c:v>
                </c:pt>
                <c:pt idx="46">
                  <c:v>2023</c:v>
                </c:pt>
                <c:pt idx="47">
                  <c:v>​​​​​​​​​​​​​​​​​​​​​​​​​​​​​​​​​​​​​​​​​​​​​​​​</c:v>
                </c:pt>
                <c:pt idx="48">
                  <c:v>2023Q3</c:v>
                </c:pt>
              </c:strCache>
            </c:strRef>
          </c:cat>
          <c:val>
            <c:numRef>
              <c:f>'Chart Data'!$D$2:$D$50</c:f>
              <c:numCache>
                <c:formatCode>0.0</c:formatCode>
                <c:ptCount val="49"/>
                <c:pt idx="0">
                  <c:v>67.020665</c:v>
                </c:pt>
                <c:pt idx="1">
                  <c:v>65.922891</c:v>
                </c:pt>
                <c:pt idx="2">
                  <c:v>68.462069</c:v>
                </c:pt>
                <c:pt idx="3">
                  <c:v>68.240582</c:v>
                </c:pt>
                <c:pt idx="4">
                  <c:v>69.46669</c:v>
                </c:pt>
                <c:pt idx="5">
                  <c:v>67.409136</c:v>
                </c:pt>
                <c:pt idx="6">
                  <c:v>69.138258</c:v>
                </c:pt>
                <c:pt idx="7">
                  <c:v>77.071092</c:v>
                </c:pt>
                <c:pt idx="8">
                  <c:v>76.69022</c:v>
                </c:pt>
                <c:pt idx="9">
                  <c:v>76.478395</c:v>
                </c:pt>
                <c:pt idx="10">
                  <c:v>70.34316</c:v>
                </c:pt>
                <c:pt idx="11">
                  <c:v>64.753534</c:v>
                </c:pt>
                <c:pt idx="12">
                  <c:v>63.370105</c:v>
                </c:pt>
                <c:pt idx="13">
                  <c:v>64.174627</c:v>
                </c:pt>
                <c:pt idx="14">
                  <c:v>62.474492</c:v>
                </c:pt>
                <c:pt idx="15">
                  <c:v>60.757097</c:v>
                </c:pt>
                <c:pt idx="16">
                  <c:v>60.799875</c:v>
                </c:pt>
                <c:pt idx="17">
                  <c:v>59.616544</c:v>
                </c:pt>
                <c:pt idx="18">
                  <c:v>60.821264</c:v>
                </c:pt>
                <c:pt idx="19">
                  <c:v>62.99336</c:v>
                </c:pt>
                <c:pt idx="20">
                  <c:v>61.992867</c:v>
                </c:pt>
                <c:pt idx="21">
                  <c:v>60.17819</c:v>
                </c:pt>
                <c:pt idx="22">
                  <c:v>60.999973</c:v>
                </c:pt>
                <c:pt idx="23">
                  <c:v>61.769316</c:v>
                </c:pt>
                <c:pt idx="24">
                  <c:v>58.299346</c:v>
                </c:pt>
                <c:pt idx="25">
                  <c:v>58.258632</c:v>
                </c:pt>
                <c:pt idx="26">
                  <c:v>57.705492</c:v>
                </c:pt>
                <c:pt idx="27">
                  <c:v>56.93937</c:v>
                </c:pt>
                <c:pt idx="28">
                  <c:v>56.443955</c:v>
                </c:pt>
                <c:pt idx="29">
                  <c:v>58.985197</c:v>
                </c:pt>
                <c:pt idx="30">
                  <c:v>56.772387</c:v>
                </c:pt>
                <c:pt idx="31">
                  <c:v>59.851822</c:v>
                </c:pt>
                <c:pt idx="32">
                  <c:v>53.995866</c:v>
                </c:pt>
                <c:pt idx="33">
                  <c:v>55.453124</c:v>
                </c:pt>
                <c:pt idx="34">
                  <c:v>53.628784</c:v>
                </c:pt>
                <c:pt idx="35">
                  <c:v>57.765281</c:v>
                </c:pt>
                <c:pt idx="36">
                  <c:v>63.718986</c:v>
                </c:pt>
                <c:pt idx="37">
                  <c:v>59.128822</c:v>
                </c:pt>
                <c:pt idx="38">
                  <c:v>58.008908</c:v>
                </c:pt>
                <c:pt idx="39">
                  <c:v>54.615487</c:v>
                </c:pt>
                <c:pt idx="40">
                  <c:v>55.134355</c:v>
                </c:pt>
                <c:pt idx="41">
                  <c:v>53.294161</c:v>
                </c:pt>
                <c:pt idx="42">
                  <c:v>56.521255</c:v>
                </c:pt>
                <c:pt idx="43">
                  <c:v>54.396064</c:v>
                </c:pt>
                <c:pt idx="44">
                  <c:v>53.848208</c:v>
                </c:pt>
                <c:pt idx="45">
                  <c:v>51.497402</c:v>
                </c:pt>
                <c:pt idx="46">
                  <c:v>52.321249</c:v>
                </c:pt>
                <c:pt idx="47">
                  <c:v>51.318692</c:v>
                </c:pt>
                <c:pt idx="48">
                  <c:v>54.219418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A6A6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82"/>
          <c:min val="4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A6A6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252525"/>
              </a:solidFill>
              <a:latin typeface="Arial"/>
              <a:ea typeface="Arial"/>
              <a:cs typeface="Arial"/>
            </a:defRPr>
          </a:pPr>
        </a:p>
      </c:txPr>
    </c:legend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2023Q4-2025Q4 Validation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 b="1">
              <a:solidFill>
                <a:srgbClr val="252525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Actual EF</c:v>
          </c:tx>
          <c:spPr>
            <a:ln xmlns:a="http://schemas.openxmlformats.org/drawingml/2006/main" w="20955">
              <a:solidFill>
                <a:srgbClr val="1F4E79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1F4E79"/>
              </a:solidFill>
            </c:spPr>
          </c:marker>
          <c:cat>
            <c:strRef>
              <c:f>'Chart Data'!$A$2:$A$10</c:f>
              <c:strCache>
                <c:ptCount val="9"/>
                <c:pt idx="0">
                  <c:v>2023Q4</c:v>
                </c:pt>
                <c:pt idx="1">
                  <c:v>2024Q1</c:v>
                </c:pt>
                <c:pt idx="2">
                  <c:v>2024Q2</c:v>
                </c:pt>
                <c:pt idx="3">
                  <c:v>2024Q3</c:v>
                </c:pt>
                <c:pt idx="4">
                  <c:v>2024Q4</c:v>
                </c:pt>
                <c:pt idx="5">
                  <c:v>2025Q1</c:v>
                </c:pt>
                <c:pt idx="6">
                  <c:v>2025Q2</c:v>
                </c:pt>
                <c:pt idx="7">
                  <c:v>2025Q3</c:v>
                </c:pt>
                <c:pt idx="8">
                  <c:v>2025Q4</c:v>
                </c:pt>
              </c:strCache>
            </c:strRef>
          </c:cat>
          <c:val>
            <c:numRef>
              <c:f>'Chart Data'!$B$2:$B$10</c:f>
              <c:numCache>
                <c:formatCode>0.0</c:formatCode>
                <c:ptCount val="9"/>
                <c:pt idx="0">
                  <c:v>61.7</c:v>
                </c:pt>
                <c:pt idx="1">
                  <c:v>59.3</c:v>
                </c:pt>
                <c:pt idx="2">
                  <c:v>53.1</c:v>
                </c:pt>
                <c:pt idx="3">
                  <c:v>54.9</c:v>
                </c:pt>
                <c:pt idx="4">
                  <c:v>52.7</c:v>
                </c:pt>
                <c:pt idx="5">
                  <c:v>53.4</c:v>
                </c:pt>
                <c:pt idx="6">
                  <c:v>52.6</c:v>
                </c:pt>
                <c:pt idx="7">
                  <c:v>56.1</c:v>
                </c:pt>
                <c:pt idx="8">
                  <c:v>54.8</c:v>
                </c:pt>
              </c:numCache>
            </c:numRef>
          </c:val>
          <c:smooth val="0"/>
        </c:ser>
        <c:ser>
          <c:idx val="1"/>
          <c:order val="1"/>
          <c:tx>
            <c:v>One-step</c:v>
          </c:tx>
          <c:spPr>
            <a:ln xmlns:a="http://schemas.openxmlformats.org/drawingml/2006/main" w="20955">
              <a:solidFill>
                <a:srgbClr val="C55A11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C55A11"/>
              </a:solidFill>
            </c:spPr>
          </c:marker>
          <c:cat>
            <c:strRef>
              <c:f>'Chart Data'!$C$2:$C$10</c:f>
              <c:strCache>
                <c:ptCount val="9"/>
                <c:pt idx="0">
                  <c:v>2023Q4</c:v>
                </c:pt>
                <c:pt idx="1">
                  <c:v>2024Q1</c:v>
                </c:pt>
                <c:pt idx="2">
                  <c:v>2024Q2</c:v>
                </c:pt>
                <c:pt idx="3">
                  <c:v>2024Q3</c:v>
                </c:pt>
                <c:pt idx="4">
                  <c:v>2024Q4</c:v>
                </c:pt>
                <c:pt idx="5">
                  <c:v>2025Q1</c:v>
                </c:pt>
                <c:pt idx="6">
                  <c:v>2025Q2</c:v>
                </c:pt>
                <c:pt idx="7">
                  <c:v>2025Q3</c:v>
                </c:pt>
                <c:pt idx="8">
                  <c:v>2025Q4</c:v>
                </c:pt>
              </c:strCache>
            </c:strRef>
          </c:cat>
          <c:val>
            <c:numRef>
              <c:f>'Chart Data'!$D$2:$D$10</c:f>
              <c:numCache>
                <c:formatCode>0.0</c:formatCode>
                <c:ptCount val="9"/>
                <c:pt idx="0">
                  <c:v>57.901213</c:v>
                </c:pt>
                <c:pt idx="1">
                  <c:v>60.675669</c:v>
                </c:pt>
                <c:pt idx="2">
                  <c:v>58.818214</c:v>
                </c:pt>
                <c:pt idx="3">
                  <c:v>54.304973</c:v>
                </c:pt>
                <c:pt idx="4">
                  <c:v>55.676676</c:v>
                </c:pt>
                <c:pt idx="5">
                  <c:v>53.902712</c:v>
                </c:pt>
                <c:pt idx="6">
                  <c:v>54.440905</c:v>
                </c:pt>
                <c:pt idx="7">
                  <c:v>53.89305</c:v>
                </c:pt>
                <c:pt idx="8">
                  <c:v>56.519848</c:v>
                </c:pt>
              </c:numCache>
            </c:numRef>
          </c:val>
          <c:smooth val="0"/>
        </c:ser>
        <c:ser>
          <c:idx val="2"/>
          <c:order val="2"/>
          <c:tx>
            <c:v>Recursive</c:v>
          </c:tx>
          <c:spPr>
            <a:ln xmlns:a="http://schemas.openxmlformats.org/drawingml/2006/main" w="20955">
              <a:solidFill>
                <a:srgbClr val="548235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548235"/>
              </a:solidFill>
            </c:spPr>
          </c:marker>
          <c:cat>
            <c:strRef>
              <c:f>'Chart Data'!$E$2:$E$10</c:f>
              <c:strCache>
                <c:ptCount val="9"/>
                <c:pt idx="0">
                  <c:v>2023Q4</c:v>
                </c:pt>
                <c:pt idx="1">
                  <c:v>2024Q1</c:v>
                </c:pt>
                <c:pt idx="2">
                  <c:v>2024Q2</c:v>
                </c:pt>
                <c:pt idx="3">
                  <c:v>2024Q3</c:v>
                </c:pt>
                <c:pt idx="4">
                  <c:v>2024Q4</c:v>
                </c:pt>
                <c:pt idx="5">
                  <c:v>2025Q1</c:v>
                </c:pt>
                <c:pt idx="6">
                  <c:v>2025Q2</c:v>
                </c:pt>
                <c:pt idx="7">
                  <c:v>2025Q3</c:v>
                </c:pt>
                <c:pt idx="8">
                  <c:v>2025Q4</c:v>
                </c:pt>
              </c:strCache>
            </c:strRef>
          </c:cat>
          <c:val>
            <c:numRef>
              <c:f>'Chart Data'!$F$2:$F$10</c:f>
              <c:numCache>
                <c:formatCode>0.0</c:formatCode>
                <c:ptCount val="9"/>
                <c:pt idx="0">
                  <c:v>57.901213</c:v>
                </c:pt>
                <c:pt idx="1">
                  <c:v>57.871057</c:v>
                </c:pt>
                <c:pt idx="2">
                  <c:v>57.763237</c:v>
                </c:pt>
                <c:pt idx="3">
                  <c:v>57.747802</c:v>
                </c:pt>
                <c:pt idx="4">
                  <c:v>57.779183</c:v>
                </c:pt>
                <c:pt idx="5">
                  <c:v>57.65263</c:v>
                </c:pt>
                <c:pt idx="6">
                  <c:v>57.580586</c:v>
                </c:pt>
                <c:pt idx="7">
                  <c:v>57.570174</c:v>
                </c:pt>
                <c:pt idx="8">
                  <c:v>57.605265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A6A6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64"/>
          <c:min val="48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A6A6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252525"/>
              </a:solidFill>
              <a:latin typeface="Arial"/>
              <a:ea typeface="Arial"/>
              <a:cs typeface="Arial"/>
            </a:defRPr>
          </a:pPr>
        </a:p>
      </c:txPr>
    </c:legend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Leave-One-Out Coefficients (100 = full model)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 b="1">
              <a:solidFill>
                <a:srgbClr val="252525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EF lag</c:v>
          </c:tx>
          <c:spPr>
            <a:ln xmlns:a="http://schemas.openxmlformats.org/drawingml/2006/main" w="20955">
              <a:solidFill>
                <a:srgbClr val="1F4E79"/>
              </a:solidFill>
              <a:prstDash val="solid"/>
            </a:ln>
          </c:spPr>
          <c:marker>
            <c:symbol val="none"/>
          </c:marker>
          <c:cat>
            <c:strRef>
              <c:f>'Chart Data'!$A$2:$A$50</c:f>
              <c:strCache>
                <c:ptCount val="49"/>
                <c:pt idx="0">
                  <c:v>​</c:v>
                </c:pt>
                <c:pt idx="1">
                  <c:v>​​</c:v>
                </c:pt>
                <c:pt idx="2">
                  <c:v>2012</c:v>
                </c:pt>
                <c:pt idx="3">
                  <c:v>​​​​</c:v>
                </c:pt>
                <c:pt idx="4">
                  <c:v>​​​​​</c:v>
                </c:pt>
                <c:pt idx="5">
                  <c:v>​​​​​​</c:v>
                </c:pt>
                <c:pt idx="6">
                  <c:v>2013</c:v>
                </c:pt>
                <c:pt idx="7">
                  <c:v>​​​​​​​​</c:v>
                </c:pt>
                <c:pt idx="8">
                  <c:v>​​​​​​​​​</c:v>
                </c:pt>
                <c:pt idx="9">
                  <c:v>​​​​​​​​​​</c:v>
                </c:pt>
                <c:pt idx="10">
                  <c:v>2014</c:v>
                </c:pt>
                <c:pt idx="11">
                  <c:v>​​​​​​​​​​​​</c:v>
                </c:pt>
                <c:pt idx="12">
                  <c:v>​​​​​​​​​​​​​</c:v>
                </c:pt>
                <c:pt idx="13">
                  <c:v>​​​​​​​​​​​​​​</c:v>
                </c:pt>
                <c:pt idx="14">
                  <c:v>2015</c:v>
                </c:pt>
                <c:pt idx="15">
                  <c:v>​​​​​​​​​​​​​​​​</c:v>
                </c:pt>
                <c:pt idx="16">
                  <c:v>​​​​​​​​​​​​​​​​​</c:v>
                </c:pt>
                <c:pt idx="17">
                  <c:v>​​​​​​​​​​​​​​​​​​</c:v>
                </c:pt>
                <c:pt idx="18">
                  <c:v>2016</c:v>
                </c:pt>
                <c:pt idx="19">
                  <c:v>​​​​​​​​​​​​​​​​​​​​</c:v>
                </c:pt>
                <c:pt idx="20">
                  <c:v>​​​​​​​​​​​​​​​​​​​​​</c:v>
                </c:pt>
                <c:pt idx="21">
                  <c:v>​​​​​​​​​​​​​​​​​​​​​​</c:v>
                </c:pt>
                <c:pt idx="22">
                  <c:v>2017</c:v>
                </c:pt>
                <c:pt idx="23">
                  <c:v>​​​​​​​​​​​​​​​​​​​​​​​​</c:v>
                </c:pt>
                <c:pt idx="24">
                  <c:v>​​​​​​​​​​​​​​​​​​​​​​​​​</c:v>
                </c:pt>
                <c:pt idx="25">
                  <c:v>​​​​​​​​​​​​​​​​​​​​​​​​​​</c:v>
                </c:pt>
                <c:pt idx="26">
                  <c:v>2018</c:v>
                </c:pt>
                <c:pt idx="27">
                  <c:v>​​​​​​​​​​​​​​​​​​​​​​​​​​​​</c:v>
                </c:pt>
                <c:pt idx="28">
                  <c:v>​​​​​​​​​​​​​​​​​​​​​​​​​​​​​</c:v>
                </c:pt>
                <c:pt idx="29">
                  <c:v>​​​​​​​​​​​​​​​​​​​​​​​​​​​​​​</c:v>
                </c:pt>
                <c:pt idx="30">
                  <c:v>2019</c:v>
                </c:pt>
                <c:pt idx="31">
                  <c:v>​​​​​​​​​​​​​​​​​​​​​​​​​​​​​​​​</c:v>
                </c:pt>
                <c:pt idx="32">
                  <c:v>​​​​​​​​​​​​​​​​​​​​​​​​​​​​​​​​​</c:v>
                </c:pt>
                <c:pt idx="33">
                  <c:v>​​​​​​​​​​​​​​​​​​​​​​​​​​​​​​​​​​</c:v>
                </c:pt>
                <c:pt idx="34">
                  <c:v>2020</c:v>
                </c:pt>
                <c:pt idx="35">
                  <c:v>​​​​​​​​​​​​​​​​​​​​​​​​​​​​​​​​​​​​</c:v>
                </c:pt>
                <c:pt idx="36">
                  <c:v>​​​​​​​​​​​​​​​​​​​​​​​​​​​​​​​​​​​​​</c:v>
                </c:pt>
                <c:pt idx="37">
                  <c:v>​​​​​​​​​​​​​​​​​​​​​​​​​​​​​​​​​​​​​​</c:v>
                </c:pt>
                <c:pt idx="38">
                  <c:v>2021</c:v>
                </c:pt>
                <c:pt idx="39">
                  <c:v>​​​​​​​​​​​​​​​​​​​​​​​​​​​​​​​​​​​​​​​​</c:v>
                </c:pt>
                <c:pt idx="40">
                  <c:v>​​​​​​​​​​​​​​​​​​​​​​​​​​​​​​​​​​​​​​​​​</c:v>
                </c:pt>
                <c:pt idx="41">
                  <c:v>​​​​​​​​​​​​​​​​​​​​​​​​​​​​​​​​​​​​​​​​​​</c:v>
                </c:pt>
                <c:pt idx="42">
                  <c:v>2022</c:v>
                </c:pt>
                <c:pt idx="43">
                  <c:v>​​​​​​​​​​​​​​​​​​​​​​​​​​​​​​​​​​​​​​​​​​​​</c:v>
                </c:pt>
                <c:pt idx="44">
                  <c:v>​​​​​​​​​​​​​​​​​​​​​​​​​​​​​​​​​​​​​​​​​​​​​</c:v>
                </c:pt>
                <c:pt idx="45">
                  <c:v>​​​​​​​​​​​​​​​​​​​​​​​​​​​​​​​​​​​​​​​​​​​​​​</c:v>
                </c:pt>
                <c:pt idx="46">
                  <c:v>2023</c:v>
                </c:pt>
                <c:pt idx="47">
                  <c:v>​​​​​​​​​​​​​​​​​​​​​​​​​​​​​​​​​​​​​​​​​​​​​​​​</c:v>
                </c:pt>
                <c:pt idx="48">
                  <c:v>2023Q3</c:v>
                </c:pt>
              </c:strCache>
            </c:strRef>
          </c:cat>
          <c:val>
            <c:numRef>
              <c:f>'Chart Data'!$B$2:$B$50</c:f>
              <c:numCache>
                <c:formatCode>0</c:formatCode>
                <c:ptCount val="49"/>
                <c:pt idx="0">
                  <c:v>98.015518</c:v>
                </c:pt>
                <c:pt idx="1">
                  <c:v>100.578759</c:v>
                </c:pt>
                <c:pt idx="2">
                  <c:v>99.451493</c:v>
                </c:pt>
                <c:pt idx="3">
                  <c:v>99.894353</c:v>
                </c:pt>
                <c:pt idx="4">
                  <c:v>99.32019</c:v>
                </c:pt>
                <c:pt idx="5">
                  <c:v>100.083677</c:v>
                </c:pt>
                <c:pt idx="6">
                  <c:v>101.761784</c:v>
                </c:pt>
                <c:pt idx="7">
                  <c:v>99.325881</c:v>
                </c:pt>
                <c:pt idx="8">
                  <c:v>99.205686</c:v>
                </c:pt>
                <c:pt idx="9">
                  <c:v>101.082294</c:v>
                </c:pt>
                <c:pt idx="10">
                  <c:v>105.062185</c:v>
                </c:pt>
                <c:pt idx="11">
                  <c:v>99.023917</c:v>
                </c:pt>
                <c:pt idx="12">
                  <c:v>97.778121</c:v>
                </c:pt>
                <c:pt idx="13">
                  <c:v>99.67704</c:v>
                </c:pt>
                <c:pt idx="14">
                  <c:v>100.201837</c:v>
                </c:pt>
                <c:pt idx="15">
                  <c:v>99.59328</c:v>
                </c:pt>
                <c:pt idx="16">
                  <c:v>100.030429</c:v>
                </c:pt>
                <c:pt idx="17">
                  <c:v>99.584914</c:v>
                </c:pt>
                <c:pt idx="18">
                  <c:v>98.692507</c:v>
                </c:pt>
                <c:pt idx="19">
                  <c:v>99.639001</c:v>
                </c:pt>
                <c:pt idx="20">
                  <c:v>100.358377</c:v>
                </c:pt>
                <c:pt idx="21">
                  <c:v>99.507164</c:v>
                </c:pt>
                <c:pt idx="22">
                  <c:v>99.169506</c:v>
                </c:pt>
                <c:pt idx="23">
                  <c:v>101.293952</c:v>
                </c:pt>
                <c:pt idx="24">
                  <c:v>100.001675</c:v>
                </c:pt>
                <c:pt idx="25">
                  <c:v>99.994267</c:v>
                </c:pt>
                <c:pt idx="26">
                  <c:v>99.93408</c:v>
                </c:pt>
                <c:pt idx="27">
                  <c:v>99.866864</c:v>
                </c:pt>
                <c:pt idx="28">
                  <c:v>100.79656</c:v>
                </c:pt>
                <c:pt idx="29">
                  <c:v>100.195429</c:v>
                </c:pt>
                <c:pt idx="30">
                  <c:v>100.832997</c:v>
                </c:pt>
                <c:pt idx="31">
                  <c:v>101.212258</c:v>
                </c:pt>
                <c:pt idx="32">
                  <c:v>100.447364</c:v>
                </c:pt>
                <c:pt idx="33">
                  <c:v>98.816352</c:v>
                </c:pt>
                <c:pt idx="34">
                  <c:v>102.522668</c:v>
                </c:pt>
                <c:pt idx="35">
                  <c:v>100.022525</c:v>
                </c:pt>
                <c:pt idx="36">
                  <c:v>100.288834</c:v>
                </c:pt>
                <c:pt idx="37">
                  <c:v>99.672263</c:v>
                </c:pt>
                <c:pt idx="38">
                  <c:v>100.229348</c:v>
                </c:pt>
                <c:pt idx="39">
                  <c:v>99.992914</c:v>
                </c:pt>
                <c:pt idx="40">
                  <c:v>98.980994</c:v>
                </c:pt>
                <c:pt idx="41">
                  <c:v>102.290543</c:v>
                </c:pt>
                <c:pt idx="42">
                  <c:v>99.437573</c:v>
                </c:pt>
                <c:pt idx="43">
                  <c:v>99.203355</c:v>
                </c:pt>
                <c:pt idx="44">
                  <c:v>97.494351</c:v>
                </c:pt>
                <c:pt idx="45">
                  <c:v>99.084341</c:v>
                </c:pt>
                <c:pt idx="46">
                  <c:v>97.48643</c:v>
                </c:pt>
                <c:pt idx="47">
                  <c:v>101.691125</c:v>
                </c:pt>
                <c:pt idx="48">
                  <c:v>102.040362</c:v>
                </c:pt>
              </c:numCache>
            </c:numRef>
          </c:val>
          <c:smooth val="0"/>
        </c:ser>
        <c:ser>
          <c:idx val="1"/>
          <c:order val="1"/>
          <c:tx>
            <c:v>Unemployment</c:v>
          </c:tx>
          <c:spPr>
            <a:ln xmlns:a="http://schemas.openxmlformats.org/drawingml/2006/main" w="20955">
              <a:solidFill>
                <a:srgbClr val="548235"/>
              </a:solidFill>
              <a:prstDash val="solid"/>
            </a:ln>
          </c:spPr>
          <c:marker>
            <c:symbol val="none"/>
          </c:marker>
          <c:cat>
            <c:strRef>
              <c:f>'Chart Data'!$C$2:$C$50</c:f>
              <c:strCache>
                <c:ptCount val="49"/>
                <c:pt idx="0">
                  <c:v>​</c:v>
                </c:pt>
                <c:pt idx="1">
                  <c:v>​​</c:v>
                </c:pt>
                <c:pt idx="2">
                  <c:v>2012</c:v>
                </c:pt>
                <c:pt idx="3">
                  <c:v>​​​​</c:v>
                </c:pt>
                <c:pt idx="4">
                  <c:v>​​​​​</c:v>
                </c:pt>
                <c:pt idx="5">
                  <c:v>​​​​​​</c:v>
                </c:pt>
                <c:pt idx="6">
                  <c:v>2013</c:v>
                </c:pt>
                <c:pt idx="7">
                  <c:v>​​​​​​​​</c:v>
                </c:pt>
                <c:pt idx="8">
                  <c:v>​​​​​​​​​</c:v>
                </c:pt>
                <c:pt idx="9">
                  <c:v>​​​​​​​​​​</c:v>
                </c:pt>
                <c:pt idx="10">
                  <c:v>2014</c:v>
                </c:pt>
                <c:pt idx="11">
                  <c:v>​​​​​​​​​​​​</c:v>
                </c:pt>
                <c:pt idx="12">
                  <c:v>​​​​​​​​​​​​​</c:v>
                </c:pt>
                <c:pt idx="13">
                  <c:v>​​​​​​​​​​​​​​</c:v>
                </c:pt>
                <c:pt idx="14">
                  <c:v>2015</c:v>
                </c:pt>
                <c:pt idx="15">
                  <c:v>​​​​​​​​​​​​​​​​</c:v>
                </c:pt>
                <c:pt idx="16">
                  <c:v>​​​​​​​​​​​​​​​​​</c:v>
                </c:pt>
                <c:pt idx="17">
                  <c:v>​​​​​​​​​​​​​​​​​​</c:v>
                </c:pt>
                <c:pt idx="18">
                  <c:v>2016</c:v>
                </c:pt>
                <c:pt idx="19">
                  <c:v>​​​​​​​​​​​​​​​​​​​​</c:v>
                </c:pt>
                <c:pt idx="20">
                  <c:v>​​​​​​​​​​​​​​​​​​​​​</c:v>
                </c:pt>
                <c:pt idx="21">
                  <c:v>​​​​​​​​​​​​​​​​​​​​​​</c:v>
                </c:pt>
                <c:pt idx="22">
                  <c:v>2017</c:v>
                </c:pt>
                <c:pt idx="23">
                  <c:v>​​​​​​​​​​​​​​​​​​​​​​​​</c:v>
                </c:pt>
                <c:pt idx="24">
                  <c:v>​​​​​​​​​​​​​​​​​​​​​​​​​</c:v>
                </c:pt>
                <c:pt idx="25">
                  <c:v>​​​​​​​​​​​​​​​​​​​​​​​​​​</c:v>
                </c:pt>
                <c:pt idx="26">
                  <c:v>2018</c:v>
                </c:pt>
                <c:pt idx="27">
                  <c:v>​​​​​​​​​​​​​​​​​​​​​​​​​​​​</c:v>
                </c:pt>
                <c:pt idx="28">
                  <c:v>​​​​​​​​​​​​​​​​​​​​​​​​​​​​​</c:v>
                </c:pt>
                <c:pt idx="29">
                  <c:v>​​​​​​​​​​​​​​​​​​​​​​​​​​​​​​</c:v>
                </c:pt>
                <c:pt idx="30">
                  <c:v>2019</c:v>
                </c:pt>
                <c:pt idx="31">
                  <c:v>​​​​​​​​​​​​​​​​​​​​​​​​​​​​​​​​</c:v>
                </c:pt>
                <c:pt idx="32">
                  <c:v>​​​​​​​​​​​​​​​​​​​​​​​​​​​​​​​​​</c:v>
                </c:pt>
                <c:pt idx="33">
                  <c:v>​​​​​​​​​​​​​​​​​​​​​​​​​​​​​​​​​​</c:v>
                </c:pt>
                <c:pt idx="34">
                  <c:v>2020</c:v>
                </c:pt>
                <c:pt idx="35">
                  <c:v>​​​​​​​​​​​​​​​​​​​​​​​​​​​​​​​​​​​​</c:v>
                </c:pt>
                <c:pt idx="36">
                  <c:v>​​​​​​​​​​​​​​​​​​​​​​​​​​​​​​​​​​​​​</c:v>
                </c:pt>
                <c:pt idx="37">
                  <c:v>​​​​​​​​​​​​​​​​​​​​​​​​​​​​​​​​​​​​​​</c:v>
                </c:pt>
                <c:pt idx="38">
                  <c:v>2021</c:v>
                </c:pt>
                <c:pt idx="39">
                  <c:v>​​​​​​​​​​​​​​​​​​​​​​​​​​​​​​​​​​​​​​​​</c:v>
                </c:pt>
                <c:pt idx="40">
                  <c:v>​​​​​​​​​​​​​​​​​​​​​​​​​​​​​​​​​​​​​​​​​</c:v>
                </c:pt>
                <c:pt idx="41">
                  <c:v>​​​​​​​​​​​​​​​​​​​​​​​​​​​​​​​​​​​​​​​​​​</c:v>
                </c:pt>
                <c:pt idx="42">
                  <c:v>2022</c:v>
                </c:pt>
                <c:pt idx="43">
                  <c:v>​​​​​​​​​​​​​​​​​​​​​​​​​​​​​​​​​​​​​​​​​​​​</c:v>
                </c:pt>
                <c:pt idx="44">
                  <c:v>​​​​​​​​​​​​​​​​​​​​​​​​​​​​​​​​​​​​​​​​​​​​​</c:v>
                </c:pt>
                <c:pt idx="45">
                  <c:v>​​​​​​​​​​​​​​​​​​​​​​​​​​​​​​​​​​​​​​​​​​​​​​</c:v>
                </c:pt>
                <c:pt idx="46">
                  <c:v>2023</c:v>
                </c:pt>
                <c:pt idx="47">
                  <c:v>​​​​​​​​​​​​​​​​​​​​​​​​​​​​​​​​​​​​​​​​​​​​​​​​</c:v>
                </c:pt>
                <c:pt idx="48">
                  <c:v>2023Q3</c:v>
                </c:pt>
              </c:strCache>
            </c:strRef>
          </c:cat>
          <c:val>
            <c:numRef>
              <c:f>'Chart Data'!$D$2:$D$50</c:f>
              <c:numCache>
                <c:formatCode>0</c:formatCode>
                <c:ptCount val="49"/>
                <c:pt idx="0">
                  <c:v>100.699488</c:v>
                </c:pt>
                <c:pt idx="1">
                  <c:v>100.028631</c:v>
                </c:pt>
                <c:pt idx="2">
                  <c:v>99.231221</c:v>
                </c:pt>
                <c:pt idx="3">
                  <c:v>99.86296</c:v>
                </c:pt>
                <c:pt idx="4">
                  <c:v>100.546316</c:v>
                </c:pt>
                <c:pt idx="5">
                  <c:v>100.023636</c:v>
                </c:pt>
                <c:pt idx="6">
                  <c:v>101.356113</c:v>
                </c:pt>
                <c:pt idx="7">
                  <c:v>99.637049</c:v>
                </c:pt>
                <c:pt idx="8">
                  <c:v>99.767144</c:v>
                </c:pt>
                <c:pt idx="9">
                  <c:v>100.102207</c:v>
                </c:pt>
                <c:pt idx="10">
                  <c:v>100.666331</c:v>
                </c:pt>
                <c:pt idx="11">
                  <c:v>99.982078</c:v>
                </c:pt>
                <c:pt idx="12">
                  <c:v>101.149604</c:v>
                </c:pt>
                <c:pt idx="13">
                  <c:v>99.918041</c:v>
                </c:pt>
                <c:pt idx="14">
                  <c:v>99.913681</c:v>
                </c:pt>
                <c:pt idx="15">
                  <c:v>100.008019</c:v>
                </c:pt>
                <c:pt idx="16">
                  <c:v>100.009331</c:v>
                </c:pt>
                <c:pt idx="17">
                  <c:v>100.73603</c:v>
                </c:pt>
                <c:pt idx="18">
                  <c:v>99.387591</c:v>
                </c:pt>
                <c:pt idx="19">
                  <c:v>99.915569</c:v>
                </c:pt>
                <c:pt idx="20">
                  <c:v>100.270803</c:v>
                </c:pt>
                <c:pt idx="21">
                  <c:v>99.634636</c:v>
                </c:pt>
                <c:pt idx="22">
                  <c:v>99.86732</c:v>
                </c:pt>
                <c:pt idx="23">
                  <c:v>99.962902</c:v>
                </c:pt>
                <c:pt idx="24">
                  <c:v>100.047061</c:v>
                </c:pt>
                <c:pt idx="25">
                  <c:v>100.024534</c:v>
                </c:pt>
                <c:pt idx="26">
                  <c:v>99.893012</c:v>
                </c:pt>
                <c:pt idx="27">
                  <c:v>99.913908</c:v>
                </c:pt>
                <c:pt idx="28">
                  <c:v>100.288811</c:v>
                </c:pt>
                <c:pt idx="29">
                  <c:v>99.80216</c:v>
                </c:pt>
                <c:pt idx="30">
                  <c:v>99.339219</c:v>
                </c:pt>
                <c:pt idx="31">
                  <c:v>101.697753</c:v>
                </c:pt>
                <c:pt idx="32">
                  <c:v>100.316126</c:v>
                </c:pt>
                <c:pt idx="33">
                  <c:v>99.896174</c:v>
                </c:pt>
                <c:pt idx="34">
                  <c:v>100.251284</c:v>
                </c:pt>
                <c:pt idx="35">
                  <c:v>99.893935</c:v>
                </c:pt>
                <c:pt idx="36">
                  <c:v>123.22188</c:v>
                </c:pt>
                <c:pt idx="37">
                  <c:v>106.207046</c:v>
                </c:pt>
                <c:pt idx="38">
                  <c:v>88.515276</c:v>
                </c:pt>
                <c:pt idx="39">
                  <c:v>99.987478</c:v>
                </c:pt>
                <c:pt idx="40">
                  <c:v>98.887234</c:v>
                </c:pt>
                <c:pt idx="41">
                  <c:v>105.115772</c:v>
                </c:pt>
                <c:pt idx="42">
                  <c:v>96.321743</c:v>
                </c:pt>
                <c:pt idx="43">
                  <c:v>99.244591</c:v>
                </c:pt>
                <c:pt idx="44">
                  <c:v>98.26037</c:v>
                </c:pt>
                <c:pt idx="45">
                  <c:v>99.688379</c:v>
                </c:pt>
                <c:pt idx="46">
                  <c:v>99.784377</c:v>
                </c:pt>
                <c:pt idx="47">
                  <c:v>100.38861</c:v>
                </c:pt>
                <c:pt idx="48">
                  <c:v>100.136841</c:v>
                </c:pt>
              </c:numCache>
            </c:numRef>
          </c:val>
          <c:smooth val="0"/>
        </c:ser>
        <c:ser>
          <c:idx val="2"/>
          <c:order val="2"/>
          <c:tx>
            <c:v>Full model</c:v>
          </c:tx>
          <c:spPr>
            <a:ln xmlns:a="http://schemas.openxmlformats.org/drawingml/2006/main" w="11430">
              <a:solidFill>
                <a:srgbClr val="A6A6A6"/>
              </a:solidFill>
              <a:prstDash val="dash"/>
            </a:ln>
          </c:spPr>
          <c:marker>
            <c:symbol val="none"/>
          </c:marker>
          <c:cat>
            <c:strRef>
              <c:f>'Chart Data'!$E$2:$E$50</c:f>
              <c:strCache>
                <c:ptCount val="49"/>
                <c:pt idx="0">
                  <c:v>​</c:v>
                </c:pt>
                <c:pt idx="1">
                  <c:v>​​</c:v>
                </c:pt>
                <c:pt idx="2">
                  <c:v>2012</c:v>
                </c:pt>
                <c:pt idx="3">
                  <c:v>​​​​</c:v>
                </c:pt>
                <c:pt idx="4">
                  <c:v>​​​​​</c:v>
                </c:pt>
                <c:pt idx="5">
                  <c:v>​​​​​​</c:v>
                </c:pt>
                <c:pt idx="6">
                  <c:v>2013</c:v>
                </c:pt>
                <c:pt idx="7">
                  <c:v>​​​​​​​​</c:v>
                </c:pt>
                <c:pt idx="8">
                  <c:v>​​​​​​​​​</c:v>
                </c:pt>
                <c:pt idx="9">
                  <c:v>​​​​​​​​​​</c:v>
                </c:pt>
                <c:pt idx="10">
                  <c:v>2014</c:v>
                </c:pt>
                <c:pt idx="11">
                  <c:v>​​​​​​​​​​​​</c:v>
                </c:pt>
                <c:pt idx="12">
                  <c:v>​​​​​​​​​​​​​</c:v>
                </c:pt>
                <c:pt idx="13">
                  <c:v>​​​​​​​​​​​​​​</c:v>
                </c:pt>
                <c:pt idx="14">
                  <c:v>2015</c:v>
                </c:pt>
                <c:pt idx="15">
                  <c:v>​​​​​​​​​​​​​​​​</c:v>
                </c:pt>
                <c:pt idx="16">
                  <c:v>​​​​​​​​​​​​​​​​​</c:v>
                </c:pt>
                <c:pt idx="17">
                  <c:v>​​​​​​​​​​​​​​​​​​</c:v>
                </c:pt>
                <c:pt idx="18">
                  <c:v>2016</c:v>
                </c:pt>
                <c:pt idx="19">
                  <c:v>​​​​​​​​​​​​​​​​​​​​</c:v>
                </c:pt>
                <c:pt idx="20">
                  <c:v>​​​​​​​​​​​​​​​​​​​​​</c:v>
                </c:pt>
                <c:pt idx="21">
                  <c:v>​​​​​​​​​​​​​​​​​​​​​​</c:v>
                </c:pt>
                <c:pt idx="22">
                  <c:v>2017</c:v>
                </c:pt>
                <c:pt idx="23">
                  <c:v>​​​​​​​​​​​​​​​​​​​​​​​​</c:v>
                </c:pt>
                <c:pt idx="24">
                  <c:v>​​​​​​​​​​​​​​​​​​​​​​​​​</c:v>
                </c:pt>
                <c:pt idx="25">
                  <c:v>​​​​​​​​​​​​​​​​​​​​​​​​​​</c:v>
                </c:pt>
                <c:pt idx="26">
                  <c:v>2018</c:v>
                </c:pt>
                <c:pt idx="27">
                  <c:v>​​​​​​​​​​​​​​​​​​​​​​​​​​​​</c:v>
                </c:pt>
                <c:pt idx="28">
                  <c:v>​​​​​​​​​​​​​​​​​​​​​​​​​​​​​</c:v>
                </c:pt>
                <c:pt idx="29">
                  <c:v>​​​​​​​​​​​​​​​​​​​​​​​​​​​​​​</c:v>
                </c:pt>
                <c:pt idx="30">
                  <c:v>2019</c:v>
                </c:pt>
                <c:pt idx="31">
                  <c:v>​​​​​​​​​​​​​​​​​​​​​​​​​​​​​​​​</c:v>
                </c:pt>
                <c:pt idx="32">
                  <c:v>​​​​​​​​​​​​​​​​​​​​​​​​​​​​​​​​​</c:v>
                </c:pt>
                <c:pt idx="33">
                  <c:v>​​​​​​​​​​​​​​​​​​​​​​​​​​​​​​​​​​</c:v>
                </c:pt>
                <c:pt idx="34">
                  <c:v>2020</c:v>
                </c:pt>
                <c:pt idx="35">
                  <c:v>​​​​​​​​​​​​​​​​​​​​​​​​​​​​​​​​​​​​</c:v>
                </c:pt>
                <c:pt idx="36">
                  <c:v>​​​​​​​​​​​​​​​​​​​​​​​​​​​​​​​​​​​​​</c:v>
                </c:pt>
                <c:pt idx="37">
                  <c:v>​​​​​​​​​​​​​​​​​​​​​​​​​​​​​​​​​​​​​​</c:v>
                </c:pt>
                <c:pt idx="38">
                  <c:v>2021</c:v>
                </c:pt>
                <c:pt idx="39">
                  <c:v>​​​​​​​​​​​​​​​​​​​​​​​​​​​​​​​​​​​​​​​​</c:v>
                </c:pt>
                <c:pt idx="40">
                  <c:v>​​​​​​​​​​​​​​​​​​​​​​​​​​​​​​​​​​​​​​​​​</c:v>
                </c:pt>
                <c:pt idx="41">
                  <c:v>​​​​​​​​​​​​​​​​​​​​​​​​​​​​​​​​​​​​​​​​​​</c:v>
                </c:pt>
                <c:pt idx="42">
                  <c:v>2022</c:v>
                </c:pt>
                <c:pt idx="43">
                  <c:v>​​​​​​​​​​​​​​​​​​​​​​​​​​​​​​​​​​​​​​​​​​​​</c:v>
                </c:pt>
                <c:pt idx="44">
                  <c:v>​​​​​​​​​​​​​​​​​​​​​​​​​​​​​​​​​​​​​​​​​​​​​</c:v>
                </c:pt>
                <c:pt idx="45">
                  <c:v>​​​​​​​​​​​​​​​​​​​​​​​​​​​​​​​​​​​​​​​​​​​​​​</c:v>
                </c:pt>
                <c:pt idx="46">
                  <c:v>2023</c:v>
                </c:pt>
                <c:pt idx="47">
                  <c:v>​​​​​​​​​​​​​​​​​​​​​​​​​​​​​​​​​​​​​​​​​​​​​​​​</c:v>
                </c:pt>
                <c:pt idx="48">
                  <c:v>2023Q3</c:v>
                </c:pt>
              </c:strCache>
            </c:strRef>
          </c:cat>
          <c:val>
            <c:numRef>
              <c:f>'Chart Data'!$F$2:$F$50</c:f>
              <c:numCache>
                <c:formatCode>0</c:formatCode>
                <c:ptCount val="49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100</c:v>
                </c:pt>
                <c:pt idx="12">
                  <c:v>100</c:v>
                </c:pt>
                <c:pt idx="13">
                  <c:v>100</c:v>
                </c:pt>
                <c:pt idx="14">
                  <c:v>100</c:v>
                </c:pt>
                <c:pt idx="15">
                  <c:v>100</c:v>
                </c:pt>
                <c:pt idx="16">
                  <c:v>100</c:v>
                </c:pt>
                <c:pt idx="17">
                  <c:v>100</c:v>
                </c:pt>
                <c:pt idx="18">
                  <c:v>100</c:v>
                </c:pt>
                <c:pt idx="19">
                  <c:v>100</c:v>
                </c:pt>
                <c:pt idx="20">
                  <c:v>100</c:v>
                </c:pt>
                <c:pt idx="21">
                  <c:v>100</c:v>
                </c:pt>
                <c:pt idx="22">
                  <c:v>100</c:v>
                </c:pt>
                <c:pt idx="23">
                  <c:v>100</c:v>
                </c:pt>
                <c:pt idx="24">
                  <c:v>100</c:v>
                </c:pt>
                <c:pt idx="25">
                  <c:v>100</c:v>
                </c:pt>
                <c:pt idx="26">
                  <c:v>100</c:v>
                </c:pt>
                <c:pt idx="27">
                  <c:v>100</c:v>
                </c:pt>
                <c:pt idx="28">
                  <c:v>100</c:v>
                </c:pt>
                <c:pt idx="29">
                  <c:v>100</c:v>
                </c:pt>
                <c:pt idx="30">
                  <c:v>100</c:v>
                </c:pt>
                <c:pt idx="31">
                  <c:v>100</c:v>
                </c:pt>
                <c:pt idx="32">
                  <c:v>100</c:v>
                </c:pt>
                <c:pt idx="33">
                  <c:v>100</c:v>
                </c:pt>
                <c:pt idx="34">
                  <c:v>100</c:v>
                </c:pt>
                <c:pt idx="35">
                  <c:v>100</c:v>
                </c:pt>
                <c:pt idx="36">
                  <c:v>100</c:v>
                </c:pt>
                <c:pt idx="37">
                  <c:v>100</c:v>
                </c:pt>
                <c:pt idx="38">
                  <c:v>100</c:v>
                </c:pt>
                <c:pt idx="39">
                  <c:v>100</c:v>
                </c:pt>
                <c:pt idx="40">
                  <c:v>100</c:v>
                </c:pt>
                <c:pt idx="41">
                  <c:v>100</c:v>
                </c:pt>
                <c:pt idx="42">
                  <c:v>100</c:v>
                </c:pt>
                <c:pt idx="43">
                  <c:v>100</c:v>
                </c:pt>
                <c:pt idx="44">
                  <c:v>100</c:v>
                </c:pt>
                <c:pt idx="45">
                  <c:v>100</c:v>
                </c:pt>
                <c:pt idx="46">
                  <c:v>100</c:v>
                </c:pt>
                <c:pt idx="47">
                  <c:v>100</c:v>
                </c:pt>
                <c:pt idx="48">
                  <c:v>100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A6A6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25"/>
          <c:min val="8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6A6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252525"/>
              </a:solidFill>
              <a:latin typeface="Arial"/>
              <a:ea typeface="Arial"/>
              <a:cs typeface="Arial"/>
            </a:defRPr>
          </a:pPr>
        </a:p>
      </c:txPr>
    </c:legend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One-Step OOT Error (Actual - Forecast)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 b="1">
              <a:solidFill>
                <a:srgbClr val="252525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Error</c:v>
          </c:tx>
          <c:spPr>
            <a:ln xmlns:a="http://schemas.openxmlformats.org/drawingml/2006/main" w="20955">
              <a:solidFill>
                <a:srgbClr val="1F4E79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1F4E79"/>
              </a:solidFill>
            </c:spPr>
          </c:marker>
          <c:cat>
            <c:strRef>
              <c:f>'Chart Data'!$A$2:$A$10</c:f>
              <c:strCache>
                <c:ptCount val="9"/>
                <c:pt idx="0">
                  <c:v>2023Q4</c:v>
                </c:pt>
                <c:pt idx="1">
                  <c:v>2024Q1</c:v>
                </c:pt>
                <c:pt idx="2">
                  <c:v>2024Q2</c:v>
                </c:pt>
                <c:pt idx="3">
                  <c:v>2024Q3</c:v>
                </c:pt>
                <c:pt idx="4">
                  <c:v>2024Q4</c:v>
                </c:pt>
                <c:pt idx="5">
                  <c:v>2025Q1</c:v>
                </c:pt>
                <c:pt idx="6">
                  <c:v>2025Q2</c:v>
                </c:pt>
                <c:pt idx="7">
                  <c:v>2025Q3</c:v>
                </c:pt>
                <c:pt idx="8">
                  <c:v>2025Q4</c:v>
                </c:pt>
              </c:strCache>
            </c:strRef>
          </c:cat>
          <c:val>
            <c:numRef>
              <c:f>'Chart Data'!$B$2:$B$10</c:f>
              <c:numCache>
                <c:formatCode>0.0</c:formatCode>
                <c:ptCount val="9"/>
                <c:pt idx="0">
                  <c:v>3.798787</c:v>
                </c:pt>
                <c:pt idx="1">
                  <c:v>-1.375669</c:v>
                </c:pt>
                <c:pt idx="2">
                  <c:v>-5.718214</c:v>
                </c:pt>
                <c:pt idx="3">
                  <c:v>0.595027</c:v>
                </c:pt>
                <c:pt idx="4">
                  <c:v>-2.976676</c:v>
                </c:pt>
                <c:pt idx="5">
                  <c:v>-0.502712</c:v>
                </c:pt>
                <c:pt idx="6">
                  <c:v>-1.840905</c:v>
                </c:pt>
                <c:pt idx="7">
                  <c:v>2.20695</c:v>
                </c:pt>
                <c:pt idx="8">
                  <c:v>-1.719848</c:v>
                </c:pt>
              </c:numCache>
            </c:numRef>
          </c:val>
          <c:smooth val="0"/>
        </c:ser>
        <c:ser>
          <c:idx val="1"/>
          <c:order val="1"/>
          <c:tx>
            <c:v>Zero</c:v>
          </c:tx>
          <c:spPr>
            <a:ln xmlns:a="http://schemas.openxmlformats.org/drawingml/2006/main" w="11430">
              <a:solidFill>
                <a:srgbClr val="A6A6A6"/>
              </a:solidFill>
              <a:prstDash val="dash"/>
            </a:ln>
          </c:spPr>
          <c:marker>
            <c:symbol val="circle"/>
            <c:size val="4"/>
            <c:spPr>
              <a:solidFill xmlns:a="http://schemas.openxmlformats.org/drawingml/2006/main">
                <a:srgbClr val="A6A6A6"/>
              </a:solidFill>
            </c:spPr>
          </c:marker>
          <c:cat>
            <c:strRef>
              <c:f>'Chart Data'!$C$2:$C$10</c:f>
              <c:strCache>
                <c:ptCount val="9"/>
                <c:pt idx="0">
                  <c:v>2023Q4</c:v>
                </c:pt>
                <c:pt idx="1">
                  <c:v>2024Q1</c:v>
                </c:pt>
                <c:pt idx="2">
                  <c:v>2024Q2</c:v>
                </c:pt>
                <c:pt idx="3">
                  <c:v>2024Q3</c:v>
                </c:pt>
                <c:pt idx="4">
                  <c:v>2024Q4</c:v>
                </c:pt>
                <c:pt idx="5">
                  <c:v>2025Q1</c:v>
                </c:pt>
                <c:pt idx="6">
                  <c:v>2025Q2</c:v>
                </c:pt>
                <c:pt idx="7">
                  <c:v>2025Q3</c:v>
                </c:pt>
                <c:pt idx="8">
                  <c:v>2025Q4</c:v>
                </c:pt>
              </c:strCache>
            </c:strRef>
          </c:cat>
          <c:val>
            <c:numRef>
              <c:f>'Chart Data'!$D$2:$D$10</c:f>
              <c:numCache>
                <c:formatCode>0.0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A6A6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5"/>
          <c:min val="-6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A6A6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252525"/>
              </a:solidFill>
              <a:latin typeface="Arial"/>
              <a:ea typeface="Arial"/>
              <a:cs typeface="Arial"/>
            </a:defRPr>
          </a:pPr>
        </a:p>
      </c:txPr>
    </c:legend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Unemployment Scenario Paths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 b="1">
              <a:solidFill>
                <a:srgbClr val="252525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S1</c:v>
          </c:tx>
          <c:spPr>
            <a:ln xmlns:a="http://schemas.openxmlformats.org/drawingml/2006/main" w="20955">
              <a:solidFill>
                <a:srgbClr val="1F4E79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1F4E79"/>
              </a:solidFill>
            </c:spPr>
          </c:marker>
          <c:cat>
            <c:strRef>
              <c:f>'Chart Data'!$A$2:$A$10</c:f>
              <c:strCache>
                <c:ptCount val="9"/>
                <c:pt idx="0">
                  <c:v>2026Q1</c:v>
                </c:pt>
                <c:pt idx="1">
                  <c:v>2026Q2</c:v>
                </c:pt>
                <c:pt idx="2">
                  <c:v>2026Q3</c:v>
                </c:pt>
                <c:pt idx="3">
                  <c:v>2026Q4</c:v>
                </c:pt>
                <c:pt idx="4">
                  <c:v>2027Q1</c:v>
                </c:pt>
                <c:pt idx="5">
                  <c:v>2027Q2</c:v>
                </c:pt>
                <c:pt idx="6">
                  <c:v>2027Q3</c:v>
                </c:pt>
                <c:pt idx="7">
                  <c:v>2027Q4</c:v>
                </c:pt>
                <c:pt idx="8">
                  <c:v>2028Q1</c:v>
                </c:pt>
              </c:strCache>
            </c:strRef>
          </c:cat>
          <c:val>
            <c:numRef>
              <c:f>'Chart Data'!$B$2:$B$10</c:f>
              <c:numCache>
                <c:formatCode>0.0</c:formatCode>
                <c:ptCount val="9"/>
                <c:pt idx="0">
                  <c:v>4.333333</c:v>
                </c:pt>
                <c:pt idx="1">
                  <c:v>4.266667</c:v>
                </c:pt>
                <c:pt idx="2">
                  <c:v>4.17</c:v>
                </c:pt>
                <c:pt idx="3">
                  <c:v>4.303333</c:v>
                </c:pt>
                <c:pt idx="4">
                  <c:v>4.513333</c:v>
                </c:pt>
                <c:pt idx="5">
                  <c:v>4.623333</c:v>
                </c:pt>
                <c:pt idx="6">
                  <c:v>4.703333</c:v>
                </c:pt>
                <c:pt idx="7">
                  <c:v>4.71</c:v>
                </c:pt>
                <c:pt idx="8">
                  <c:v>4.68</c:v>
                </c:pt>
              </c:numCache>
            </c:numRef>
          </c:val>
          <c:smooth val="0"/>
        </c:ser>
        <c:ser>
          <c:idx val="1"/>
          <c:order val="1"/>
          <c:tx>
            <c:v>S4</c:v>
          </c:tx>
          <c:spPr>
            <a:ln xmlns:a="http://schemas.openxmlformats.org/drawingml/2006/main" w="20955">
              <a:solidFill>
                <a:srgbClr val="C0504D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C0504D"/>
              </a:solidFill>
            </c:spPr>
          </c:marker>
          <c:cat>
            <c:strRef>
              <c:f>'Chart Data'!$C$2:$C$10</c:f>
              <c:strCache>
                <c:ptCount val="9"/>
                <c:pt idx="0">
                  <c:v>2026Q1</c:v>
                </c:pt>
                <c:pt idx="1">
                  <c:v>2026Q2</c:v>
                </c:pt>
                <c:pt idx="2">
                  <c:v>2026Q3</c:v>
                </c:pt>
                <c:pt idx="3">
                  <c:v>2026Q4</c:v>
                </c:pt>
                <c:pt idx="4">
                  <c:v>2027Q1</c:v>
                </c:pt>
                <c:pt idx="5">
                  <c:v>2027Q2</c:v>
                </c:pt>
                <c:pt idx="6">
                  <c:v>2027Q3</c:v>
                </c:pt>
                <c:pt idx="7">
                  <c:v>2027Q4</c:v>
                </c:pt>
                <c:pt idx="8">
                  <c:v>2028Q1</c:v>
                </c:pt>
              </c:strCache>
            </c:strRef>
          </c:cat>
          <c:val>
            <c:numRef>
              <c:f>'Chart Data'!$D$2:$D$10</c:f>
              <c:numCache>
                <c:formatCode>0.0</c:formatCode>
                <c:ptCount val="9"/>
                <c:pt idx="0">
                  <c:v>6.565449</c:v>
                </c:pt>
                <c:pt idx="1">
                  <c:v>7.899902</c:v>
                </c:pt>
                <c:pt idx="2">
                  <c:v>8.566341</c:v>
                </c:pt>
                <c:pt idx="3">
                  <c:v>8.936377</c:v>
                </c:pt>
                <c:pt idx="4">
                  <c:v>9.191204</c:v>
                </c:pt>
                <c:pt idx="5">
                  <c:v>9.358607</c:v>
                </c:pt>
                <c:pt idx="6">
                  <c:v>9.428866</c:v>
                </c:pt>
                <c:pt idx="7">
                  <c:v>9.455956</c:v>
                </c:pt>
                <c:pt idx="8">
                  <c:v>9.427875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A6A6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"/>
          <c:min val="3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A6A6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252525"/>
              </a:solidFill>
              <a:latin typeface="Arial"/>
              <a:ea typeface="Arial"/>
              <a:cs typeface="Arial"/>
            </a:defRPr>
          </a:pPr>
        </a:p>
      </c:txPr>
    </c:legend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Conditional EF Forecasts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 b="1">
              <a:solidFill>
                <a:srgbClr val="252525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S1 EF</c:v>
          </c:tx>
          <c:spPr>
            <a:ln xmlns:a="http://schemas.openxmlformats.org/drawingml/2006/main" w="20955">
              <a:solidFill>
                <a:srgbClr val="1F4E79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1F4E79"/>
              </a:solidFill>
            </c:spPr>
          </c:marker>
          <c:cat>
            <c:strRef>
              <c:f>'Chart Data'!$A$2:$A$10</c:f>
              <c:strCache>
                <c:ptCount val="9"/>
                <c:pt idx="0">
                  <c:v>2026Q1</c:v>
                </c:pt>
                <c:pt idx="1">
                  <c:v>2026Q2</c:v>
                </c:pt>
                <c:pt idx="2">
                  <c:v>2026Q3</c:v>
                </c:pt>
                <c:pt idx="3">
                  <c:v>2026Q4</c:v>
                </c:pt>
                <c:pt idx="4">
                  <c:v>2027Q1</c:v>
                </c:pt>
                <c:pt idx="5">
                  <c:v>2027Q2</c:v>
                </c:pt>
                <c:pt idx="6">
                  <c:v>2027Q3</c:v>
                </c:pt>
                <c:pt idx="7">
                  <c:v>2027Q4</c:v>
                </c:pt>
                <c:pt idx="8">
                  <c:v>2028Q1</c:v>
                </c:pt>
              </c:strCache>
            </c:strRef>
          </c:cat>
          <c:val>
            <c:numRef>
              <c:f>'Chart Data'!$B$2:$B$10</c:f>
              <c:numCache>
                <c:formatCode>0.0</c:formatCode>
                <c:ptCount val="9"/>
                <c:pt idx="0">
                  <c:v>55.395293</c:v>
                </c:pt>
                <c:pt idx="1">
                  <c:v>55.686349</c:v>
                </c:pt>
                <c:pt idx="2">
                  <c:v>55.932595</c:v>
                </c:pt>
                <c:pt idx="3">
                  <c:v>56.095133</c:v>
                </c:pt>
                <c:pt idx="4">
                  <c:v>56.360137</c:v>
                </c:pt>
                <c:pt idx="5">
                  <c:v>56.603847</c:v>
                </c:pt>
                <c:pt idx="6">
                  <c:v>56.720319</c:v>
                </c:pt>
                <c:pt idx="7">
                  <c:v>56.787217</c:v>
                </c:pt>
                <c:pt idx="8">
                  <c:v>56.790219</c:v>
                </c:pt>
              </c:numCache>
            </c:numRef>
          </c:val>
          <c:smooth val="0"/>
        </c:ser>
        <c:ser>
          <c:idx val="1"/>
          <c:order val="1"/>
          <c:tx>
            <c:v>S4 EF</c:v>
          </c:tx>
          <c:spPr>
            <a:ln xmlns:a="http://schemas.openxmlformats.org/drawingml/2006/main" w="20955">
              <a:solidFill>
                <a:srgbClr val="C0504D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C0504D"/>
              </a:solidFill>
            </c:spPr>
          </c:marker>
          <c:cat>
            <c:strRef>
              <c:f>'Chart Data'!$C$2:$C$10</c:f>
              <c:strCache>
                <c:ptCount val="9"/>
                <c:pt idx="0">
                  <c:v>2026Q1</c:v>
                </c:pt>
                <c:pt idx="1">
                  <c:v>2026Q2</c:v>
                </c:pt>
                <c:pt idx="2">
                  <c:v>2026Q3</c:v>
                </c:pt>
                <c:pt idx="3">
                  <c:v>2026Q4</c:v>
                </c:pt>
                <c:pt idx="4">
                  <c:v>2027Q1</c:v>
                </c:pt>
                <c:pt idx="5">
                  <c:v>2027Q2</c:v>
                </c:pt>
                <c:pt idx="6">
                  <c:v>2027Q3</c:v>
                </c:pt>
                <c:pt idx="7">
                  <c:v>2027Q4</c:v>
                </c:pt>
                <c:pt idx="8">
                  <c:v>2028Q1</c:v>
                </c:pt>
              </c:strCache>
            </c:strRef>
          </c:cat>
          <c:val>
            <c:numRef>
              <c:f>'Chart Data'!$D$2:$D$10</c:f>
              <c:numCache>
                <c:formatCode>0.0</c:formatCode>
                <c:ptCount val="9"/>
                <c:pt idx="0">
                  <c:v>55.395293</c:v>
                </c:pt>
                <c:pt idx="1">
                  <c:v>57.09565</c:v>
                </c:pt>
                <c:pt idx="2">
                  <c:v>57.85586</c:v>
                </c:pt>
                <c:pt idx="3">
                  <c:v>57.994356</c:v>
                </c:pt>
                <c:pt idx="4">
                  <c:v>57.909284</c:v>
                </c:pt>
                <c:pt idx="5">
                  <c:v>57.773848</c:v>
                </c:pt>
                <c:pt idx="6">
                  <c:v>57.618836</c:v>
                </c:pt>
                <c:pt idx="7">
                  <c:v>57.44326</c:v>
                </c:pt>
                <c:pt idx="8">
                  <c:v>57.286607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A6A6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59"/>
          <c:min val="5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A6A6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252525"/>
              </a:solidFill>
              <a:latin typeface="Arial"/>
              <a:ea typeface="Arial"/>
              <a:cs typeface="Arial"/>
            </a:defRPr>
          </a:pPr>
        </a:p>
      </c:txPr>
    </c:legend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Noncomp Efficiency Ratio (%)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 b="1">
              <a:solidFill>
                <a:srgbClr val="252525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Historical EF</c:v>
          </c:tx>
          <c:spPr>
            <a:ln xmlns:a="http://schemas.openxmlformats.org/drawingml/2006/main" w="23813">
              <a:solidFill>
                <a:srgbClr val="1F4E79"/>
              </a:solidFill>
              <a:prstDash val="solid"/>
            </a:ln>
          </c:spPr>
          <c:marker>
            <c:symbol val="none"/>
          </c:marker>
          <c:cat>
            <c:strRef>
              <c:f>'Chart Data'!$A$2:$A$61</c:f>
              <c:strCache>
                <c:ptCount val="60"/>
                <c:pt idx="0">
                  <c:v>2011</c:v>
                </c:pt>
                <c:pt idx="1">
                  <c:v>​​</c:v>
                </c:pt>
                <c:pt idx="2">
                  <c:v>​​​</c:v>
                </c:pt>
                <c:pt idx="3">
                  <c:v>​​​​</c:v>
                </c:pt>
                <c:pt idx="4">
                  <c:v>2012</c:v>
                </c:pt>
                <c:pt idx="5">
                  <c:v>​​​​​​</c:v>
                </c:pt>
                <c:pt idx="6">
                  <c:v>​​​​​​​</c:v>
                </c:pt>
                <c:pt idx="7">
                  <c:v>​​​​​​​​</c:v>
                </c:pt>
                <c:pt idx="8">
                  <c:v>2013</c:v>
                </c:pt>
                <c:pt idx="9">
                  <c:v>​​​​​​​​​​</c:v>
                </c:pt>
                <c:pt idx="10">
                  <c:v>​​​​​​​​​​​</c:v>
                </c:pt>
                <c:pt idx="11">
                  <c:v>​​​​​​​​​​​​</c:v>
                </c:pt>
                <c:pt idx="12">
                  <c:v>2014</c:v>
                </c:pt>
                <c:pt idx="13">
                  <c:v>​​​​​​​​​​​​​​</c:v>
                </c:pt>
                <c:pt idx="14">
                  <c:v>​​​​​​​​​​​​​​​</c:v>
                </c:pt>
                <c:pt idx="15">
                  <c:v>​​​​​​​​​​​​​​​​</c:v>
                </c:pt>
                <c:pt idx="16">
                  <c:v>2015</c:v>
                </c:pt>
                <c:pt idx="17">
                  <c:v>​​​​​​​​​​​​​​​​​​</c:v>
                </c:pt>
                <c:pt idx="18">
                  <c:v>​​​​​​​​​​​​​​​​​​​</c:v>
                </c:pt>
                <c:pt idx="19">
                  <c:v>​​​​​​​​​​​​​​​​​​​​</c:v>
                </c:pt>
                <c:pt idx="20">
                  <c:v>2016</c:v>
                </c:pt>
                <c:pt idx="21">
                  <c:v>​​​​​​​​​​​​​​​​​​​​​​</c:v>
                </c:pt>
                <c:pt idx="22">
                  <c:v>​​​​​​​​​​​​​​​​​​​​​​​</c:v>
                </c:pt>
                <c:pt idx="23">
                  <c:v>​​​​​​​​​​​​​​​​​​​​​​​​</c:v>
                </c:pt>
                <c:pt idx="24">
                  <c:v>2017</c:v>
                </c:pt>
                <c:pt idx="25">
                  <c:v>​​​​​​​​​​​​​​​​​​​​​​​​​​</c:v>
                </c:pt>
                <c:pt idx="26">
                  <c:v>​​​​​​​​​​​​​​​​​​​​​​​​​​​</c:v>
                </c:pt>
                <c:pt idx="27">
                  <c:v>​​​​​​​​​​​​​​​​​​​​​​​​​​​​</c:v>
                </c:pt>
                <c:pt idx="28">
                  <c:v>2018</c:v>
                </c:pt>
                <c:pt idx="29">
                  <c:v>​​​​​​​​​​​​​​​​​​​​​​​​​​​​​​</c:v>
                </c:pt>
                <c:pt idx="30">
                  <c:v>​​​​​​​​​​​​​​​​​​​​​​​​​​​​​​​</c:v>
                </c:pt>
                <c:pt idx="31">
                  <c:v>​​​​​​​​​​​​​​​​​​​​​​​​​​​​​​​​</c:v>
                </c:pt>
                <c:pt idx="32">
                  <c:v>2019</c:v>
                </c:pt>
                <c:pt idx="33">
                  <c:v>​​​​​​​​​​​​​​​​​​​​​​​​​​​​​​​​​​</c:v>
                </c:pt>
                <c:pt idx="34">
                  <c:v>​​​​​​​​​​​​​​​​​​​​​​​​​​​​​​​​​​​</c:v>
                </c:pt>
                <c:pt idx="35">
                  <c:v>​​​​​​​​​​​​​​​​​​​​​​​​​​​​​​​​​​​​</c:v>
                </c:pt>
                <c:pt idx="36">
                  <c:v>2020</c:v>
                </c:pt>
                <c:pt idx="37">
                  <c:v>​​​​​​​​​​​​​​​​​​​​​​​​​​​​​​​​​​​​​​</c:v>
                </c:pt>
                <c:pt idx="38">
                  <c:v>​​​​​​​​​​​​​​​​​​​​​​​​​​​​​​​​​​​​​​​</c:v>
                </c:pt>
                <c:pt idx="39">
                  <c:v>​​​​​​​​​​​​​​​​​​​​​​​​​​​​​​​​​​​​​​​​</c:v>
                </c:pt>
                <c:pt idx="40">
                  <c:v>2021</c:v>
                </c:pt>
                <c:pt idx="41">
                  <c:v>​​​​​​​​​​​​​​​​​​​​​​​​​​​​​​​​​​​​​​​​​​</c:v>
                </c:pt>
                <c:pt idx="42">
                  <c:v>​​​​​​​​​​​​​​​​​​​​​​​​​​​​​​​​​​​​​​​​​​​</c:v>
                </c:pt>
                <c:pt idx="43">
                  <c:v>​​​​​​​​​​​​​​​​​​​​​​​​​​​​​​​​​​​​​​​​​​​​</c:v>
                </c:pt>
                <c:pt idx="44">
                  <c:v>2022</c:v>
                </c:pt>
                <c:pt idx="45">
                  <c:v>​​​​​​​​​​​​​​​​​​​​​​​​​​​​​​​​​​​​​​​​​​​​​​</c:v>
                </c:pt>
                <c:pt idx="46">
                  <c:v>​​​​​​​​​​​​​​​​​​​​​​​​​​​​​​​​​​​​​​​​​​​​​​​</c:v>
                </c:pt>
                <c:pt idx="47">
                  <c:v>​​​​​​​​​​​​​​​​​​​​​​​​​​​​​​​​​​​​​​​​​​​​​​​​</c:v>
                </c:pt>
                <c:pt idx="48">
                  <c:v>2023</c:v>
                </c:pt>
                <c:pt idx="49">
                  <c:v>​​​​​​​​​​​​​​​​​​​​​​​​​​​​​​​​​​​​​​​​​​​​​​​​​​</c:v>
                </c:pt>
                <c:pt idx="50">
                  <c:v>​​​​​​​​​​​​​​​​​​​​​​​​​​​​​​​​​​​​​​​​​​​​​​​​​​​</c:v>
                </c:pt>
                <c:pt idx="51">
                  <c:v>​​​​​​​​​​​​​​​​​​​​​​​​​​​​​​​​​​​​​​​​​​​​​​​​​​​​</c:v>
                </c:pt>
                <c:pt idx="52">
                  <c:v>2024</c:v>
                </c:pt>
                <c:pt idx="53">
                  <c:v>​​​​​​​​​​​​​​​​​​​​​​​​​​​​​​​​​​​​​​​​​​​​​​​​​​​​​​</c:v>
                </c:pt>
                <c:pt idx="54">
                  <c:v>​​​​​​​​​​​​​​​​​​​​​​​​​​​​​​​​​​​​​​​​​​​​​​​​​​​​​​​</c:v>
                </c:pt>
                <c:pt idx="55">
                  <c:v>​​​​​​​​​​​​​​​​​​​​​​​​​​​​​​​​​​​​​​​​​​​​​​​​​​​​​​​​</c:v>
                </c:pt>
                <c:pt idx="56">
                  <c:v>2025</c:v>
                </c:pt>
                <c:pt idx="57">
                  <c:v>​​​​​​​​​​​​​​​​​​​​​​​​​​​​​​​​​​​​​​​​​​​​​​​​​​​​​​​​​​</c:v>
                </c:pt>
                <c:pt idx="58">
                  <c:v>​​​​​​​​​​​​​​​​​​​​​​​​​​​​​​​​​​​​​​​​​​​​​​​​​​​​​​​​​​​</c:v>
                </c:pt>
                <c:pt idx="59">
                  <c:v>2025Q4</c:v>
                </c:pt>
              </c:strCache>
            </c:strRef>
          </c:cat>
          <c:val>
            <c:numRef>
              <c:f>'Chart Data'!$B$2:$B$61</c:f>
              <c:numCache>
                <c:formatCode>0.0</c:formatCode>
                <c:ptCount val="60"/>
                <c:pt idx="0">
                  <c:v>63.9</c:v>
                </c:pt>
                <c:pt idx="1">
                  <c:v>64.5</c:v>
                </c:pt>
                <c:pt idx="2">
                  <c:v>63.1</c:v>
                </c:pt>
                <c:pt idx="3">
                  <c:v>66.8</c:v>
                </c:pt>
                <c:pt idx="4">
                  <c:v>66.5</c:v>
                </c:pt>
                <c:pt idx="5">
                  <c:v>67.9</c:v>
                </c:pt>
                <c:pt idx="6">
                  <c:v>65.2</c:v>
                </c:pt>
                <c:pt idx="7">
                  <c:v>67.6</c:v>
                </c:pt>
                <c:pt idx="8">
                  <c:v>78.2</c:v>
                </c:pt>
                <c:pt idx="9">
                  <c:v>77.8</c:v>
                </c:pt>
                <c:pt idx="10">
                  <c:v>77.6</c:v>
                </c:pt>
                <c:pt idx="11">
                  <c:v>75.2</c:v>
                </c:pt>
                <c:pt idx="12">
                  <c:v>67.6</c:v>
                </c:pt>
                <c:pt idx="13">
                  <c:v>65.9</c:v>
                </c:pt>
                <c:pt idx="14">
                  <c:v>66.7</c:v>
                </c:pt>
                <c:pt idx="15">
                  <c:v>64.6</c:v>
                </c:pt>
                <c:pt idx="16">
                  <c:v>62.1</c:v>
                </c:pt>
                <c:pt idx="17">
                  <c:v>62.1</c:v>
                </c:pt>
                <c:pt idx="18">
                  <c:v>60.7</c:v>
                </c:pt>
                <c:pt idx="19">
                  <c:v>62.1</c:v>
                </c:pt>
                <c:pt idx="20">
                  <c:v>65.1</c:v>
                </c:pt>
                <c:pt idx="21">
                  <c:v>63.6</c:v>
                </c:pt>
                <c:pt idx="22">
                  <c:v>61.2</c:v>
                </c:pt>
                <c:pt idx="23">
                  <c:v>62.4</c:v>
                </c:pt>
                <c:pt idx="24">
                  <c:v>63.5</c:v>
                </c:pt>
                <c:pt idx="25">
                  <c:v>58.8</c:v>
                </c:pt>
                <c:pt idx="26">
                  <c:v>58.6</c:v>
                </c:pt>
                <c:pt idx="27">
                  <c:v>57.966667</c:v>
                </c:pt>
                <c:pt idx="28">
                  <c:v>56.9</c:v>
                </c:pt>
                <c:pt idx="29">
                  <c:v>56.2</c:v>
                </c:pt>
                <c:pt idx="30">
                  <c:v>59.7</c:v>
                </c:pt>
                <c:pt idx="31">
                  <c:v>56.5</c:v>
                </c:pt>
                <c:pt idx="32">
                  <c:v>60.7</c:v>
                </c:pt>
                <c:pt idx="33">
                  <c:v>53</c:v>
                </c:pt>
                <c:pt idx="34">
                  <c:v>54.8</c:v>
                </c:pt>
                <c:pt idx="35">
                  <c:v>52.3</c:v>
                </c:pt>
                <c:pt idx="36">
                  <c:v>57.7</c:v>
                </c:pt>
                <c:pt idx="37">
                  <c:v>58</c:v>
                </c:pt>
                <c:pt idx="38">
                  <c:v>63.4</c:v>
                </c:pt>
                <c:pt idx="39">
                  <c:v>60</c:v>
                </c:pt>
                <c:pt idx="40">
                  <c:v>54.1</c:v>
                </c:pt>
                <c:pt idx="41">
                  <c:v>54.6</c:v>
                </c:pt>
                <c:pt idx="42">
                  <c:v>52.6</c:v>
                </c:pt>
                <c:pt idx="43">
                  <c:v>57</c:v>
                </c:pt>
                <c:pt idx="44">
                  <c:v>53.6</c:v>
                </c:pt>
                <c:pt idx="45">
                  <c:v>52.8</c:v>
                </c:pt>
                <c:pt idx="46">
                  <c:v>49.5</c:v>
                </c:pt>
                <c:pt idx="47">
                  <c:v>50.5</c:v>
                </c:pt>
                <c:pt idx="48">
                  <c:v>49.2</c:v>
                </c:pt>
                <c:pt idx="49">
                  <c:v>53.1</c:v>
                </c:pt>
                <c:pt idx="50">
                  <c:v>58</c:v>
                </c:pt>
                <c:pt idx="51">
                  <c:v>61.7</c:v>
                </c:pt>
                <c:pt idx="52">
                  <c:v>59.3</c:v>
                </c:pt>
                <c:pt idx="53">
                  <c:v>53.1</c:v>
                </c:pt>
                <c:pt idx="54">
                  <c:v>54.9</c:v>
                </c:pt>
                <c:pt idx="55">
                  <c:v>52.7</c:v>
                </c:pt>
                <c:pt idx="56">
                  <c:v>53.4</c:v>
                </c:pt>
                <c:pt idx="57">
                  <c:v>52.6</c:v>
                </c:pt>
                <c:pt idx="58">
                  <c:v>56.1</c:v>
                </c:pt>
                <c:pt idx="59">
                  <c:v>54.8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A6A6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85"/>
          <c:min val="4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A6A6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DF4A47-E17C-4E54-B611-2BB00103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527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B1C35A-C818-4782-A8D7-CF0625C6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B21FAB-D5EA-4913-952C-CE019DA4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1435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2325" b="1" i="1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2325" b="1" i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325" b="1" i="1">
                <a:solidFill>
                  <a:srgbClr val="252525"/>
                </a:solidFill>
                <a:latin typeface="Arial"/>
                <a:ea typeface="Arial"/>
                <a:cs typeface="Arial"/>
              </a:rPr>
              <a:t>Pinnacle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559BD4-8B58-44E2-8647-DFA10CAF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828675"/>
            <a:ext cx="13811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6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6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FINANCIAL PARTNERS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CB1A52-C2B0-4FF0-BB7F-2627884A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716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A4D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A4D6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A4D67"/>
                </a:solidFill>
                <a:latin typeface="Arial"/>
                <a:ea typeface="Arial"/>
                <a:cs typeface="Arial"/>
              </a:rPr>
              <a:t>NON-INTEREST INCOME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4D736E-6418-4ABB-B0A8-8D227D9A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81200"/>
            <a:ext cx="619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525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525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Noncomp Efficiency Ratio</a:t>
            </a:r>
          </a:p>
          <a:p xmlns:a="http://schemas.openxmlformats.org/drawingml/2006/main">
            <a:pPr>
              <a:defRPr sz="3525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Modeling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8497A8-5F9D-403A-8535-19808003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81375"/>
            <a:ext cx="590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66666"/>
                </a:solidFill>
                <a:latin typeface="Arial"/>
                <a:ea typeface="Arial"/>
                <a:cs typeface="Arial"/>
              </a:rPr>
              <a:t>Model Development and Conditional Forecast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57B8A5-1000-4289-A745-96DA1380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72000"/>
            <a:ext cx="333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52525"/>
                </a:solidFill>
                <a:latin typeface="Arial"/>
                <a:ea typeface="Arial"/>
                <a:cs typeface="Arial"/>
              </a:rPr>
              <a:t>Working Group Review</a:t>
            </a:r>
          </a:p>
          <a:p xmlns:a="http://schemas.openxmlformats.org/drawingml/2006/main">
            <a:pPr>
              <a:defRPr sz="112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52525"/>
                </a:solidFill>
                <a:latin typeface="Arial"/>
                <a:ea typeface="Arial"/>
                <a:cs typeface="Arial"/>
              </a:rPr>
              <a:t>October 21, 2026</a:t>
            </a:r>
          </a:p>
          <a:p xmlns:a="http://schemas.openxmlformats.org/drawingml/2006/main">
            <a:pPr>
              <a:defRPr sz="112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52525"/>
                </a:solidFill>
                <a:latin typeface="Arial"/>
                <a:ea typeface="Arial"/>
                <a:cs typeface="Arial"/>
              </a:rPr>
              <a:t>Historical data through 4Q25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C25E62-4761-47B0-B7AF-06858777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200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25252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560850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179041C-966E-4098-9A80-DC9461EB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527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065A52-802C-4A19-BAAF-338F8617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90C84C-2D44-4B1D-9617-A9B6136F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627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Model Development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D6E498-687E-44B2-9937-2229E0D7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1435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2325" b="1" i="1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2325" b="1" i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325" b="1" i="1">
                <a:solidFill>
                  <a:srgbClr val="252525"/>
                </a:solidFill>
                <a:latin typeface="Arial"/>
                <a:ea typeface="Arial"/>
                <a:cs typeface="Arial"/>
              </a:rPr>
              <a:t>Pinnacle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F60CD5-93E3-48CD-BD5D-8FD01BDC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828675"/>
            <a:ext cx="13811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6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6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FINANCIAL PARTNERS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07F5D9-C3C2-4B81-9AD4-D8B26DE1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200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25252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FDCA23-1C19-4B2D-BCB1-DD988A2B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81125"/>
            <a:ext cx="1019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CF21A6-22D1-4E99-BBCC-CA74732C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409700"/>
            <a:ext cx="1003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 Summary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7EF5A4-EFFF-4A47-ABBC-489F4C1B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47825"/>
            <a:ext cx="1762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6DD57F-FB05-4B46-9D81-A0BA317E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647825"/>
            <a:ext cx="8429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D1EBF0-8E5B-45D2-86C6-83149EDA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695450"/>
            <a:ext cx="1590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9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9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9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Efficiency Ratio Scope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C83E41-93B7-4E1F-BAE5-3253509B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85925"/>
            <a:ext cx="823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90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9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252525"/>
                </a:solidFill>
                <a:latin typeface="Arial"/>
                <a:ea typeface="Arial"/>
                <a:cs typeface="Arial"/>
              </a:rPr>
              <a:t>Quarterly Noncomp efficiency ratio, modeled as the supplied aggregate cost-to-income ratio. Higher EF indicates more expense per unit of income.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BB366E-B0CD-4CD6-95E8-3C841EEE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85975"/>
            <a:ext cx="17621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35D744-FA6D-4D69-92C2-C59F69A0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85975"/>
            <a:ext cx="8429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BDF4EF-5A73-4605-B987-0EF9E069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33600"/>
            <a:ext cx="1590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9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9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9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Development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38C699-610A-4113-B2EC-3D56E6DF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24075"/>
            <a:ext cx="8239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90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9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252525"/>
                </a:solidFill>
                <a:latin typeface="Arial"/>
                <a:ea typeface="Arial"/>
                <a:cs typeface="Arial"/>
              </a:rPr>
              <a:t>1. L-SNV quarterly EF and 22 Moody's macro series from 2011Q1 through 2025Q4.</a:t>
            </a:r>
          </a:p>
          <a:p xmlns:a="http://schemas.openxmlformats.org/drawingml/2006/main">
            <a:pPr>
              <a:defRPr sz="99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252525"/>
                </a:solidFill>
                <a:latin typeface="Arial"/>
                <a:ea typeface="Arial"/>
                <a:cs typeface="Arial"/>
              </a:rPr>
              <a:t>2. Development sample: 2011Q3-2023Q3 (49 observations). OOT: 2023Q4-2025Q4 (9 quarters).</a:t>
            </a:r>
          </a:p>
          <a:p xmlns:a="http://schemas.openxmlformats.org/drawingml/2006/main">
            <a:pPr>
              <a:defRPr sz="99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252525"/>
                </a:solidFill>
                <a:latin typeface="Arial"/>
                <a:ea typeface="Arial"/>
                <a:cs typeface="Arial"/>
              </a:rPr>
              <a:t>3. S1 and S4 unemployment paths extend through 2028Q1.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11D2B6-1034-4F65-8CC3-48F70983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24175"/>
            <a:ext cx="1762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6A4CD3-9CE1-44FD-8C81-A1E4D830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924175"/>
            <a:ext cx="8429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74534F-02C7-4FD8-86B6-D92F7686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71800"/>
            <a:ext cx="1590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9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9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9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Segmentation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DA816C-2E64-4F5D-AA93-373C2E78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62275"/>
            <a:ext cx="823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90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9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252525"/>
                </a:solidFill>
                <a:latin typeface="Arial"/>
                <a:ea typeface="Arial"/>
                <a:cs typeface="Arial"/>
              </a:rPr>
              <a:t>All Noncomp activity is modeled as one aggregate EF series without business-line segmentation.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67DB50-3287-49F1-AD5E-4666C1C4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86125"/>
            <a:ext cx="1762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6EAC4C-F916-4A93-97F1-EEED06EB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86125"/>
            <a:ext cx="8429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80B3FC-840F-46DB-AC74-A8C546C5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33750"/>
            <a:ext cx="1590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9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9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9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Dependent Variable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0B059C-DC7F-4666-A554-C18AFCB7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24225"/>
            <a:ext cx="823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90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9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252525"/>
                </a:solidFill>
                <a:latin typeface="Arial"/>
                <a:ea typeface="Arial"/>
                <a:cs typeface="Arial"/>
              </a:rPr>
              <a:t>Quarterly EF in ratio levels. A value of 0.55 denotes 55%.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2EFC17-DFA4-411E-BE67-9F2A4F99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29025"/>
            <a:ext cx="17621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713B45-2281-44F8-AD9E-B0B566C1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29025"/>
            <a:ext cx="8429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95BCBF-519F-41F3-83C4-5590A2CF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76650"/>
            <a:ext cx="1590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9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9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9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Methodology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C91086-AA1D-44AE-B581-D443C207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67125"/>
            <a:ext cx="8239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90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9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252525"/>
                </a:solidFill>
                <a:latin typeface="Arial"/>
                <a:ea typeface="Arial"/>
                <a:cs typeface="Arial"/>
              </a:rPr>
              <a:t>ARDL regression with one lag of EF, a fixed post-2014 period indicator, and the one-quarter-lagged quarterly change in unemployment.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D232D1-96D4-4C8F-B428-33B02C32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362450"/>
            <a:ext cx="10001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EA867C-7ADE-480E-82EB-C790A7AE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391025"/>
            <a:ext cx="9848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Assumptions, Limitations, and Weaknesses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B65797-3DB8-4047-864F-4723CCFA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619625"/>
            <a:ext cx="16668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9C2C34-EF9D-4D1A-9F38-A6D7EE58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619625"/>
            <a:ext cx="8334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F0492C-7EAE-4C47-BADC-3BCFBC3E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67250"/>
            <a:ext cx="14954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Assumptions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B26B1C-FC4D-48EE-9A8A-E7643897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57725"/>
            <a:ext cx="8143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7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7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07">
                <a:solidFill>
                  <a:srgbClr val="252525"/>
                </a:solidFill>
                <a:latin typeface="Arial"/>
                <a:ea typeface="Arial"/>
                <a:cs typeface="Arial"/>
              </a:rPr>
              <a:t>1. The EF accounting definition and source data remain comparable over time.</a:t>
            </a:r>
          </a:p>
          <a:p xmlns:a="http://schemas.openxmlformats.org/drawingml/2006/main">
            <a:pPr>
              <a:defRPr sz="907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07">
                <a:solidFill>
                  <a:srgbClr val="252525"/>
                </a:solidFill>
                <a:latin typeface="Arial"/>
                <a:ea typeface="Arial"/>
                <a:cs typeface="Arial"/>
              </a:rPr>
              <a:t>2. The operating regime from 2014Q1 remains relevant over the forecast horizon.</a:t>
            </a:r>
          </a:p>
          <a:p xmlns:a="http://schemas.openxmlformats.org/drawingml/2006/main">
            <a:pPr>
              <a:defRPr sz="907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07">
                <a:solidFill>
                  <a:srgbClr val="252525"/>
                </a:solidFill>
                <a:latin typeface="Arial"/>
                <a:ea typeface="Arial"/>
                <a:cs typeface="Arial"/>
              </a:rPr>
              <a:t>3. Historical EF persistence and the unemployment response remain stable.</a:t>
            </a:r>
          </a:p>
          <a:p xmlns:a="http://schemas.openxmlformats.org/drawingml/2006/main">
            <a:pPr>
              <a:defRPr sz="907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07">
                <a:solidFill>
                  <a:srgbClr val="252525"/>
                </a:solidFill>
                <a:latin typeface="Arial"/>
                <a:ea typeface="Arial"/>
                <a:cs typeface="Arial"/>
              </a:rPr>
              <a:t>4. S1 and S4 are conditional inputs, and future residuals equal zero.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576752-71CB-4171-A75D-B0057222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343525"/>
            <a:ext cx="1666875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090F0C9-37FE-4EE6-9231-EEB0EDA7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343525"/>
            <a:ext cx="8334375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EDB2538-FD7D-48CB-8F3A-F85A1127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391150"/>
            <a:ext cx="14954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Limitations &amp;</a:t>
            </a:r>
          </a:p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Weaknesses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C5AF419-B4B0-4891-83EE-DC6F62FC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81625"/>
            <a:ext cx="81438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7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7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07">
                <a:solidFill>
                  <a:srgbClr val="252525"/>
                </a:solidFill>
                <a:latin typeface="Arial"/>
                <a:ea typeface="Arial"/>
                <a:cs typeface="Arial"/>
              </a:rPr>
              <a:t>1. Development includes 49 observations, and OOT validation covers nine quarters.</a:t>
            </a:r>
          </a:p>
          <a:p xmlns:a="http://schemas.openxmlformats.org/drawingml/2006/main">
            <a:pPr>
              <a:defRPr sz="907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07">
                <a:solidFill>
                  <a:srgbClr val="252525"/>
                </a:solidFill>
                <a:latin typeface="Arial"/>
                <a:ea typeface="Arial"/>
                <a:cs typeface="Arial"/>
              </a:rPr>
              <a:t>2. Smoothing of 2017Q3 and 2017Q4 introduces judgment and affects current and lagged EF.</a:t>
            </a:r>
          </a:p>
          <a:p xmlns:a="http://schemas.openxmlformats.org/drawingml/2006/main">
            <a:pPr>
              <a:defRPr sz="907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07">
                <a:solidFill>
                  <a:srgbClr val="252525"/>
                </a:solidFill>
                <a:latin typeface="Arial"/>
                <a:ea typeface="Arial"/>
                <a:cs typeface="Arial"/>
              </a:rPr>
              <a:t>3. Unemployment is the only selected macro driver, while GDP and output-gap alternatives show similar fit.</a:t>
            </a:r>
          </a:p>
          <a:p xmlns:a="http://schemas.openxmlformats.org/drawingml/2006/main">
            <a:pPr>
              <a:defRPr sz="907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07">
                <a:solidFill>
                  <a:srgbClr val="252525"/>
                </a:solidFill>
                <a:latin typeface="Arial"/>
                <a:ea typeface="Arial"/>
                <a:cs typeface="Arial"/>
              </a:rPr>
              <a:t>4. The aggregate model does not separate expense and income effects, and forecasts provide no probability range.</a:t>
            </a:r>
          </a:p>
        </p:txBody>
      </p:sp>
    </p:spTree>
    <p:extLst>
      <p:ext uri="{BB962C8B-B14F-4D97-AF65-F5344CB8AC3E}">
        <p14:creationId xmlns:p14="http://schemas.microsoft.com/office/powerpoint/2010/main" val="14005622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116D6E-1470-4F5E-9F61-ABAC8C65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527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FFB6C5-F7E3-4D4F-B01B-929D316B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27C469-9C32-478B-B8FA-756D1C77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627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Model Fitting 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F92DFB-9B23-4A7F-AB78-F6C9ED62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1435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2325" b="1" i="1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2325" b="1" i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325" b="1" i="1">
                <a:solidFill>
                  <a:srgbClr val="252525"/>
                </a:solidFill>
                <a:latin typeface="Arial"/>
                <a:ea typeface="Arial"/>
                <a:cs typeface="Arial"/>
              </a:rPr>
              <a:t>Pinnacle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BDFE70-39AF-4CC4-8450-6B8F85FC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828675"/>
            <a:ext cx="13811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6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6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FINANCIAL PARTNERS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9055C8-10AB-4EFC-A8EC-59879727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200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25252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0014C3-598A-4BE1-A468-2A96C7F9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333500"/>
            <a:ext cx="1571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A00118-FA10-4B35-9D95-D63B9023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333500"/>
            <a:ext cx="7858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E95C41-F035-4E9E-8E1C-F00A0B06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381125"/>
            <a:ext cx="1400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 Specification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5EA1BB-09F8-415D-A4DE-C50F7539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371600"/>
            <a:ext cx="766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252525"/>
                </a:solidFill>
                <a:latin typeface="Arial"/>
                <a:ea typeface="Arial"/>
                <a:cs typeface="Arial"/>
              </a:rPr>
              <a:t>EF_t = 0.1938 - 0.0436 Post14_t + 0.7383 EF_(t-1) + 0.00642 ΔU_(t-1)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758DE1-2ADA-41DC-9AAF-D7CF233F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14500"/>
            <a:ext cx="15716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33C39C-6741-46D6-B8B6-393B3D7C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14500"/>
            <a:ext cx="78581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535179-CC98-4D28-AAE5-4DB02933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62125"/>
            <a:ext cx="14001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Independent Variables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E82606-8332-4174-BB3C-4FDFE71F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752600"/>
            <a:ext cx="7667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EF_(t-1): quarterly persistence in the efficiency ratio</a:t>
            </a:r>
          </a:p>
          <a:p xmlns:a="http://schemas.openxmlformats.org/drawingml/2006/main">
            <a:pPr>
              <a:defRPr sz="97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Post14_t: fixed indicator from 2014Q1 onward</a:t>
            </a:r>
          </a:p>
          <a:p xmlns:a="http://schemas.openxmlformats.org/drawingml/2006/main">
            <a:pPr>
              <a:defRPr sz="97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ΔU_(t-1): quarterly unemployment-rate change with a one-quarter lag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255C6D-9EB8-4A8C-A187-CAAC959A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28875"/>
            <a:ext cx="1571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D603E8-E6C6-4A86-AA00-03715C49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28875"/>
            <a:ext cx="78581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09161B-7BD1-4213-9741-19C918A8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76500"/>
            <a:ext cx="1400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Goodness of Fit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A08A40-9E4D-4370-A6EE-AF334358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66975"/>
            <a:ext cx="7667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252525"/>
                </a:solidFill>
                <a:latin typeface="Arial"/>
                <a:ea typeface="Arial"/>
                <a:cs typeface="Arial"/>
              </a:rPr>
              <a:t>R² = 0.8373, adjusted R² = 0.8265, and fit RMSE = 0.0283. One-step OOT RMSE = 0.0278, and recursive OOT RMSE = 0.0373.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6A0227-7E18-4836-8EC2-A5BDD9B2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05125"/>
            <a:ext cx="1571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B8DE82-CC6D-4329-B679-4446FC62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05125"/>
            <a:ext cx="7858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820F26-7817-42F7-80CF-122C649A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52750"/>
            <a:ext cx="14001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Conceptual Soundness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36BD74-4A9A-473A-BA39-753179F0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43225"/>
            <a:ext cx="7667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The EF lag coefficient is below one, so temporary effects decay over time.</a:t>
            </a:r>
          </a:p>
          <a:p xmlns:a="http://schemas.openxmlformats.org/drawingml/2006/main">
            <a:pPr>
              <a:defRPr sz="97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The unemployment-change coefficient is positive and significant at 5% (p = 0.0289).</a:t>
            </a:r>
          </a:p>
          <a:p xmlns:a="http://schemas.openxmlformats.org/drawingml/2006/main">
            <a:pPr>
              <a:defRPr sz="97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DW, JB, CUSUM, and Ljung-Box diagnostics do not reject at 5% in development.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E82E7D-4303-4BC0-B341-21C07DE8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290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In-Sample Backtesting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AA2CFF-7B19-4740-BF90-DF9A02D1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29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Out-of-Time Backtesting</a:t>
            </a:r>
          </a:p>
        </p:txBody>
      </p:sp>
      <p:graphicFrame>
        <p:nvGraphicFramePr>
          <p:cNvPr id="25" name="Chart">
            <a:extLst xmlns:a="http://schemas.openxmlformats.org/drawingml/2006/main">
              <a:ext uri="{FF2B5EF4-FFF2-40B4-BE49-F238E27FC236}">
                <a16:creationId xmlns:a16="http://schemas.microsoft.com/office/drawing/2014/main" id="{D3B48EAD-D7D6-4C88-9DAF-EBE81EBDCB05}"/>
              </a:ext>
            </a:extLst>
          </p:cNvPr>
          <p:cNvGraphicFramePr/>
          <p:nvPr/>
        </p:nvGraphicFramePr>
        <p:xfrm>
          <a:off xmlns:a="http://schemas.openxmlformats.org/drawingml/2006/main" x="1285875" y="4143375"/>
          <a:ext xmlns:a="http://schemas.openxmlformats.org/drawingml/2006/main" cx="4476750" cy="2076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d5c07ae736648eb"/>
          </a:graphicData>
        </a:graphic>
      </p:graphicFrame>
      <p:graphicFrame>
        <p:nvGraphicFramePr>
          <p:cNvPr id="26" name="Chart">
            <a:extLst xmlns:a="http://schemas.openxmlformats.org/drawingml/2006/main">
              <a:ext uri="{FF2B5EF4-FFF2-40B4-BE49-F238E27FC236}">
                <a16:creationId xmlns:a16="http://schemas.microsoft.com/office/drawing/2014/main" id="{9459DD06-7E83-4D70-BE34-09B1EBA8D04A}"/>
              </a:ext>
            </a:extLst>
          </p:cNvPr>
          <p:cNvGraphicFramePr/>
          <p:nvPr/>
        </p:nvGraphicFramePr>
        <p:xfrm>
          <a:off xmlns:a="http://schemas.openxmlformats.org/drawingml/2006/main" x="6429375" y="4143375"/>
          <a:ext xmlns:a="http://schemas.openxmlformats.org/drawingml/2006/main" cx="4476750" cy="2076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f09cfc92eed42dd"/>
          </a:graphicData>
        </a:graphic>
      </p:graphicFrame>
    </p:spTree>
    <p:extLst>
      <p:ext uri="{BB962C8B-B14F-4D97-AF65-F5344CB8AC3E}">
        <p14:creationId xmlns:p14="http://schemas.microsoft.com/office/powerpoint/2010/main" val="19286306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E7C739-B24C-4CC0-85D1-6E957897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527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5422D1-B4EA-44AC-8DB4-B1F4E585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AC839F-D2CD-4C7F-8ABE-42F75DC2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627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Outcome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83C2ED-F4E7-4FBE-9607-1B1FCD89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1435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2325" b="1" i="1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2325" b="1" i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325" b="1" i="1">
                <a:solidFill>
                  <a:srgbClr val="252525"/>
                </a:solidFill>
                <a:latin typeface="Arial"/>
                <a:ea typeface="Arial"/>
                <a:cs typeface="Arial"/>
              </a:rPr>
              <a:t>Pinnacle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A2C8B5-35B2-4870-A840-8DF8AAD0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828675"/>
            <a:ext cx="13811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6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6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FINANCIAL PARTNERS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3603F3-A86C-489E-BA94-8845E98B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200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25252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355FCB-A240-4C43-B6DB-4C444B762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104900"/>
            <a:ext cx="266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Stability Analysis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56B80C56-54BC-4BB3-87F0-BE39AE0F3D2C}"/>
              </a:ext>
            </a:extLst>
          </p:cNvPr>
          <p:cNvGraphicFramePr/>
          <p:nvPr/>
        </p:nvGraphicFramePr>
        <p:xfrm>
          <a:off xmlns:a="http://schemas.openxmlformats.org/drawingml/2006/main" x="1047750" y="1428750"/>
          <a:ext xmlns:a="http://schemas.openxmlformats.org/drawingml/2006/main" cx="3714750" cy="1981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00d570cde9f4860"/>
          </a:graphicData>
        </a:graphic>
      </p:graphicFrame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2FD5A869-EF54-4E58-A33E-DF16FCAC064B}"/>
              </a:ext>
            </a:extLst>
          </p:cNvPr>
          <p:cNvGraphicFramePr/>
          <p:nvPr/>
        </p:nvGraphicFramePr>
        <p:xfrm>
          <a:off xmlns:a="http://schemas.openxmlformats.org/drawingml/2006/main" x="4953000" y="1428750"/>
          <a:ext xmlns:a="http://schemas.openxmlformats.org/drawingml/2006/main" cx="3476625" cy="1981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c18d0e3f5314282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A0F6D9-3A7D-44C6-8877-1820293B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4287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1507DD-6537-45F7-86C4-53C4E894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457325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Comments / Notes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530E75-E409-46DA-A771-4C3CF8E6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695450"/>
            <a:ext cx="2476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8E0283-023F-4D97-A7CF-30939297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771650"/>
            <a:ext cx="2286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15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1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15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EF lag remains positive across all leave-one-out fits (0.720-0.776).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91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15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The unemployment coefficient also stays positive (0.00568-0.00791) and retains p &lt; 0.05 in 47 of 49 fits.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91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15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One-step OOT RMSE equals 2.78 EF percentage points.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B280FE-6CDC-4253-8483-2BE9CB1D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695700"/>
            <a:ext cx="266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Scenario Analysis</a:t>
            </a:r>
          </a:p>
        </p:txBody>
      </p:sp>
      <p:graphicFrame>
        <p:nvGraphicFramePr>
          <p:cNvPr id="15" name="Chart">
            <a:extLst xmlns:a="http://schemas.openxmlformats.org/drawingml/2006/main">
              <a:ext uri="{FF2B5EF4-FFF2-40B4-BE49-F238E27FC236}">
                <a16:creationId xmlns:a16="http://schemas.microsoft.com/office/drawing/2014/main" id="{53DC1C00-021B-44AB-8A70-3F459A5D939F}"/>
              </a:ext>
            </a:extLst>
          </p:cNvPr>
          <p:cNvGraphicFramePr/>
          <p:nvPr/>
        </p:nvGraphicFramePr>
        <p:xfrm>
          <a:off xmlns:a="http://schemas.openxmlformats.org/drawingml/2006/main" x="1047750" y="4019550"/>
          <a:ext xmlns:a="http://schemas.openxmlformats.org/drawingml/2006/main" cx="3714750" cy="2000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d3116d3ea0248d5"/>
          </a:graphicData>
        </a:graphic>
      </p:graphicFrame>
      <p:graphicFrame>
        <p:nvGraphicFramePr>
          <p:cNvPr id="16" name="Chart">
            <a:extLst xmlns:a="http://schemas.openxmlformats.org/drawingml/2006/main">
              <a:ext uri="{FF2B5EF4-FFF2-40B4-BE49-F238E27FC236}">
                <a16:creationId xmlns:a16="http://schemas.microsoft.com/office/drawing/2014/main" id="{4C730319-0612-4F16-87CD-C24BAA4B09B5}"/>
              </a:ext>
            </a:extLst>
          </p:cNvPr>
          <p:cNvGraphicFramePr/>
          <p:nvPr/>
        </p:nvGraphicFramePr>
        <p:xfrm>
          <a:off xmlns:a="http://schemas.openxmlformats.org/drawingml/2006/main" x="4953000" y="4019550"/>
          <a:ext xmlns:a="http://schemas.openxmlformats.org/drawingml/2006/main" cx="3476625" cy="2000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c5f0ff6139749d4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7C70A5-D249-41AF-9973-82234700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0195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DA94D0-FA94-431F-B923-A6CE5C4F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48125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Comments / Notes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AB0211-706D-4A54-8F6D-A9DF6407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286250"/>
            <a:ext cx="24765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05F524-7C60-473F-BF50-6DE0F7B7F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62450"/>
            <a:ext cx="22860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15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1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15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Both forecasts equal 55.4% in 1Q26 because the lag structure uses the same historical unemployment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91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15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S4 peaks at 58.0% in 4Q26 versus 56.1% under S1.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91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15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By 1Q28, S4 equals 57.3% and S1 equals 56.8%.</a:t>
            </a:r>
          </a:p>
        </p:txBody>
      </p:sp>
    </p:spTree>
    <p:extLst>
      <p:ext uri="{BB962C8B-B14F-4D97-AF65-F5344CB8AC3E}">
        <p14:creationId xmlns:p14="http://schemas.microsoft.com/office/powerpoint/2010/main" val="843505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6E24432-9822-4B90-87B2-80A61362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527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B1ACED-AFCB-48FA-80E7-75F0BA97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8534EC-C597-408F-BA44-4E105877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627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Champion: Noncomp Efficiency Ratio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BD9F3E-B0C9-4A7B-B37D-C3123A3B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1435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2325" b="1" i="1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2325" b="1" i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325" b="1" i="1">
                <a:solidFill>
                  <a:srgbClr val="252525"/>
                </a:solidFill>
                <a:latin typeface="Arial"/>
                <a:ea typeface="Arial"/>
                <a:cs typeface="Arial"/>
              </a:rPr>
              <a:t>Pinnacle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696D8F-C93F-4E58-91AC-168C182E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828675"/>
            <a:ext cx="13811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6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6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FINANCIAL PARTNERS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40F696-1CDD-4907-A394-C34755EE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200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25252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70FA13-6836-4AF9-B2BB-AAAC33DF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323975"/>
            <a:ext cx="521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A7284B-5511-48F3-9C9E-271439BB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352550"/>
            <a:ext cx="506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Business 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DEBBF2-9A09-44DC-A77F-9B0D295B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571625"/>
            <a:ext cx="15049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62181F-F5C4-4C29-B9AC-445202B1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571625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409F16-B3D2-43BE-AF15-994A3703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619250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Efficiency Ratio</a:t>
            </a:r>
          </a:p>
          <a:p xmlns:a="http://schemas.openxmlformats.org/drawingml/2006/main">
            <a:pPr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Drivers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CC6D3D-D04B-433C-8AB5-616CFF4A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609725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63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6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Expense growth and revenue performance</a:t>
            </a:r>
          </a:p>
          <a:p xmlns:a="http://schemas.openxmlformats.org/drawingml/2006/main">
            <a:pPr>
              <a:defRPr sz="86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Operating leverage and business mix</a:t>
            </a:r>
          </a:p>
          <a:p xmlns:a="http://schemas.openxmlformats.org/drawingml/2006/main">
            <a:pPr>
              <a:defRPr sz="86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Labor-market conditions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84C1A-592E-41D4-8F35-721F585A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19325"/>
            <a:ext cx="150495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4603E4-0B47-4A29-B4A1-54292720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19325"/>
            <a:ext cx="371475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0C4C34-07B3-421D-A44B-88431F9D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266950"/>
            <a:ext cx="1333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Modeling</a:t>
            </a:r>
          </a:p>
          <a:p xmlns:a="http://schemas.openxmlformats.org/drawingml/2006/main">
            <a:pPr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Challenge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611F0C-4B79-45BC-AC69-C55A8589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57425"/>
            <a:ext cx="3524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63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6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EF shifts after 2014 and remains persistent</a:t>
            </a:r>
          </a:p>
          <a:p xmlns:a="http://schemas.openxmlformats.org/drawingml/2006/main">
            <a:pPr>
              <a:defRPr sz="86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Quarterly history is limited to 60 level observations</a:t>
            </a:r>
          </a:p>
          <a:p xmlns:a="http://schemas.openxmlformats.org/drawingml/2006/main">
            <a:pPr>
              <a:defRPr sz="86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Aggregate EF combines expense and income channels</a:t>
            </a:r>
          </a:p>
          <a:p xmlns:a="http://schemas.openxmlformats.org/drawingml/2006/main">
            <a:pPr>
              <a:defRPr sz="86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Close macro alternatives complicate variable selection</a:t>
            </a:r>
          </a:p>
        </p:txBody>
      </p:sp>
      <p:graphicFrame>
        <p:nvGraphicFramePr>
          <p:cNvPr id="17" name="Chart">
            <a:extLst xmlns:a="http://schemas.openxmlformats.org/drawingml/2006/main">
              <a:ext uri="{FF2B5EF4-FFF2-40B4-BE49-F238E27FC236}">
                <a16:creationId xmlns:a16="http://schemas.microsoft.com/office/drawing/2014/main" id="{805C2BB5-1912-4BEE-9E30-D28E1F979B3D}"/>
              </a:ext>
            </a:extLst>
          </p:cNvPr>
          <p:cNvGraphicFramePr/>
          <p:nvPr/>
        </p:nvGraphicFramePr>
        <p:xfrm>
          <a:off xmlns:a="http://schemas.openxmlformats.org/drawingml/2006/main" x="6981825" y="1238250"/>
          <a:ext xmlns:a="http://schemas.openxmlformats.org/drawingml/2006/main" cx="4048125" cy="2047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ec5dc785daf41ce"/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FD2595-9876-4068-AD64-6C4892FC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95675"/>
            <a:ext cx="521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C72908-CA80-4D82-80AE-9239ACE3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524250"/>
            <a:ext cx="506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Feature Engineering Framework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162492-6917-4DF9-8106-3F2C9631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43325"/>
            <a:ext cx="1504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2EBDDA-1F1A-4BD8-9AFB-777CD066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743325"/>
            <a:ext cx="3714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90158E-71CB-4F92-B2DF-CB5B99A0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790950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8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8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8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Transformation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0D9D41-8013-4F14-871F-34561413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781425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10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EF modeled in ratio levels</a:t>
            </a:r>
          </a:p>
          <a:p xmlns:a="http://schemas.openxmlformats.org/drawingml/2006/main">
            <a: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10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2017Q3 and 2017Q4 replaced by documented local averages</a:t>
            </a:r>
          </a:p>
          <a:p xmlns:a="http://schemas.openxmlformats.org/drawingml/2006/main">
            <a: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10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Macro series use quarterly differences or log changes</a:t>
            </a:r>
          </a:p>
          <a:p xmlns:a="http://schemas.openxmlformats.org/drawingml/2006/main">
            <a: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10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Every macro candidate is lagged one quarter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C6DF03-6724-47A2-A8CD-6B109409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71975"/>
            <a:ext cx="1504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E3F360-0654-46C6-9B81-9A2A1D9D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371975"/>
            <a:ext cx="371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0D53C6-31F7-4B2C-8F90-615BE2E0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419600"/>
            <a:ext cx="1333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8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8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8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Feature</a:t>
            </a:r>
          </a:p>
          <a:p xmlns:a="http://schemas.openxmlformats.org/drawingml/2006/main">
            <a:pPr>
              <a:defRPr sz="88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8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Construction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B54CCA-E424-4C1A-9E0A-E15A5DCD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10075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10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Base terms include the post-2014 indicator and EF lag</a:t>
            </a:r>
          </a:p>
          <a:p xmlns:a="http://schemas.openxmlformats.org/drawingml/2006/main">
            <a: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10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Forward selection uses a common 49-quarter sample</a:t>
            </a:r>
          </a:p>
          <a:p xmlns:a="http://schemas.openxmlformats.org/drawingml/2006/main">
            <a: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10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Trend removed after p = 0.1719</a:t>
            </a:r>
          </a:p>
          <a:p xmlns:a="http://schemas.openxmlformats.org/drawingml/2006/main">
            <a: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10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Final model uses lagged unemployment change with no pulse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608D50-330C-4AE4-96FD-21691069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14925"/>
            <a:ext cx="1504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D82118-968A-45E3-A20F-8935252F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114925"/>
            <a:ext cx="3714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D9D488-4A7D-431C-B24A-407CE3EB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5162550"/>
            <a:ext cx="1333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8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8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8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Limitations &amp;</a:t>
            </a:r>
          </a:p>
          <a:p xmlns:a="http://schemas.openxmlformats.org/drawingml/2006/main">
            <a:pPr>
              <a:defRPr sz="88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8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Weaknesses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E65DA6-FC8C-4162-84C9-48C7E917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153025"/>
            <a:ext cx="3524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10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Development sample has 49 observations and nine OOT quarters</a:t>
            </a:r>
          </a:p>
          <a:p xmlns:a="http://schemas.openxmlformats.org/drawingml/2006/main">
            <a: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10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Smoothing introduces judgment</a:t>
            </a:r>
          </a:p>
          <a:p xmlns:a="http://schemas.openxmlformats.org/drawingml/2006/main">
            <a: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10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GDP and output-gap alternatives show similar fit</a:t>
            </a:r>
          </a:p>
          <a:p xmlns:a="http://schemas.openxmlformats.org/drawingml/2006/main">
            <a: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10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Aggregate EF cannot separate expense and income effects</a:t>
            </a:r>
          </a:p>
          <a:p xmlns:a="http://schemas.openxmlformats.org/drawingml/2006/main">
            <a: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10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Forecasts are conditional point estimates without probability ranges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FCE3A4-C25D-4EE9-8C3C-4653317E9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95675"/>
            <a:ext cx="421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B18F83-BEE5-4456-9784-E59EEE27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524250"/>
            <a:ext cx="405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Champion: Noncomp EF Model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C210B9-4C43-4D78-9DAE-0F773BF1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743325"/>
            <a:ext cx="1285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9C373A-1AC5-486E-A51D-42A42FE4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743325"/>
            <a:ext cx="29241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C68CF5-FF73-45C2-B53D-38137A74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790950"/>
            <a:ext cx="1114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</a:t>
            </a:r>
          </a:p>
          <a:p xmlns:a="http://schemas.openxmlformats.org/drawingml/2006/main">
            <a:pPr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Specification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7BADE1-C1AF-4F93-BE05-9BC2ECA7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781425"/>
            <a:ext cx="2733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03">
                <a:solidFill>
                  <a:srgbClr val="252525"/>
                </a:solidFill>
                <a:latin typeface="Arial"/>
                <a:ea typeface="Arial"/>
                <a:cs typeface="Arial"/>
              </a:rPr>
              <a:t>EF_t = 0.1938 - 0.0436 D_t + 0.7383 EF_(t-1)</a:t>
            </a:r>
          </a:p>
          <a:p xmlns:a="http://schemas.openxmlformats.org/drawingml/2006/main">
            <a: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03">
                <a:solidFill>
                  <a:srgbClr val="252525"/>
                </a:solidFill>
                <a:latin typeface="Arial"/>
                <a:ea typeface="Arial"/>
                <a:cs typeface="Arial"/>
              </a:rPr>
              <a:t>+ 0.00642 ΔU_(t-1) + ε_t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926211-AE16-4662-B241-FCB3201A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81475"/>
            <a:ext cx="1285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18E107-D2C0-4818-8D0A-14F8254C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181475"/>
            <a:ext cx="29241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371B89-301F-4234-95E6-7F106313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229100"/>
            <a:ext cx="1114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Independent</a:t>
            </a:r>
          </a:p>
          <a:p xmlns:a="http://schemas.openxmlformats.org/drawingml/2006/main">
            <a:pPr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Variables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5DB44B7-6D2E-43BE-92AA-B9C91EED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219575"/>
            <a:ext cx="27336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0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D_t: post-2014 period indicator</a:t>
            </a:r>
          </a:p>
          <a:p xmlns:a="http://schemas.openxmlformats.org/drawingml/2006/main">
            <a: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0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EF_(t-1): one-quarter EF lag</a:t>
            </a:r>
          </a:p>
          <a:p xmlns:a="http://schemas.openxmlformats.org/drawingml/2006/main">
            <a: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0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ΔU_(t-1): lagged quarterly unemployment-rate change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14D18EA-D261-4C05-B05D-82CE50CE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733925"/>
            <a:ext cx="1285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B6F63C2-7513-43BC-83CF-876216B2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33925"/>
            <a:ext cx="29241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018F81F-6E17-47B9-841A-605B2E74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781550"/>
            <a:ext cx="1114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Goodness of Fit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93B9F53-5EDC-4E64-97A9-17724046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772025"/>
            <a:ext cx="27336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0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R² = 0.8373    Adjusted R² = 0.8265</a:t>
            </a:r>
          </a:p>
          <a:p xmlns:a="http://schemas.openxmlformats.org/drawingml/2006/main">
            <a: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0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Fit RMSE = 0.0283</a:t>
            </a:r>
          </a:p>
          <a:p xmlns:a="http://schemas.openxmlformats.org/drawingml/2006/main">
            <a: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0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One-step OOT RMSE = 0.0278</a:t>
            </a:r>
          </a:p>
          <a:p xmlns:a="http://schemas.openxmlformats.org/drawingml/2006/main">
            <a: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0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Recursive OOT RMSE = 0.0373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E1AE871-9F94-416D-AD57-6FD1408F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400675"/>
            <a:ext cx="1285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70715FA-7909-4618-AF79-ABA817F7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400675"/>
            <a:ext cx="29241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51E9CC7-0520-44C3-ABDF-7C4EE2A6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448300"/>
            <a:ext cx="11144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Diagnostics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DC31A11-017F-4853-AC01-406CA2E5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5438775"/>
            <a:ext cx="27336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0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DW = 2.195    JB p = 0.274    CUSUM p = 0.709</a:t>
            </a:r>
          </a:p>
          <a:p xmlns:a="http://schemas.openxmlformats.org/drawingml/2006/main">
            <a: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0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Ljung-Box p = 0.151 at lag 4 and 0.249 at lag 8</a:t>
            </a:r>
          </a:p>
          <a:p xmlns:a="http://schemas.openxmlformats.org/drawingml/2006/main">
            <a: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0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Max VIF = 1.611</a:t>
            </a:r>
          </a:p>
          <a:p xmlns:a="http://schemas.openxmlformats.org/drawingml/2006/main">
            <a: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0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All coefficients are significant at 5%</a:t>
            </a:r>
          </a:p>
        </p:txBody>
      </p:sp>
    </p:spTree>
    <p:extLst>
      <p:ext uri="{BB962C8B-B14F-4D97-AF65-F5344CB8AC3E}">
        <p14:creationId xmlns:p14="http://schemas.microsoft.com/office/powerpoint/2010/main" val="11389643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2026-10-21T19:55:22.2260000Z</dcterms:created>
  <dcterms:modified xsi:type="dcterms:W3CDTF">2026-10-21T19:55:22.2260000Z</dcterms:modified>
</coreProperties>
</file>