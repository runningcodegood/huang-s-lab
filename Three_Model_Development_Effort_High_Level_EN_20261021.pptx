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961384c85c43ac" /><Relationship Type="http://schemas.openxmlformats.org/officeDocument/2006/relationships/extended-properties" Target="/docProps/app.xml" Id="R5d485f07d7834b2e" /><Relationship Type="http://schemas.openxmlformats.org/officeDocument/2006/relationships/officeDocument" Target="/ppt/presentation.xml" Id="R9fcbe554548e4a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2ead7d4b284d2e"/>
  </p:sldMasterIdLst>
  <p:notesMasterIdLst>
    <p:notesMasterId xmlns:r="http://schemas.openxmlformats.org/officeDocument/2006/relationships" r:id="R2c88d91e1f074f78"/>
  </p:notesMasterIdLst>
  <p:sldIdLst>
    <p:sldId xmlns:r="http://schemas.openxmlformats.org/officeDocument/2006/relationships" id="256" r:id="R815812d87e0042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e4a27db444490d" /><Relationship Type="http://schemas.openxmlformats.org/officeDocument/2006/relationships/slideMaster" Target="/ppt/slideMasters/slideMaster1.xml" Id="Rf62ead7d4b284d2e" /><Relationship Type="http://schemas.openxmlformats.org/officeDocument/2006/relationships/notesMaster" Target="/ppt/notesMasters/notesMaster1.xml" Id="R2c88d91e1f074f78" /><Relationship Type="http://schemas.openxmlformats.org/officeDocument/2006/relationships/presProps" Target="/ppt/presProps.xml" Id="R2506e93bb43b4fb0" /><Relationship Type="http://schemas.openxmlformats.org/officeDocument/2006/relationships/tableStyles" Target="/ppt/tableStyles.xml" Id="R621dc6afb12941c2" /><Relationship Type="http://schemas.openxmlformats.org/officeDocument/2006/relationships/slide" Target="/ppt/slides/slide1.xml" Id="R815812d87e0042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77ce1ef8e247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d3ecbcf144829" /><Relationship Type="http://schemas.openxmlformats.org/officeDocument/2006/relationships/notesMaster" Target="/ppt/notesMasters/notesMaster1.xml" Id="Re5d0b737431340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sources:</a:t>
            </a:r>
          </a:p>
          <a:p xmlns:a="http://schemas.openxmlformats.org/drawingml/2006/main">
            <a:r>
              <a:t>/Users/hyx/Documents/ChatGPT/Cardfee/output/Cardfee_Model_Summary.md</a:t>
            </a:r>
          </a:p>
          <a:p xmlns:a="http://schemas.openxmlformats.org/drawingml/2006/main">
            <a:r>
              <a:t>/Users/hyx/Documents/ChatGPT/Cardfee/README.md</a:t>
            </a:r>
          </a:p>
          <a:p xmlns:a="http://schemas.openxmlformats.org/drawingml/2006/main">
            <a:r>
              <a:t>/Users/hyx/Documents/ChatGPT/Comp/outputs/01a0fe2b-3699-76b0-8399-c69c5fd48ff2/PNFP_22Macro_CSV_ARDL_20261015_v2/README.md</a:t>
            </a:r>
          </a:p>
          <a:p xmlns:a="http://schemas.openxmlformats.org/drawingml/2006/main">
            <a:r>
              <a:t>/Users/hyx/Documents/ChatGPT/Comp/.codex-pnfp-ardl/english_bundle_20261009/PNFP_Quantitative_Research_Package/README.md</a:t>
            </a:r>
          </a:p>
          <a:p xmlns:a="http://schemas.openxmlformats.org/drawingml/2006/main">
            <a:r>
              <a:t>/Users/hyx/Documents/ChatGPT/Comp/outputs/01a1116d-79ff-71f2-90ac-49290fc9bd2e/Noncomp_EF_Code_and_Data_20261019/README.md</a:t>
            </a:r>
          </a:p>
          <a:p xmlns:a="http://schemas.openxmlformats.org/drawingml/2006/main">
            <a:r>
              <a:t>/Users/hyx/Documents/ChatGPT/Comp/Noncomp_Model_Summary.md</a:t>
            </a:r>
          </a:p>
          <a:p xmlns:a="http://schemas.openxmlformats.org/drawingml/2006/main">
            <a:r>
              <a:t>English version. This slide summarizes work performed and separates research candidates from adopted methods.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d95da247d4b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de3d0b67f48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3c933a7d14d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9aae1fede46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fb2755e7742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80519d75048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0F0E3A-5C56-40BE-BF52-EE00496B38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8E5E73-5C8E-46B4-8778-F3C187A359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CDC91A-CE53-44BA-9FC4-14247285A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24E140-57D1-4FA0-B45F-35DDB59883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51D663-D9EC-4DBF-A6C1-1C8DE7898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FB0F12-470A-4846-9D91-43284D1EC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8D30DB-024D-4775-A672-59E21CCCA4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F39507-3CFC-4547-A64F-125BAC7F86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1988CD-693F-4640-BE87-B1349242E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B997E2-8E7B-4C04-BFA7-9424A2AC66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da97f591804049" /><Relationship Type="http://schemas.openxmlformats.org/officeDocument/2006/relationships/slideLayout" Target="/ppt/slideLayouts/slideLayout1.xml" Id="R769bbd2f0fa44c2c" /><Relationship Type="http://schemas.openxmlformats.org/officeDocument/2006/relationships/slideLayout" Target="/ppt/slideLayouts/slideLayout2.xml" Id="R8a29890c39724524" /><Relationship Type="http://schemas.openxmlformats.org/officeDocument/2006/relationships/slideLayout" Target="/ppt/slideLayouts/slideLayout3.xml" Id="Rd3ef9a12b4974275" /><Relationship Type="http://schemas.openxmlformats.org/officeDocument/2006/relationships/slideLayout" Target="/ppt/slideLayouts/slideLayout4.xml" Id="Rb68cacfb6f6443cc" /><Relationship Type="http://schemas.openxmlformats.org/officeDocument/2006/relationships/slideLayout" Target="/ppt/slideLayouts/slideLayout5.xml" Id="Rc642ebd87bc14cb5" /><Relationship Type="http://schemas.openxmlformats.org/officeDocument/2006/relationships/slideLayout" Target="/ppt/slideLayouts/slideLayout6.xml" Id="R14e01319a3ff4d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9bbd2f0fa44c2c"/>
    <p:sldLayoutId xmlns:r="http://schemas.openxmlformats.org/officeDocument/2006/relationships" id="2147483650" r:id="R8a29890c39724524"/>
    <p:sldLayoutId xmlns:r="http://schemas.openxmlformats.org/officeDocument/2006/relationships" id="2147483651" r:id="Rd3ef9a12b4974275"/>
    <p:sldLayoutId xmlns:r="http://schemas.openxmlformats.org/officeDocument/2006/relationships" id="2147483652" r:id="Rb68cacfb6f6443cc"/>
    <p:sldLayoutId xmlns:r="http://schemas.openxmlformats.org/officeDocument/2006/relationships" id="2147483653" r:id="Rc642ebd87bc14cb5"/>
    <p:sldLayoutId xmlns:r="http://schemas.openxmlformats.org/officeDocument/2006/relationships" id="2147483654" r:id="R14e01319a3ff4d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0d43c908b4631" /><Relationship Type="http://schemas.openxmlformats.org/officeDocument/2006/relationships/notesSlide" Target="/ppt/notesSlides/notesSlide1.xml" Id="Rc0f7dbae9a344e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FF1396-FB3C-41E9-BC2D-AACA515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859D0A8-9AC1-43AB-9BFF-3950E207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863" b="1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rPr>
              <a:t>MODEL DEVELOPMENT: CARD FEE, COMP AND NONCOMP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81E234-259A-466F-8474-4176F0CE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End-to-End Development Across Three Models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239A6D-A22F-41F6-922C-7781A1BB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13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13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3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rPr>
              <a:t>Card Fee, Comp and Noncomp followed the same cycle from business definition through validation and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F8C6B-3724-49D4-9C10-CF9C3571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08E6D-CF44-446A-AC33-F540D3E8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82A0B-CD70-43B3-BA4D-60FDD402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C6B0A-1055-4B2E-AAA9-B7F08598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2562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rPr>
              <a:t>CARD FEE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C9E01-BBBA-4686-A3A8-78437ACB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2562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Card Fee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AF76C-792E-40C2-B324-7A842868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3267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3"/>
          </a:solidFill>
          <a:ln xmlns:a="http://schemas.openxmlformats.org/drawingml/2006/main" w="0">
            <a:solidFill>
              <a:srgbClr val="E6F2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55136-C15A-4173-BE7E-60B702C2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3076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35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35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35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rPr>
              <a:t>BUSINESS OBJECTIVE   Forecast card fee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5D172-CECE-4C55-8DCC-4332A57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F2673-6333-411B-8624-07ECEFE6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5E4A6-6914-468E-9CBC-8E296F3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Reconciled the revenue definition and resolved historical anomalies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2DB9D-8019-4868-9CA0-DEDE53AE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6D68E-3D3F-48D9-AC41-1E8CCAF2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0D53D-5E74-4A6A-8307-DEDD4843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Matched each card business with a method suited to its operating pattern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91012-6BC7-4EA9-9DBD-416170BD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B2282-3FDD-4D17-9278-B09168FA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90BFC-11D3-4ACA-AC82-CDACA8A2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Used backtests and stress scenarios to assess reliability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9D585-F976-419F-9B6E-9884CF9F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3267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3"/>
          </a:solidFill>
          <a:ln xmlns:a="http://schemas.openxmlformats.org/drawingml/2006/main" w="0">
            <a:solidFill>
              <a:srgbClr val="E6F2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0EE85-F5FB-4966-8500-F9B6FE42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3076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05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05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5" b="1">
                <a:solidFill>
                  <a:srgbClr val="087E8B"/>
                </a:solidFill>
                <a:latin typeface="Noto Sans CJK SC"/>
                <a:ea typeface="Noto Sans CJK SC"/>
                <a:cs typeface="Noto Sans CJK SC"/>
              </a:rPr>
              <a:t>DELIVERABLE   Configurable tool and standardized model 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ED353-2E9E-43BB-91D5-E52549BF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C27E1-3235-4CAC-8CD7-21DFB59D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2562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rPr>
              <a:t>COMP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D34B6-674A-4FB3-9C51-5CA67DF4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562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Bonus Ratio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88DA49-92C3-42CA-8BCD-1F4C3E8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3267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E5"/>
          </a:solidFill>
          <a:ln xmlns:a="http://schemas.openxmlformats.org/drawingml/2006/main" w="0">
            <a:solidFill>
              <a:srgbClr val="F8E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2A29F-8CD0-475F-9900-61685C2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95550"/>
            <a:ext cx="3076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35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35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35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rPr>
              <a:t>BUSINESS OBJECTIVE   Assess the bonus ratio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4658C-ADA4-4ADA-8AC4-3164EAE4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62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  <a:ln xmlns:a="http://schemas.openxmlformats.org/drawingml/2006/main" w="0">
            <a:solidFill>
              <a:srgbClr val="D97A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973EE-FFBE-4E12-B353-4E199580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EECB47-880C-46CA-9CBE-0D660BD4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Rebuilt the key ratio and corrected the underlying historical 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F4AEF-446A-4FD1-908D-2EEA33E8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  <a:ln xmlns:a="http://schemas.openxmlformats.org/drawingml/2006/main" w="0">
            <a:solidFill>
              <a:srgbClr val="D97A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8371B-49E3-476F-97A1-DE038638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147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A067B-67ED-4997-976A-CAF2CC75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76625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Compared macro drivers, pandemic treatments and model structures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2D5AED-0D07-4BED-98FC-591DD7ED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86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  <a:ln xmlns:a="http://schemas.openxmlformats.org/drawingml/2006/main" w="0">
            <a:solidFill>
              <a:srgbClr val="D97A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4E94FF-B2B9-4D61-8E72-CC62CFDE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76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EC0DA6-BA7E-4E7D-8DF8-5261F441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Used several backtests to assess stability and adoption readiness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849C62-41ED-4877-BDB1-CBA9B794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57725"/>
            <a:ext cx="3267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E5"/>
          </a:solidFill>
          <a:ln xmlns:a="http://schemas.openxmlformats.org/drawingml/2006/main" w="0">
            <a:solidFill>
              <a:srgbClr val="F8E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ACC8F4-DE29-4C86-AAB5-3647374E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3076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05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05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5" b="1">
                <a:solidFill>
                  <a:srgbClr val="D97A2B"/>
                </a:solidFill>
                <a:latin typeface="Noto Sans CJK SC"/>
                <a:ea typeface="Noto Sans CJK SC"/>
                <a:cs typeface="Noto Sans CJK SC"/>
              </a:rPr>
              <a:t>DELIVERABLE   Complete evidence package and rationale for nonadoption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5BA5C6-689A-4CDF-B51E-6EDAA7E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4D9723-9213-4048-A5A3-BEC2EF25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47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rPr>
              <a:t>NONCOMP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903913-1950-4B1D-9DAE-F98BC01D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Efficiency Ratio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620179-F8B2-4DD3-896D-EC4DEFCE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346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F7"/>
          </a:solidFill>
          <a:ln xmlns:a="http://schemas.openxmlformats.org/drawingml/2006/main" w="0">
            <a:solidFill>
              <a:srgbClr val="EBED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9E7074-EDC3-4347-BA23-40B3E31B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555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35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35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35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rPr>
              <a:t>BUSINESS OBJECTIVE   Forecast baseline and stress outcomes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E7672D-F1F0-4C11-BD67-52A7EC54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62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3A9"/>
          </a:solidFill>
          <a:ln xmlns:a="http://schemas.openxmlformats.org/drawingml/2006/main" w="0">
            <a:solidFill>
              <a:srgbClr val="4E63A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32C129-35D9-44FE-96F3-CF048076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F4B816-60CC-4B87-9709-D84533A4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Addressed confirmed data issues and identified long-term structural change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11E2BC-AF1B-4771-A051-CD48A97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3A9"/>
          </a:solidFill>
          <a:ln xmlns:a="http://schemas.openxmlformats.org/drawingml/2006/main" w="0">
            <a:solidFill>
              <a:srgbClr val="4E63A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AD870F-0C65-45CB-89CB-A084152C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147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E23A98-C7DF-498C-8BF4-216AC392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Compared macro drivers and selected a model with clear business interpretation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E6D9B1-66CD-480A-9CCA-8E01C67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86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63A9"/>
          </a:solidFill>
          <a:ln xmlns:a="http://schemas.openxmlformats.org/drawingml/2006/main" w="0">
            <a:solidFill>
              <a:srgbClr val="4E63A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F75487-405F-4078-8195-F30C1F6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76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20C04B-ABF9-498F-BE94-C2613FBD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386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15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Tested single-quarter and cumulative forecasts across stress scenarios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8E7B72-B45F-4C34-AE5F-E59B8F4E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57725"/>
            <a:ext cx="3467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F7"/>
          </a:solidFill>
          <a:ln xmlns:a="http://schemas.openxmlformats.org/drawingml/2006/main" w="0">
            <a:solidFill>
              <a:srgbClr val="EBED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AD4D34-0654-424F-A0E5-CD2ACF07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05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005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05" b="1">
                <a:solidFill>
                  <a:srgbClr val="4E63A9"/>
                </a:solidFill>
                <a:latin typeface="Noto Sans CJK SC"/>
                <a:ea typeface="Noto Sans CJK SC"/>
                <a:cs typeface="Noto Sans CJK SC"/>
              </a:rPr>
              <a:t>DELIVERABLE   Scenario forecasts, reproducible code and development documentation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54BEA5-6524-49C6-A6A8-5FF41DC3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104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F16A9E-A1AB-4484-9457-D327085F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38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38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1">
                <a:solidFill>
                  <a:srgbClr val="173042"/>
                </a:solidFill>
                <a:latin typeface="Noto Sans CJK SC"/>
                <a:ea typeface="Noto Sans CJK SC"/>
                <a:cs typeface="Noto Sans CJK SC"/>
              </a:rPr>
              <a:t>Shared work across all three models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3C77A1-163D-4D74-A69A-2E9909FF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14950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40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140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My contribution: turned fragmented data and competing specifications into documented decisions that can be rerun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0010A5-4C5C-485B-B1FC-D030225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10250"/>
            <a:ext cx="1002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4"/>
          </a:solidFill>
          <a:ln xmlns:a="http://schemas.openxmlformats.org/drawingml/2006/main" w="0">
            <a:solidFill>
              <a:srgbClr val="D9E1E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F58851-B2B2-4057-A77F-5C7C04C3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423FCC-6E24-457A-9C63-A758505A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054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4F224C-E17C-4442-9F32-53D3620E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0198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Define business scope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CE9874-1813-41A0-A10F-6E4F8732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7D5062-1578-496D-89A8-D7063C6E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054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3F2030-C5AE-43A6-BF90-F9D23EF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0198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Rebuild and verify data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E6B9CB-9EF5-4681-B472-FE3921F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5F873B-455D-4A55-A29B-04AC413E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054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1414CD-6B52-4B7C-94FC-F068932F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198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Develop and compare models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309E37-CDDD-47E0-9805-83793D00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4F11DA-6D7A-44E7-B0C0-EF8ADE32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054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2F1DB2-E808-4A93-BCCB-8D63D20A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60198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Backtest and stress test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D72D4B-37BD-4C4C-81E6-EA175C9D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36DA3B-7748-499C-9777-6FB5A7B2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7054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B34DF8-6EE7-42AD-B2BD-34AD2648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0198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 b="1">
                <a:solidFill>
                  <a:srgbClr val="3E4C56"/>
                </a:solidFill>
                <a:latin typeface="Noto Sans CJK SC"/>
                <a:ea typeface="Noto Sans CJK SC"/>
                <a:cs typeface="Noto Sans CJK SC"/>
              </a:rPr>
              <a:t>Document and reproduce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4B1C8B-171E-4FBB-8D79-0CD24F6E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8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788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8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rPr>
              <a:t>Scope: Summary of current workspace deliverables. Research candidates and adopted methods are described separately.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7BA657-DA96-4E83-A9D1-B9D454E3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8652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8">
                <a:solidFill>
                  <a:srgbClr val="6F7C84"/>
                </a:solidFill>
                <a:latin typeface="Noto Sans CJK SC"/>
                <a:ea typeface="Noto Sans CJK SC"/>
                <a:cs typeface="Noto Sans CJK SC"/>
              </a:rPr>
              <a:t>2026.10.21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CDACC1-2227-4B19-A95C-0ADA2BF6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246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2"/>
          </a:solidFill>
          <a:ln xmlns:a="http://schemas.openxmlformats.org/drawingml/2006/main" w="0">
            <a:solidFill>
              <a:srgbClr val="17304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7582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2026-10-21T22:02:16.7310000Z</dcterms:created>
  <dcterms:modified xsi:type="dcterms:W3CDTF">2026-10-21T22:02:16.7310000Z</dcterms:modified>
</coreProperties>
</file>