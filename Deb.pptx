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2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73132"/>
  </p:normalViewPr>
  <p:slideViewPr>
    <p:cSldViewPr snapToGrid="0">
      <p:cViewPr varScale="1">
        <p:scale>
          <a:sx n="77" d="100"/>
          <a:sy n="77" d="100"/>
        </p:scale>
        <p:origin x="18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Raw monthly debit fee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Data'!$A$2:$A$181</c:f>
              <c:numCache>
                <c:formatCode>General</c:formatCode>
                <c:ptCount val="180"/>
                <c:pt idx="0">
                  <c:v>2011</c:v>
                </c:pt>
                <c:pt idx="1">
                  <c:v>2011.0833333329999</c:v>
                </c:pt>
                <c:pt idx="2">
                  <c:v>2011.1666666670001</c:v>
                </c:pt>
                <c:pt idx="3">
                  <c:v>2011.25</c:v>
                </c:pt>
                <c:pt idx="4">
                  <c:v>2011.3333333329999</c:v>
                </c:pt>
                <c:pt idx="5">
                  <c:v>2011.4166666670001</c:v>
                </c:pt>
                <c:pt idx="6">
                  <c:v>2011.5</c:v>
                </c:pt>
                <c:pt idx="7">
                  <c:v>2011.5833333329999</c:v>
                </c:pt>
                <c:pt idx="8">
                  <c:v>2011.6666666670001</c:v>
                </c:pt>
                <c:pt idx="9">
                  <c:v>2011.75</c:v>
                </c:pt>
                <c:pt idx="10">
                  <c:v>2011.8333333329999</c:v>
                </c:pt>
                <c:pt idx="11">
                  <c:v>2011.9166666670001</c:v>
                </c:pt>
                <c:pt idx="12">
                  <c:v>2012</c:v>
                </c:pt>
                <c:pt idx="13">
                  <c:v>2012.0833333329999</c:v>
                </c:pt>
                <c:pt idx="14">
                  <c:v>2012.1666666670001</c:v>
                </c:pt>
                <c:pt idx="15">
                  <c:v>2012.25</c:v>
                </c:pt>
                <c:pt idx="16">
                  <c:v>2012.3333333329999</c:v>
                </c:pt>
                <c:pt idx="17">
                  <c:v>2012.4166666670001</c:v>
                </c:pt>
                <c:pt idx="18">
                  <c:v>2012.5</c:v>
                </c:pt>
                <c:pt idx="19">
                  <c:v>2012.5833333329999</c:v>
                </c:pt>
                <c:pt idx="20">
                  <c:v>2012.6666666670001</c:v>
                </c:pt>
                <c:pt idx="21">
                  <c:v>2012.75</c:v>
                </c:pt>
                <c:pt idx="22">
                  <c:v>2012.8333333329999</c:v>
                </c:pt>
                <c:pt idx="23">
                  <c:v>2012.9166666670001</c:v>
                </c:pt>
                <c:pt idx="24">
                  <c:v>2013</c:v>
                </c:pt>
                <c:pt idx="25">
                  <c:v>2013.0833333329999</c:v>
                </c:pt>
                <c:pt idx="26">
                  <c:v>2013.1666666670001</c:v>
                </c:pt>
                <c:pt idx="27">
                  <c:v>2013.25</c:v>
                </c:pt>
                <c:pt idx="28">
                  <c:v>2013.3333333329999</c:v>
                </c:pt>
                <c:pt idx="29">
                  <c:v>2013.4166666670001</c:v>
                </c:pt>
                <c:pt idx="30">
                  <c:v>2013.5</c:v>
                </c:pt>
                <c:pt idx="31">
                  <c:v>2013.5833333329999</c:v>
                </c:pt>
                <c:pt idx="32">
                  <c:v>2013.6666666670001</c:v>
                </c:pt>
                <c:pt idx="33">
                  <c:v>2013.75</c:v>
                </c:pt>
                <c:pt idx="34">
                  <c:v>2013.8333333329999</c:v>
                </c:pt>
                <c:pt idx="35">
                  <c:v>2013.9166666670001</c:v>
                </c:pt>
                <c:pt idx="36">
                  <c:v>2014</c:v>
                </c:pt>
                <c:pt idx="37">
                  <c:v>2014.0833333329999</c:v>
                </c:pt>
                <c:pt idx="38">
                  <c:v>2014.1666666670001</c:v>
                </c:pt>
                <c:pt idx="39">
                  <c:v>2014.25</c:v>
                </c:pt>
                <c:pt idx="40">
                  <c:v>2014.3333333329999</c:v>
                </c:pt>
                <c:pt idx="41">
                  <c:v>2014.4166666670001</c:v>
                </c:pt>
                <c:pt idx="42">
                  <c:v>2014.5</c:v>
                </c:pt>
                <c:pt idx="43">
                  <c:v>2014.5833333329999</c:v>
                </c:pt>
                <c:pt idx="44">
                  <c:v>2014.6666666670001</c:v>
                </c:pt>
                <c:pt idx="45">
                  <c:v>2014.75</c:v>
                </c:pt>
                <c:pt idx="46">
                  <c:v>2014.8333333329999</c:v>
                </c:pt>
                <c:pt idx="47">
                  <c:v>2014.9166666670001</c:v>
                </c:pt>
                <c:pt idx="48">
                  <c:v>2015</c:v>
                </c:pt>
                <c:pt idx="49">
                  <c:v>2015.0833333329999</c:v>
                </c:pt>
                <c:pt idx="50">
                  <c:v>2015.1666666670001</c:v>
                </c:pt>
                <c:pt idx="51">
                  <c:v>2015.25</c:v>
                </c:pt>
                <c:pt idx="52">
                  <c:v>2015.3333333329999</c:v>
                </c:pt>
                <c:pt idx="53">
                  <c:v>2015.4166666670001</c:v>
                </c:pt>
                <c:pt idx="54">
                  <c:v>2015.5</c:v>
                </c:pt>
                <c:pt idx="55">
                  <c:v>2015.5833333329999</c:v>
                </c:pt>
                <c:pt idx="56">
                  <c:v>2015.6666666670001</c:v>
                </c:pt>
                <c:pt idx="57">
                  <c:v>2015.75</c:v>
                </c:pt>
                <c:pt idx="58">
                  <c:v>2015.8333333329999</c:v>
                </c:pt>
                <c:pt idx="59">
                  <c:v>2015.9166666670001</c:v>
                </c:pt>
                <c:pt idx="60">
                  <c:v>2016</c:v>
                </c:pt>
                <c:pt idx="61">
                  <c:v>2016.0833333329999</c:v>
                </c:pt>
                <c:pt idx="62">
                  <c:v>2016.1666666670001</c:v>
                </c:pt>
                <c:pt idx="63">
                  <c:v>2016.25</c:v>
                </c:pt>
                <c:pt idx="64">
                  <c:v>2016.3333333329999</c:v>
                </c:pt>
                <c:pt idx="65">
                  <c:v>2016.4166666670001</c:v>
                </c:pt>
                <c:pt idx="66">
                  <c:v>2016.5</c:v>
                </c:pt>
                <c:pt idx="67">
                  <c:v>2016.5833333329999</c:v>
                </c:pt>
                <c:pt idx="68">
                  <c:v>2016.6666666670001</c:v>
                </c:pt>
                <c:pt idx="69">
                  <c:v>2016.75</c:v>
                </c:pt>
                <c:pt idx="70">
                  <c:v>2016.8333333329999</c:v>
                </c:pt>
                <c:pt idx="71">
                  <c:v>2016.9166666670001</c:v>
                </c:pt>
                <c:pt idx="72">
                  <c:v>2017</c:v>
                </c:pt>
                <c:pt idx="73">
                  <c:v>2017.0833333329999</c:v>
                </c:pt>
                <c:pt idx="74">
                  <c:v>2017.1666666670001</c:v>
                </c:pt>
                <c:pt idx="75">
                  <c:v>2017.25</c:v>
                </c:pt>
                <c:pt idx="76">
                  <c:v>2017.3333333329999</c:v>
                </c:pt>
                <c:pt idx="77">
                  <c:v>2017.4166666670001</c:v>
                </c:pt>
                <c:pt idx="78">
                  <c:v>2017.5</c:v>
                </c:pt>
                <c:pt idx="79">
                  <c:v>2017.5833333329999</c:v>
                </c:pt>
                <c:pt idx="80">
                  <c:v>2017.6666666670001</c:v>
                </c:pt>
                <c:pt idx="81">
                  <c:v>2017.75</c:v>
                </c:pt>
                <c:pt idx="82">
                  <c:v>2017.8333333329999</c:v>
                </c:pt>
                <c:pt idx="83">
                  <c:v>2017.9166666670001</c:v>
                </c:pt>
                <c:pt idx="84">
                  <c:v>2018</c:v>
                </c:pt>
                <c:pt idx="85">
                  <c:v>2018.0833333329999</c:v>
                </c:pt>
                <c:pt idx="86">
                  <c:v>2018.1666666670001</c:v>
                </c:pt>
                <c:pt idx="87">
                  <c:v>2018.25</c:v>
                </c:pt>
                <c:pt idx="88">
                  <c:v>2018.3333333329999</c:v>
                </c:pt>
                <c:pt idx="89">
                  <c:v>2018.4166666670001</c:v>
                </c:pt>
                <c:pt idx="90">
                  <c:v>2018.5</c:v>
                </c:pt>
                <c:pt idx="91">
                  <c:v>2018.5833333329999</c:v>
                </c:pt>
                <c:pt idx="92">
                  <c:v>2018.6666666670001</c:v>
                </c:pt>
                <c:pt idx="93">
                  <c:v>2018.75</c:v>
                </c:pt>
                <c:pt idx="94">
                  <c:v>2018.8333333329999</c:v>
                </c:pt>
                <c:pt idx="95">
                  <c:v>2018.9166666670001</c:v>
                </c:pt>
                <c:pt idx="96">
                  <c:v>2019</c:v>
                </c:pt>
                <c:pt idx="97">
                  <c:v>2019.0833333329999</c:v>
                </c:pt>
                <c:pt idx="98">
                  <c:v>2019.1666666670001</c:v>
                </c:pt>
                <c:pt idx="99">
                  <c:v>2019.25</c:v>
                </c:pt>
                <c:pt idx="100">
                  <c:v>2019.3333333329999</c:v>
                </c:pt>
                <c:pt idx="101">
                  <c:v>2019.4166666670001</c:v>
                </c:pt>
                <c:pt idx="102">
                  <c:v>2019.5</c:v>
                </c:pt>
                <c:pt idx="103">
                  <c:v>2019.5833333329999</c:v>
                </c:pt>
                <c:pt idx="104">
                  <c:v>2019.6666666670001</c:v>
                </c:pt>
                <c:pt idx="105">
                  <c:v>2019.75</c:v>
                </c:pt>
                <c:pt idx="106">
                  <c:v>2019.8333333329999</c:v>
                </c:pt>
                <c:pt idx="107">
                  <c:v>2019.9166666670001</c:v>
                </c:pt>
                <c:pt idx="108">
                  <c:v>2020</c:v>
                </c:pt>
                <c:pt idx="109">
                  <c:v>2020.0833333329999</c:v>
                </c:pt>
                <c:pt idx="110">
                  <c:v>2020.1666666670001</c:v>
                </c:pt>
                <c:pt idx="111">
                  <c:v>2020.25</c:v>
                </c:pt>
                <c:pt idx="112">
                  <c:v>2020.3333333329999</c:v>
                </c:pt>
                <c:pt idx="113">
                  <c:v>2020.4166666670001</c:v>
                </c:pt>
                <c:pt idx="114">
                  <c:v>2020.5</c:v>
                </c:pt>
                <c:pt idx="115">
                  <c:v>2020.5833333329999</c:v>
                </c:pt>
                <c:pt idx="116">
                  <c:v>2020.6666666670001</c:v>
                </c:pt>
                <c:pt idx="117">
                  <c:v>2020.75</c:v>
                </c:pt>
                <c:pt idx="118">
                  <c:v>2020.8333333329999</c:v>
                </c:pt>
                <c:pt idx="119">
                  <c:v>2020.9166666670001</c:v>
                </c:pt>
                <c:pt idx="120">
                  <c:v>2021</c:v>
                </c:pt>
                <c:pt idx="121">
                  <c:v>2021.0833333329999</c:v>
                </c:pt>
                <c:pt idx="122">
                  <c:v>2021.1666666670001</c:v>
                </c:pt>
                <c:pt idx="123">
                  <c:v>2021.25</c:v>
                </c:pt>
                <c:pt idx="124">
                  <c:v>2021.3333333329999</c:v>
                </c:pt>
                <c:pt idx="125">
                  <c:v>2021.4166666670001</c:v>
                </c:pt>
                <c:pt idx="126">
                  <c:v>2021.5</c:v>
                </c:pt>
                <c:pt idx="127">
                  <c:v>2021.5833333329999</c:v>
                </c:pt>
                <c:pt idx="128">
                  <c:v>2021.6666666670001</c:v>
                </c:pt>
                <c:pt idx="129">
                  <c:v>2021.75</c:v>
                </c:pt>
                <c:pt idx="130">
                  <c:v>2021.8333333329999</c:v>
                </c:pt>
                <c:pt idx="131">
                  <c:v>2021.9166666670001</c:v>
                </c:pt>
                <c:pt idx="132">
                  <c:v>2022</c:v>
                </c:pt>
                <c:pt idx="133">
                  <c:v>2022.0833333329999</c:v>
                </c:pt>
                <c:pt idx="134">
                  <c:v>2022.1666666670001</c:v>
                </c:pt>
                <c:pt idx="135">
                  <c:v>2022.25</c:v>
                </c:pt>
                <c:pt idx="136">
                  <c:v>2022.3333333329999</c:v>
                </c:pt>
                <c:pt idx="137">
                  <c:v>2022.4166666670001</c:v>
                </c:pt>
                <c:pt idx="138">
                  <c:v>2022.5</c:v>
                </c:pt>
                <c:pt idx="139">
                  <c:v>2022.5833333329999</c:v>
                </c:pt>
                <c:pt idx="140">
                  <c:v>2022.6666666670001</c:v>
                </c:pt>
                <c:pt idx="141">
                  <c:v>2022.75</c:v>
                </c:pt>
                <c:pt idx="142">
                  <c:v>2022.8333333329999</c:v>
                </c:pt>
                <c:pt idx="143">
                  <c:v>2022.9166666670001</c:v>
                </c:pt>
                <c:pt idx="144">
                  <c:v>2023</c:v>
                </c:pt>
                <c:pt idx="145">
                  <c:v>2023.0833333329999</c:v>
                </c:pt>
                <c:pt idx="146">
                  <c:v>2023.1666666670001</c:v>
                </c:pt>
                <c:pt idx="147">
                  <c:v>2023.25</c:v>
                </c:pt>
                <c:pt idx="148">
                  <c:v>2023.3333333329999</c:v>
                </c:pt>
                <c:pt idx="149">
                  <c:v>2023.4166666670001</c:v>
                </c:pt>
                <c:pt idx="150">
                  <c:v>2023.5</c:v>
                </c:pt>
                <c:pt idx="151">
                  <c:v>2023.5833333329999</c:v>
                </c:pt>
                <c:pt idx="152">
                  <c:v>2023.6666666670001</c:v>
                </c:pt>
                <c:pt idx="153">
                  <c:v>2023.75</c:v>
                </c:pt>
                <c:pt idx="154">
                  <c:v>2023.8333333329999</c:v>
                </c:pt>
                <c:pt idx="155">
                  <c:v>2023.9166666670001</c:v>
                </c:pt>
                <c:pt idx="156">
                  <c:v>2024</c:v>
                </c:pt>
                <c:pt idx="157">
                  <c:v>2024.0833333329999</c:v>
                </c:pt>
                <c:pt idx="158">
                  <c:v>2024.1666666670001</c:v>
                </c:pt>
                <c:pt idx="159">
                  <c:v>2024.25</c:v>
                </c:pt>
                <c:pt idx="160">
                  <c:v>2024.3333333329999</c:v>
                </c:pt>
                <c:pt idx="161">
                  <c:v>2024.4166666670001</c:v>
                </c:pt>
                <c:pt idx="162">
                  <c:v>2024.5</c:v>
                </c:pt>
                <c:pt idx="163">
                  <c:v>2024.5833333329999</c:v>
                </c:pt>
                <c:pt idx="164">
                  <c:v>2024.6666666670001</c:v>
                </c:pt>
                <c:pt idx="165">
                  <c:v>2024.75</c:v>
                </c:pt>
                <c:pt idx="166">
                  <c:v>2024.8333333329999</c:v>
                </c:pt>
                <c:pt idx="167">
                  <c:v>2024.9166666670001</c:v>
                </c:pt>
                <c:pt idx="168">
                  <c:v>2025</c:v>
                </c:pt>
                <c:pt idx="169">
                  <c:v>2025.0833333329999</c:v>
                </c:pt>
                <c:pt idx="170">
                  <c:v>2025.1666666670001</c:v>
                </c:pt>
                <c:pt idx="171">
                  <c:v>2025.25</c:v>
                </c:pt>
                <c:pt idx="172">
                  <c:v>2025.3333333329999</c:v>
                </c:pt>
                <c:pt idx="173">
                  <c:v>2025.4166666670001</c:v>
                </c:pt>
                <c:pt idx="174">
                  <c:v>2025.5</c:v>
                </c:pt>
                <c:pt idx="175">
                  <c:v>2025.5833333329999</c:v>
                </c:pt>
                <c:pt idx="176">
                  <c:v>2025.6666666670001</c:v>
                </c:pt>
                <c:pt idx="177">
                  <c:v>2025.75</c:v>
                </c:pt>
                <c:pt idx="178">
                  <c:v>2025.8333333329999</c:v>
                </c:pt>
                <c:pt idx="179">
                  <c:v>2025.9166666670001</c:v>
                </c:pt>
              </c:numCache>
            </c:numRef>
          </c:xVal>
          <c:yVal>
            <c:numRef>
              <c:f>'Chart Data'!$B$2:$B$181</c:f>
              <c:numCache>
                <c:formatCode>#,##0</c:formatCode>
                <c:ptCount val="180"/>
                <c:pt idx="0">
                  <c:v>1832</c:v>
                </c:pt>
                <c:pt idx="1">
                  <c:v>2000</c:v>
                </c:pt>
                <c:pt idx="2">
                  <c:v>2597</c:v>
                </c:pt>
                <c:pt idx="3">
                  <c:v>2200</c:v>
                </c:pt>
                <c:pt idx="4">
                  <c:v>2478</c:v>
                </c:pt>
                <c:pt idx="5">
                  <c:v>2317</c:v>
                </c:pt>
                <c:pt idx="6">
                  <c:v>2061</c:v>
                </c:pt>
                <c:pt idx="7">
                  <c:v>2546</c:v>
                </c:pt>
                <c:pt idx="8">
                  <c:v>2189</c:v>
                </c:pt>
                <c:pt idx="9">
                  <c:v>890</c:v>
                </c:pt>
                <c:pt idx="10">
                  <c:v>795</c:v>
                </c:pt>
                <c:pt idx="11">
                  <c:v>738</c:v>
                </c:pt>
                <c:pt idx="12">
                  <c:v>650</c:v>
                </c:pt>
                <c:pt idx="13">
                  <c:v>694</c:v>
                </c:pt>
                <c:pt idx="14">
                  <c:v>1650</c:v>
                </c:pt>
                <c:pt idx="15">
                  <c:v>1013</c:v>
                </c:pt>
                <c:pt idx="16">
                  <c:v>983</c:v>
                </c:pt>
                <c:pt idx="17">
                  <c:v>1084</c:v>
                </c:pt>
                <c:pt idx="18">
                  <c:v>985</c:v>
                </c:pt>
                <c:pt idx="19">
                  <c:v>1040</c:v>
                </c:pt>
                <c:pt idx="20">
                  <c:v>793</c:v>
                </c:pt>
                <c:pt idx="21">
                  <c:v>962</c:v>
                </c:pt>
                <c:pt idx="22">
                  <c:v>912</c:v>
                </c:pt>
                <c:pt idx="23">
                  <c:v>2916</c:v>
                </c:pt>
                <c:pt idx="24">
                  <c:v>649</c:v>
                </c:pt>
                <c:pt idx="25">
                  <c:v>759</c:v>
                </c:pt>
                <c:pt idx="26">
                  <c:v>880</c:v>
                </c:pt>
                <c:pt idx="27">
                  <c:v>1047</c:v>
                </c:pt>
                <c:pt idx="28">
                  <c:v>1022</c:v>
                </c:pt>
                <c:pt idx="29">
                  <c:v>864</c:v>
                </c:pt>
                <c:pt idx="30">
                  <c:v>931</c:v>
                </c:pt>
                <c:pt idx="31">
                  <c:v>906</c:v>
                </c:pt>
                <c:pt idx="32">
                  <c:v>969</c:v>
                </c:pt>
                <c:pt idx="33">
                  <c:v>1107</c:v>
                </c:pt>
                <c:pt idx="34">
                  <c:v>1032</c:v>
                </c:pt>
                <c:pt idx="35">
                  <c:v>839</c:v>
                </c:pt>
                <c:pt idx="36">
                  <c:v>696</c:v>
                </c:pt>
                <c:pt idx="37">
                  <c:v>846</c:v>
                </c:pt>
                <c:pt idx="38">
                  <c:v>1506</c:v>
                </c:pt>
                <c:pt idx="39">
                  <c:v>986</c:v>
                </c:pt>
                <c:pt idx="40">
                  <c:v>1095</c:v>
                </c:pt>
                <c:pt idx="41">
                  <c:v>1504</c:v>
                </c:pt>
                <c:pt idx="42">
                  <c:v>1105</c:v>
                </c:pt>
                <c:pt idx="43">
                  <c:v>1075</c:v>
                </c:pt>
                <c:pt idx="44">
                  <c:v>1133</c:v>
                </c:pt>
                <c:pt idx="45">
                  <c:v>1069</c:v>
                </c:pt>
                <c:pt idx="46">
                  <c:v>1238</c:v>
                </c:pt>
                <c:pt idx="47">
                  <c:v>1020</c:v>
                </c:pt>
                <c:pt idx="48">
                  <c:v>1229</c:v>
                </c:pt>
                <c:pt idx="49">
                  <c:v>1252</c:v>
                </c:pt>
                <c:pt idx="50">
                  <c:v>1489</c:v>
                </c:pt>
                <c:pt idx="51">
                  <c:v>1395</c:v>
                </c:pt>
                <c:pt idx="52">
                  <c:v>1365</c:v>
                </c:pt>
                <c:pt idx="53">
                  <c:v>1491</c:v>
                </c:pt>
                <c:pt idx="54">
                  <c:v>1415</c:v>
                </c:pt>
                <c:pt idx="55">
                  <c:v>1423</c:v>
                </c:pt>
                <c:pt idx="56">
                  <c:v>1340</c:v>
                </c:pt>
                <c:pt idx="57">
                  <c:v>1347</c:v>
                </c:pt>
                <c:pt idx="58">
                  <c:v>1433</c:v>
                </c:pt>
                <c:pt idx="59">
                  <c:v>1503</c:v>
                </c:pt>
                <c:pt idx="60">
                  <c:v>1245</c:v>
                </c:pt>
                <c:pt idx="61">
                  <c:v>1434</c:v>
                </c:pt>
                <c:pt idx="62">
                  <c:v>1511</c:v>
                </c:pt>
                <c:pt idx="63">
                  <c:v>1389</c:v>
                </c:pt>
                <c:pt idx="64">
                  <c:v>1575</c:v>
                </c:pt>
                <c:pt idx="65">
                  <c:v>1389</c:v>
                </c:pt>
                <c:pt idx="66">
                  <c:v>1352</c:v>
                </c:pt>
                <c:pt idx="67">
                  <c:v>1562</c:v>
                </c:pt>
                <c:pt idx="68">
                  <c:v>1371</c:v>
                </c:pt>
                <c:pt idx="69">
                  <c:v>1458</c:v>
                </c:pt>
                <c:pt idx="70">
                  <c:v>1383</c:v>
                </c:pt>
                <c:pt idx="71">
                  <c:v>1461</c:v>
                </c:pt>
                <c:pt idx="72">
                  <c:v>1397</c:v>
                </c:pt>
                <c:pt idx="73">
                  <c:v>1314</c:v>
                </c:pt>
                <c:pt idx="74">
                  <c:v>1499</c:v>
                </c:pt>
                <c:pt idx="75">
                  <c:v>1378</c:v>
                </c:pt>
                <c:pt idx="76">
                  <c:v>1602</c:v>
                </c:pt>
                <c:pt idx="77">
                  <c:v>1423</c:v>
                </c:pt>
                <c:pt idx="78">
                  <c:v>1494</c:v>
                </c:pt>
                <c:pt idx="79">
                  <c:v>1466</c:v>
                </c:pt>
                <c:pt idx="80">
                  <c:v>1313</c:v>
                </c:pt>
                <c:pt idx="81">
                  <c:v>1519</c:v>
                </c:pt>
                <c:pt idx="82">
                  <c:v>1385</c:v>
                </c:pt>
                <c:pt idx="83">
                  <c:v>1448</c:v>
                </c:pt>
                <c:pt idx="84">
                  <c:v>1240</c:v>
                </c:pt>
                <c:pt idx="85">
                  <c:v>1511</c:v>
                </c:pt>
                <c:pt idx="86">
                  <c:v>1614</c:v>
                </c:pt>
                <c:pt idx="87">
                  <c:v>1515</c:v>
                </c:pt>
                <c:pt idx="88">
                  <c:v>1525</c:v>
                </c:pt>
                <c:pt idx="89">
                  <c:v>1491</c:v>
                </c:pt>
                <c:pt idx="90">
                  <c:v>1536</c:v>
                </c:pt>
                <c:pt idx="91">
                  <c:v>1493</c:v>
                </c:pt>
                <c:pt idx="92">
                  <c:v>1431</c:v>
                </c:pt>
                <c:pt idx="93">
                  <c:v>1524</c:v>
                </c:pt>
                <c:pt idx="94">
                  <c:v>1463</c:v>
                </c:pt>
                <c:pt idx="95">
                  <c:v>1591</c:v>
                </c:pt>
                <c:pt idx="96">
                  <c:v>1424</c:v>
                </c:pt>
                <c:pt idx="97">
                  <c:v>1380</c:v>
                </c:pt>
                <c:pt idx="98">
                  <c:v>1626</c:v>
                </c:pt>
                <c:pt idx="99">
                  <c:v>1606</c:v>
                </c:pt>
                <c:pt idx="100">
                  <c:v>1765</c:v>
                </c:pt>
                <c:pt idx="101">
                  <c:v>1776</c:v>
                </c:pt>
                <c:pt idx="102">
                  <c:v>1482</c:v>
                </c:pt>
                <c:pt idx="103">
                  <c:v>1336</c:v>
                </c:pt>
                <c:pt idx="104">
                  <c:v>1461</c:v>
                </c:pt>
                <c:pt idx="105">
                  <c:v>1426</c:v>
                </c:pt>
                <c:pt idx="106">
                  <c:v>1326</c:v>
                </c:pt>
                <c:pt idx="107">
                  <c:v>1461</c:v>
                </c:pt>
                <c:pt idx="108">
                  <c:v>1486</c:v>
                </c:pt>
                <c:pt idx="109">
                  <c:v>1256</c:v>
                </c:pt>
                <c:pt idx="110">
                  <c:v>1355</c:v>
                </c:pt>
                <c:pt idx="111">
                  <c:v>1186</c:v>
                </c:pt>
                <c:pt idx="112">
                  <c:v>1377</c:v>
                </c:pt>
                <c:pt idx="113">
                  <c:v>1391</c:v>
                </c:pt>
                <c:pt idx="114">
                  <c:v>1464</c:v>
                </c:pt>
                <c:pt idx="115">
                  <c:v>1469</c:v>
                </c:pt>
                <c:pt idx="116">
                  <c:v>1361</c:v>
                </c:pt>
                <c:pt idx="117">
                  <c:v>1520</c:v>
                </c:pt>
                <c:pt idx="118">
                  <c:v>1408</c:v>
                </c:pt>
                <c:pt idx="119">
                  <c:v>1471</c:v>
                </c:pt>
                <c:pt idx="120">
                  <c:v>1616</c:v>
                </c:pt>
                <c:pt idx="121">
                  <c:v>1297</c:v>
                </c:pt>
                <c:pt idx="122">
                  <c:v>1743</c:v>
                </c:pt>
                <c:pt idx="123">
                  <c:v>1565</c:v>
                </c:pt>
                <c:pt idx="124">
                  <c:v>1675</c:v>
                </c:pt>
                <c:pt idx="125">
                  <c:v>1610</c:v>
                </c:pt>
                <c:pt idx="126">
                  <c:v>1529</c:v>
                </c:pt>
                <c:pt idx="127">
                  <c:v>1555</c:v>
                </c:pt>
                <c:pt idx="128">
                  <c:v>1516</c:v>
                </c:pt>
                <c:pt idx="129">
                  <c:v>1164</c:v>
                </c:pt>
                <c:pt idx="130">
                  <c:v>1398</c:v>
                </c:pt>
                <c:pt idx="131">
                  <c:v>1604</c:v>
                </c:pt>
                <c:pt idx="132">
                  <c:v>1818</c:v>
                </c:pt>
                <c:pt idx="133">
                  <c:v>2014</c:v>
                </c:pt>
                <c:pt idx="134">
                  <c:v>1704</c:v>
                </c:pt>
                <c:pt idx="135">
                  <c:v>1871</c:v>
                </c:pt>
                <c:pt idx="136">
                  <c:v>1698</c:v>
                </c:pt>
                <c:pt idx="137">
                  <c:v>1604</c:v>
                </c:pt>
                <c:pt idx="138">
                  <c:v>1562</c:v>
                </c:pt>
                <c:pt idx="139">
                  <c:v>1572</c:v>
                </c:pt>
                <c:pt idx="140">
                  <c:v>1543</c:v>
                </c:pt>
                <c:pt idx="141">
                  <c:v>1666</c:v>
                </c:pt>
                <c:pt idx="142">
                  <c:v>1500</c:v>
                </c:pt>
                <c:pt idx="143">
                  <c:v>1687</c:v>
                </c:pt>
                <c:pt idx="144">
                  <c:v>1636</c:v>
                </c:pt>
                <c:pt idx="145">
                  <c:v>1481</c:v>
                </c:pt>
                <c:pt idx="146">
                  <c:v>1773</c:v>
                </c:pt>
                <c:pt idx="147">
                  <c:v>1654</c:v>
                </c:pt>
                <c:pt idx="148">
                  <c:v>1716</c:v>
                </c:pt>
                <c:pt idx="149">
                  <c:v>1634</c:v>
                </c:pt>
                <c:pt idx="150">
                  <c:v>1772</c:v>
                </c:pt>
                <c:pt idx="151">
                  <c:v>1713</c:v>
                </c:pt>
                <c:pt idx="152">
                  <c:v>1543</c:v>
                </c:pt>
                <c:pt idx="153">
                  <c:v>1831</c:v>
                </c:pt>
                <c:pt idx="154">
                  <c:v>1591</c:v>
                </c:pt>
                <c:pt idx="155">
                  <c:v>1703</c:v>
                </c:pt>
                <c:pt idx="156">
                  <c:v>981</c:v>
                </c:pt>
                <c:pt idx="157">
                  <c:v>1425</c:v>
                </c:pt>
                <c:pt idx="158">
                  <c:v>1742</c:v>
                </c:pt>
                <c:pt idx="159">
                  <c:v>1633</c:v>
                </c:pt>
                <c:pt idx="160">
                  <c:v>1663</c:v>
                </c:pt>
                <c:pt idx="161">
                  <c:v>1577</c:v>
                </c:pt>
                <c:pt idx="162">
                  <c:v>1570</c:v>
                </c:pt>
                <c:pt idx="163">
                  <c:v>1598</c:v>
                </c:pt>
                <c:pt idx="164">
                  <c:v>1523</c:v>
                </c:pt>
                <c:pt idx="165">
                  <c:v>1704</c:v>
                </c:pt>
                <c:pt idx="166">
                  <c:v>1532</c:v>
                </c:pt>
                <c:pt idx="167">
                  <c:v>1713</c:v>
                </c:pt>
                <c:pt idx="168">
                  <c:v>1437</c:v>
                </c:pt>
                <c:pt idx="169">
                  <c:v>1421</c:v>
                </c:pt>
                <c:pt idx="170">
                  <c:v>1742</c:v>
                </c:pt>
                <c:pt idx="171">
                  <c:v>1614</c:v>
                </c:pt>
                <c:pt idx="172">
                  <c:v>1669</c:v>
                </c:pt>
                <c:pt idx="173">
                  <c:v>1586</c:v>
                </c:pt>
                <c:pt idx="174">
                  <c:v>1628</c:v>
                </c:pt>
                <c:pt idx="175">
                  <c:v>1786</c:v>
                </c:pt>
                <c:pt idx="176">
                  <c:v>1574</c:v>
                </c:pt>
                <c:pt idx="177">
                  <c:v>1650</c:v>
                </c:pt>
                <c:pt idx="178">
                  <c:v>1524</c:v>
                </c:pt>
                <c:pt idx="179">
                  <c:v>1689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5F8-5344-85CA-230B4CB71F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800"/>
      </c:valAx>
      <c:valAx>
        <c:axId val="48650112"/>
        <c:scaling>
          <c:orientation val="minMax"/>
          <c:max val="2026"/>
          <c:min val="2011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Monthly fee revenue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#,##0</c:formatCode>
                <c:ptCount val="12"/>
                <c:pt idx="0">
                  <c:v>1832</c:v>
                </c:pt>
                <c:pt idx="1">
                  <c:v>2000</c:v>
                </c:pt>
                <c:pt idx="2">
                  <c:v>2597</c:v>
                </c:pt>
                <c:pt idx="3">
                  <c:v>2200</c:v>
                </c:pt>
                <c:pt idx="4">
                  <c:v>2478</c:v>
                </c:pt>
                <c:pt idx="5">
                  <c:v>2317</c:v>
                </c:pt>
                <c:pt idx="6">
                  <c:v>2061</c:v>
                </c:pt>
                <c:pt idx="7">
                  <c:v>2546</c:v>
                </c:pt>
                <c:pt idx="8">
                  <c:v>2189</c:v>
                </c:pt>
                <c:pt idx="9">
                  <c:v>890</c:v>
                </c:pt>
                <c:pt idx="10">
                  <c:v>795</c:v>
                </c:pt>
                <c:pt idx="11">
                  <c:v>738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D67-564D-8104-53E617C537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3000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750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 of 2011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Raw fee revenue</c:v>
          </c:tx>
          <c:spPr>
            <a:ln w="22860">
              <a:solidFill>
                <a:srgbClr val="C77933"/>
              </a:solidFill>
            </a:ln>
          </c:spPr>
          <c:marker>
            <c:symbol val="none"/>
          </c:marker>
          <c:cat>
            <c:strRef>
              <c:f>'Chart Data'!$A$2:$A$14</c:f>
              <c:strCache>
                <c:ptCount val="13"/>
                <c:pt idx="0">
                  <c:v>Jan 12</c:v>
                </c:pt>
                <c:pt idx="1">
                  <c:v>Feb 12</c:v>
                </c:pt>
                <c:pt idx="2">
                  <c:v>Mar 12</c:v>
                </c:pt>
                <c:pt idx="3">
                  <c:v>Apr 12</c:v>
                </c:pt>
                <c:pt idx="4">
                  <c:v>May 12</c:v>
                </c:pt>
                <c:pt idx="5">
                  <c:v>Jun 12</c:v>
                </c:pt>
                <c:pt idx="6">
                  <c:v>Jul 12</c:v>
                </c:pt>
                <c:pt idx="7">
                  <c:v>Aug 12</c:v>
                </c:pt>
                <c:pt idx="8">
                  <c:v>Sep 12</c:v>
                </c:pt>
                <c:pt idx="9">
                  <c:v>Oct 12</c:v>
                </c:pt>
                <c:pt idx="10">
                  <c:v>Nov 12</c:v>
                </c:pt>
                <c:pt idx="11">
                  <c:v>Dec 12</c:v>
                </c:pt>
                <c:pt idx="12">
                  <c:v>Jan 13</c:v>
                </c:pt>
              </c:strCache>
            </c:strRef>
          </c:cat>
          <c:val>
            <c:numRef>
              <c:f>'Chart Data'!$B$2:$B$14</c:f>
              <c:numCache>
                <c:formatCode>#,##0</c:formatCode>
                <c:ptCount val="13"/>
                <c:pt idx="0">
                  <c:v>650</c:v>
                </c:pt>
                <c:pt idx="1">
                  <c:v>694</c:v>
                </c:pt>
                <c:pt idx="2">
                  <c:v>1650</c:v>
                </c:pt>
                <c:pt idx="3">
                  <c:v>1013</c:v>
                </c:pt>
                <c:pt idx="4">
                  <c:v>983</c:v>
                </c:pt>
                <c:pt idx="5">
                  <c:v>1084</c:v>
                </c:pt>
                <c:pt idx="6">
                  <c:v>985</c:v>
                </c:pt>
                <c:pt idx="7">
                  <c:v>1040</c:v>
                </c:pt>
                <c:pt idx="8">
                  <c:v>793</c:v>
                </c:pt>
                <c:pt idx="9">
                  <c:v>962</c:v>
                </c:pt>
                <c:pt idx="10">
                  <c:v>912</c:v>
                </c:pt>
                <c:pt idx="11">
                  <c:v>2916</c:v>
                </c:pt>
                <c:pt idx="12">
                  <c:v>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9A2-AF48-AB78-B75465AD0536}"/>
            </c:ext>
          </c:extLst>
        </c:ser>
        <c:ser>
          <c:idx val="1"/>
          <c:order val="1"/>
          <c:tx>
            <c:v>Adjusted fee revenue</c:v>
          </c:tx>
          <c:spPr>
            <a:ln w="22860">
              <a:solidFill>
                <a:srgbClr val="006C98"/>
              </a:solidFill>
            </a:ln>
          </c:spPr>
          <c:marker>
            <c:symbol val="none"/>
          </c:marker>
          <c:cat>
            <c:strRef>
              <c:f>'Chart Data'!$C$2:$C$14</c:f>
              <c:strCache>
                <c:ptCount val="13"/>
                <c:pt idx="0">
                  <c:v>Jan 12</c:v>
                </c:pt>
                <c:pt idx="1">
                  <c:v>Feb 12</c:v>
                </c:pt>
                <c:pt idx="2">
                  <c:v>Mar 12</c:v>
                </c:pt>
                <c:pt idx="3">
                  <c:v>Apr 12</c:v>
                </c:pt>
                <c:pt idx="4">
                  <c:v>May 12</c:v>
                </c:pt>
                <c:pt idx="5">
                  <c:v>Jun 12</c:v>
                </c:pt>
                <c:pt idx="6">
                  <c:v>Jul 12</c:v>
                </c:pt>
                <c:pt idx="7">
                  <c:v>Aug 12</c:v>
                </c:pt>
                <c:pt idx="8">
                  <c:v>Sep 12</c:v>
                </c:pt>
                <c:pt idx="9">
                  <c:v>Oct 12</c:v>
                </c:pt>
                <c:pt idx="10">
                  <c:v>Nov 12</c:v>
                </c:pt>
                <c:pt idx="11">
                  <c:v>Dec 12</c:v>
                </c:pt>
                <c:pt idx="12">
                  <c:v>Jan 13</c:v>
                </c:pt>
              </c:strCache>
            </c:strRef>
          </c:cat>
          <c:val>
            <c:numRef>
              <c:f>'Chart Data'!$D$2:$D$14</c:f>
              <c:numCache>
                <c:formatCode>#,##0</c:formatCode>
                <c:ptCount val="13"/>
                <c:pt idx="0">
                  <c:v>650</c:v>
                </c:pt>
                <c:pt idx="1">
                  <c:v>694</c:v>
                </c:pt>
                <c:pt idx="2">
                  <c:v>853.5</c:v>
                </c:pt>
                <c:pt idx="3">
                  <c:v>1013</c:v>
                </c:pt>
                <c:pt idx="4">
                  <c:v>983</c:v>
                </c:pt>
                <c:pt idx="5">
                  <c:v>1084</c:v>
                </c:pt>
                <c:pt idx="6">
                  <c:v>985</c:v>
                </c:pt>
                <c:pt idx="7">
                  <c:v>1040</c:v>
                </c:pt>
                <c:pt idx="8">
                  <c:v>793</c:v>
                </c:pt>
                <c:pt idx="9">
                  <c:v>962</c:v>
                </c:pt>
                <c:pt idx="10">
                  <c:v>912</c:v>
                </c:pt>
                <c:pt idx="11">
                  <c:v>780.5</c:v>
                </c:pt>
                <c:pt idx="12">
                  <c:v>649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9A2-AF48-AB78-B75465AD05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January 2012 to January 2013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200"/>
          <c:min val="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</c:title>
        <c:numFmt formatCode="#,##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800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350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Monthly debit fee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Data'!$A$2:$A$13</c:f>
              <c:numCache>
                <c:formatCode>General</c:formatCod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numCache>
            </c:numRef>
          </c:xVal>
          <c:yVal>
            <c:numRef>
              <c:f>'Chart Data'!$B$2:$B$13</c:f>
              <c:numCache>
                <c:formatCode>#,##0</c:formatCode>
                <c:ptCount val="12"/>
                <c:pt idx="0">
                  <c:v>696</c:v>
                </c:pt>
                <c:pt idx="1">
                  <c:v>846</c:v>
                </c:pt>
                <c:pt idx="2">
                  <c:v>1506</c:v>
                </c:pt>
                <c:pt idx="3">
                  <c:v>986</c:v>
                </c:pt>
                <c:pt idx="4">
                  <c:v>1095</c:v>
                </c:pt>
                <c:pt idx="5">
                  <c:v>1504</c:v>
                </c:pt>
                <c:pt idx="6">
                  <c:v>1105</c:v>
                </c:pt>
                <c:pt idx="7">
                  <c:v>1075</c:v>
                </c:pt>
                <c:pt idx="8">
                  <c:v>1133</c:v>
                </c:pt>
                <c:pt idx="9">
                  <c:v>1069</c:v>
                </c:pt>
                <c:pt idx="10">
                  <c:v>1238</c:v>
                </c:pt>
                <c:pt idx="11">
                  <c:v>1020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2168-E240-B0CA-B185849C0E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600"/>
          <c:min val="6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Monthly fee revenue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200"/>
      </c:valAx>
      <c:valAx>
        <c:axId val="48650112"/>
        <c:scaling>
          <c:orientation val="minMax"/>
          <c:max val="12"/>
          <c:min val="1"/>
        </c:scaling>
        <c:delete val="0"/>
        <c:axPos val="b"/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Month of 2014</a:t>
                </a:r>
              </a:p>
            </c:rich>
          </c:tx>
          <c:overlay val="0"/>
        </c:title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Adjusted quarterly fee</c:v>
          </c:tx>
          <c:spPr>
            <a:ln w="22860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Data'!$A$2:$A$57</c:f>
              <c:numCache>
                <c:formatCode>General</c:formatCode>
                <c:ptCount val="56"/>
                <c:pt idx="0">
                  <c:v>2012.1666666670001</c:v>
                </c:pt>
                <c:pt idx="1">
                  <c:v>2012.4166666670001</c:v>
                </c:pt>
                <c:pt idx="2">
                  <c:v>2012.6666666670001</c:v>
                </c:pt>
                <c:pt idx="3">
                  <c:v>2012.9166666670001</c:v>
                </c:pt>
                <c:pt idx="4">
                  <c:v>2013.1666666670001</c:v>
                </c:pt>
                <c:pt idx="5">
                  <c:v>2013.4166666670001</c:v>
                </c:pt>
                <c:pt idx="6">
                  <c:v>2013.6666666670001</c:v>
                </c:pt>
                <c:pt idx="7">
                  <c:v>2013.9166666670001</c:v>
                </c:pt>
                <c:pt idx="8">
                  <c:v>2014.1666666670001</c:v>
                </c:pt>
                <c:pt idx="9">
                  <c:v>2014.4166666670001</c:v>
                </c:pt>
                <c:pt idx="10">
                  <c:v>2014.6666666670001</c:v>
                </c:pt>
                <c:pt idx="11">
                  <c:v>2014.9166666670001</c:v>
                </c:pt>
                <c:pt idx="12">
                  <c:v>2015.1666666670001</c:v>
                </c:pt>
                <c:pt idx="13">
                  <c:v>2015.4166666670001</c:v>
                </c:pt>
                <c:pt idx="14">
                  <c:v>2015.6666666670001</c:v>
                </c:pt>
                <c:pt idx="15">
                  <c:v>2015.9166666670001</c:v>
                </c:pt>
                <c:pt idx="16">
                  <c:v>2016.1666666670001</c:v>
                </c:pt>
                <c:pt idx="17">
                  <c:v>2016.4166666670001</c:v>
                </c:pt>
                <c:pt idx="18">
                  <c:v>2016.6666666670001</c:v>
                </c:pt>
                <c:pt idx="19">
                  <c:v>2016.9166666670001</c:v>
                </c:pt>
                <c:pt idx="20">
                  <c:v>2017.1666666670001</c:v>
                </c:pt>
                <c:pt idx="21">
                  <c:v>2017.4166666670001</c:v>
                </c:pt>
                <c:pt idx="22">
                  <c:v>2017.6666666670001</c:v>
                </c:pt>
                <c:pt idx="23">
                  <c:v>2017.9166666670001</c:v>
                </c:pt>
                <c:pt idx="24">
                  <c:v>2018.1666666670001</c:v>
                </c:pt>
                <c:pt idx="25">
                  <c:v>2018.4166666670001</c:v>
                </c:pt>
                <c:pt idx="26">
                  <c:v>2018.6666666670001</c:v>
                </c:pt>
                <c:pt idx="27">
                  <c:v>2018.9166666670001</c:v>
                </c:pt>
                <c:pt idx="28">
                  <c:v>2019.1666666670001</c:v>
                </c:pt>
                <c:pt idx="29">
                  <c:v>2019.4166666670001</c:v>
                </c:pt>
                <c:pt idx="30">
                  <c:v>2019.6666666670001</c:v>
                </c:pt>
                <c:pt idx="31">
                  <c:v>2019.9166666670001</c:v>
                </c:pt>
                <c:pt idx="32">
                  <c:v>2020.1666666670001</c:v>
                </c:pt>
                <c:pt idx="33">
                  <c:v>2020.4166666670001</c:v>
                </c:pt>
                <c:pt idx="34">
                  <c:v>2020.6666666670001</c:v>
                </c:pt>
                <c:pt idx="35">
                  <c:v>2020.9166666670001</c:v>
                </c:pt>
                <c:pt idx="36">
                  <c:v>2021.1666666670001</c:v>
                </c:pt>
                <c:pt idx="37">
                  <c:v>2021.4166666670001</c:v>
                </c:pt>
                <c:pt idx="38">
                  <c:v>2021.6666666670001</c:v>
                </c:pt>
                <c:pt idx="39">
                  <c:v>2021.9166666670001</c:v>
                </c:pt>
                <c:pt idx="40">
                  <c:v>2022.1666666670001</c:v>
                </c:pt>
                <c:pt idx="41">
                  <c:v>2022.4166666670001</c:v>
                </c:pt>
                <c:pt idx="42">
                  <c:v>2022.6666666670001</c:v>
                </c:pt>
                <c:pt idx="43">
                  <c:v>2022.9166666670001</c:v>
                </c:pt>
                <c:pt idx="44">
                  <c:v>2023.1666666670001</c:v>
                </c:pt>
                <c:pt idx="45">
                  <c:v>2023.4166666670001</c:v>
                </c:pt>
                <c:pt idx="46">
                  <c:v>2023.6666666670001</c:v>
                </c:pt>
                <c:pt idx="47">
                  <c:v>2023.9166666670001</c:v>
                </c:pt>
                <c:pt idx="48">
                  <c:v>2024.1666666670001</c:v>
                </c:pt>
                <c:pt idx="49">
                  <c:v>2024.4166666670001</c:v>
                </c:pt>
                <c:pt idx="50">
                  <c:v>2024.6666666670001</c:v>
                </c:pt>
                <c:pt idx="51">
                  <c:v>2024.9166666670001</c:v>
                </c:pt>
                <c:pt idx="52">
                  <c:v>2025.1666666670001</c:v>
                </c:pt>
                <c:pt idx="53">
                  <c:v>2025.4166666670001</c:v>
                </c:pt>
                <c:pt idx="54">
                  <c:v>2025.6666666670001</c:v>
                </c:pt>
                <c:pt idx="55">
                  <c:v>2025.9166666670001</c:v>
                </c:pt>
              </c:numCache>
            </c:numRef>
          </c:xVal>
          <c:yVal>
            <c:numRef>
              <c:f>'Chart Data'!$B$2:$B$57</c:f>
              <c:numCache>
                <c:formatCode>#,##0</c:formatCode>
                <c:ptCount val="56"/>
                <c:pt idx="0">
                  <c:v>2197.5</c:v>
                </c:pt>
                <c:pt idx="1">
                  <c:v>3080</c:v>
                </c:pt>
                <c:pt idx="2">
                  <c:v>2818</c:v>
                </c:pt>
                <c:pt idx="3">
                  <c:v>2654.5</c:v>
                </c:pt>
                <c:pt idx="4">
                  <c:v>2288</c:v>
                </c:pt>
                <c:pt idx="5">
                  <c:v>2933</c:v>
                </c:pt>
                <c:pt idx="6">
                  <c:v>2806</c:v>
                </c:pt>
                <c:pt idx="7">
                  <c:v>2978</c:v>
                </c:pt>
                <c:pt idx="8">
                  <c:v>3048</c:v>
                </c:pt>
                <c:pt idx="9">
                  <c:v>3585</c:v>
                </c:pt>
                <c:pt idx="10">
                  <c:v>3313</c:v>
                </c:pt>
                <c:pt idx="11">
                  <c:v>3327</c:v>
                </c:pt>
                <c:pt idx="12">
                  <c:v>3970</c:v>
                </c:pt>
                <c:pt idx="13">
                  <c:v>4251</c:v>
                </c:pt>
                <c:pt idx="14">
                  <c:v>4178</c:v>
                </c:pt>
                <c:pt idx="15">
                  <c:v>4283</c:v>
                </c:pt>
                <c:pt idx="16">
                  <c:v>4190</c:v>
                </c:pt>
                <c:pt idx="17">
                  <c:v>4353</c:v>
                </c:pt>
                <c:pt idx="18">
                  <c:v>4285</c:v>
                </c:pt>
                <c:pt idx="19">
                  <c:v>4302</c:v>
                </c:pt>
                <c:pt idx="20">
                  <c:v>4210</c:v>
                </c:pt>
                <c:pt idx="21">
                  <c:v>4403</c:v>
                </c:pt>
                <c:pt idx="22">
                  <c:v>4273</c:v>
                </c:pt>
                <c:pt idx="23">
                  <c:v>4352</c:v>
                </c:pt>
                <c:pt idx="24">
                  <c:v>4365</c:v>
                </c:pt>
                <c:pt idx="25">
                  <c:v>4531</c:v>
                </c:pt>
                <c:pt idx="26">
                  <c:v>4460</c:v>
                </c:pt>
                <c:pt idx="27">
                  <c:v>4578</c:v>
                </c:pt>
                <c:pt idx="28">
                  <c:v>4430</c:v>
                </c:pt>
                <c:pt idx="29">
                  <c:v>5147</c:v>
                </c:pt>
                <c:pt idx="30">
                  <c:v>4279</c:v>
                </c:pt>
                <c:pt idx="31">
                  <c:v>4213</c:v>
                </c:pt>
                <c:pt idx="32">
                  <c:v>4097</c:v>
                </c:pt>
                <c:pt idx="33">
                  <c:v>3954</c:v>
                </c:pt>
                <c:pt idx="34">
                  <c:v>4294</c:v>
                </c:pt>
                <c:pt idx="35">
                  <c:v>4399</c:v>
                </c:pt>
                <c:pt idx="36">
                  <c:v>4656</c:v>
                </c:pt>
                <c:pt idx="37">
                  <c:v>4850</c:v>
                </c:pt>
                <c:pt idx="38">
                  <c:v>4600</c:v>
                </c:pt>
                <c:pt idx="39">
                  <c:v>4166</c:v>
                </c:pt>
                <c:pt idx="40">
                  <c:v>5536</c:v>
                </c:pt>
                <c:pt idx="41">
                  <c:v>5173</c:v>
                </c:pt>
                <c:pt idx="42">
                  <c:v>4677</c:v>
                </c:pt>
                <c:pt idx="43">
                  <c:v>4853</c:v>
                </c:pt>
                <c:pt idx="44">
                  <c:v>4890</c:v>
                </c:pt>
                <c:pt idx="45">
                  <c:v>5004</c:v>
                </c:pt>
                <c:pt idx="46">
                  <c:v>5028</c:v>
                </c:pt>
                <c:pt idx="47">
                  <c:v>5125</c:v>
                </c:pt>
                <c:pt idx="48">
                  <c:v>4148</c:v>
                </c:pt>
                <c:pt idx="49">
                  <c:v>4873</c:v>
                </c:pt>
                <c:pt idx="50">
                  <c:v>4691</c:v>
                </c:pt>
                <c:pt idx="51">
                  <c:v>4949</c:v>
                </c:pt>
                <c:pt idx="52">
                  <c:v>4600</c:v>
                </c:pt>
                <c:pt idx="53">
                  <c:v>4869</c:v>
                </c:pt>
                <c:pt idx="54">
                  <c:v>4988</c:v>
                </c:pt>
                <c:pt idx="55">
                  <c:v>4863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DCB-B64A-95CB-C0EF98D24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15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350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1000"/>
      </c:valAx>
      <c:valAx>
        <c:axId val="48650112"/>
        <c:scaling>
          <c:orientation val="minMax"/>
          <c:max val="2026"/>
          <c:min val="2012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Actual quarterly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Data'!$A$2:$A$45</c:f>
              <c:numCache>
                <c:formatCode>General</c:formatCode>
                <c:ptCount val="44"/>
                <c:pt idx="0">
                  <c:v>2015.1666666670001</c:v>
                </c:pt>
                <c:pt idx="1">
                  <c:v>2015.4166666670001</c:v>
                </c:pt>
                <c:pt idx="2">
                  <c:v>2015.6666666670001</c:v>
                </c:pt>
                <c:pt idx="3">
                  <c:v>2015.9166666670001</c:v>
                </c:pt>
                <c:pt idx="4">
                  <c:v>2016.1666666670001</c:v>
                </c:pt>
                <c:pt idx="5">
                  <c:v>2016.4166666670001</c:v>
                </c:pt>
                <c:pt idx="6">
                  <c:v>2016.6666666670001</c:v>
                </c:pt>
                <c:pt idx="7">
                  <c:v>2016.9166666670001</c:v>
                </c:pt>
                <c:pt idx="8">
                  <c:v>2017.1666666670001</c:v>
                </c:pt>
                <c:pt idx="9">
                  <c:v>2017.4166666670001</c:v>
                </c:pt>
                <c:pt idx="10">
                  <c:v>2017.6666666670001</c:v>
                </c:pt>
                <c:pt idx="11">
                  <c:v>2017.9166666670001</c:v>
                </c:pt>
                <c:pt idx="12">
                  <c:v>2018.1666666670001</c:v>
                </c:pt>
                <c:pt idx="13">
                  <c:v>2018.4166666670001</c:v>
                </c:pt>
                <c:pt idx="14">
                  <c:v>2018.6666666670001</c:v>
                </c:pt>
                <c:pt idx="15">
                  <c:v>2018.9166666670001</c:v>
                </c:pt>
                <c:pt idx="16">
                  <c:v>2019.1666666670001</c:v>
                </c:pt>
                <c:pt idx="17">
                  <c:v>2019.4166666670001</c:v>
                </c:pt>
                <c:pt idx="18">
                  <c:v>2019.6666666670001</c:v>
                </c:pt>
                <c:pt idx="19">
                  <c:v>2019.9166666670001</c:v>
                </c:pt>
                <c:pt idx="20">
                  <c:v>2020.1666666670001</c:v>
                </c:pt>
                <c:pt idx="21">
                  <c:v>2020.4166666670001</c:v>
                </c:pt>
                <c:pt idx="22">
                  <c:v>2020.6666666670001</c:v>
                </c:pt>
                <c:pt idx="23">
                  <c:v>2020.9166666670001</c:v>
                </c:pt>
                <c:pt idx="24">
                  <c:v>2021.1666666670001</c:v>
                </c:pt>
                <c:pt idx="25">
                  <c:v>2021.4166666670001</c:v>
                </c:pt>
                <c:pt idx="26">
                  <c:v>2021.6666666670001</c:v>
                </c:pt>
                <c:pt idx="27">
                  <c:v>2021.9166666670001</c:v>
                </c:pt>
                <c:pt idx="28">
                  <c:v>2022.1666666670001</c:v>
                </c:pt>
                <c:pt idx="29">
                  <c:v>2022.4166666670001</c:v>
                </c:pt>
                <c:pt idx="30">
                  <c:v>2022.6666666670001</c:v>
                </c:pt>
                <c:pt idx="31">
                  <c:v>2022.9166666670001</c:v>
                </c:pt>
                <c:pt idx="32">
                  <c:v>2023.1666666670001</c:v>
                </c:pt>
                <c:pt idx="33">
                  <c:v>2023.4166666670001</c:v>
                </c:pt>
                <c:pt idx="34">
                  <c:v>2023.6666666670001</c:v>
                </c:pt>
                <c:pt idx="35">
                  <c:v>2023.9166666670001</c:v>
                </c:pt>
                <c:pt idx="36">
                  <c:v>2024.1666666670001</c:v>
                </c:pt>
                <c:pt idx="37">
                  <c:v>2024.4166666670001</c:v>
                </c:pt>
                <c:pt idx="38">
                  <c:v>2024.6666666670001</c:v>
                </c:pt>
                <c:pt idx="39">
                  <c:v>2024.9166666670001</c:v>
                </c:pt>
                <c:pt idx="40">
                  <c:v>2025.1666666670001</c:v>
                </c:pt>
                <c:pt idx="41">
                  <c:v>2025.4166666670001</c:v>
                </c:pt>
                <c:pt idx="42">
                  <c:v>2025.6666666670001</c:v>
                </c:pt>
                <c:pt idx="43">
                  <c:v>2025.9166666670001</c:v>
                </c:pt>
              </c:numCache>
            </c:numRef>
          </c:xVal>
          <c:yVal>
            <c:numRef>
              <c:f>'Chart Data'!$B$2:$B$45</c:f>
              <c:numCache>
                <c:formatCode>#,##0</c:formatCode>
                <c:ptCount val="44"/>
                <c:pt idx="0">
                  <c:v>3970</c:v>
                </c:pt>
                <c:pt idx="1">
                  <c:v>4251</c:v>
                </c:pt>
                <c:pt idx="2">
                  <c:v>4178</c:v>
                </c:pt>
                <c:pt idx="3">
                  <c:v>4283</c:v>
                </c:pt>
                <c:pt idx="4">
                  <c:v>4190</c:v>
                </c:pt>
                <c:pt idx="5">
                  <c:v>4353</c:v>
                </c:pt>
                <c:pt idx="6">
                  <c:v>4285</c:v>
                </c:pt>
                <c:pt idx="7">
                  <c:v>4302</c:v>
                </c:pt>
                <c:pt idx="8">
                  <c:v>4210</c:v>
                </c:pt>
                <c:pt idx="9">
                  <c:v>4403</c:v>
                </c:pt>
                <c:pt idx="10">
                  <c:v>4273</c:v>
                </c:pt>
                <c:pt idx="11">
                  <c:v>4352</c:v>
                </c:pt>
                <c:pt idx="12">
                  <c:v>4365</c:v>
                </c:pt>
                <c:pt idx="13">
                  <c:v>4531</c:v>
                </c:pt>
                <c:pt idx="14">
                  <c:v>4460</c:v>
                </c:pt>
                <c:pt idx="15">
                  <c:v>4578</c:v>
                </c:pt>
                <c:pt idx="16">
                  <c:v>4430</c:v>
                </c:pt>
                <c:pt idx="17">
                  <c:v>5147</c:v>
                </c:pt>
                <c:pt idx="18">
                  <c:v>4279</c:v>
                </c:pt>
                <c:pt idx="19">
                  <c:v>4213</c:v>
                </c:pt>
                <c:pt idx="20">
                  <c:v>4097</c:v>
                </c:pt>
                <c:pt idx="21">
                  <c:v>3954</c:v>
                </c:pt>
                <c:pt idx="22">
                  <c:v>4294</c:v>
                </c:pt>
                <c:pt idx="23">
                  <c:v>4399</c:v>
                </c:pt>
                <c:pt idx="24">
                  <c:v>4656</c:v>
                </c:pt>
                <c:pt idx="25">
                  <c:v>4850</c:v>
                </c:pt>
                <c:pt idx="26">
                  <c:v>4600</c:v>
                </c:pt>
                <c:pt idx="27">
                  <c:v>4166</c:v>
                </c:pt>
                <c:pt idx="28">
                  <c:v>5536</c:v>
                </c:pt>
                <c:pt idx="29">
                  <c:v>5173</c:v>
                </c:pt>
                <c:pt idx="30">
                  <c:v>4677</c:v>
                </c:pt>
                <c:pt idx="31">
                  <c:v>4853</c:v>
                </c:pt>
                <c:pt idx="32">
                  <c:v>4890</c:v>
                </c:pt>
                <c:pt idx="33">
                  <c:v>5004</c:v>
                </c:pt>
                <c:pt idx="34">
                  <c:v>5028</c:v>
                </c:pt>
                <c:pt idx="35">
                  <c:v>5125</c:v>
                </c:pt>
                <c:pt idx="36">
                  <c:v>4148</c:v>
                </c:pt>
                <c:pt idx="37">
                  <c:v>4873</c:v>
                </c:pt>
                <c:pt idx="38">
                  <c:v>4691</c:v>
                </c:pt>
                <c:pt idx="39">
                  <c:v>4949</c:v>
                </c:pt>
                <c:pt idx="40">
                  <c:v>4600</c:v>
                </c:pt>
                <c:pt idx="41">
                  <c:v>4869</c:v>
                </c:pt>
                <c:pt idx="42">
                  <c:v>4988</c:v>
                </c:pt>
                <c:pt idx="43">
                  <c:v>4863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3B7-9A48-987E-6BF644439766}"/>
            </c:ext>
          </c:extLst>
        </c:ser>
        <c:ser>
          <c:idx val="1"/>
          <c:order val="1"/>
          <c:tx>
            <c:v>Baseline: 4,747.6</c:v>
          </c:tx>
          <c:spPr>
            <a:ln w="2381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Data'!$C$2:$C$45</c:f>
              <c:numCache>
                <c:formatCode>General</c:formatCode>
                <c:ptCount val="44"/>
                <c:pt idx="0">
                  <c:v>2015.1666666670001</c:v>
                </c:pt>
                <c:pt idx="1">
                  <c:v>2015.4166666670001</c:v>
                </c:pt>
                <c:pt idx="2">
                  <c:v>2015.6666666670001</c:v>
                </c:pt>
                <c:pt idx="3">
                  <c:v>2015.9166666670001</c:v>
                </c:pt>
                <c:pt idx="4">
                  <c:v>2016.1666666670001</c:v>
                </c:pt>
                <c:pt idx="5">
                  <c:v>2016.4166666670001</c:v>
                </c:pt>
                <c:pt idx="6">
                  <c:v>2016.6666666670001</c:v>
                </c:pt>
                <c:pt idx="7">
                  <c:v>2016.9166666670001</c:v>
                </c:pt>
                <c:pt idx="8">
                  <c:v>2017.1666666670001</c:v>
                </c:pt>
                <c:pt idx="9">
                  <c:v>2017.4166666670001</c:v>
                </c:pt>
                <c:pt idx="10">
                  <c:v>2017.6666666670001</c:v>
                </c:pt>
                <c:pt idx="11">
                  <c:v>2017.9166666670001</c:v>
                </c:pt>
                <c:pt idx="12">
                  <c:v>2018.1666666670001</c:v>
                </c:pt>
                <c:pt idx="13">
                  <c:v>2018.4166666670001</c:v>
                </c:pt>
                <c:pt idx="14">
                  <c:v>2018.6666666670001</c:v>
                </c:pt>
                <c:pt idx="15">
                  <c:v>2018.9166666670001</c:v>
                </c:pt>
                <c:pt idx="16">
                  <c:v>2019.1666666670001</c:v>
                </c:pt>
                <c:pt idx="17">
                  <c:v>2019.4166666670001</c:v>
                </c:pt>
                <c:pt idx="18">
                  <c:v>2019.6666666670001</c:v>
                </c:pt>
                <c:pt idx="19">
                  <c:v>2019.9166666670001</c:v>
                </c:pt>
                <c:pt idx="20">
                  <c:v>2020.1666666670001</c:v>
                </c:pt>
                <c:pt idx="21">
                  <c:v>2020.4166666670001</c:v>
                </c:pt>
                <c:pt idx="22">
                  <c:v>2020.6666666670001</c:v>
                </c:pt>
                <c:pt idx="23">
                  <c:v>2020.9166666670001</c:v>
                </c:pt>
                <c:pt idx="24">
                  <c:v>2021.1666666670001</c:v>
                </c:pt>
                <c:pt idx="25">
                  <c:v>2021.4166666670001</c:v>
                </c:pt>
                <c:pt idx="26">
                  <c:v>2021.6666666670001</c:v>
                </c:pt>
                <c:pt idx="27">
                  <c:v>2021.9166666670001</c:v>
                </c:pt>
                <c:pt idx="28">
                  <c:v>2022.1666666670001</c:v>
                </c:pt>
                <c:pt idx="29">
                  <c:v>2022.4166666670001</c:v>
                </c:pt>
                <c:pt idx="30">
                  <c:v>2022.6666666670001</c:v>
                </c:pt>
                <c:pt idx="31">
                  <c:v>2022.9166666670001</c:v>
                </c:pt>
                <c:pt idx="32">
                  <c:v>2023.1666666670001</c:v>
                </c:pt>
                <c:pt idx="33">
                  <c:v>2023.4166666670001</c:v>
                </c:pt>
                <c:pt idx="34">
                  <c:v>2023.6666666670001</c:v>
                </c:pt>
                <c:pt idx="35">
                  <c:v>2023.9166666670001</c:v>
                </c:pt>
                <c:pt idx="36">
                  <c:v>2024.1666666670001</c:v>
                </c:pt>
                <c:pt idx="37">
                  <c:v>2024.4166666670001</c:v>
                </c:pt>
                <c:pt idx="38">
                  <c:v>2024.6666666670001</c:v>
                </c:pt>
                <c:pt idx="39">
                  <c:v>2024.9166666670001</c:v>
                </c:pt>
                <c:pt idx="40">
                  <c:v>2025.1666666670001</c:v>
                </c:pt>
                <c:pt idx="41">
                  <c:v>2025.4166666670001</c:v>
                </c:pt>
                <c:pt idx="42">
                  <c:v>2025.6666666670001</c:v>
                </c:pt>
                <c:pt idx="43">
                  <c:v>2025.9166666670001</c:v>
                </c:pt>
              </c:numCache>
            </c:numRef>
          </c:xVal>
          <c:yVal>
            <c:numRef>
              <c:f>'Chart Data'!$D$2:$D$45</c:f>
              <c:numCache>
                <c:formatCode>#,##0</c:formatCode>
                <c:ptCount val="44"/>
                <c:pt idx="0">
                  <c:v>4747.6000000000004</c:v>
                </c:pt>
                <c:pt idx="1">
                  <c:v>4747.6000000000004</c:v>
                </c:pt>
                <c:pt idx="2">
                  <c:v>4747.6000000000004</c:v>
                </c:pt>
                <c:pt idx="3">
                  <c:v>4747.6000000000004</c:v>
                </c:pt>
                <c:pt idx="4">
                  <c:v>4747.6000000000004</c:v>
                </c:pt>
                <c:pt idx="5">
                  <c:v>4747.6000000000004</c:v>
                </c:pt>
                <c:pt idx="6">
                  <c:v>4747.6000000000004</c:v>
                </c:pt>
                <c:pt idx="7">
                  <c:v>4747.6000000000004</c:v>
                </c:pt>
                <c:pt idx="8">
                  <c:v>4747.6000000000004</c:v>
                </c:pt>
                <c:pt idx="9">
                  <c:v>4747.6000000000004</c:v>
                </c:pt>
                <c:pt idx="10">
                  <c:v>4747.6000000000004</c:v>
                </c:pt>
                <c:pt idx="11">
                  <c:v>4747.6000000000004</c:v>
                </c:pt>
                <c:pt idx="12">
                  <c:v>4747.6000000000004</c:v>
                </c:pt>
                <c:pt idx="13">
                  <c:v>4747.6000000000004</c:v>
                </c:pt>
                <c:pt idx="14">
                  <c:v>4747.6000000000004</c:v>
                </c:pt>
                <c:pt idx="15">
                  <c:v>4747.6000000000004</c:v>
                </c:pt>
                <c:pt idx="16">
                  <c:v>4747.6000000000004</c:v>
                </c:pt>
                <c:pt idx="17">
                  <c:v>4747.6000000000004</c:v>
                </c:pt>
                <c:pt idx="18">
                  <c:v>4747.6000000000004</c:v>
                </c:pt>
                <c:pt idx="19">
                  <c:v>4747.6000000000004</c:v>
                </c:pt>
                <c:pt idx="20">
                  <c:v>4747.6000000000004</c:v>
                </c:pt>
                <c:pt idx="21">
                  <c:v>4747.6000000000004</c:v>
                </c:pt>
                <c:pt idx="22">
                  <c:v>4747.6000000000004</c:v>
                </c:pt>
                <c:pt idx="23">
                  <c:v>4747.6000000000004</c:v>
                </c:pt>
                <c:pt idx="24">
                  <c:v>4747.6000000000004</c:v>
                </c:pt>
                <c:pt idx="25">
                  <c:v>4747.6000000000004</c:v>
                </c:pt>
                <c:pt idx="26">
                  <c:v>4747.6000000000004</c:v>
                </c:pt>
                <c:pt idx="27">
                  <c:v>4747.6000000000004</c:v>
                </c:pt>
                <c:pt idx="28">
                  <c:v>4747.6000000000004</c:v>
                </c:pt>
                <c:pt idx="29">
                  <c:v>4747.6000000000004</c:v>
                </c:pt>
                <c:pt idx="30">
                  <c:v>4747.6000000000004</c:v>
                </c:pt>
                <c:pt idx="31">
                  <c:v>4747.6000000000004</c:v>
                </c:pt>
                <c:pt idx="32">
                  <c:v>4747.6000000000004</c:v>
                </c:pt>
                <c:pt idx="33">
                  <c:v>4747.6000000000004</c:v>
                </c:pt>
                <c:pt idx="34">
                  <c:v>4747.6000000000004</c:v>
                </c:pt>
                <c:pt idx="35">
                  <c:v>4747.6000000000004</c:v>
                </c:pt>
                <c:pt idx="36">
                  <c:v>4747.6000000000004</c:v>
                </c:pt>
                <c:pt idx="37">
                  <c:v>4747.6000000000004</c:v>
                </c:pt>
                <c:pt idx="38">
                  <c:v>4747.6000000000004</c:v>
                </c:pt>
                <c:pt idx="39">
                  <c:v>4747.6000000000004</c:v>
                </c:pt>
                <c:pt idx="40">
                  <c:v>4747.6000000000004</c:v>
                </c:pt>
                <c:pt idx="41">
                  <c:v>4747.6000000000004</c:v>
                </c:pt>
                <c:pt idx="42">
                  <c:v>4747.6000000000004</c:v>
                </c:pt>
                <c:pt idx="43">
                  <c:v>4747.6000000000004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3B7-9A48-987E-6BF64443976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30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275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2026"/>
          <c:min val="2015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Actual fee</c:v>
          </c:tx>
          <c:spPr>
            <a:ln w="23813">
              <a:solidFill>
                <a:srgbClr val="006C98"/>
              </a:solidFill>
              <a:prstDash val="solid"/>
            </a:ln>
          </c:spPr>
          <c:marker>
            <c:symbol val="none"/>
          </c:marker>
          <c:xVal>
            <c:numRef>
              <c:f>'Chart Data'!$A$2:$A$45</c:f>
              <c:numCache>
                <c:formatCode>General</c:formatCode>
                <c:ptCount val="44"/>
                <c:pt idx="0">
                  <c:v>2015.1666666670001</c:v>
                </c:pt>
                <c:pt idx="1">
                  <c:v>2015.4166666670001</c:v>
                </c:pt>
                <c:pt idx="2">
                  <c:v>2015.6666666670001</c:v>
                </c:pt>
                <c:pt idx="3">
                  <c:v>2015.9166666670001</c:v>
                </c:pt>
                <c:pt idx="4">
                  <c:v>2016.1666666670001</c:v>
                </c:pt>
                <c:pt idx="5">
                  <c:v>2016.4166666670001</c:v>
                </c:pt>
                <c:pt idx="6">
                  <c:v>2016.6666666670001</c:v>
                </c:pt>
                <c:pt idx="7">
                  <c:v>2016.9166666670001</c:v>
                </c:pt>
                <c:pt idx="8">
                  <c:v>2017.1666666670001</c:v>
                </c:pt>
                <c:pt idx="9">
                  <c:v>2017.4166666670001</c:v>
                </c:pt>
                <c:pt idx="10">
                  <c:v>2017.6666666670001</c:v>
                </c:pt>
                <c:pt idx="11">
                  <c:v>2017.9166666670001</c:v>
                </c:pt>
                <c:pt idx="12">
                  <c:v>2018.1666666670001</c:v>
                </c:pt>
                <c:pt idx="13">
                  <c:v>2018.4166666670001</c:v>
                </c:pt>
                <c:pt idx="14">
                  <c:v>2018.6666666670001</c:v>
                </c:pt>
                <c:pt idx="15">
                  <c:v>2018.9166666670001</c:v>
                </c:pt>
                <c:pt idx="16">
                  <c:v>2019.1666666670001</c:v>
                </c:pt>
                <c:pt idx="17">
                  <c:v>2019.4166666670001</c:v>
                </c:pt>
                <c:pt idx="18">
                  <c:v>2019.6666666670001</c:v>
                </c:pt>
                <c:pt idx="19">
                  <c:v>2019.9166666670001</c:v>
                </c:pt>
                <c:pt idx="20">
                  <c:v>2020.1666666670001</c:v>
                </c:pt>
                <c:pt idx="21">
                  <c:v>2020.4166666670001</c:v>
                </c:pt>
                <c:pt idx="22">
                  <c:v>2020.6666666670001</c:v>
                </c:pt>
                <c:pt idx="23">
                  <c:v>2020.9166666670001</c:v>
                </c:pt>
                <c:pt idx="24">
                  <c:v>2021.1666666670001</c:v>
                </c:pt>
                <c:pt idx="25">
                  <c:v>2021.4166666670001</c:v>
                </c:pt>
                <c:pt idx="26">
                  <c:v>2021.6666666670001</c:v>
                </c:pt>
                <c:pt idx="27">
                  <c:v>2021.9166666670001</c:v>
                </c:pt>
                <c:pt idx="28">
                  <c:v>2022.1666666670001</c:v>
                </c:pt>
                <c:pt idx="29">
                  <c:v>2022.4166666670001</c:v>
                </c:pt>
                <c:pt idx="30">
                  <c:v>2022.6666666670001</c:v>
                </c:pt>
                <c:pt idx="31">
                  <c:v>2022.9166666670001</c:v>
                </c:pt>
                <c:pt idx="32">
                  <c:v>2023.1666666670001</c:v>
                </c:pt>
                <c:pt idx="33">
                  <c:v>2023.4166666670001</c:v>
                </c:pt>
                <c:pt idx="34">
                  <c:v>2023.6666666670001</c:v>
                </c:pt>
                <c:pt idx="35">
                  <c:v>2023.9166666670001</c:v>
                </c:pt>
                <c:pt idx="36">
                  <c:v>2024.1666666670001</c:v>
                </c:pt>
                <c:pt idx="37">
                  <c:v>2024.4166666670001</c:v>
                </c:pt>
                <c:pt idx="38">
                  <c:v>2024.6666666670001</c:v>
                </c:pt>
                <c:pt idx="39">
                  <c:v>2024.9166666670001</c:v>
                </c:pt>
                <c:pt idx="40">
                  <c:v>2025.1666666670001</c:v>
                </c:pt>
                <c:pt idx="41">
                  <c:v>2025.4166666670001</c:v>
                </c:pt>
                <c:pt idx="42">
                  <c:v>2025.6666666670001</c:v>
                </c:pt>
                <c:pt idx="43">
                  <c:v>2025.9166666670001</c:v>
                </c:pt>
              </c:numCache>
            </c:numRef>
          </c:xVal>
          <c:yVal>
            <c:numRef>
              <c:f>'Chart Data'!$B$2:$B$45</c:f>
              <c:numCache>
                <c:formatCode>#,##0</c:formatCode>
                <c:ptCount val="44"/>
                <c:pt idx="0">
                  <c:v>3970</c:v>
                </c:pt>
                <c:pt idx="1">
                  <c:v>4251</c:v>
                </c:pt>
                <c:pt idx="2">
                  <c:v>4178</c:v>
                </c:pt>
                <c:pt idx="3">
                  <c:v>4283</c:v>
                </c:pt>
                <c:pt idx="4">
                  <c:v>4190</c:v>
                </c:pt>
                <c:pt idx="5">
                  <c:v>4353</c:v>
                </c:pt>
                <c:pt idx="6">
                  <c:v>4285</c:v>
                </c:pt>
                <c:pt idx="7">
                  <c:v>4302</c:v>
                </c:pt>
                <c:pt idx="8">
                  <c:v>4210</c:v>
                </c:pt>
                <c:pt idx="9">
                  <c:v>4403</c:v>
                </c:pt>
                <c:pt idx="10">
                  <c:v>4273</c:v>
                </c:pt>
                <c:pt idx="11">
                  <c:v>4352</c:v>
                </c:pt>
                <c:pt idx="12">
                  <c:v>4365</c:v>
                </c:pt>
                <c:pt idx="13">
                  <c:v>4531</c:v>
                </c:pt>
                <c:pt idx="14">
                  <c:v>4460</c:v>
                </c:pt>
                <c:pt idx="15">
                  <c:v>4578</c:v>
                </c:pt>
                <c:pt idx="16">
                  <c:v>4430</c:v>
                </c:pt>
                <c:pt idx="17">
                  <c:v>5147</c:v>
                </c:pt>
                <c:pt idx="18">
                  <c:v>4279</c:v>
                </c:pt>
                <c:pt idx="19">
                  <c:v>4213</c:v>
                </c:pt>
                <c:pt idx="20">
                  <c:v>4097</c:v>
                </c:pt>
                <c:pt idx="21">
                  <c:v>3954</c:v>
                </c:pt>
                <c:pt idx="22">
                  <c:v>4294</c:v>
                </c:pt>
                <c:pt idx="23">
                  <c:v>4399</c:v>
                </c:pt>
                <c:pt idx="24">
                  <c:v>4656</c:v>
                </c:pt>
                <c:pt idx="25">
                  <c:v>4850</c:v>
                </c:pt>
                <c:pt idx="26">
                  <c:v>4600</c:v>
                </c:pt>
                <c:pt idx="27">
                  <c:v>4166</c:v>
                </c:pt>
                <c:pt idx="28">
                  <c:v>5536</c:v>
                </c:pt>
                <c:pt idx="29">
                  <c:v>5173</c:v>
                </c:pt>
                <c:pt idx="30">
                  <c:v>4677</c:v>
                </c:pt>
                <c:pt idx="31">
                  <c:v>4853</c:v>
                </c:pt>
                <c:pt idx="32">
                  <c:v>4890</c:v>
                </c:pt>
                <c:pt idx="33">
                  <c:v>5004</c:v>
                </c:pt>
                <c:pt idx="34">
                  <c:v>5028</c:v>
                </c:pt>
                <c:pt idx="35">
                  <c:v>5125</c:v>
                </c:pt>
                <c:pt idx="36">
                  <c:v>4148</c:v>
                </c:pt>
                <c:pt idx="37">
                  <c:v>4873</c:v>
                </c:pt>
                <c:pt idx="38">
                  <c:v>4691</c:v>
                </c:pt>
                <c:pt idx="39">
                  <c:v>4949</c:v>
                </c:pt>
                <c:pt idx="40">
                  <c:v>4600</c:v>
                </c:pt>
                <c:pt idx="41">
                  <c:v>4869</c:v>
                </c:pt>
                <c:pt idx="42">
                  <c:v>4988</c:v>
                </c:pt>
                <c:pt idx="43">
                  <c:v>4863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6E-FE44-AFD5-80391F89B4A6}"/>
            </c:ext>
          </c:extLst>
        </c:ser>
        <c:ser>
          <c:idx val="1"/>
          <c:order val="1"/>
          <c:tx>
            <c:v>Baseline</c:v>
          </c:tx>
          <c:spPr>
            <a:ln w="23813">
              <a:solidFill>
                <a:srgbClr val="C77933"/>
              </a:solidFill>
              <a:prstDash val="dash"/>
            </a:ln>
          </c:spPr>
          <c:marker>
            <c:symbol val="none"/>
          </c:marker>
          <c:xVal>
            <c:numRef>
              <c:f>'Chart Data'!$C$2:$C$45</c:f>
              <c:numCache>
                <c:formatCode>General</c:formatCode>
                <c:ptCount val="44"/>
                <c:pt idx="0">
                  <c:v>2015.1666666670001</c:v>
                </c:pt>
                <c:pt idx="1">
                  <c:v>2015.4166666670001</c:v>
                </c:pt>
                <c:pt idx="2">
                  <c:v>2015.6666666670001</c:v>
                </c:pt>
                <c:pt idx="3">
                  <c:v>2015.9166666670001</c:v>
                </c:pt>
                <c:pt idx="4">
                  <c:v>2016.1666666670001</c:v>
                </c:pt>
                <c:pt idx="5">
                  <c:v>2016.4166666670001</c:v>
                </c:pt>
                <c:pt idx="6">
                  <c:v>2016.6666666670001</c:v>
                </c:pt>
                <c:pt idx="7">
                  <c:v>2016.9166666670001</c:v>
                </c:pt>
                <c:pt idx="8">
                  <c:v>2017.1666666670001</c:v>
                </c:pt>
                <c:pt idx="9">
                  <c:v>2017.4166666670001</c:v>
                </c:pt>
                <c:pt idx="10">
                  <c:v>2017.6666666670001</c:v>
                </c:pt>
                <c:pt idx="11">
                  <c:v>2017.9166666670001</c:v>
                </c:pt>
                <c:pt idx="12">
                  <c:v>2018.1666666670001</c:v>
                </c:pt>
                <c:pt idx="13">
                  <c:v>2018.4166666670001</c:v>
                </c:pt>
                <c:pt idx="14">
                  <c:v>2018.6666666670001</c:v>
                </c:pt>
                <c:pt idx="15">
                  <c:v>2018.9166666670001</c:v>
                </c:pt>
                <c:pt idx="16">
                  <c:v>2019.1666666670001</c:v>
                </c:pt>
                <c:pt idx="17">
                  <c:v>2019.4166666670001</c:v>
                </c:pt>
                <c:pt idx="18">
                  <c:v>2019.6666666670001</c:v>
                </c:pt>
                <c:pt idx="19">
                  <c:v>2019.9166666670001</c:v>
                </c:pt>
                <c:pt idx="20">
                  <c:v>2020.1666666670001</c:v>
                </c:pt>
                <c:pt idx="21">
                  <c:v>2020.4166666670001</c:v>
                </c:pt>
                <c:pt idx="22">
                  <c:v>2020.6666666670001</c:v>
                </c:pt>
                <c:pt idx="23">
                  <c:v>2020.9166666670001</c:v>
                </c:pt>
                <c:pt idx="24">
                  <c:v>2021.1666666670001</c:v>
                </c:pt>
                <c:pt idx="25">
                  <c:v>2021.4166666670001</c:v>
                </c:pt>
                <c:pt idx="26">
                  <c:v>2021.6666666670001</c:v>
                </c:pt>
                <c:pt idx="27">
                  <c:v>2021.9166666670001</c:v>
                </c:pt>
                <c:pt idx="28">
                  <c:v>2022.1666666670001</c:v>
                </c:pt>
                <c:pt idx="29">
                  <c:v>2022.4166666670001</c:v>
                </c:pt>
                <c:pt idx="30">
                  <c:v>2022.6666666670001</c:v>
                </c:pt>
                <c:pt idx="31">
                  <c:v>2022.9166666670001</c:v>
                </c:pt>
                <c:pt idx="32">
                  <c:v>2023.1666666670001</c:v>
                </c:pt>
                <c:pt idx="33">
                  <c:v>2023.4166666670001</c:v>
                </c:pt>
                <c:pt idx="34">
                  <c:v>2023.6666666670001</c:v>
                </c:pt>
                <c:pt idx="35">
                  <c:v>2023.9166666670001</c:v>
                </c:pt>
                <c:pt idx="36">
                  <c:v>2024.1666666670001</c:v>
                </c:pt>
                <c:pt idx="37">
                  <c:v>2024.4166666670001</c:v>
                </c:pt>
                <c:pt idx="38">
                  <c:v>2024.6666666670001</c:v>
                </c:pt>
                <c:pt idx="39">
                  <c:v>2024.9166666670001</c:v>
                </c:pt>
                <c:pt idx="40">
                  <c:v>2025.1666666670001</c:v>
                </c:pt>
                <c:pt idx="41">
                  <c:v>2025.4166666670001</c:v>
                </c:pt>
                <c:pt idx="42">
                  <c:v>2025.6666666670001</c:v>
                </c:pt>
                <c:pt idx="43">
                  <c:v>2025.9166666670001</c:v>
                </c:pt>
              </c:numCache>
            </c:numRef>
          </c:xVal>
          <c:yVal>
            <c:numRef>
              <c:f>'Chart Data'!$D$2:$D$45</c:f>
              <c:numCache>
                <c:formatCode>#,##0</c:formatCode>
                <c:ptCount val="44"/>
                <c:pt idx="0">
                  <c:v>4747.6000000000004</c:v>
                </c:pt>
                <c:pt idx="1">
                  <c:v>4747.6000000000004</c:v>
                </c:pt>
                <c:pt idx="2">
                  <c:v>4747.6000000000004</c:v>
                </c:pt>
                <c:pt idx="3">
                  <c:v>4747.6000000000004</c:v>
                </c:pt>
                <c:pt idx="4">
                  <c:v>4747.6000000000004</c:v>
                </c:pt>
                <c:pt idx="5">
                  <c:v>4747.6000000000004</c:v>
                </c:pt>
                <c:pt idx="6">
                  <c:v>4747.6000000000004</c:v>
                </c:pt>
                <c:pt idx="7">
                  <c:v>4747.6000000000004</c:v>
                </c:pt>
                <c:pt idx="8">
                  <c:v>4747.6000000000004</c:v>
                </c:pt>
                <c:pt idx="9">
                  <c:v>4747.6000000000004</c:v>
                </c:pt>
                <c:pt idx="10">
                  <c:v>4747.6000000000004</c:v>
                </c:pt>
                <c:pt idx="11">
                  <c:v>4747.6000000000004</c:v>
                </c:pt>
                <c:pt idx="12">
                  <c:v>4747.6000000000004</c:v>
                </c:pt>
                <c:pt idx="13">
                  <c:v>4747.6000000000004</c:v>
                </c:pt>
                <c:pt idx="14">
                  <c:v>4747.6000000000004</c:v>
                </c:pt>
                <c:pt idx="15">
                  <c:v>4747.6000000000004</c:v>
                </c:pt>
                <c:pt idx="16">
                  <c:v>4747.6000000000004</c:v>
                </c:pt>
                <c:pt idx="17">
                  <c:v>4747.6000000000004</c:v>
                </c:pt>
                <c:pt idx="18">
                  <c:v>4747.6000000000004</c:v>
                </c:pt>
                <c:pt idx="19">
                  <c:v>4747.6000000000004</c:v>
                </c:pt>
                <c:pt idx="20">
                  <c:v>4747.6000000000004</c:v>
                </c:pt>
                <c:pt idx="21">
                  <c:v>4747.6000000000004</c:v>
                </c:pt>
                <c:pt idx="22">
                  <c:v>4747.6000000000004</c:v>
                </c:pt>
                <c:pt idx="23">
                  <c:v>4747.6000000000004</c:v>
                </c:pt>
                <c:pt idx="24">
                  <c:v>4747.6000000000004</c:v>
                </c:pt>
                <c:pt idx="25">
                  <c:v>4747.6000000000004</c:v>
                </c:pt>
                <c:pt idx="26">
                  <c:v>4747.6000000000004</c:v>
                </c:pt>
                <c:pt idx="27">
                  <c:v>4747.6000000000004</c:v>
                </c:pt>
                <c:pt idx="28">
                  <c:v>4747.6000000000004</c:v>
                </c:pt>
                <c:pt idx="29">
                  <c:v>4747.6000000000004</c:v>
                </c:pt>
                <c:pt idx="30">
                  <c:v>4747.6000000000004</c:v>
                </c:pt>
                <c:pt idx="31">
                  <c:v>4747.6000000000004</c:v>
                </c:pt>
                <c:pt idx="32">
                  <c:v>4747.6000000000004</c:v>
                </c:pt>
                <c:pt idx="33">
                  <c:v>4747.6000000000004</c:v>
                </c:pt>
                <c:pt idx="34">
                  <c:v>4747.6000000000004</c:v>
                </c:pt>
                <c:pt idx="35">
                  <c:v>4747.6000000000004</c:v>
                </c:pt>
                <c:pt idx="36">
                  <c:v>4747.6000000000004</c:v>
                </c:pt>
                <c:pt idx="37">
                  <c:v>4747.6000000000004</c:v>
                </c:pt>
                <c:pt idx="38">
                  <c:v>4747.6000000000004</c:v>
                </c:pt>
                <c:pt idx="39">
                  <c:v>4747.6000000000004</c:v>
                </c:pt>
                <c:pt idx="40">
                  <c:v>4747.6000000000004</c:v>
                </c:pt>
                <c:pt idx="41">
                  <c:v>4747.6000000000004</c:v>
                </c:pt>
                <c:pt idx="42">
                  <c:v>4747.6000000000004</c:v>
                </c:pt>
                <c:pt idx="43">
                  <c:v>4747.6000000000004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6E-FE44-AFD5-80391F89B4A6}"/>
            </c:ext>
          </c:extLst>
        </c:ser>
        <c:ser>
          <c:idx val="2"/>
          <c:order val="2"/>
          <c:tx>
            <c:v>Stress floor</c:v>
          </c:tx>
          <c:spPr>
            <a:ln w="23813">
              <a:solidFill>
                <a:srgbClr val="A5483C"/>
              </a:solidFill>
              <a:prstDash val="dash"/>
            </a:ln>
          </c:spPr>
          <c:marker>
            <c:symbol val="none"/>
          </c:marker>
          <c:xVal>
            <c:numRef>
              <c:f>'Chart Data'!$E$2:$E$45</c:f>
              <c:numCache>
                <c:formatCode>General</c:formatCode>
                <c:ptCount val="44"/>
                <c:pt idx="0">
                  <c:v>2015.1666666670001</c:v>
                </c:pt>
                <c:pt idx="1">
                  <c:v>2015.4166666670001</c:v>
                </c:pt>
                <c:pt idx="2">
                  <c:v>2015.6666666670001</c:v>
                </c:pt>
                <c:pt idx="3">
                  <c:v>2015.9166666670001</c:v>
                </c:pt>
                <c:pt idx="4">
                  <c:v>2016.1666666670001</c:v>
                </c:pt>
                <c:pt idx="5">
                  <c:v>2016.4166666670001</c:v>
                </c:pt>
                <c:pt idx="6">
                  <c:v>2016.6666666670001</c:v>
                </c:pt>
                <c:pt idx="7">
                  <c:v>2016.9166666670001</c:v>
                </c:pt>
                <c:pt idx="8">
                  <c:v>2017.1666666670001</c:v>
                </c:pt>
                <c:pt idx="9">
                  <c:v>2017.4166666670001</c:v>
                </c:pt>
                <c:pt idx="10">
                  <c:v>2017.6666666670001</c:v>
                </c:pt>
                <c:pt idx="11">
                  <c:v>2017.9166666670001</c:v>
                </c:pt>
                <c:pt idx="12">
                  <c:v>2018.1666666670001</c:v>
                </c:pt>
                <c:pt idx="13">
                  <c:v>2018.4166666670001</c:v>
                </c:pt>
                <c:pt idx="14">
                  <c:v>2018.6666666670001</c:v>
                </c:pt>
                <c:pt idx="15">
                  <c:v>2018.9166666670001</c:v>
                </c:pt>
                <c:pt idx="16">
                  <c:v>2019.1666666670001</c:v>
                </c:pt>
                <c:pt idx="17">
                  <c:v>2019.4166666670001</c:v>
                </c:pt>
                <c:pt idx="18">
                  <c:v>2019.6666666670001</c:v>
                </c:pt>
                <c:pt idx="19">
                  <c:v>2019.9166666670001</c:v>
                </c:pt>
                <c:pt idx="20">
                  <c:v>2020.1666666670001</c:v>
                </c:pt>
                <c:pt idx="21">
                  <c:v>2020.4166666670001</c:v>
                </c:pt>
                <c:pt idx="22">
                  <c:v>2020.6666666670001</c:v>
                </c:pt>
                <c:pt idx="23">
                  <c:v>2020.9166666670001</c:v>
                </c:pt>
                <c:pt idx="24">
                  <c:v>2021.1666666670001</c:v>
                </c:pt>
                <c:pt idx="25">
                  <c:v>2021.4166666670001</c:v>
                </c:pt>
                <c:pt idx="26">
                  <c:v>2021.6666666670001</c:v>
                </c:pt>
                <c:pt idx="27">
                  <c:v>2021.9166666670001</c:v>
                </c:pt>
                <c:pt idx="28">
                  <c:v>2022.1666666670001</c:v>
                </c:pt>
                <c:pt idx="29">
                  <c:v>2022.4166666670001</c:v>
                </c:pt>
                <c:pt idx="30">
                  <c:v>2022.6666666670001</c:v>
                </c:pt>
                <c:pt idx="31">
                  <c:v>2022.9166666670001</c:v>
                </c:pt>
                <c:pt idx="32">
                  <c:v>2023.1666666670001</c:v>
                </c:pt>
                <c:pt idx="33">
                  <c:v>2023.4166666670001</c:v>
                </c:pt>
                <c:pt idx="34">
                  <c:v>2023.6666666670001</c:v>
                </c:pt>
                <c:pt idx="35">
                  <c:v>2023.9166666670001</c:v>
                </c:pt>
                <c:pt idx="36">
                  <c:v>2024.1666666670001</c:v>
                </c:pt>
                <c:pt idx="37">
                  <c:v>2024.4166666670001</c:v>
                </c:pt>
                <c:pt idx="38">
                  <c:v>2024.6666666670001</c:v>
                </c:pt>
                <c:pt idx="39">
                  <c:v>2024.9166666670001</c:v>
                </c:pt>
                <c:pt idx="40">
                  <c:v>2025.1666666670001</c:v>
                </c:pt>
                <c:pt idx="41">
                  <c:v>2025.4166666670001</c:v>
                </c:pt>
                <c:pt idx="42">
                  <c:v>2025.6666666670001</c:v>
                </c:pt>
                <c:pt idx="43">
                  <c:v>2025.9166666670001</c:v>
                </c:pt>
              </c:numCache>
            </c:numRef>
          </c:xVal>
          <c:yVal>
            <c:numRef>
              <c:f>'Chart Data'!$F$2:$F$45</c:f>
              <c:numCache>
                <c:formatCode>#,##0</c:formatCode>
                <c:ptCount val="44"/>
                <c:pt idx="0">
                  <c:v>3815.9</c:v>
                </c:pt>
                <c:pt idx="1">
                  <c:v>3815.9</c:v>
                </c:pt>
                <c:pt idx="2">
                  <c:v>3815.9</c:v>
                </c:pt>
                <c:pt idx="3">
                  <c:v>3815.9</c:v>
                </c:pt>
                <c:pt idx="4">
                  <c:v>3815.9</c:v>
                </c:pt>
                <c:pt idx="5">
                  <c:v>3815.9</c:v>
                </c:pt>
                <c:pt idx="6">
                  <c:v>3815.9</c:v>
                </c:pt>
                <c:pt idx="7">
                  <c:v>3815.9</c:v>
                </c:pt>
                <c:pt idx="8">
                  <c:v>3815.9</c:v>
                </c:pt>
                <c:pt idx="9">
                  <c:v>3815.9</c:v>
                </c:pt>
                <c:pt idx="10">
                  <c:v>3815.9</c:v>
                </c:pt>
                <c:pt idx="11">
                  <c:v>3815.9</c:v>
                </c:pt>
                <c:pt idx="12">
                  <c:v>3815.9</c:v>
                </c:pt>
                <c:pt idx="13">
                  <c:v>3815.9</c:v>
                </c:pt>
                <c:pt idx="14">
                  <c:v>3815.9</c:v>
                </c:pt>
                <c:pt idx="15">
                  <c:v>3815.9</c:v>
                </c:pt>
                <c:pt idx="16">
                  <c:v>3815.9</c:v>
                </c:pt>
                <c:pt idx="17">
                  <c:v>3815.9</c:v>
                </c:pt>
                <c:pt idx="18">
                  <c:v>3815.9</c:v>
                </c:pt>
                <c:pt idx="19">
                  <c:v>3815.9</c:v>
                </c:pt>
                <c:pt idx="20">
                  <c:v>3815.9</c:v>
                </c:pt>
                <c:pt idx="21">
                  <c:v>3815.9</c:v>
                </c:pt>
                <c:pt idx="22">
                  <c:v>3815.9</c:v>
                </c:pt>
                <c:pt idx="23">
                  <c:v>3815.9</c:v>
                </c:pt>
                <c:pt idx="24">
                  <c:v>3815.9</c:v>
                </c:pt>
                <c:pt idx="25">
                  <c:v>3815.9</c:v>
                </c:pt>
                <c:pt idx="26">
                  <c:v>3815.9</c:v>
                </c:pt>
                <c:pt idx="27">
                  <c:v>3815.9</c:v>
                </c:pt>
                <c:pt idx="28">
                  <c:v>3815.9</c:v>
                </c:pt>
                <c:pt idx="29">
                  <c:v>3815.9</c:v>
                </c:pt>
                <c:pt idx="30">
                  <c:v>3815.9</c:v>
                </c:pt>
                <c:pt idx="31">
                  <c:v>3815.9</c:v>
                </c:pt>
                <c:pt idx="32">
                  <c:v>3815.9</c:v>
                </c:pt>
                <c:pt idx="33">
                  <c:v>3815.9</c:v>
                </c:pt>
                <c:pt idx="34">
                  <c:v>3815.9</c:v>
                </c:pt>
                <c:pt idx="35">
                  <c:v>3815.9</c:v>
                </c:pt>
                <c:pt idx="36">
                  <c:v>3815.9</c:v>
                </c:pt>
                <c:pt idx="37">
                  <c:v>3815.9</c:v>
                </c:pt>
                <c:pt idx="38">
                  <c:v>3815.9</c:v>
                </c:pt>
                <c:pt idx="39">
                  <c:v>3815.9</c:v>
                </c:pt>
                <c:pt idx="40">
                  <c:v>3815.9</c:v>
                </c:pt>
                <c:pt idx="41">
                  <c:v>3815.9</c:v>
                </c:pt>
                <c:pt idx="42">
                  <c:v>3815.9</c:v>
                </c:pt>
                <c:pt idx="43">
                  <c:v>3815.9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436E-FE44-AFD5-80391F89B4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0"/>
          <c:min val="3000"/>
        </c:scaling>
        <c:delete val="0"/>
        <c:axPos val="l"/>
        <c:majorGridlines>
          <c:spPr>
            <a:ln w="9525">
              <a:solidFill>
                <a:srgbClr val="D9E2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" sz="1275">
                    <a:solidFill>
                      <a:srgbClr val="5D6B75"/>
                    </a:solidFill>
                    <a:latin typeface="Arial"/>
                    <a:ea typeface="Arial"/>
                    <a:cs typeface="Arial"/>
                  </a:rPr>
                  <a:t>Quarterly fee revenue</a:t>
                </a:r>
              </a:p>
            </c:rich>
          </c:tx>
          <c:overlay val="0"/>
        </c:title>
        <c:numFmt formatCode="#,##0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midCat"/>
        <c:majorUnit val="500"/>
      </c:valAx>
      <c:valAx>
        <c:axId val="48650112"/>
        <c:scaling>
          <c:orientation val="minMax"/>
          <c:max val="2026"/>
          <c:min val="2015"/>
        </c:scaling>
        <c:delete val="0"/>
        <c:axPos val="b"/>
        <c:numFmt formatCode="0" sourceLinked="0"/>
        <c:majorTickMark val="none"/>
        <c:minorTickMark val="none"/>
        <c:tickLblPos val="nextTo"/>
        <c:spPr>
          <a:ln w="9525">
            <a:solidFill>
              <a:srgbClr val="D9E2E8"/>
            </a:solidFill>
          </a:ln>
        </c:spPr>
        <c:txPr>
          <a:bodyPr anchorCtr="1"/>
          <a:lstStyle/>
          <a:p>
            <a:pPr>
              <a:defRPr sz="1275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crossBetween val="midCat"/>
        <c:majorUnit val="2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275">
              <a:solidFill>
                <a:srgbClr val="252F38"/>
              </a:solidFill>
              <a:latin typeface="Arial"/>
              <a:ea typeface="Arial"/>
              <a:cs typeface="Arial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98914-2814-F647-B007-D8A78FA68462}" type="datetimeFigureOut">
              <a:rPr kumimoji="1" lang="zh-CN" altLang="en-US" smtClean="0"/>
              <a:t>2026/9/28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92EA0B-BF11-DB45-800E-07EA4FA6DCF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7121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2EA0B-BF11-DB45-800E-07EA4FA6DCFA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5768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2EA0B-BF11-DB45-800E-07EA4FA6DCFA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6088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n-Interest Income">
            <a:extLst>
              <a:ext uri="{FF2B5EF4-FFF2-40B4-BE49-F238E27FC236}">
                <a16:creationId xmlns:a16="http://schemas.microsoft.com/office/drawing/2014/main" id="{EB96CD7F-DDE9-4EE8-AB10-F92DC897A09E}"/>
              </a:ext>
            </a:extLst>
          </p:cNvPr>
          <p:cNvSpPr>
            <a:spLocks noGrp="1"/>
          </p:cNvSpPr>
          <p:nvPr/>
        </p:nvSpPr>
        <p:spPr>
          <a:xfrm>
            <a:off x="742950" y="2143125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Non-Interest Income</a:t>
            </a:r>
          </a:p>
        </p:txBody>
      </p:sp>
      <p:sp>
        <p:nvSpPr>
          <p:cNvPr id="4" name="Commercial Card&#10;Fee Revenue Modeling">
            <a:extLst>
              <a:ext uri="{FF2B5EF4-FFF2-40B4-BE49-F238E27FC236}">
                <a16:creationId xmlns:a16="http://schemas.microsoft.com/office/drawing/2014/main" id="{2B2941FA-FEA4-4756-8BE5-AEB8DE759756}"/>
              </a:ext>
            </a:extLst>
          </p:cNvPr>
          <p:cNvSpPr>
            <a:spLocks noGrp="1"/>
          </p:cNvSpPr>
          <p:nvPr/>
        </p:nvSpPr>
        <p:spPr>
          <a:xfrm>
            <a:off x="742950" y="291465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Debit Card</a:t>
            </a:r>
          </a:p>
          <a:p>
            <a:pPr algn="l">
              <a:buNone/>
              <a:defRPr sz="397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Qualitative Model</a:t>
            </a:r>
          </a:p>
        </p:txBody>
      </p:sp>
      <p:sp>
        <p:nvSpPr>
          <p:cNvPr id="5" name="Small Business + Commercial Card">
            <a:extLst>
              <a:ext uri="{FF2B5EF4-FFF2-40B4-BE49-F238E27FC236}">
                <a16:creationId xmlns:a16="http://schemas.microsoft.com/office/drawing/2014/main" id="{D07C77B4-83A1-471B-B1E5-C9B0BCD47105}"/>
              </a:ext>
            </a:extLst>
          </p:cNvPr>
          <p:cNvSpPr>
            <a:spLocks noGrp="1"/>
          </p:cNvSpPr>
          <p:nvPr/>
        </p:nvSpPr>
        <p:spPr>
          <a:xfrm>
            <a:off x="762000" y="4638675"/>
            <a:ext cx="10191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Data Treatment and Modeling Rationale</a:t>
            </a:r>
          </a:p>
        </p:txBody>
      </p:sp>
      <p:sp>
        <p:nvSpPr>
          <p:cNvPr id="6" name="Baseline and historical stress floor&#10;Data through December 2025">
            <a:extLst>
              <a:ext uri="{FF2B5EF4-FFF2-40B4-BE49-F238E27FC236}">
                <a16:creationId xmlns:a16="http://schemas.microsoft.com/office/drawing/2014/main" id="{015241B9-DB50-4CF5-9750-4C00960542B9}"/>
              </a:ext>
            </a:extLst>
          </p:cNvPr>
          <p:cNvSpPr>
            <a:spLocks noGrp="1"/>
          </p:cNvSpPr>
          <p:nvPr/>
        </p:nvSpPr>
        <p:spPr>
          <a:xfrm>
            <a:off x="762000" y="5562600"/>
            <a:ext cx="10191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Baseline and historical stress floor</a:t>
            </a:r>
          </a:p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Data through December 2025</a:t>
            </a:r>
          </a:p>
        </p:txBody>
      </p:sp>
    </p:spTree>
    <p:extLst>
      <p:ext uri="{BB962C8B-B14F-4D97-AF65-F5344CB8AC3E}">
        <p14:creationId xmlns:p14="http://schemas.microsoft.com/office/powerpoint/2010/main" val="1609394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9EFA5779-F429-4C88-BB4B-2324EC1F520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09FE152F-3ADE-45C4-A36F-05DDDA44AE00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Methodology">
            <a:extLst>
              <a:ext uri="{FF2B5EF4-FFF2-40B4-BE49-F238E27FC236}">
                <a16:creationId xmlns:a16="http://schemas.microsoft.com/office/drawing/2014/main" id="{1A0F9BA2-204D-48F8-993E-A3E6076B8379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6" name="Retain January 2012 onward after the 2011 regulatory fee reset. A">
            <a:extLst>
              <a:ext uri="{FF2B5EF4-FFF2-40B4-BE49-F238E27FC236}">
                <a16:creationId xmlns:a16="http://schemas.microsoft.com/office/drawing/2014/main" id="{6F6DDB9C-1CD3-4F92-A1D0-5504791A3DA8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106680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Retain January 2012 onward after the 2011 regulatory fee reset. Adjust the two confirmed 2012 expense reversals, then test four regression approaches.</a:t>
            </a:r>
          </a:p>
        </p:txBody>
      </p:sp>
      <p:sp>
        <p:nvSpPr>
          <p:cNvPr id="7" name="Key Findings">
            <a:extLst>
              <a:ext uri="{FF2B5EF4-FFF2-40B4-BE49-F238E27FC236}">
                <a16:creationId xmlns:a16="http://schemas.microsoft.com/office/drawing/2014/main" id="{45BA7C48-A48F-4A12-882D-924F832E04D1}"/>
              </a:ext>
            </a:extLst>
          </p:cNvPr>
          <p:cNvSpPr>
            <a:spLocks noGrp="1"/>
          </p:cNvSpPr>
          <p:nvPr/>
        </p:nvSpPr>
        <p:spPr>
          <a:xfrm>
            <a:off x="647700" y="30099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Key Findings</a:t>
            </a:r>
          </a:p>
        </p:txBody>
      </p:sp>
      <p:sp>
        <p:nvSpPr>
          <p:cNvPr id="8" name="No approach passes the defined screening rules. Unconfirmed 2014 ">
            <a:extLst>
              <a:ext uri="{FF2B5EF4-FFF2-40B4-BE49-F238E27FC236}">
                <a16:creationId xmlns:a16="http://schemas.microsoft.com/office/drawing/2014/main" id="{2117759D-FAC6-4F7B-97EC-FEADD56E67D0}"/>
              </a:ext>
            </a:extLst>
          </p:cNvPr>
          <p:cNvSpPr>
            <a:spLocks noGrp="1"/>
          </p:cNvSpPr>
          <p:nvPr/>
        </p:nvSpPr>
        <p:spPr>
          <a:xfrm>
            <a:off x="647700" y="3419475"/>
            <a:ext cx="10668000" cy="942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No approach passes the defined screening rules. Unconfirmed 2014 fee anomalies and the sustained Q1 2015 level shift may contribute to the failures.</a:t>
            </a:r>
          </a:p>
        </p:txBody>
      </p:sp>
      <p:sp>
        <p:nvSpPr>
          <p:cNvPr id="9" name="Outlook and Next Steps">
            <a:extLst>
              <a:ext uri="{FF2B5EF4-FFF2-40B4-BE49-F238E27FC236}">
                <a16:creationId xmlns:a16="http://schemas.microsoft.com/office/drawing/2014/main" id="{7FB6FA23-E460-4D85-8ED3-3F8EC9AF85CA}"/>
              </a:ext>
            </a:extLst>
          </p:cNvPr>
          <p:cNvSpPr>
            <a:spLocks noGrp="1"/>
          </p:cNvSpPr>
          <p:nvPr/>
        </p:nvSpPr>
        <p:spPr>
          <a:xfrm>
            <a:off x="647700" y="45815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Outlook and Next Steps</a:t>
            </a:r>
          </a:p>
        </p:txBody>
      </p:sp>
      <p:sp>
        <p:nvSpPr>
          <p:cNvPr id="10" name="Use a recent baseline and a historical stress floor. Confirm the ">
            <a:extLst>
              <a:ext uri="{FF2B5EF4-FFF2-40B4-BE49-F238E27FC236}">
                <a16:creationId xmlns:a16="http://schemas.microsoft.com/office/drawing/2014/main" id="{3B6AF3C9-6E9E-40E3-A14D-4601473036B3}"/>
              </a:ext>
            </a:extLst>
          </p:cNvPr>
          <p:cNvSpPr>
            <a:spLocks noGrp="1"/>
          </p:cNvSpPr>
          <p:nvPr/>
        </p:nvSpPr>
        <p:spPr>
          <a:xfrm>
            <a:off x="647700" y="4991100"/>
            <a:ext cx="106680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Use a recent baseline and a historical stress floor. Confirm the unexplained events and review the model assumptions as new data arrive.</a:t>
            </a:r>
          </a:p>
        </p:txBody>
      </p:sp>
    </p:spTree>
    <p:extLst>
      <p:ext uri="{BB962C8B-B14F-4D97-AF65-F5344CB8AC3E}">
        <p14:creationId xmlns:p14="http://schemas.microsoft.com/office/powerpoint/2010/main" val="737880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836B9294-8BBE-4B0D-B520-648277F9B2E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Debit Fee Revenue: Full Sample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A1F4CA69-A737-4593-BB33-27DE9E066830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Raw monthly observations, January 2011 to December 2025 (180 mont">
            <a:extLst>
              <a:ext uri="{FF2B5EF4-FFF2-40B4-BE49-F238E27FC236}">
                <a16:creationId xmlns:a16="http://schemas.microsoft.com/office/drawing/2014/main" id="{A9D7308F-8065-464A-A0AF-083C7FFF63A3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Raw monthly observations, January 2011 to December 2025 (180 months)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609600" y="1924050"/>
          <a:ext cx="10972800" cy="3705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he 2011 fee reset, 2012 spikes and later changes in the series m">
            <a:extLst>
              <a:ext uri="{FF2B5EF4-FFF2-40B4-BE49-F238E27FC236}">
                <a16:creationId xmlns:a16="http://schemas.microsoft.com/office/drawing/2014/main" id="{F7D94DF4-A15C-465B-AF69-E1D509D100C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2011 fee reset, 2012 spikes and later changes in the series motivate the data review.</a:t>
            </a:r>
          </a:p>
        </p:txBody>
      </p:sp>
    </p:spTree>
    <p:extLst>
      <p:ext uri="{BB962C8B-B14F-4D97-AF65-F5344CB8AC3E}">
        <p14:creationId xmlns:p14="http://schemas.microsoft.com/office/powerpoint/2010/main" val="822054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BDF0BA8-81E5-414F-963F-5D4A5004DD9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2011 Exclusion: The Regulatory Fee Reset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14E41965-0A90-40CE-9FF7-19349ECACCF8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Regulation II implemented the Durbin Amendment interchange-fee li">
            <a:extLst>
              <a:ext uri="{FF2B5EF4-FFF2-40B4-BE49-F238E27FC236}">
                <a16:creationId xmlns:a16="http://schemas.microsoft.com/office/drawing/2014/main" id="{1CA7ABD2-BEA3-4D7F-ACB4-E90C70C7ED1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Regulation II implemented the Durbin Amendment interchange-fee limits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="609600" y="2047875"/>
          <a:ext cx="67437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October 1, 2011">
            <a:extLst>
              <a:ext uri="{FF2B5EF4-FFF2-40B4-BE49-F238E27FC236}">
                <a16:creationId xmlns:a16="http://schemas.microsoft.com/office/drawing/2014/main" id="{7AEF138E-4234-4F2E-B74E-D502F0ACF7EC}"/>
              </a:ext>
            </a:extLst>
          </p:cNvPr>
          <p:cNvSpPr>
            <a:spLocks noGrp="1"/>
          </p:cNvSpPr>
          <p:nvPr/>
        </p:nvSpPr>
        <p:spPr>
          <a:xfrm>
            <a:off x="7781925" y="2057400"/>
            <a:ext cx="36957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October 1, 2011</a:t>
            </a:r>
          </a:p>
        </p:txBody>
      </p:sp>
      <p:sp>
        <p:nvSpPr>
          <p:cNvPr id="8" name="The interchange-fee cap took effect for covered issuers.">
            <a:extLst>
              <a:ext uri="{FF2B5EF4-FFF2-40B4-BE49-F238E27FC236}">
                <a16:creationId xmlns:a16="http://schemas.microsoft.com/office/drawing/2014/main" id="{A9531EAF-59B0-4339-8EEA-41A3C76BBDD4}"/>
              </a:ext>
            </a:extLst>
          </p:cNvPr>
          <p:cNvSpPr>
            <a:spLocks noGrp="1"/>
          </p:cNvSpPr>
          <p:nvPr/>
        </p:nvSpPr>
        <p:spPr>
          <a:xfrm>
            <a:off x="7781925" y="2486025"/>
            <a:ext cx="36957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interchange-fee cap took effect for covered issuers.</a:t>
            </a:r>
          </a:p>
        </p:txBody>
      </p:sp>
      <p:sp>
        <p:nvSpPr>
          <p:cNvPr id="9" name="59.3% monthly decline">
            <a:extLst>
              <a:ext uri="{FF2B5EF4-FFF2-40B4-BE49-F238E27FC236}">
                <a16:creationId xmlns:a16="http://schemas.microsoft.com/office/drawing/2014/main" id="{ECFBA1E9-94E2-465C-A665-457E0BEAD962}"/>
              </a:ext>
            </a:extLst>
          </p:cNvPr>
          <p:cNvSpPr>
            <a:spLocks noGrp="1"/>
          </p:cNvSpPr>
          <p:nvPr/>
        </p:nvSpPr>
        <p:spPr>
          <a:xfrm>
            <a:off x="7781925" y="3543300"/>
            <a:ext cx="3695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59.3% monthly decline</a:t>
            </a:r>
          </a:p>
        </p:txBody>
      </p:sp>
      <p:sp>
        <p:nvSpPr>
          <p:cNvPr id="10" name="Fee revenue fell from 2,189 in September to 890 in October.">
            <a:extLst>
              <a:ext uri="{FF2B5EF4-FFF2-40B4-BE49-F238E27FC236}">
                <a16:creationId xmlns:a16="http://schemas.microsoft.com/office/drawing/2014/main" id="{0131CE2E-363E-4DA0-B6D5-A75E513408EB}"/>
              </a:ext>
            </a:extLst>
          </p:cNvPr>
          <p:cNvSpPr>
            <a:spLocks noGrp="1"/>
          </p:cNvSpPr>
          <p:nvPr/>
        </p:nvSpPr>
        <p:spPr>
          <a:xfrm>
            <a:off x="7781925" y="4019550"/>
            <a:ext cx="36957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2F38"/>
                </a:solidFill>
                <a:latin typeface="Arial"/>
                <a:ea typeface="Arial"/>
                <a:cs typeface="Arial"/>
              </a:rPr>
              <a:t>Fee revenue fell from 2,189 in September to 890 in October.</a:t>
            </a:r>
          </a:p>
        </p:txBody>
      </p:sp>
      <p:sp>
        <p:nvSpPr>
          <p:cNvPr id="11" name="Exclude all of 2011, including the transition quarter. Retain Jan">
            <a:extLst>
              <a:ext uri="{FF2B5EF4-FFF2-40B4-BE49-F238E27FC236}">
                <a16:creationId xmlns:a16="http://schemas.microsoft.com/office/drawing/2014/main" id="{30239053-3B27-4DF6-ABEE-4159D1BE2CE1}"/>
              </a:ext>
            </a:extLst>
          </p:cNvPr>
          <p:cNvSpPr>
            <a:spLocks noGrp="1"/>
          </p:cNvSpPr>
          <p:nvPr/>
        </p:nvSpPr>
        <p:spPr>
          <a:xfrm>
            <a:off x="609600" y="563880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Exclude all of 2011, including the transition quarter. Retain January 2012 onward (168 months).</a:t>
            </a:r>
          </a:p>
        </p:txBody>
      </p:sp>
      <p:sp>
        <p:nvSpPr>
          <p:cNvPr id="12" name="Full-year exclusion is the modeling treatment. The regulation bec">
            <a:extLst>
              <a:ext uri="{FF2B5EF4-FFF2-40B4-BE49-F238E27FC236}">
                <a16:creationId xmlns:a16="http://schemas.microsoft.com/office/drawing/2014/main" id="{996BC7AC-78EF-41C3-9EC0-B38A65A99816}"/>
              </a:ext>
            </a:extLst>
          </p:cNvPr>
          <p:cNvSpPr>
            <a:spLocks noGrp="1"/>
          </p:cNvSpPr>
          <p:nvPr/>
        </p:nvSpPr>
        <p:spPr>
          <a:xfrm>
            <a:off x="609600" y="6296025"/>
            <a:ext cx="10668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Full-year exclusion is the modeling treatment. The regulation became effective in October 2011.</a:t>
            </a:r>
          </a:p>
        </p:txBody>
      </p:sp>
    </p:spTree>
    <p:extLst>
      <p:ext uri="{BB962C8B-B14F-4D97-AF65-F5344CB8AC3E}">
        <p14:creationId xmlns:p14="http://schemas.microsoft.com/office/powerpoint/2010/main" val="123975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6D996EEB-E170-415E-B005-9742539AAD6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March and December 2012: Outlier Treatment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4DA1D267-CE00-4F49-946C-600722446E9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Confirmed reversals of accrued purchase purse expense increased r">
            <a:extLst>
              <a:ext uri="{FF2B5EF4-FFF2-40B4-BE49-F238E27FC236}">
                <a16:creationId xmlns:a16="http://schemas.microsoft.com/office/drawing/2014/main" id="{54D435F3-4991-4272-B9A2-7FF074CF4DCE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Confirmed reversals of accrued purchase purse expense increased reported fee revenue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09600" y="1990725"/>
          <a:ext cx="10972800" cy="259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表格 12"/>
          <p:cNvGraphicFramePr/>
          <p:nvPr/>
        </p:nvGraphicFramePr>
        <p:xfrm>
          <a:off x="609600" y="4686300"/>
          <a:ext cx="10972800" cy="1171575"/>
        </p:xfrm>
        <a:graphic>
          <a:graphicData uri="http://schemas.openxmlformats.org/drawingml/2006/table">
            <a:tbl>
              <a:tblPr/>
              <a:tblGrid>
                <a:gridCol w="258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6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5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Month</a:t>
                      </a:r>
                    </a:p>
                  </a:txBody>
                  <a:tcPr marL="114300" marR="9525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Raw fee</a:t>
                      </a:r>
                    </a:p>
                  </a:txBody>
                  <a:tcPr marL="114300" marR="9525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Replacement calculation</a:t>
                      </a:r>
                    </a:p>
                  </a:txBody>
                  <a:tcPr marL="114300" marR="9525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Adjusted fee</a:t>
                      </a:r>
                    </a:p>
                  </a:txBody>
                  <a:tcPr marL="114300" marR="9525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2012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1,650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(694 + 1,013) / 2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853.5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December 2012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2,916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(912 + 649) / 2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780.5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place each spike with the mean of the adjacent months. All othe">
            <a:extLst>
              <a:ext uri="{FF2B5EF4-FFF2-40B4-BE49-F238E27FC236}">
                <a16:creationId xmlns:a16="http://schemas.microsoft.com/office/drawing/2014/main" id="{3A270282-38BB-42A5-9095-1FAB2367FB9D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lang="en"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Replace each spike with the mean of the adjacent months. All other retained observations stay unchanged.</a:t>
            </a:r>
            <a:endParaRPr sz="1650" b="1" dirty="0">
              <a:solidFill>
                <a:srgbClr val="00476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3906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004EBA2-3C31-4628-94F8-87AF53726848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Four Regression Approaches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46432126-10C3-4C27-9149-E77E12FE421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All four approaches use the adjusted series. Estimation and selec">
            <a:extLst>
              <a:ext uri="{FF2B5EF4-FFF2-40B4-BE49-F238E27FC236}">
                <a16:creationId xmlns:a16="http://schemas.microsoft.com/office/drawing/2014/main" id="{EDA82804-C794-4060-A017-9C868AFC240F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All four approaches use the adjusted series. Estimation and selection end in September 2023.</a:t>
            </a:r>
          </a:p>
        </p:txBody>
      </p:sp>
      <p:graphicFrame>
        <p:nvGraphicFramePr>
          <p:cNvPr id="13" name="表格 11"/>
          <p:cNvGraphicFramePr/>
          <p:nvPr/>
        </p:nvGraphicFramePr>
        <p:xfrm>
          <a:off x="609600" y="1981200"/>
          <a:ext cx="10972800" cy="3188970"/>
        </p:xfrm>
        <a:graphic>
          <a:graphicData uri="http://schemas.openxmlformats.org/drawingml/2006/table">
            <a:tbl>
              <a:tblPr/>
              <a:tblGrid>
                <a:gridCol w="287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8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Eligible first additions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reason for failure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Level ARDL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of 194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Only one trial passes Durbin–Watson.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That trial fails residual normality.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YoY route toward ECM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of 14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static macro trials fail residual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normality. The ECM stage is not reached.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MoM ARDL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of 194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trials fail residual normality.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QoQ ARDL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Quarterly totals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 of 74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All trials fail residual normality.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Joint rules: term p &lt; 0.05, Durbin–Watson 1.5–2.5, Jarque–Bera p ">
            <a:extLst>
              <a:ext uri="{FF2B5EF4-FFF2-40B4-BE49-F238E27FC236}">
                <a16:creationId xmlns:a16="http://schemas.microsoft.com/office/drawing/2014/main" id="{F02CE97C-2B99-401E-9AE9-586B5C429DB9}"/>
              </a:ext>
            </a:extLst>
          </p:cNvPr>
          <p:cNvSpPr>
            <a:spLocks noGrp="1"/>
          </p:cNvSpPr>
          <p:nvPr/>
        </p:nvSpPr>
        <p:spPr>
          <a:xfrm>
            <a:off x="628650" y="5248275"/>
            <a:ext cx="10858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Joint rules: term p &lt; 0.05, Durbin–Watson 1.5–2.5, Jarque–Bera p &gt; 0.05 and VIF &lt; 10.</a:t>
            </a:r>
          </a:p>
        </p:txBody>
      </p:sp>
      <p:sp>
        <p:nvSpPr>
          <p:cNvPr id="8" name="These screens produced no adoptable regression. Unexplained data ">
            <a:extLst>
              <a:ext uri="{FF2B5EF4-FFF2-40B4-BE49-F238E27FC236}">
                <a16:creationId xmlns:a16="http://schemas.microsoft.com/office/drawing/2014/main" id="{9A8F55BD-7A0F-4C90-8C27-A6F1954F46DD}"/>
              </a:ext>
            </a:extLst>
          </p:cNvPr>
          <p:cNvSpPr>
            <a:spLocks noGrp="1"/>
          </p:cNvSpPr>
          <p:nvPr/>
        </p:nvSpPr>
        <p:spPr>
          <a:xfrm>
            <a:off x="609600" y="59626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These screens produced no adoptable regression. Unexplained data features remain possible causes.</a:t>
            </a:r>
          </a:p>
        </p:txBody>
      </p:sp>
    </p:spTree>
    <p:extLst>
      <p:ext uri="{BB962C8B-B14F-4D97-AF65-F5344CB8AC3E}">
        <p14:creationId xmlns:p14="http://schemas.microsoft.com/office/powerpoint/2010/main" val="44696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E11BCAC-5587-4C0E-A24E-AAFC1ABD9916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Unconfirmed 2014 Fee Anomalies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60395313-73E0-4014-9859-9F5B25367E7C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="600075" y="1638300"/>
          <a:ext cx="6819900" cy="3790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表格 11"/>
          <p:cNvGraphicFramePr/>
          <p:nvPr/>
        </p:nvGraphicFramePr>
        <p:xfrm>
          <a:off x="7724775" y="1819275"/>
          <a:ext cx="3790950" cy="2771775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435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/ MoM change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March spike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1,506 / +78%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April reversal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−34.5%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June spike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1,504 / +37%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435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July reversal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−26.5%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tain both spikes pending a confirmed business explanation.">
            <a:extLst>
              <a:ext uri="{FF2B5EF4-FFF2-40B4-BE49-F238E27FC236}">
                <a16:creationId xmlns:a16="http://schemas.microsoft.com/office/drawing/2014/main" id="{85BBB65F-5C5D-4C25-ACAB-9A31B2AB0F92}"/>
              </a:ext>
            </a:extLst>
          </p:cNvPr>
          <p:cNvSpPr>
            <a:spLocks noGrp="1"/>
          </p:cNvSpPr>
          <p:nvPr/>
        </p:nvSpPr>
        <p:spPr>
          <a:xfrm>
            <a:off x="7762875" y="4895850"/>
            <a:ext cx="3705225" cy="790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Retain both spikes pending a confirmed business explanation.</a:t>
            </a:r>
          </a:p>
        </p:txBody>
      </p:sp>
      <p:sp>
        <p:nvSpPr>
          <p:cNvPr id="8" name="Large spikes and reversals may contribute to non-normal residuals">
            <a:extLst>
              <a:ext uri="{FF2B5EF4-FFF2-40B4-BE49-F238E27FC236}">
                <a16:creationId xmlns:a16="http://schemas.microsoft.com/office/drawing/2014/main" id="{4951C207-DFD3-449C-B0FF-DC3BBCD68A85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Large spikes and reversals may contribute to non-normal residuals in the growth models.</a:t>
            </a:r>
          </a:p>
        </p:txBody>
      </p:sp>
    </p:spTree>
    <p:extLst>
      <p:ext uri="{BB962C8B-B14F-4D97-AF65-F5344CB8AC3E}">
        <p14:creationId xmlns:p14="http://schemas.microsoft.com/office/powerpoint/2010/main" val="199643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BD9C853C-A826-48E5-B13B-7302381FCF3F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A Sustained Level Shift in Q1 2015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794668C6-29EA-4B51-9643-F5B6FC93E235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="600075" y="1666875"/>
          <a:ext cx="6934200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表格 12"/>
          <p:cNvGraphicFramePr/>
          <p:nvPr/>
        </p:nvGraphicFramePr>
        <p:xfrm>
          <a:off x="7781925" y="1838325"/>
          <a:ext cx="3752850" cy="2343150"/>
        </p:xfrm>
        <a:graphic>
          <a:graphicData uri="http://schemas.openxmlformats.org/drawingml/2006/table">
            <a:tbl>
              <a:tblPr/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mean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2012–2014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12 quarters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2,919.0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2015–2025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4,554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About 56% higher">
            <a:extLst>
              <a:ext uri="{FF2B5EF4-FFF2-40B4-BE49-F238E27FC236}">
                <a16:creationId xmlns:a16="http://schemas.microsoft.com/office/drawing/2014/main" id="{768D455A-A1E8-490B-A4B6-982B981E05D1}"/>
              </a:ext>
            </a:extLst>
          </p:cNvPr>
          <p:cNvSpPr>
            <a:spLocks noGrp="1"/>
          </p:cNvSpPr>
          <p:nvPr/>
        </p:nvSpPr>
        <p:spPr>
          <a:xfrm>
            <a:off x="7800975" y="4543425"/>
            <a:ext cx="3714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About 56% higher</a:t>
            </a:r>
          </a:p>
        </p:txBody>
      </p:sp>
      <p:sp>
        <p:nvSpPr>
          <p:cNvPr id="8" name="The higher revenue level persists through 2025.">
            <a:extLst>
              <a:ext uri="{FF2B5EF4-FFF2-40B4-BE49-F238E27FC236}">
                <a16:creationId xmlns:a16="http://schemas.microsoft.com/office/drawing/2014/main" id="{610FC092-692B-4A43-9383-B9388CF1FC2A}"/>
              </a:ext>
            </a:extLst>
          </p:cNvPr>
          <p:cNvSpPr>
            <a:spLocks noGrp="1"/>
          </p:cNvSpPr>
          <p:nvPr/>
        </p:nvSpPr>
        <p:spPr>
          <a:xfrm>
            <a:off x="7800975" y="5019675"/>
            <a:ext cx="3714750" cy="657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higher revenue level persists through 2025.</a:t>
            </a:r>
          </a:p>
        </p:txBody>
      </p:sp>
      <p:sp>
        <p:nvSpPr>
          <p:cNvPr id="9" name="An unexplained change in the revenue level may weaken a single re">
            <a:extLst>
              <a:ext uri="{FF2B5EF4-FFF2-40B4-BE49-F238E27FC236}">
                <a16:creationId xmlns:a16="http://schemas.microsoft.com/office/drawing/2014/main" id="{1C7DA476-5DE8-439B-9FA5-C0029603879E}"/>
              </a:ext>
            </a:extLst>
          </p:cNvPr>
          <p:cNvSpPr>
            <a:spLocks noGrp="1"/>
          </p:cNvSpPr>
          <p:nvPr/>
        </p:nvSpPr>
        <p:spPr>
          <a:xfrm>
            <a:off x="609600" y="59150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An unexplained change in the revenue level may weaken a single regression fitted across both periods.</a:t>
            </a:r>
          </a:p>
        </p:txBody>
      </p:sp>
    </p:spTree>
    <p:extLst>
      <p:ext uri="{BB962C8B-B14F-4D97-AF65-F5344CB8AC3E}">
        <p14:creationId xmlns:p14="http://schemas.microsoft.com/office/powerpoint/2010/main" val="185253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CA6C28DE-6F6A-489B-BE84-B5010111143D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Switch to a Qualitative Model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3E1EFBCC-DB85-43A3-B239-21056BBDA15B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Use a recent revenue baseline and a historical downside floor">
            <a:extLst>
              <a:ext uri="{FF2B5EF4-FFF2-40B4-BE49-F238E27FC236}">
                <a16:creationId xmlns:a16="http://schemas.microsoft.com/office/drawing/2014/main" id="{4E6BF6AE-F77E-4DA6-A136-72A7DEB7A3F9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Use a recent revenue baseline and a historical downside floor</a:t>
            </a:r>
          </a:p>
        </p:txBody>
      </p:sp>
      <p:graphicFrame>
        <p:nvGraphicFramePr>
          <p:cNvPr id="14" name="表格 12"/>
          <p:cNvGraphicFramePr/>
          <p:nvPr/>
        </p:nvGraphicFramePr>
        <p:xfrm>
          <a:off x="609600" y="1971675"/>
          <a:ext cx="10972800" cy="2162175"/>
        </p:xfrm>
        <a:graphic>
          <a:graphicData uri="http://schemas.openxmlformats.org/drawingml/2006/table">
            <a:tbl>
              <a:tblPr/>
              <a:tblGrid>
                <a:gridCol w="1924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0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 window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Method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Quarterly value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Q1 to 2025 Q4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8 quarters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Recent arithmetic mean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4,747.6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07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Stress floor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2015 Q1 to 2025 Q4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 minus two</a:t>
                      </a:r>
                    </a:p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standard deviations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3,815.9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19.6% below baseline">
            <a:extLst>
              <a:ext uri="{FF2B5EF4-FFF2-40B4-BE49-F238E27FC236}">
                <a16:creationId xmlns:a16="http://schemas.microsoft.com/office/drawing/2014/main" id="{34AD7330-4CA4-40F1-89E6-6F6277BF4E63}"/>
              </a:ext>
            </a:extLst>
          </p:cNvPr>
          <p:cNvSpPr>
            <a:spLocks noGrp="1"/>
          </p:cNvSpPr>
          <p:nvPr/>
        </p:nvSpPr>
        <p:spPr>
          <a:xfrm>
            <a:off x="647700" y="4467225"/>
            <a:ext cx="105727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5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Stress</a:t>
            </a:r>
            <a:r>
              <a:rPr lang="zh-CN" altLang="en-US"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floor</a:t>
            </a:r>
            <a:r>
              <a:rPr lang="zh-CN" altLang="en-US"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is</a:t>
            </a:r>
            <a:r>
              <a:rPr lang="zh-CN" altLang="en-US"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 </a:t>
            </a:r>
            <a:r>
              <a:rPr sz="25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19.6% below baseline</a:t>
            </a:r>
          </a:p>
        </p:txBody>
      </p:sp>
      <p:sp>
        <p:nvSpPr>
          <p:cNvPr id="8" name="The recent window reflects current revenue. The longer window cap">
            <a:extLst>
              <a:ext uri="{FF2B5EF4-FFF2-40B4-BE49-F238E27FC236}">
                <a16:creationId xmlns:a16="http://schemas.microsoft.com/office/drawing/2014/main" id="{28430BE5-2574-4724-A9F9-DC5D6D89EB01}"/>
              </a:ext>
            </a:extLst>
          </p:cNvPr>
          <p:cNvSpPr>
            <a:spLocks noGrp="1"/>
          </p:cNvSpPr>
          <p:nvPr/>
        </p:nvSpPr>
        <p:spPr>
          <a:xfrm>
            <a:off x="647700" y="5048250"/>
            <a:ext cx="10763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recent window reflects current revenue. The longer window captures the historical range of outcomes since the 2015 level shift.</a:t>
            </a:r>
          </a:p>
        </p:txBody>
      </p:sp>
    </p:spTree>
    <p:extLst>
      <p:ext uri="{BB962C8B-B14F-4D97-AF65-F5344CB8AC3E}">
        <p14:creationId xmlns:p14="http://schemas.microsoft.com/office/powerpoint/2010/main" val="156639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title">
            <a:extLst>
              <a:ext uri="{FF2B5EF4-FFF2-40B4-BE49-F238E27FC236}">
                <a16:creationId xmlns:a16="http://schemas.microsoft.com/office/drawing/2014/main" id="{8A598122-D7D3-4E66-B2F0-D2769B3195E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Baseline: The Most Recent Eight Quarters</a:t>
            </a:r>
          </a:p>
        </p:txBody>
      </p:sp>
      <p:sp>
        <p:nvSpPr>
          <p:cNvPr id="2" name="Page number">
            <a:extLst>
              <a:ext uri="{FF2B5EF4-FFF2-40B4-BE49-F238E27FC236}">
                <a16:creationId xmlns:a16="http://schemas.microsoft.com/office/drawing/2014/main" id="{F62267BB-D46E-4732-B475-C87D33DFFA22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表格 9"/>
          <p:cNvGraphicFramePr/>
          <p:nvPr/>
        </p:nvGraphicFramePr>
        <p:xfrm>
          <a:off x="609600" y="1647825"/>
          <a:ext cx="3295650" cy="4029075"/>
        </p:xfrm>
        <a:graphic>
          <a:graphicData uri="http://schemas.openxmlformats.org/drawingml/2006/table">
            <a:tbl>
              <a:tblPr/>
              <a:tblGrid>
                <a:gridCol w="168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Quarter</a:t>
                      </a:r>
                    </a:p>
                  </a:txBody>
                  <a:tcPr marL="114300" marR="95250" marT="47625" marB="4762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Fee revenue</a:t>
                      </a:r>
                    </a:p>
                  </a:txBody>
                  <a:tcPr marL="114300" marR="95250" marT="47625" marB="4762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Q1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4,148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Q2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4,873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Q3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4,691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2024 Q4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4,949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Q1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4,600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Q2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4,869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Q3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4,988</a:t>
                      </a:r>
                    </a:p>
                  </a:txBody>
                  <a:tcPr marL="114300" marR="95250" marT="47625" marB="4762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2025 Q4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4,863</a:t>
                      </a:r>
                    </a:p>
                  </a:txBody>
                  <a:tcPr marL="114300" marR="9525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Quarterly baseline: 4,747.6">
            <a:extLst>
              <a:ext uri="{FF2B5EF4-FFF2-40B4-BE49-F238E27FC236}">
                <a16:creationId xmlns:a16="http://schemas.microsoft.com/office/drawing/2014/main" id="{E1E71706-DF29-4670-B018-956BEC1A5D9F}"/>
              </a:ext>
            </a:extLst>
          </p:cNvPr>
          <p:cNvSpPr>
            <a:spLocks noGrp="1"/>
          </p:cNvSpPr>
          <p:nvPr/>
        </p:nvSpPr>
        <p:spPr>
          <a:xfrm>
            <a:off x="4333875" y="1619250"/>
            <a:ext cx="71437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32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Quarterly baseline: 4,747.6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="4171950" y="2219325"/>
          <a:ext cx="7419975" cy="3295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he 2015–2025 mean of 4,553.9 is about 4% lower.">
            <a:extLst>
              <a:ext uri="{FF2B5EF4-FFF2-40B4-BE49-F238E27FC236}">
                <a16:creationId xmlns:a16="http://schemas.microsoft.com/office/drawing/2014/main" id="{D35C9120-935D-47CE-92C0-740E75DE3AB2}"/>
              </a:ext>
            </a:extLst>
          </p:cNvPr>
          <p:cNvSpPr>
            <a:spLocks noGrp="1"/>
          </p:cNvSpPr>
          <p:nvPr/>
        </p:nvSpPr>
        <p:spPr>
          <a:xfrm>
            <a:off x="4295775" y="5572125"/>
            <a:ext cx="72866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The 2015–2025 mean of 4,553.9 is about 4% lower.</a:t>
            </a:r>
          </a:p>
        </p:txBody>
      </p:sp>
      <p:sp>
        <p:nvSpPr>
          <p:cNvPr id="7" name="The latest eight quarters reflect current revenue and avoid ancho">
            <a:extLst>
              <a:ext uri="{FF2B5EF4-FFF2-40B4-BE49-F238E27FC236}">
                <a16:creationId xmlns:a16="http://schemas.microsoft.com/office/drawing/2014/main" id="{467CBEA3-DBAA-434B-A1C2-BE9868C702F1}"/>
              </a:ext>
            </a:extLst>
          </p:cNvPr>
          <p:cNvSpPr>
            <a:spLocks noGrp="1"/>
          </p:cNvSpPr>
          <p:nvPr/>
        </p:nvSpPr>
        <p:spPr>
          <a:xfrm>
            <a:off x="609600" y="6200775"/>
            <a:ext cx="10972800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1650" b="1" dirty="0">
                <a:solidFill>
                  <a:srgbClr val="00476B"/>
                </a:solidFill>
                <a:latin typeface="Arial"/>
                <a:ea typeface="Arial"/>
                <a:cs typeface="Arial"/>
              </a:rPr>
              <a:t>The latest eight quarters reflect current revenue and avoid anchoring the baseline to earlier, lower levels.</a:t>
            </a:r>
          </a:p>
        </p:txBody>
      </p:sp>
    </p:spTree>
    <p:extLst>
      <p:ext uri="{BB962C8B-B14F-4D97-AF65-F5344CB8AC3E}">
        <p14:creationId xmlns:p14="http://schemas.microsoft.com/office/powerpoint/2010/main" val="285131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title">
            <a:extLst>
              <a:ext uri="{FF2B5EF4-FFF2-40B4-BE49-F238E27FC236}">
                <a16:creationId xmlns:a16="http://schemas.microsoft.com/office/drawing/2014/main" id="{C4A6A948-01E7-45D3-AF05-3B33E5776FE0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 dirty="0">
                <a:solidFill>
                  <a:srgbClr val="006C98"/>
                </a:solidFill>
                <a:latin typeface="Arial"/>
                <a:ea typeface="Arial"/>
                <a:cs typeface="Arial"/>
              </a:rPr>
              <a:t>Stress Floor: Method and Historical Context</a:t>
            </a:r>
          </a:p>
        </p:txBody>
      </p:sp>
      <p:sp>
        <p:nvSpPr>
          <p:cNvPr id="2" name="Page number">
            <a:extLst>
              <a:ext uri="{FF2B5EF4-FFF2-40B4-BE49-F238E27FC236}">
                <a16:creationId xmlns:a16="http://schemas.microsoft.com/office/drawing/2014/main" id="{F3DFC6F0-1076-4C55-85F4-E76AF6015853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Post-2015 quarterly fee revenue, 2015 Q1 to 2025 Q4">
            <a:extLst>
              <a:ext uri="{FF2B5EF4-FFF2-40B4-BE49-F238E27FC236}">
                <a16:creationId xmlns:a16="http://schemas.microsoft.com/office/drawing/2014/main" id="{DA176BFC-79A7-4D9B-9C67-39FA69BDF750}"/>
              </a:ext>
            </a:extLst>
          </p:cNvPr>
          <p:cNvSpPr>
            <a:spLocks noGrp="1"/>
          </p:cNvSpPr>
          <p:nvPr/>
        </p:nvSpPr>
        <p:spPr>
          <a:xfrm>
            <a:off x="609600" y="136207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Post-2015 quarterly fee revenue, 2015 Q1 to 2025 Q4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1924050"/>
          <a:ext cx="4019550" cy="3209652"/>
        </p:xfrm>
        <a:graphic>
          <a:graphicData uri="http://schemas.openxmlformats.org/drawingml/2006/table">
            <a:tbl>
              <a:tblPr/>
              <a:tblGrid>
                <a:gridCol w="249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2232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Statistic</a:t>
                      </a:r>
                    </a:p>
                  </a:txBody>
                  <a:tcPr marL="114300" marR="95250" marT="38100" marB="38100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114300" marR="95250" marT="38100" marB="38100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Observation count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44 quarters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Mean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4,553.9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Standard deviation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369.0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Skewness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0.53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Shapiro–Wilk p-value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0.053</a:t>
                      </a:r>
                    </a:p>
                  </a:txBody>
                  <a:tcPr marL="114300" marR="95250" marT="38100" marB="38100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232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Minimum quarter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3,954</a:t>
                      </a:r>
                    </a:p>
                    <a:p>
                      <a:r>
                        <a:rPr sz="1575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2020 Q2</a:t>
                      </a:r>
                    </a:p>
                  </a:txBody>
                  <a:tcPr marL="11430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2" name="Chart"/>
          <p:cNvGraphicFramePr/>
          <p:nvPr/>
        </p:nvGraphicFramePr>
        <p:xfrm>
          <a:off x="4810125" y="1981200"/>
          <a:ext cx="677227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tress floor = 4,553.9 − 2 × 369.0 = 3,815.9 per quarter">
            <a:extLst>
              <a:ext uri="{FF2B5EF4-FFF2-40B4-BE49-F238E27FC236}">
                <a16:creationId xmlns:a16="http://schemas.microsoft.com/office/drawing/2014/main" id="{CEA23D9A-E1FC-480D-A5C0-5E482F71E206}"/>
              </a:ext>
            </a:extLst>
          </p:cNvPr>
          <p:cNvSpPr>
            <a:spLocks noGrp="1"/>
          </p:cNvSpPr>
          <p:nvPr/>
        </p:nvSpPr>
        <p:spPr>
          <a:xfrm>
            <a:off x="609600" y="52482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175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Stress floor = 4,553.9 − 2 × 369.0 = 3,815.9 per quarter</a:t>
            </a:r>
          </a:p>
        </p:txBody>
      </p:sp>
      <p:sp>
        <p:nvSpPr>
          <p:cNvPr id="7" name="About 1,272.0 per month. None of the 44 observed quarters falls b">
            <a:extLst>
              <a:ext uri="{FF2B5EF4-FFF2-40B4-BE49-F238E27FC236}">
                <a16:creationId xmlns:a16="http://schemas.microsoft.com/office/drawing/2014/main" id="{B37F7F05-BFCD-4D1A-9D07-70781135E074}"/>
              </a:ext>
            </a:extLst>
          </p:cNvPr>
          <p:cNvSpPr>
            <a:spLocks noGrp="1"/>
          </p:cNvSpPr>
          <p:nvPr/>
        </p:nvSpPr>
        <p:spPr>
          <a:xfrm>
            <a:off x="609600" y="5772150"/>
            <a:ext cx="11211098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72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About 1,272.0 per month. None of the 44 observed quarters falls below this floor, including the COVID low of 3,954.</a:t>
            </a:r>
          </a:p>
        </p:txBody>
      </p:sp>
    </p:spTree>
    <p:extLst>
      <p:ext uri="{BB962C8B-B14F-4D97-AF65-F5344CB8AC3E}">
        <p14:creationId xmlns:p14="http://schemas.microsoft.com/office/powerpoint/2010/main" val="684214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title">
            <a:extLst>
              <a:ext uri="{FF2B5EF4-FFF2-40B4-BE49-F238E27FC236}">
                <a16:creationId xmlns:a16="http://schemas.microsoft.com/office/drawing/2014/main" id="{862D1E0A-A3C0-4B8A-8078-9F4E10312431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Stress Severity: COVID Reference Check</a:t>
            </a:r>
          </a:p>
        </p:txBody>
      </p:sp>
      <p:sp>
        <p:nvSpPr>
          <p:cNvPr id="2" name="Page number">
            <a:extLst>
              <a:ext uri="{FF2B5EF4-FFF2-40B4-BE49-F238E27FC236}">
                <a16:creationId xmlns:a16="http://schemas.microsoft.com/office/drawing/2014/main" id="{5CAD51AF-152B-46BD-A787-57D703BBB404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Comparison uses the baseline, stress floor and COVID reference in">
            <a:extLst>
              <a:ext uri="{FF2B5EF4-FFF2-40B4-BE49-F238E27FC236}">
                <a16:creationId xmlns:a16="http://schemas.microsoft.com/office/drawing/2014/main" id="{BE053474-1D90-4C83-85CB-9D602951BE61}"/>
              </a:ext>
            </a:extLst>
          </p:cNvPr>
          <p:cNvSpPr>
            <a:spLocks noGrp="1"/>
          </p:cNvSpPr>
          <p:nvPr/>
        </p:nvSpPr>
        <p:spPr>
          <a:xfrm>
            <a:off x="609600" y="1352550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Comparison uses the baseline, stress floor and COVID reference in the model document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609600" y="2047875"/>
          <a:ext cx="10972800" cy="2047875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3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2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Starting level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Downside level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Decline</a:t>
                      </a:r>
                    </a:p>
                  </a:txBody>
                  <a:tcPr marL="114300" marR="95250" marT="66675" marB="66675" anchor="ctr">
                    <a:solidFill>
                      <a:srgbClr val="006C9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Adopted stress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Baseline: 4,747.6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Floor: 3,815.9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19.6%</a:t>
                      </a:r>
                    </a:p>
                  </a:txBody>
                  <a:tcPr marL="114300" marR="95250" marT="66675" marB="66675" anchor="ctr">
                    <a:solidFill>
                      <a:srgbClr val="F3F5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COVID reference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2019 H2 mean: 4,264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2020 Q2: 3,954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2F38"/>
                          </a:solidFill>
                          <a:latin typeface="Arial"/>
                          <a:ea typeface="Arial"/>
                          <a:cs typeface="Arial"/>
                        </a:rPr>
                        <a:t>7.3%</a:t>
                      </a:r>
                    </a:p>
                  </a:txBody>
                  <a:tcPr marL="114300" marR="95250" marT="66675" marB="6667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19.6% ÷ 7.3% ≈ 2.7×">
            <a:extLst>
              <a:ext uri="{FF2B5EF4-FFF2-40B4-BE49-F238E27FC236}">
                <a16:creationId xmlns:a16="http://schemas.microsoft.com/office/drawing/2014/main" id="{047307C4-31D5-4EDE-8227-0935187E1BB9}"/>
              </a:ext>
            </a:extLst>
          </p:cNvPr>
          <p:cNvSpPr>
            <a:spLocks noGrp="1"/>
          </p:cNvSpPr>
          <p:nvPr/>
        </p:nvSpPr>
        <p:spPr>
          <a:xfrm>
            <a:off x="647700" y="452437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850" b="1">
                <a:solidFill>
                  <a:srgbClr val="00476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476B"/>
                </a:solidFill>
                <a:latin typeface="Arial"/>
                <a:ea typeface="Arial"/>
                <a:cs typeface="Arial"/>
              </a:rPr>
              <a:t>19.6% ÷ 7.3% ≈ 2.7×</a:t>
            </a:r>
          </a:p>
        </p:txBody>
      </p:sp>
      <p:sp>
        <p:nvSpPr>
          <p:cNvPr id="6" name="The adopted percentage decline is about 2.7 times the COVID compa">
            <a:extLst>
              <a:ext uri="{FF2B5EF4-FFF2-40B4-BE49-F238E27FC236}">
                <a16:creationId xmlns:a16="http://schemas.microsoft.com/office/drawing/2014/main" id="{74D1A3CB-5BBF-4368-BC53-D4250210ABE5}"/>
              </a:ext>
            </a:extLst>
          </p:cNvPr>
          <p:cNvSpPr>
            <a:spLocks noGrp="1"/>
          </p:cNvSpPr>
          <p:nvPr/>
        </p:nvSpPr>
        <p:spPr>
          <a:xfrm>
            <a:off x="647700" y="5238750"/>
            <a:ext cx="10668000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adopted percentage decline is about 2.7 times the COVID comparison, providing a historical severity reference.</a:t>
            </a:r>
          </a:p>
        </p:txBody>
      </p:sp>
    </p:spTree>
    <p:extLst>
      <p:ext uri="{BB962C8B-B14F-4D97-AF65-F5344CB8AC3E}">
        <p14:creationId xmlns:p14="http://schemas.microsoft.com/office/powerpoint/2010/main" val="1345772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title">
            <a:extLst>
              <a:ext uri="{FF2B5EF4-FFF2-40B4-BE49-F238E27FC236}">
                <a16:creationId xmlns:a16="http://schemas.microsoft.com/office/drawing/2014/main" id="{727773A6-BB4E-495F-80A3-EBD55BD4B342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Conclusion and Model Limitations</a:t>
            </a:r>
          </a:p>
        </p:txBody>
      </p:sp>
      <p:sp>
        <p:nvSpPr>
          <p:cNvPr id="2" name="Page number">
            <a:extLst>
              <a:ext uri="{FF2B5EF4-FFF2-40B4-BE49-F238E27FC236}">
                <a16:creationId xmlns:a16="http://schemas.microsoft.com/office/drawing/2014/main" id="{B1A9736A-48FA-48AD-B4CE-F44C6E044136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Adopted values">
            <a:extLst>
              <a:ext uri="{FF2B5EF4-FFF2-40B4-BE49-F238E27FC236}">
                <a16:creationId xmlns:a16="http://schemas.microsoft.com/office/drawing/2014/main" id="{7FB94193-64E2-42AC-B911-121DC1FF8D62}"/>
              </a:ext>
            </a:extLst>
          </p:cNvPr>
          <p:cNvSpPr>
            <a:spLocks noGrp="1"/>
          </p:cNvSpPr>
          <p:nvPr/>
        </p:nvSpPr>
        <p:spPr>
          <a:xfrm>
            <a:off x="647700" y="14097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Adopted values</a:t>
            </a:r>
          </a:p>
        </p:txBody>
      </p:sp>
      <p:sp>
        <p:nvSpPr>
          <p:cNvPr id="4" name="Quarterly baseline: 4,747.6. Quarterly stress floor: 3,815.9. Bot">
            <a:extLst>
              <a:ext uri="{FF2B5EF4-FFF2-40B4-BE49-F238E27FC236}">
                <a16:creationId xmlns:a16="http://schemas.microsoft.com/office/drawing/2014/main" id="{F97C8803-88B2-4E33-B346-4DB33AE0622F}"/>
              </a:ext>
            </a:extLst>
          </p:cNvPr>
          <p:cNvSpPr>
            <a:spLocks noGrp="1"/>
          </p:cNvSpPr>
          <p:nvPr/>
        </p:nvSpPr>
        <p:spPr>
          <a:xfrm>
            <a:off x="647700" y="1819275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Quarterly baseline: 4,747.6. Quarterly stress floor: 3,815.9. Both data windows lie within the regime beginning in 2015.</a:t>
            </a:r>
          </a:p>
        </p:txBody>
      </p:sp>
      <p:sp>
        <p:nvSpPr>
          <p:cNvPr id="5" name="What the evidence supports">
            <a:extLst>
              <a:ext uri="{FF2B5EF4-FFF2-40B4-BE49-F238E27FC236}">
                <a16:creationId xmlns:a16="http://schemas.microsoft.com/office/drawing/2014/main" id="{ADC5C1E7-DE17-4BCF-85D6-A13787A39B8E}"/>
              </a:ext>
            </a:extLst>
          </p:cNvPr>
          <p:cNvSpPr>
            <a:spLocks noGrp="1"/>
          </p:cNvSpPr>
          <p:nvPr/>
        </p:nvSpPr>
        <p:spPr>
          <a:xfrm>
            <a:off x="647700" y="29051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What the evidence supports</a:t>
            </a:r>
          </a:p>
        </p:txBody>
      </p:sp>
      <p:sp>
        <p:nvSpPr>
          <p:cNvPr id="6" name="The tested first-step regression screens do not produce an admiss">
            <a:extLst>
              <a:ext uri="{FF2B5EF4-FFF2-40B4-BE49-F238E27FC236}">
                <a16:creationId xmlns:a16="http://schemas.microsoft.com/office/drawing/2014/main" id="{49BECDF6-C2D7-4EBB-976B-45BACBB554C0}"/>
              </a:ext>
            </a:extLst>
          </p:cNvPr>
          <p:cNvSpPr>
            <a:spLocks noGrp="1"/>
          </p:cNvSpPr>
          <p:nvPr/>
        </p:nvSpPr>
        <p:spPr>
          <a:xfrm>
            <a:off x="647700" y="3314700"/>
            <a:ext cx="10668000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tested first-step regression screens do not produce an admissible model under the specified joint diagnostic rules.</a:t>
            </a:r>
          </a:p>
        </p:txBody>
      </p:sp>
      <p:sp>
        <p:nvSpPr>
          <p:cNvPr id="7" name="What remains unresolved">
            <a:extLst>
              <a:ext uri="{FF2B5EF4-FFF2-40B4-BE49-F238E27FC236}">
                <a16:creationId xmlns:a16="http://schemas.microsoft.com/office/drawing/2014/main" id="{DCE47DDF-384D-453C-AC8F-0F83A85653B6}"/>
              </a:ext>
            </a:extLst>
          </p:cNvPr>
          <p:cNvSpPr>
            <a:spLocks noGrp="1"/>
          </p:cNvSpPr>
          <p:nvPr/>
        </p:nvSpPr>
        <p:spPr>
          <a:xfrm>
            <a:off x="647700" y="440055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What remains unresolved</a:t>
            </a:r>
          </a:p>
        </p:txBody>
      </p:sp>
      <p:sp>
        <p:nvSpPr>
          <p:cNvPr id="8" name="The 2014 anomalies lack business confirmation. The Q1 2015 shift ">
            <a:extLst>
              <a:ext uri="{FF2B5EF4-FFF2-40B4-BE49-F238E27FC236}">
                <a16:creationId xmlns:a16="http://schemas.microsoft.com/office/drawing/2014/main" id="{24D7702C-04E6-4B47-901D-3DCD26EDB0F4}"/>
              </a:ext>
            </a:extLst>
          </p:cNvPr>
          <p:cNvSpPr>
            <a:spLocks noGrp="1"/>
          </p:cNvSpPr>
          <p:nvPr/>
        </p:nvSpPr>
        <p:spPr>
          <a:xfrm>
            <a:off x="647700" y="4810125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The 2014 anomalies lack business confirmation. The Q1 2015 shift remains unexplained, and the qualitative model has no explicit macro-scenario linkage.</a:t>
            </a:r>
          </a:p>
        </p:txBody>
      </p:sp>
    </p:spTree>
    <p:extLst>
      <p:ext uri="{BB962C8B-B14F-4D97-AF65-F5344CB8AC3E}">
        <p14:creationId xmlns:p14="http://schemas.microsoft.com/office/powerpoint/2010/main" val="1988846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title">
            <a:extLst>
              <a:ext uri="{FF2B5EF4-FFF2-40B4-BE49-F238E27FC236}">
                <a16:creationId xmlns:a16="http://schemas.microsoft.com/office/drawing/2014/main" id="{0402936A-A84C-49AE-8D37-A80F78D90143}"/>
              </a:ext>
            </a:extLst>
          </p:cNvPr>
          <p:cNvSpPr>
            <a:spLocks noGrp="1"/>
          </p:cNvSpPr>
          <p:nvPr/>
        </p:nvSpPr>
        <p:spPr>
          <a:xfrm>
            <a:off x="590550" y="514350"/>
            <a:ext cx="9201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06C9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6C98"/>
                </a:solidFill>
                <a:latin typeface="Arial"/>
                <a:ea typeface="Arial"/>
                <a:cs typeface="Arial"/>
              </a:rPr>
              <a:t>Outlook and Next Steps</a:t>
            </a:r>
          </a:p>
        </p:txBody>
      </p:sp>
      <p:sp>
        <p:nvSpPr>
          <p:cNvPr id="4" name="Page number">
            <a:extLst>
              <a:ext uri="{FF2B5EF4-FFF2-40B4-BE49-F238E27FC236}">
                <a16:creationId xmlns:a16="http://schemas.microsoft.com/office/drawing/2014/main" id="{22987DDF-2126-41AF-88EF-F5E7C54E53B8}"/>
              </a:ext>
            </a:extLst>
          </p:cNvPr>
          <p:cNvSpPr>
            <a:spLocks noGrp="1"/>
          </p:cNvSpPr>
          <p:nvPr/>
        </p:nvSpPr>
        <p:spPr>
          <a:xfrm>
            <a:off x="11382375" y="6591300"/>
            <a:ext cx="2857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5D6B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D6B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Confirm the business explanations">
            <a:extLst>
              <a:ext uri="{FF2B5EF4-FFF2-40B4-BE49-F238E27FC236}">
                <a16:creationId xmlns:a16="http://schemas.microsoft.com/office/drawing/2014/main" id="{A9DA6C30-31FA-4286-9606-A0EE1C8C34E5}"/>
              </a:ext>
            </a:extLst>
          </p:cNvPr>
          <p:cNvSpPr>
            <a:spLocks noGrp="1"/>
          </p:cNvSpPr>
          <p:nvPr/>
        </p:nvSpPr>
        <p:spPr>
          <a:xfrm>
            <a:off x="647700" y="143827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Confirm the business explanations</a:t>
            </a:r>
          </a:p>
        </p:txBody>
      </p:sp>
      <p:sp>
        <p:nvSpPr>
          <p:cNvPr id="6" name="Trace the 2014 spikes and the Q1 2015 shift to the relevant fee a">
            <a:extLst>
              <a:ext uri="{FF2B5EF4-FFF2-40B4-BE49-F238E27FC236}">
                <a16:creationId xmlns:a16="http://schemas.microsoft.com/office/drawing/2014/main" id="{B1343FC3-232C-4613-A5EC-FDE8EF8C9919}"/>
              </a:ext>
            </a:extLst>
          </p:cNvPr>
          <p:cNvSpPr>
            <a:spLocks noGrp="1"/>
          </p:cNvSpPr>
          <p:nvPr/>
        </p:nvSpPr>
        <p:spPr>
          <a:xfrm>
            <a:off x="647700" y="18478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Trace the 2014 spikes and the Q1 2015 shift to the relevant fee and expense records. Revisit data treatment when the causes are confirmed.</a:t>
            </a:r>
          </a:p>
        </p:txBody>
      </p:sp>
      <p:sp>
        <p:nvSpPr>
          <p:cNvPr id="7" name="Review baseline and stress assumptions">
            <a:extLst>
              <a:ext uri="{FF2B5EF4-FFF2-40B4-BE49-F238E27FC236}">
                <a16:creationId xmlns:a16="http://schemas.microsoft.com/office/drawing/2014/main" id="{6DA318ED-021C-43E6-B8BB-B492A1AE2D8F}"/>
              </a:ext>
            </a:extLst>
          </p:cNvPr>
          <p:cNvSpPr>
            <a:spLocks noGrp="1"/>
          </p:cNvSpPr>
          <p:nvPr/>
        </p:nvSpPr>
        <p:spPr>
          <a:xfrm>
            <a:off x="647700" y="3009900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Review baseline and stress assumptions</a:t>
            </a:r>
          </a:p>
        </p:txBody>
      </p:sp>
      <p:sp>
        <p:nvSpPr>
          <p:cNvPr id="8" name="Use the recent eight-quarter mean for the baseline and the post-2">
            <a:extLst>
              <a:ext uri="{FF2B5EF4-FFF2-40B4-BE49-F238E27FC236}">
                <a16:creationId xmlns:a16="http://schemas.microsoft.com/office/drawing/2014/main" id="{CFD3BA6F-33E1-4266-A6DA-8AE0E46F434B}"/>
              </a:ext>
            </a:extLst>
          </p:cNvPr>
          <p:cNvSpPr>
            <a:spLocks noGrp="1"/>
          </p:cNvSpPr>
          <p:nvPr/>
        </p:nvSpPr>
        <p:spPr>
          <a:xfrm>
            <a:off x="647700" y="3419475"/>
            <a:ext cx="10668000" cy="962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Use the recent eight-quarter mean for the baseline and the post-2015 mean minus two standard deviations for the stress floor.</a:t>
            </a:r>
          </a:p>
        </p:txBody>
      </p:sp>
      <p:sp>
        <p:nvSpPr>
          <p:cNvPr id="9" name="Review the qualitative model as data evolve">
            <a:extLst>
              <a:ext uri="{FF2B5EF4-FFF2-40B4-BE49-F238E27FC236}">
                <a16:creationId xmlns:a16="http://schemas.microsoft.com/office/drawing/2014/main" id="{C3820D4C-E8E4-4ADE-AC7E-83E8EA0A6B7E}"/>
              </a:ext>
            </a:extLst>
          </p:cNvPr>
          <p:cNvSpPr>
            <a:spLocks noGrp="1"/>
          </p:cNvSpPr>
          <p:nvPr/>
        </p:nvSpPr>
        <p:spPr>
          <a:xfrm>
            <a:off x="647700" y="4581525"/>
            <a:ext cx="10668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52F38"/>
                </a:solidFill>
                <a:latin typeface="Arial"/>
                <a:ea typeface="Arial"/>
                <a:cs typeface="Arial"/>
              </a:rPr>
              <a:t>Review the qualitative model as data evolve</a:t>
            </a:r>
          </a:p>
        </p:txBody>
      </p:sp>
      <p:sp>
        <p:nvSpPr>
          <p:cNvPr id="10" name="Refresh the recent baseline and historical stress window. Reasses">
            <a:extLst>
              <a:ext uri="{FF2B5EF4-FFF2-40B4-BE49-F238E27FC236}">
                <a16:creationId xmlns:a16="http://schemas.microsoft.com/office/drawing/2014/main" id="{753D9F98-F74E-4625-A752-910A3163ADEF}"/>
              </a:ext>
            </a:extLst>
          </p:cNvPr>
          <p:cNvSpPr>
            <a:spLocks noGrp="1"/>
          </p:cNvSpPr>
          <p:nvPr/>
        </p:nvSpPr>
        <p:spPr>
          <a:xfrm>
            <a:off x="647700" y="4991100"/>
            <a:ext cx="106680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0">
                <a:solidFill>
                  <a:srgbClr val="252F38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52F38"/>
                </a:solidFill>
                <a:latin typeface="Arial"/>
                <a:ea typeface="Arial"/>
                <a:cs typeface="Arial"/>
              </a:rPr>
              <a:t>Refresh the recent baseline and historical stress window. Reassess regression modeling when the unexplained events and level change are understood.</a:t>
            </a:r>
          </a:p>
        </p:txBody>
      </p:sp>
    </p:spTree>
    <p:extLst>
      <p:ext uri="{BB962C8B-B14F-4D97-AF65-F5344CB8AC3E}">
        <p14:creationId xmlns:p14="http://schemas.microsoft.com/office/powerpoint/2010/main" val="198117002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1022</Words>
  <Application>Microsoft Macintosh PowerPoint</Application>
  <DocSecurity>0</DocSecurity>
  <PresentationFormat>宽屏</PresentationFormat>
  <Paragraphs>201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等线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宇轩 黄</cp:lastModifiedBy>
  <cp:revision>3</cp:revision>
  <dcterms:created xsi:type="dcterms:W3CDTF">2026-09-29T02:00:27Z</dcterms:created>
  <dcterms:modified xsi:type="dcterms:W3CDTF">2026-09-29T02:26:20Z</dcterms:modified>
</cp:coreProperties>
</file>